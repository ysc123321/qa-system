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2" r:id="rId4"/>
    <p:sldId id="268" r:id="rId5"/>
    <p:sldId id="269" r:id="rId6"/>
    <p:sldId id="270" r:id="rId7"/>
    <p:sldId id="271" r:id="rId8"/>
    <p:sldId id="272" r:id="rId9"/>
    <p:sldId id="273" r:id="rId10"/>
    <p:sldId id="274" r:id="rId11"/>
    <p:sldId id="280" r:id="rId12"/>
    <p:sldId id="279" r:id="rId13"/>
    <p:sldId id="278" r:id="rId14"/>
    <p:sldId id="277" r:id="rId15"/>
    <p:sldId id="276" r:id="rId16"/>
    <p:sldId id="275" r:id="rId17"/>
    <p:sldId id="283" r:id="rId18"/>
    <p:sldId id="281" r:id="rId19"/>
    <p:sldId id="282" r:id="rId20"/>
    <p:sldId id="284" r:id="rId21"/>
    <p:sldId id="285" r:id="rId22"/>
    <p:sldId id="286" r:id="rId23"/>
    <p:sldId id="287" r:id="rId24"/>
    <p:sldId id="290" r:id="rId25"/>
    <p:sldId id="288" r:id="rId26"/>
    <p:sldId id="289" r:id="rId27"/>
    <p:sldId id="291" r:id="rId28"/>
    <p:sldId id="292" r:id="rId29"/>
    <p:sldId id="293" r:id="rId30"/>
    <p:sldId id="294" r:id="rId31"/>
    <p:sldId id="295" r:id="rId32"/>
    <p:sldId id="296" r:id="rId33"/>
    <p:sldId id="301" r:id="rId34"/>
    <p:sldId id="297" r:id="rId35"/>
    <p:sldId id="298" r:id="rId36"/>
    <p:sldId id="299" r:id="rId37"/>
    <p:sldId id="300" r:id="rId38"/>
    <p:sldId id="302" r:id="rId39"/>
    <p:sldId id="303" r:id="rId40"/>
    <p:sldId id="304" r:id="rId41"/>
    <p:sldId id="305" r:id="rId42"/>
    <p:sldId id="306" r:id="rId43"/>
    <p:sldId id="307" r:id="rId44"/>
    <p:sldId id="314" r:id="rId45"/>
    <p:sldId id="308" r:id="rId46"/>
    <p:sldId id="345" r:id="rId47"/>
    <p:sldId id="309" r:id="rId48"/>
    <p:sldId id="346" r:id="rId49"/>
    <p:sldId id="310" r:id="rId50"/>
    <p:sldId id="311" r:id="rId51"/>
    <p:sldId id="312" r:id="rId52"/>
    <p:sldId id="313" r:id="rId53"/>
    <p:sldId id="315" r:id="rId54"/>
    <p:sldId id="316" r:id="rId55"/>
    <p:sldId id="317" r:id="rId56"/>
    <p:sldId id="318" r:id="rId57"/>
    <p:sldId id="319" r:id="rId58"/>
    <p:sldId id="347" r:id="rId59"/>
    <p:sldId id="320" r:id="rId60"/>
    <p:sldId id="321" r:id="rId61"/>
    <p:sldId id="348" r:id="rId62"/>
    <p:sldId id="322" r:id="rId63"/>
    <p:sldId id="323" r:id="rId64"/>
    <p:sldId id="349" r:id="rId65"/>
    <p:sldId id="336" r:id="rId66"/>
    <p:sldId id="324" r:id="rId67"/>
    <p:sldId id="325" r:id="rId68"/>
    <p:sldId id="326" r:id="rId69"/>
    <p:sldId id="327" r:id="rId70"/>
    <p:sldId id="328" r:id="rId71"/>
    <p:sldId id="329" r:id="rId72"/>
    <p:sldId id="330" r:id="rId73"/>
    <p:sldId id="331" r:id="rId74"/>
    <p:sldId id="332" r:id="rId75"/>
    <p:sldId id="333" r:id="rId76"/>
    <p:sldId id="350" r:id="rId77"/>
    <p:sldId id="334" r:id="rId78"/>
    <p:sldId id="335" r:id="rId79"/>
    <p:sldId id="337" r:id="rId80"/>
    <p:sldId id="338" r:id="rId81"/>
    <p:sldId id="339" r:id="rId8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p:restoredTop sz="94682"/>
  </p:normalViewPr>
  <p:slideViewPr>
    <p:cSldViewPr showGuides="1">
      <p:cViewPr varScale="1">
        <p:scale>
          <a:sx n="109" d="100"/>
          <a:sy n="109" d="100"/>
        </p:scale>
        <p:origin x="-51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39.wmf"/><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63.wmf"/><Relationship Id="rId4" Type="http://schemas.openxmlformats.org/officeDocument/2006/relationships/image" Target="../media/image62.wmf"/><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drawings/_rels/vmlDrawing27.vml.rels><?xml version="1.0" encoding="UTF-8" standalone="yes"?>
<Relationships xmlns="http://schemas.openxmlformats.org/package/2006/relationships"><Relationship Id="rId7" Type="http://schemas.openxmlformats.org/officeDocument/2006/relationships/image" Target="../media/image76.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84.wmf"/><Relationship Id="rId7" Type="http://schemas.openxmlformats.org/officeDocument/2006/relationships/image" Target="../media/image83.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29.vml.rels><?xml version="1.0" encoding="UTF-8" standalone="yes"?>
<Relationships xmlns="http://schemas.openxmlformats.org/package/2006/relationships"><Relationship Id="rId5" Type="http://schemas.openxmlformats.org/officeDocument/2006/relationships/image" Target="../media/image89.wmf"/><Relationship Id="rId4" Type="http://schemas.openxmlformats.org/officeDocument/2006/relationships/image" Target="../media/image88.wmf"/><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100.wmf"/><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101.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07.wmf"/><Relationship Id="rId1" Type="http://schemas.openxmlformats.org/officeDocument/2006/relationships/image" Target="../media/image106.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10.wmf"/><Relationship Id="rId1" Type="http://schemas.openxmlformats.org/officeDocument/2006/relationships/image" Target="../media/image109.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12.wmf"/><Relationship Id="rId1" Type="http://schemas.openxmlformats.org/officeDocument/2006/relationships/image" Target="../media/image111.e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image" Target="../media/image113.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16.wmf"/><Relationship Id="rId1" Type="http://schemas.openxmlformats.org/officeDocument/2006/relationships/image" Target="../media/image115.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17.e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8.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24.wmf"/></Relationships>
</file>

<file path=ppt/drawings/_rels/vmlDrawing50.vml.rels><?xml version="1.0" encoding="UTF-8" standalone="yes"?>
<Relationships xmlns="http://schemas.openxmlformats.org/package/2006/relationships"><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51.vml.rels><?xml version="1.0" encoding="UTF-8" standalone="yes"?>
<Relationships xmlns="http://schemas.openxmlformats.org/package/2006/relationships"><Relationship Id="rId4" Type="http://schemas.openxmlformats.org/officeDocument/2006/relationships/image" Target="../media/image127.wmf"/><Relationship Id="rId3" Type="http://schemas.openxmlformats.org/officeDocument/2006/relationships/image" Target="../media/image126.wmf"/><Relationship Id="rId2" Type="http://schemas.openxmlformats.org/officeDocument/2006/relationships/image" Target="../media/image130.wmf"/><Relationship Id="rId1" Type="http://schemas.openxmlformats.org/officeDocument/2006/relationships/image" Target="../media/image129.wmf"/></Relationships>
</file>

<file path=ppt/drawings/_rels/vmlDrawing52.vml.rels><?xml version="1.0" encoding="UTF-8" standalone="yes"?>
<Relationships xmlns="http://schemas.openxmlformats.org/package/2006/relationships"><Relationship Id="rId5" Type="http://schemas.openxmlformats.org/officeDocument/2006/relationships/image" Target="../media/image135.wmf"/><Relationship Id="rId4" Type="http://schemas.openxmlformats.org/officeDocument/2006/relationships/image" Target="../media/image134.wmf"/><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139.wmf"/><Relationship Id="rId1" Type="http://schemas.openxmlformats.org/officeDocument/2006/relationships/image" Target="../media/image138.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147.wmf"/><Relationship Id="rId1" Type="http://schemas.openxmlformats.org/officeDocument/2006/relationships/image" Target="../media/image146.wmf"/></Relationships>
</file>

<file path=ppt/drawings/_rels/vmlDrawing59.vml.rels><?xml version="1.0" encoding="UTF-8" standalone="yes"?>
<Relationships xmlns="http://schemas.openxmlformats.org/package/2006/relationships"><Relationship Id="rId4" Type="http://schemas.openxmlformats.org/officeDocument/2006/relationships/image" Target="../media/image151.wmf"/><Relationship Id="rId3" Type="http://schemas.openxmlformats.org/officeDocument/2006/relationships/image" Target="../media/image150.wmf"/><Relationship Id="rId2" Type="http://schemas.openxmlformats.org/officeDocument/2006/relationships/image" Target="../media/image149.wmf"/><Relationship Id="rId1" Type="http://schemas.openxmlformats.org/officeDocument/2006/relationships/image" Target="../media/image148.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156.wmf"/><Relationship Id="rId1" Type="http://schemas.openxmlformats.org/officeDocument/2006/relationships/image" Target="../media/image15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9724"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8" name="页脚占位符 7"/>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4" name="页脚占位符 3"/>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3" name="页脚占位符 2"/>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716657"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B0ECC1"/>
            </a:gs>
          </a:gsLst>
          <a:lin ang="5400000" scaled="1"/>
          <a:tileRect/>
        </a:gradFill>
        <a:effectLst/>
      </p:bgPr>
    </p:bg>
    <p:spTree>
      <p:nvGrpSpPr>
        <p:cNvPr id="1" name=""/>
        <p:cNvGrpSpPr/>
        <p:nvPr/>
      </p:nvGrpSpPr>
      <p:grpSpPr/>
      <p:sp>
        <p:nvSpPr>
          <p:cNvPr id="1026" name="标题 3073"/>
          <p:cNvSpPr>
            <a:spLocks noGrp="1"/>
          </p:cNvSpPr>
          <p:nvPr>
            <p:ph type="title"/>
          </p:nvPr>
        </p:nvSpPr>
        <p:spPr>
          <a:xfrm>
            <a:off x="685800" y="609600"/>
            <a:ext cx="7772400" cy="1143000"/>
          </a:xfrm>
          <a:prstGeom prst="rect">
            <a:avLst/>
          </a:prstGeom>
          <a:noFill/>
          <a:ln w="9525">
            <a:noFill/>
          </a:ln>
        </p:spPr>
        <p:txBody>
          <a:bodyPr anchor="ctr" anchorCtr="0"/>
          <a:p>
            <a:pPr lvl="0" indent="0"/>
            <a:r>
              <a:rPr lang="zh-CN" altLang="en-US" dirty="0"/>
              <a:t>单击此处编辑母版标题样式</a:t>
            </a:r>
            <a:endParaRPr lang="zh-CN" altLang="en-US" dirty="0"/>
          </a:p>
        </p:txBody>
      </p:sp>
      <p:sp>
        <p:nvSpPr>
          <p:cNvPr id="1027" name="文本占位符 3074"/>
          <p:cNvSpPr>
            <a:spLocks noGrp="1"/>
          </p:cNvSpPr>
          <p:nvPr>
            <p:ph type="body"/>
          </p:nvPr>
        </p:nvSpPr>
        <p:spPr>
          <a:xfrm>
            <a:off x="685800" y="1981200"/>
            <a:ext cx="7772400" cy="4114800"/>
          </a:xfrm>
          <a:prstGeom prst="rect">
            <a:avLst/>
          </a:prstGeom>
          <a:noFill/>
          <a:ln w="9525">
            <a:noFill/>
          </a:ln>
        </p:spPr>
        <p:txBody>
          <a:bodyPr anchor="t" anchorCtr="0"/>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3076" name="日期占位符 3075"/>
          <p:cNvSpPr>
            <a:spLocks noGrp="1"/>
          </p:cNvSpPr>
          <p:nvPr>
            <p:ph type="dt" sz="half" idx="2"/>
          </p:nvPr>
        </p:nvSpPr>
        <p:spPr>
          <a:xfrm>
            <a:off x="685800" y="6248400"/>
            <a:ext cx="1905000" cy="457200"/>
          </a:xfrm>
          <a:prstGeom prst="rect">
            <a:avLst/>
          </a:prstGeom>
          <a:noFill/>
          <a:ln w="9525">
            <a:noFill/>
          </a:ln>
        </p:spPr>
        <p:txBody>
          <a:bodyPr/>
          <a:lstStyle>
            <a:lvl1pPr>
              <a:defRPr sz="1400" b="0"/>
            </a:lvl1pPr>
          </a:lstStyle>
          <a:p>
            <a:pPr lvl="0" fontAlgn="base"/>
            <a:endParaRPr lang="zh-CN" altLang="en-US" strike="noStrike" noProof="1" dirty="0">
              <a:latin typeface="Times New Roman" panose="02020603050405020304" pitchFamily="18" charset="0"/>
            </a:endParaRPr>
          </a:p>
        </p:txBody>
      </p:sp>
      <p:sp>
        <p:nvSpPr>
          <p:cNvPr id="3077" name="页脚占位符 3076"/>
          <p:cNvSpPr>
            <a:spLocks noGrp="1"/>
          </p:cNvSpPr>
          <p:nvPr>
            <p:ph type="ftr" sz="quarter" idx="3"/>
          </p:nvPr>
        </p:nvSpPr>
        <p:spPr>
          <a:xfrm>
            <a:off x="3124200" y="6248400"/>
            <a:ext cx="2895600" cy="457200"/>
          </a:xfrm>
          <a:prstGeom prst="rect">
            <a:avLst/>
          </a:prstGeom>
          <a:noFill/>
          <a:ln w="9525">
            <a:noFill/>
          </a:ln>
        </p:spPr>
        <p:txBody>
          <a:bodyPr/>
          <a:lstStyle>
            <a:lvl1pPr algn="ctr">
              <a:defRPr sz="1400" b="0"/>
            </a:lvl1pPr>
          </a:lstStyle>
          <a:p>
            <a:pPr lvl="0" fontAlgn="base"/>
            <a:endParaRPr lang="zh-CN" altLang="en-US" strike="noStrike" noProof="1" dirty="0">
              <a:latin typeface="Times New Roman" panose="02020603050405020304" pitchFamily="18" charset="0"/>
            </a:endParaRPr>
          </a:p>
        </p:txBody>
      </p:sp>
      <p:sp>
        <p:nvSpPr>
          <p:cNvPr id="3078" name="灯片编号占位符 3077"/>
          <p:cNvSpPr>
            <a:spLocks noGrp="1"/>
          </p:cNvSpPr>
          <p:nvPr>
            <p:ph type="sldNum" sz="quarter" idx="4"/>
          </p:nvPr>
        </p:nvSpPr>
        <p:spPr>
          <a:xfrm>
            <a:off x="6553200" y="6248400"/>
            <a:ext cx="1905000" cy="457200"/>
          </a:xfrm>
          <a:prstGeom prst="rect">
            <a:avLst/>
          </a:prstGeom>
          <a:noFill/>
          <a:ln w="9525">
            <a:noFill/>
          </a:ln>
        </p:spPr>
        <p:txBody>
          <a:bodyPr/>
          <a:lstStyle>
            <a:lvl1pPr algn="r">
              <a:defRPr sz="1400" b="0"/>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
        <p:nvSpPr>
          <p:cNvPr id="1031" name="直接连接符 3078"/>
          <p:cNvSpPr/>
          <p:nvPr/>
        </p:nvSpPr>
        <p:spPr>
          <a:xfrm>
            <a:off x="0" y="304800"/>
            <a:ext cx="9144000" cy="0"/>
          </a:xfrm>
          <a:prstGeom prst="line">
            <a:avLst/>
          </a:prstGeom>
          <a:ln w="57150" cap="flat" cmpd="thinThick">
            <a:solidFill>
              <a:schemeClr val="accent1"/>
            </a:solidFill>
            <a:prstDash val="solid"/>
            <a:round/>
            <a:headEnd type="none" w="med" len="med"/>
            <a:tailEnd type="none" w="med" len="med"/>
          </a:ln>
        </p:spPr>
      </p:sp>
      <p:sp>
        <p:nvSpPr>
          <p:cNvPr id="1032" name="文本框 3079"/>
          <p:cNvSpPr txBox="1"/>
          <p:nvPr/>
        </p:nvSpPr>
        <p:spPr>
          <a:xfrm>
            <a:off x="7391400" y="0"/>
            <a:ext cx="1371600" cy="304800"/>
          </a:xfrm>
          <a:prstGeom prst="rect">
            <a:avLst/>
          </a:prstGeom>
          <a:noFill/>
          <a:ln w="9525">
            <a:noFill/>
          </a:ln>
        </p:spPr>
        <p:txBody>
          <a:bodyPr anchor="t" anchorCtr="0">
            <a:spAutoFit/>
          </a:bodyPr>
          <a:p>
            <a:pPr lvl="0" indent="0" algn="ctr">
              <a:spcBef>
                <a:spcPct val="50000"/>
              </a:spcBef>
            </a:pPr>
            <a:r>
              <a:rPr lang="zh-CN" altLang="en-US" sz="1400" dirty="0">
                <a:solidFill>
                  <a:schemeClr val="accent1"/>
                </a:solidFill>
                <a:latin typeface="Times New Roman" panose="02020603050405020304" pitchFamily="18" charset="0"/>
                <a:ea typeface="宋体" panose="02010600030101010101" pitchFamily="2" charset="-122"/>
              </a:rPr>
              <a:t>电机与拖动</a:t>
            </a:r>
            <a:endParaRPr lang="zh-CN" altLang="en-US" sz="1400">
              <a:solidFill>
                <a:schemeClr val="accent1"/>
              </a:solidFill>
              <a:latin typeface="Times New Roman" panose="02020603050405020304" pitchFamily="18" charset="0"/>
              <a:ea typeface="宋体" panose="02010600030101010101" pitchFamily="2" charset="-122"/>
            </a:endParaRPr>
          </a:p>
        </p:txBody>
      </p:sp>
      <p:pic>
        <p:nvPicPr>
          <p:cNvPr id="1033" name="图片 3080" descr="未标题-2"/>
          <p:cNvPicPr>
            <a:picLocks noChangeAspect="1"/>
          </p:cNvPicPr>
          <p:nvPr/>
        </p:nvPicPr>
        <p:blipFill>
          <a:blip r:embed="rId12"/>
          <a:stretch>
            <a:fillRect/>
          </a:stretch>
        </p:blipFill>
        <p:spPr>
          <a:xfrm>
            <a:off x="8610600" y="0"/>
            <a:ext cx="533400" cy="4968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4.wmf"/><Relationship Id="rId3" Type="http://schemas.openxmlformats.org/officeDocument/2006/relationships/oleObject" Target="../embeddings/oleObject3.bin"/><Relationship Id="rId2" Type="http://schemas.openxmlformats.org/officeDocument/2006/relationships/image" Target="../media/image3.wmf"/><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7.xml"/><Relationship Id="rId6" Type="http://schemas.openxmlformats.org/officeDocument/2006/relationships/image" Target="../media/image8.wmf"/><Relationship Id="rId5" Type="http://schemas.openxmlformats.org/officeDocument/2006/relationships/oleObject" Target="../embeddings/oleObject7.bin"/><Relationship Id="rId4" Type="http://schemas.openxmlformats.org/officeDocument/2006/relationships/image" Target="../media/image7.wmf"/><Relationship Id="rId3" Type="http://schemas.openxmlformats.org/officeDocument/2006/relationships/oleObject" Target="../embeddings/oleObject6.bin"/><Relationship Id="rId2" Type="http://schemas.openxmlformats.org/officeDocument/2006/relationships/image" Target="../media/image6.wmf"/><Relationship Id="rId1"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2.wmf"/><Relationship Id="rId7" Type="http://schemas.openxmlformats.org/officeDocument/2006/relationships/oleObject" Target="../embeddings/oleObject11.bin"/><Relationship Id="rId6" Type="http://schemas.openxmlformats.org/officeDocument/2006/relationships/image" Target="../media/image11.wmf"/><Relationship Id="rId5" Type="http://schemas.openxmlformats.org/officeDocument/2006/relationships/oleObject" Target="../embeddings/oleObject10.bin"/><Relationship Id="rId4" Type="http://schemas.openxmlformats.org/officeDocument/2006/relationships/image" Target="../media/image10.wmf"/><Relationship Id="rId3" Type="http://schemas.openxmlformats.org/officeDocument/2006/relationships/oleObject" Target="../embeddings/oleObject9.bin"/><Relationship Id="rId2" Type="http://schemas.openxmlformats.org/officeDocument/2006/relationships/image" Target="../media/image9.wmf"/><Relationship Id="rId10" Type="http://schemas.openxmlformats.org/officeDocument/2006/relationships/vmlDrawing" Target="../drawings/vmlDrawing5.vml"/><Relationship Id="rId1" Type="http://schemas.openxmlformats.org/officeDocument/2006/relationships/oleObject" Target="../embeddings/oleObject8.bin"/></Relationships>
</file>

<file path=ppt/slides/_rels/slide7.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4.bin"/><Relationship Id="rId4" Type="http://schemas.openxmlformats.org/officeDocument/2006/relationships/image" Target="../media/image14.wmf"/><Relationship Id="rId3" Type="http://schemas.openxmlformats.org/officeDocument/2006/relationships/oleObject" Target="../embeddings/oleObject13.bin"/><Relationship Id="rId2" Type="http://schemas.openxmlformats.org/officeDocument/2006/relationships/image" Target="../media/image13.wmf"/><Relationship Id="rId1"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19.bin"/><Relationship Id="rId8" Type="http://schemas.openxmlformats.org/officeDocument/2006/relationships/image" Target="../media/image19.wmf"/><Relationship Id="rId7" Type="http://schemas.openxmlformats.org/officeDocument/2006/relationships/oleObject" Target="../embeddings/oleObject18.bin"/><Relationship Id="rId6" Type="http://schemas.openxmlformats.org/officeDocument/2006/relationships/image" Target="../media/image18.wmf"/><Relationship Id="rId5" Type="http://schemas.openxmlformats.org/officeDocument/2006/relationships/oleObject" Target="../embeddings/oleObject17.bin"/><Relationship Id="rId4" Type="http://schemas.openxmlformats.org/officeDocument/2006/relationships/image" Target="../media/image17.wmf"/><Relationship Id="rId3" Type="http://schemas.openxmlformats.org/officeDocument/2006/relationships/oleObject" Target="../embeddings/oleObject16.bin"/><Relationship Id="rId2" Type="http://schemas.openxmlformats.org/officeDocument/2006/relationships/image" Target="../media/image16.wmf"/><Relationship Id="rId14" Type="http://schemas.openxmlformats.org/officeDocument/2006/relationships/vmlDrawing" Target="../drawings/vmlDrawing7.vml"/><Relationship Id="rId13" Type="http://schemas.openxmlformats.org/officeDocument/2006/relationships/slideLayout" Target="../slideLayouts/slideLayout7.xml"/><Relationship Id="rId12" Type="http://schemas.openxmlformats.org/officeDocument/2006/relationships/image" Target="../media/image21.wmf"/><Relationship Id="rId11" Type="http://schemas.openxmlformats.org/officeDocument/2006/relationships/oleObject" Target="../embeddings/oleObject20.bin"/><Relationship Id="rId10" Type="http://schemas.openxmlformats.org/officeDocument/2006/relationships/image" Target="../media/image20.wmf"/><Relationship Id="rId1" Type="http://schemas.openxmlformats.org/officeDocument/2006/relationships/oleObject" Target="../embeddings/oleObject15.bin"/></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oleObject" Target="../embeddings/oleObject23.bin"/><Relationship Id="rId4" Type="http://schemas.openxmlformats.org/officeDocument/2006/relationships/image" Target="../media/image23.wmf"/><Relationship Id="rId3" Type="http://schemas.openxmlformats.org/officeDocument/2006/relationships/oleObject" Target="../embeddings/oleObject22.bin"/><Relationship Id="rId2" Type="http://schemas.openxmlformats.org/officeDocument/2006/relationships/image" Target="../media/image22.wmf"/><Relationship Id="rId1" Type="http://schemas.openxmlformats.org/officeDocument/2006/relationships/oleObject" Target="../embeddings/oleObject21.bin"/></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7.xml"/><Relationship Id="rId6" Type="http://schemas.openxmlformats.org/officeDocument/2006/relationships/image" Target="../media/image27.wmf"/><Relationship Id="rId5" Type="http://schemas.openxmlformats.org/officeDocument/2006/relationships/oleObject" Target="../embeddings/oleObject26.bin"/><Relationship Id="rId4" Type="http://schemas.openxmlformats.org/officeDocument/2006/relationships/image" Target="../media/image26.wmf"/><Relationship Id="rId3" Type="http://schemas.openxmlformats.org/officeDocument/2006/relationships/oleObject" Target="../embeddings/oleObject25.bin"/><Relationship Id="rId2" Type="http://schemas.openxmlformats.org/officeDocument/2006/relationships/image" Target="../media/image25.wmf"/><Relationship Id="rId1" Type="http://schemas.openxmlformats.org/officeDocument/2006/relationships/oleObject" Target="../embeddings/oleObject24.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31.wmf"/><Relationship Id="rId7" Type="http://schemas.openxmlformats.org/officeDocument/2006/relationships/oleObject" Target="../embeddings/oleObject30.bin"/><Relationship Id="rId6" Type="http://schemas.openxmlformats.org/officeDocument/2006/relationships/image" Target="../media/image30.wmf"/><Relationship Id="rId5" Type="http://schemas.openxmlformats.org/officeDocument/2006/relationships/oleObject" Target="../embeddings/oleObject29.bin"/><Relationship Id="rId4" Type="http://schemas.openxmlformats.org/officeDocument/2006/relationships/image" Target="../media/image29.wmf"/><Relationship Id="rId3" Type="http://schemas.openxmlformats.org/officeDocument/2006/relationships/oleObject" Target="../embeddings/oleObject28.bin"/><Relationship Id="rId2" Type="http://schemas.openxmlformats.org/officeDocument/2006/relationships/image" Target="../media/image28.wmf"/><Relationship Id="rId14" Type="http://schemas.openxmlformats.org/officeDocument/2006/relationships/vmlDrawing" Target="../drawings/vmlDrawing10.vml"/><Relationship Id="rId13" Type="http://schemas.openxmlformats.org/officeDocument/2006/relationships/slideLayout" Target="../slideLayouts/slideLayout7.xml"/><Relationship Id="rId12" Type="http://schemas.openxmlformats.org/officeDocument/2006/relationships/image" Target="../media/image33.wmf"/><Relationship Id="rId11" Type="http://schemas.openxmlformats.org/officeDocument/2006/relationships/oleObject" Target="../embeddings/oleObject32.bin"/><Relationship Id="rId10" Type="http://schemas.openxmlformats.org/officeDocument/2006/relationships/image" Target="../media/image32.wmf"/><Relationship Id="rId1" Type="http://schemas.openxmlformats.org/officeDocument/2006/relationships/oleObject" Target="../embeddings/oleObject27.bin"/></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image" Target="../media/image35.wmf"/><Relationship Id="rId3" Type="http://schemas.openxmlformats.org/officeDocument/2006/relationships/oleObject" Target="../embeddings/oleObject34.bin"/><Relationship Id="rId2" Type="http://schemas.openxmlformats.org/officeDocument/2006/relationships/image" Target="../media/image34.wmf"/><Relationship Id="rId1" Type="http://schemas.openxmlformats.org/officeDocument/2006/relationships/oleObject" Target="../embeddings/oleObject33.bin"/></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9.wmf"/><Relationship Id="rId7" Type="http://schemas.openxmlformats.org/officeDocument/2006/relationships/oleObject" Target="../embeddings/oleObject38.bin"/><Relationship Id="rId6" Type="http://schemas.openxmlformats.org/officeDocument/2006/relationships/image" Target="../media/image38.wmf"/><Relationship Id="rId5" Type="http://schemas.openxmlformats.org/officeDocument/2006/relationships/oleObject" Target="../embeddings/oleObject37.bin"/><Relationship Id="rId4" Type="http://schemas.openxmlformats.org/officeDocument/2006/relationships/image" Target="../media/image37.wmf"/><Relationship Id="rId3" Type="http://schemas.openxmlformats.org/officeDocument/2006/relationships/oleObject" Target="../embeddings/oleObject36.bin"/><Relationship Id="rId2" Type="http://schemas.openxmlformats.org/officeDocument/2006/relationships/image" Target="../media/image36.wmf"/><Relationship Id="rId10" Type="http://schemas.openxmlformats.org/officeDocument/2006/relationships/vmlDrawing" Target="../drawings/vmlDrawing12.vml"/><Relationship Id="rId1" Type="http://schemas.openxmlformats.org/officeDocument/2006/relationships/oleObject" Target="../embeddings/oleObject35.bin"/></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7.xml"/><Relationship Id="rId4" Type="http://schemas.openxmlformats.org/officeDocument/2006/relationships/image" Target="../media/image41.wmf"/><Relationship Id="rId3" Type="http://schemas.openxmlformats.org/officeDocument/2006/relationships/oleObject" Target="../embeddings/oleObject40.bin"/><Relationship Id="rId2" Type="http://schemas.openxmlformats.org/officeDocument/2006/relationships/image" Target="../media/image40.wmf"/><Relationship Id="rId1" Type="http://schemas.openxmlformats.org/officeDocument/2006/relationships/oleObject" Target="../embeddings/oleObject39.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43.wmf"/><Relationship Id="rId3" Type="http://schemas.openxmlformats.org/officeDocument/2006/relationships/oleObject" Target="../embeddings/oleObject42.bin"/><Relationship Id="rId2" Type="http://schemas.openxmlformats.org/officeDocument/2006/relationships/image" Target="../media/image42.wmf"/><Relationship Id="rId1" Type="http://schemas.openxmlformats.org/officeDocument/2006/relationships/oleObject" Target="../embeddings/oleObject41.bin"/></Relationships>
</file>

<file path=ppt/slides/_rels/slide16.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7.xml"/><Relationship Id="rId6" Type="http://schemas.openxmlformats.org/officeDocument/2006/relationships/image" Target="../media/image46.wmf"/><Relationship Id="rId5" Type="http://schemas.openxmlformats.org/officeDocument/2006/relationships/oleObject" Target="../embeddings/oleObject45.bin"/><Relationship Id="rId4" Type="http://schemas.openxmlformats.org/officeDocument/2006/relationships/image" Target="../media/image45.wmf"/><Relationship Id="rId3" Type="http://schemas.openxmlformats.org/officeDocument/2006/relationships/oleObject" Target="../embeddings/oleObject44.bin"/><Relationship Id="rId2" Type="http://schemas.openxmlformats.org/officeDocument/2006/relationships/image" Target="../media/image44.wmf"/><Relationship Id="rId1" Type="http://schemas.openxmlformats.org/officeDocument/2006/relationships/oleObject" Target="../embeddings/oleObject43.bin"/></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48.wmf"/><Relationship Id="rId3" Type="http://schemas.openxmlformats.org/officeDocument/2006/relationships/oleObject" Target="../embeddings/oleObject47.bin"/><Relationship Id="rId2" Type="http://schemas.openxmlformats.org/officeDocument/2006/relationships/image" Target="../media/image47.wmf"/><Relationship Id="rId1" Type="http://schemas.openxmlformats.org/officeDocument/2006/relationships/oleObject" Target="../embeddings/oleObject46.bin"/></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2.wmf"/><Relationship Id="rId7" Type="http://schemas.openxmlformats.org/officeDocument/2006/relationships/oleObject" Target="../embeddings/oleObject51.bin"/><Relationship Id="rId6" Type="http://schemas.openxmlformats.org/officeDocument/2006/relationships/image" Target="../media/image51.wmf"/><Relationship Id="rId5" Type="http://schemas.openxmlformats.org/officeDocument/2006/relationships/oleObject" Target="../embeddings/oleObject50.bin"/><Relationship Id="rId4" Type="http://schemas.openxmlformats.org/officeDocument/2006/relationships/image" Target="../media/image50.wmf"/><Relationship Id="rId3" Type="http://schemas.openxmlformats.org/officeDocument/2006/relationships/oleObject" Target="../embeddings/oleObject49.bin"/><Relationship Id="rId2" Type="http://schemas.openxmlformats.org/officeDocument/2006/relationships/image" Target="../media/image49.wmf"/><Relationship Id="rId10" Type="http://schemas.openxmlformats.org/officeDocument/2006/relationships/vmlDrawing" Target="../drawings/vmlDrawing17.vml"/><Relationship Id="rId1" Type="http://schemas.openxmlformats.org/officeDocument/2006/relationships/oleObject" Target="../embeddings/oleObject48.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53.wmf"/><Relationship Id="rId1" Type="http://schemas.openxmlformats.org/officeDocument/2006/relationships/oleObject" Target="../embeddings/oleObject52.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54.wmf"/><Relationship Id="rId1" Type="http://schemas.openxmlformats.org/officeDocument/2006/relationships/oleObject" Target="../embeddings/oleObject53.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7.xml"/><Relationship Id="rId2" Type="http://schemas.openxmlformats.org/officeDocument/2006/relationships/image" Target="../media/image55.wmf"/><Relationship Id="rId1" Type="http://schemas.openxmlformats.org/officeDocument/2006/relationships/oleObject" Target="../embeddings/oleObject54.bin"/></Relationships>
</file>

<file path=ppt/slides/_rels/slide22.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7.xml"/><Relationship Id="rId6" Type="http://schemas.openxmlformats.org/officeDocument/2006/relationships/image" Target="../media/image58.wmf"/><Relationship Id="rId5" Type="http://schemas.openxmlformats.org/officeDocument/2006/relationships/oleObject" Target="../embeddings/oleObject57.bin"/><Relationship Id="rId4" Type="http://schemas.openxmlformats.org/officeDocument/2006/relationships/image" Target="../media/image57.wmf"/><Relationship Id="rId3" Type="http://schemas.openxmlformats.org/officeDocument/2006/relationships/oleObject" Target="../embeddings/oleObject56.bin"/><Relationship Id="rId2" Type="http://schemas.openxmlformats.org/officeDocument/2006/relationships/image" Target="../media/image56.wmf"/><Relationship Id="rId1" Type="http://schemas.openxmlformats.org/officeDocument/2006/relationships/oleObject" Target="../embeddings/oleObject5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62.bin"/><Relationship Id="rId8" Type="http://schemas.openxmlformats.org/officeDocument/2006/relationships/image" Target="../media/image62.wmf"/><Relationship Id="rId7" Type="http://schemas.openxmlformats.org/officeDocument/2006/relationships/oleObject" Target="../embeddings/oleObject61.bin"/><Relationship Id="rId6" Type="http://schemas.openxmlformats.org/officeDocument/2006/relationships/image" Target="../media/image61.wmf"/><Relationship Id="rId5" Type="http://schemas.openxmlformats.org/officeDocument/2006/relationships/oleObject" Target="../embeddings/oleObject60.bin"/><Relationship Id="rId4" Type="http://schemas.openxmlformats.org/officeDocument/2006/relationships/image" Target="../media/image60.wmf"/><Relationship Id="rId3" Type="http://schemas.openxmlformats.org/officeDocument/2006/relationships/oleObject" Target="../embeddings/oleObject59.bin"/><Relationship Id="rId2" Type="http://schemas.openxmlformats.org/officeDocument/2006/relationships/image" Target="../media/image59.wmf"/><Relationship Id="rId12" Type="http://schemas.openxmlformats.org/officeDocument/2006/relationships/vmlDrawing" Target="../drawings/vmlDrawing22.vml"/><Relationship Id="rId11" Type="http://schemas.openxmlformats.org/officeDocument/2006/relationships/slideLayout" Target="../slideLayouts/slideLayout7.xml"/><Relationship Id="rId10" Type="http://schemas.openxmlformats.org/officeDocument/2006/relationships/image" Target="../media/image63.wmf"/><Relationship Id="rId1" Type="http://schemas.openxmlformats.org/officeDocument/2006/relationships/oleObject" Target="../embeddings/oleObject58.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7.xml"/><Relationship Id="rId2" Type="http://schemas.openxmlformats.org/officeDocument/2006/relationships/image" Target="../media/image64.wmf"/><Relationship Id="rId1" Type="http://schemas.openxmlformats.org/officeDocument/2006/relationships/oleObject" Target="../embeddings/oleObject63.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65.wmf"/><Relationship Id="rId1" Type="http://schemas.openxmlformats.org/officeDocument/2006/relationships/oleObject" Target="../embeddings/oleObject64.bin"/></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7.xml"/><Relationship Id="rId4" Type="http://schemas.openxmlformats.org/officeDocument/2006/relationships/image" Target="../media/image67.wmf"/><Relationship Id="rId3" Type="http://schemas.openxmlformats.org/officeDocument/2006/relationships/oleObject" Target="../embeddings/oleObject66.bin"/><Relationship Id="rId2" Type="http://schemas.openxmlformats.org/officeDocument/2006/relationships/image" Target="../media/image66.wmf"/><Relationship Id="rId1" Type="http://schemas.openxmlformats.org/officeDocument/2006/relationships/oleObject" Target="../embeddings/oleObject65.bin"/></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7.xml"/><Relationship Id="rId4" Type="http://schemas.openxmlformats.org/officeDocument/2006/relationships/image" Target="../media/image69.wmf"/><Relationship Id="rId3" Type="http://schemas.openxmlformats.org/officeDocument/2006/relationships/oleObject" Target="../embeddings/oleObject68.bin"/><Relationship Id="rId2" Type="http://schemas.openxmlformats.org/officeDocument/2006/relationships/image" Target="../media/image68.wmf"/><Relationship Id="rId1" Type="http://schemas.openxmlformats.org/officeDocument/2006/relationships/oleObject" Target="../embeddings/oleObject67.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73.bin"/><Relationship Id="rId8" Type="http://schemas.openxmlformats.org/officeDocument/2006/relationships/image" Target="../media/image73.wmf"/><Relationship Id="rId7" Type="http://schemas.openxmlformats.org/officeDocument/2006/relationships/oleObject" Target="../embeddings/oleObject72.bin"/><Relationship Id="rId6" Type="http://schemas.openxmlformats.org/officeDocument/2006/relationships/image" Target="../media/image72.wmf"/><Relationship Id="rId5" Type="http://schemas.openxmlformats.org/officeDocument/2006/relationships/oleObject" Target="../embeddings/oleObject71.bin"/><Relationship Id="rId4" Type="http://schemas.openxmlformats.org/officeDocument/2006/relationships/image" Target="../media/image71.wmf"/><Relationship Id="rId3" Type="http://schemas.openxmlformats.org/officeDocument/2006/relationships/oleObject" Target="../embeddings/oleObject70.bin"/><Relationship Id="rId2" Type="http://schemas.openxmlformats.org/officeDocument/2006/relationships/image" Target="../media/image70.wmf"/><Relationship Id="rId17" Type="http://schemas.openxmlformats.org/officeDocument/2006/relationships/vmlDrawing" Target="../drawings/vmlDrawing27.vml"/><Relationship Id="rId16" Type="http://schemas.openxmlformats.org/officeDocument/2006/relationships/slideLayout" Target="../slideLayouts/slideLayout7.xml"/><Relationship Id="rId15" Type="http://schemas.openxmlformats.org/officeDocument/2006/relationships/image" Target="../media/image76.wmf"/><Relationship Id="rId14" Type="http://schemas.openxmlformats.org/officeDocument/2006/relationships/oleObject" Target="../embeddings/oleObject76.bin"/><Relationship Id="rId13" Type="http://schemas.openxmlformats.org/officeDocument/2006/relationships/image" Target="../media/image75.wmf"/><Relationship Id="rId12" Type="http://schemas.openxmlformats.org/officeDocument/2006/relationships/oleObject" Target="../embeddings/oleObject75.bin"/><Relationship Id="rId11" Type="http://schemas.openxmlformats.org/officeDocument/2006/relationships/oleObject" Target="../embeddings/oleObject74.bin"/><Relationship Id="rId10" Type="http://schemas.openxmlformats.org/officeDocument/2006/relationships/image" Target="../media/image74.wmf"/><Relationship Id="rId1" Type="http://schemas.openxmlformats.org/officeDocument/2006/relationships/oleObject" Target="../embeddings/oleObject69.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81.bin"/><Relationship Id="rId8" Type="http://schemas.openxmlformats.org/officeDocument/2006/relationships/image" Target="../media/image80.wmf"/><Relationship Id="rId7" Type="http://schemas.openxmlformats.org/officeDocument/2006/relationships/oleObject" Target="../embeddings/oleObject80.bin"/><Relationship Id="rId6" Type="http://schemas.openxmlformats.org/officeDocument/2006/relationships/image" Target="../media/image79.wmf"/><Relationship Id="rId5" Type="http://schemas.openxmlformats.org/officeDocument/2006/relationships/oleObject" Target="../embeddings/oleObject79.bin"/><Relationship Id="rId4" Type="http://schemas.openxmlformats.org/officeDocument/2006/relationships/image" Target="../media/image78.wmf"/><Relationship Id="rId3" Type="http://schemas.openxmlformats.org/officeDocument/2006/relationships/oleObject" Target="../embeddings/oleObject78.bin"/><Relationship Id="rId2" Type="http://schemas.openxmlformats.org/officeDocument/2006/relationships/image" Target="../media/image77.wmf"/><Relationship Id="rId18" Type="http://schemas.openxmlformats.org/officeDocument/2006/relationships/vmlDrawing" Target="../drawings/vmlDrawing28.vml"/><Relationship Id="rId17" Type="http://schemas.openxmlformats.org/officeDocument/2006/relationships/slideLayout" Target="../slideLayouts/slideLayout7.xml"/><Relationship Id="rId16" Type="http://schemas.openxmlformats.org/officeDocument/2006/relationships/image" Target="../media/image84.wmf"/><Relationship Id="rId15" Type="http://schemas.openxmlformats.org/officeDocument/2006/relationships/oleObject" Target="../embeddings/oleObject84.bin"/><Relationship Id="rId14" Type="http://schemas.openxmlformats.org/officeDocument/2006/relationships/image" Target="../media/image83.wmf"/><Relationship Id="rId13" Type="http://schemas.openxmlformats.org/officeDocument/2006/relationships/oleObject" Target="../embeddings/oleObject83.bin"/><Relationship Id="rId12" Type="http://schemas.openxmlformats.org/officeDocument/2006/relationships/image" Target="../media/image82.wmf"/><Relationship Id="rId11" Type="http://schemas.openxmlformats.org/officeDocument/2006/relationships/oleObject" Target="../embeddings/oleObject82.bin"/><Relationship Id="rId10" Type="http://schemas.openxmlformats.org/officeDocument/2006/relationships/image" Target="../media/image81.wmf"/><Relationship Id="rId1" Type="http://schemas.openxmlformats.org/officeDocument/2006/relationships/oleObject" Target="../embeddings/oleObject77.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89.bin"/><Relationship Id="rId8" Type="http://schemas.openxmlformats.org/officeDocument/2006/relationships/image" Target="../media/image88.wmf"/><Relationship Id="rId7" Type="http://schemas.openxmlformats.org/officeDocument/2006/relationships/oleObject" Target="../embeddings/oleObject88.bin"/><Relationship Id="rId6" Type="http://schemas.openxmlformats.org/officeDocument/2006/relationships/image" Target="../media/image87.wmf"/><Relationship Id="rId5" Type="http://schemas.openxmlformats.org/officeDocument/2006/relationships/oleObject" Target="../embeddings/oleObject87.bin"/><Relationship Id="rId4" Type="http://schemas.openxmlformats.org/officeDocument/2006/relationships/image" Target="../media/image86.wmf"/><Relationship Id="rId3" Type="http://schemas.openxmlformats.org/officeDocument/2006/relationships/oleObject" Target="../embeddings/oleObject86.bin"/><Relationship Id="rId2" Type="http://schemas.openxmlformats.org/officeDocument/2006/relationships/image" Target="../media/image85.wmf"/><Relationship Id="rId12" Type="http://schemas.openxmlformats.org/officeDocument/2006/relationships/vmlDrawing" Target="../drawings/vmlDrawing29.vml"/><Relationship Id="rId11" Type="http://schemas.openxmlformats.org/officeDocument/2006/relationships/slideLayout" Target="../slideLayouts/slideLayout7.xml"/><Relationship Id="rId10" Type="http://schemas.openxmlformats.org/officeDocument/2006/relationships/image" Target="../media/image89.wmf"/><Relationship Id="rId1" Type="http://schemas.openxmlformats.org/officeDocument/2006/relationships/oleObject" Target="../embeddings/oleObject85.bin"/></Relationships>
</file>

<file path=ppt/slides/_rels/slide33.xml.rels><?xml version="1.0" encoding="UTF-8" standalone="yes"?>
<Relationships xmlns="http://schemas.openxmlformats.org/package/2006/relationships"><Relationship Id="rId8" Type="http://schemas.openxmlformats.org/officeDocument/2006/relationships/vmlDrawing" Target="../drawings/vmlDrawing30.vml"/><Relationship Id="rId7" Type="http://schemas.openxmlformats.org/officeDocument/2006/relationships/slideLayout" Target="../slideLayouts/slideLayout7.xml"/><Relationship Id="rId6" Type="http://schemas.openxmlformats.org/officeDocument/2006/relationships/image" Target="../media/image92.wmf"/><Relationship Id="rId5" Type="http://schemas.openxmlformats.org/officeDocument/2006/relationships/oleObject" Target="../embeddings/oleObject92.bin"/><Relationship Id="rId4" Type="http://schemas.openxmlformats.org/officeDocument/2006/relationships/image" Target="../media/image91.wmf"/><Relationship Id="rId3" Type="http://schemas.openxmlformats.org/officeDocument/2006/relationships/oleObject" Target="../embeddings/oleObject91.bin"/><Relationship Id="rId2" Type="http://schemas.openxmlformats.org/officeDocument/2006/relationships/image" Target="../media/image90.wmf"/><Relationship Id="rId1" Type="http://schemas.openxmlformats.org/officeDocument/2006/relationships/oleObject" Target="../embeddings/oleObject90.bin"/></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7.xml"/><Relationship Id="rId2" Type="http://schemas.openxmlformats.org/officeDocument/2006/relationships/image" Target="../media/image74.wmf"/><Relationship Id="rId1" Type="http://schemas.openxmlformats.org/officeDocument/2006/relationships/oleObject" Target="../embeddings/oleObject93.bin"/></Relationships>
</file>

<file path=ppt/slides/_rels/slide35.xml.rels><?xml version="1.0" encoding="UTF-8" standalone="yes"?>
<Relationships xmlns="http://schemas.openxmlformats.org/package/2006/relationships"><Relationship Id="rId6" Type="http://schemas.openxmlformats.org/officeDocument/2006/relationships/vmlDrawing" Target="../drawings/vmlDrawing32.vml"/><Relationship Id="rId5" Type="http://schemas.openxmlformats.org/officeDocument/2006/relationships/slideLayout" Target="../slideLayouts/slideLayout7.xml"/><Relationship Id="rId4" Type="http://schemas.openxmlformats.org/officeDocument/2006/relationships/image" Target="../media/image94.wmf"/><Relationship Id="rId3" Type="http://schemas.openxmlformats.org/officeDocument/2006/relationships/oleObject" Target="../embeddings/oleObject95.bin"/><Relationship Id="rId2" Type="http://schemas.openxmlformats.org/officeDocument/2006/relationships/image" Target="../media/image93.wmf"/><Relationship Id="rId1" Type="http://schemas.openxmlformats.org/officeDocument/2006/relationships/oleObject" Target="../embeddings/oleObject94.bin"/></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33.vml"/><Relationship Id="rId3" Type="http://schemas.openxmlformats.org/officeDocument/2006/relationships/slideLayout" Target="../slideLayouts/slideLayout7.xml"/><Relationship Id="rId2" Type="http://schemas.openxmlformats.org/officeDocument/2006/relationships/image" Target="../media/image95.wmf"/><Relationship Id="rId1" Type="http://schemas.openxmlformats.org/officeDocument/2006/relationships/oleObject" Target="../embeddings/oleObject96.bin"/></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34.vml"/><Relationship Id="rId3" Type="http://schemas.openxmlformats.org/officeDocument/2006/relationships/slideLayout" Target="../slideLayouts/slideLayout7.xml"/><Relationship Id="rId2" Type="http://schemas.openxmlformats.org/officeDocument/2006/relationships/image" Target="../media/image96.wmf"/><Relationship Id="rId1" Type="http://schemas.openxmlformats.org/officeDocument/2006/relationships/oleObject" Target="../embeddings/oleObject97.bin"/></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00.wmf"/><Relationship Id="rId7" Type="http://schemas.openxmlformats.org/officeDocument/2006/relationships/oleObject" Target="../embeddings/oleObject101.bin"/><Relationship Id="rId6" Type="http://schemas.openxmlformats.org/officeDocument/2006/relationships/image" Target="../media/image99.wmf"/><Relationship Id="rId5" Type="http://schemas.openxmlformats.org/officeDocument/2006/relationships/oleObject" Target="../embeddings/oleObject100.bin"/><Relationship Id="rId4" Type="http://schemas.openxmlformats.org/officeDocument/2006/relationships/image" Target="../media/image98.wmf"/><Relationship Id="rId3" Type="http://schemas.openxmlformats.org/officeDocument/2006/relationships/oleObject" Target="../embeddings/oleObject99.bin"/><Relationship Id="rId2" Type="http://schemas.openxmlformats.org/officeDocument/2006/relationships/image" Target="../media/image97.wmf"/><Relationship Id="rId10" Type="http://schemas.openxmlformats.org/officeDocument/2006/relationships/vmlDrawing" Target="../drawings/vmlDrawing35.vml"/><Relationship Id="rId1" Type="http://schemas.openxmlformats.org/officeDocument/2006/relationships/oleObject" Target="../embeddings/oleObject98.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36.vml"/><Relationship Id="rId5" Type="http://schemas.openxmlformats.org/officeDocument/2006/relationships/slideLayout" Target="../slideLayouts/slideLayout7.xml"/><Relationship Id="rId4" Type="http://schemas.openxmlformats.org/officeDocument/2006/relationships/image" Target="../media/image102.wmf"/><Relationship Id="rId3" Type="http://schemas.openxmlformats.org/officeDocument/2006/relationships/oleObject" Target="../embeddings/oleObject103.bin"/><Relationship Id="rId2" Type="http://schemas.openxmlformats.org/officeDocument/2006/relationships/image" Target="../media/image101.wmf"/><Relationship Id="rId1" Type="http://schemas.openxmlformats.org/officeDocument/2006/relationships/oleObject" Target="../embeddings/oleObject10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5" Type="http://schemas.openxmlformats.org/officeDocument/2006/relationships/vmlDrawing" Target="../drawings/vmlDrawing37.v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image" Target="../media/image103.wmf"/><Relationship Id="rId1" Type="http://schemas.openxmlformats.org/officeDocument/2006/relationships/oleObject" Target="../embeddings/oleObject104.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7.xml"/><Relationship Id="rId2" Type="http://schemas.openxmlformats.org/officeDocument/2006/relationships/image" Target="../media/image104.wmf"/><Relationship Id="rId1" Type="http://schemas.openxmlformats.org/officeDocument/2006/relationships/oleObject" Target="../embeddings/oleObject105.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5.emf"/></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39.vml"/><Relationship Id="rId5" Type="http://schemas.openxmlformats.org/officeDocument/2006/relationships/slideLayout" Target="../slideLayouts/slideLayout7.xml"/><Relationship Id="rId4" Type="http://schemas.openxmlformats.org/officeDocument/2006/relationships/image" Target="../media/image107.wmf"/><Relationship Id="rId3" Type="http://schemas.openxmlformats.org/officeDocument/2006/relationships/oleObject" Target="../embeddings/oleObject107.bin"/><Relationship Id="rId2" Type="http://schemas.openxmlformats.org/officeDocument/2006/relationships/image" Target="../media/image106.wmf"/><Relationship Id="rId1" Type="http://schemas.openxmlformats.org/officeDocument/2006/relationships/oleObject" Target="../embeddings/oleObject106.bin"/></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7.xml"/><Relationship Id="rId2" Type="http://schemas.openxmlformats.org/officeDocument/2006/relationships/image" Target="../media/image108.wmf"/><Relationship Id="rId1" Type="http://schemas.openxmlformats.org/officeDocument/2006/relationships/oleObject" Target="../embeddings/oleObject108.bin"/></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41.vml"/><Relationship Id="rId5" Type="http://schemas.openxmlformats.org/officeDocument/2006/relationships/slideLayout" Target="../slideLayouts/slideLayout7.xml"/><Relationship Id="rId4" Type="http://schemas.openxmlformats.org/officeDocument/2006/relationships/image" Target="../media/image110.wmf"/><Relationship Id="rId3" Type="http://schemas.openxmlformats.org/officeDocument/2006/relationships/oleObject" Target="../embeddings/oleObject110.bin"/><Relationship Id="rId2" Type="http://schemas.openxmlformats.org/officeDocument/2006/relationships/image" Target="../media/image109.wmf"/><Relationship Id="rId1" Type="http://schemas.openxmlformats.org/officeDocument/2006/relationships/oleObject" Target="../embeddings/oleObject109.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42.vml"/><Relationship Id="rId5" Type="http://schemas.openxmlformats.org/officeDocument/2006/relationships/slideLayout" Target="../slideLayouts/slideLayout7.xml"/><Relationship Id="rId4" Type="http://schemas.openxmlformats.org/officeDocument/2006/relationships/image" Target="../media/image112.wmf"/><Relationship Id="rId3" Type="http://schemas.openxmlformats.org/officeDocument/2006/relationships/oleObject" Target="../embeddings/oleObject112.bin"/><Relationship Id="rId2" Type="http://schemas.openxmlformats.org/officeDocument/2006/relationships/image" Target="../media/image111.emf"/><Relationship Id="rId1" Type="http://schemas.openxmlformats.org/officeDocument/2006/relationships/oleObject" Target="../embeddings/oleObject111.bin"/></Relationships>
</file>

<file path=ppt/slides/_rels/slide57.xml.rels><?xml version="1.0" encoding="UTF-8" standalone="yes"?>
<Relationships xmlns="http://schemas.openxmlformats.org/package/2006/relationships"><Relationship Id="rId6" Type="http://schemas.openxmlformats.org/officeDocument/2006/relationships/vmlDrawing" Target="../drawings/vmlDrawing43.vml"/><Relationship Id="rId5" Type="http://schemas.openxmlformats.org/officeDocument/2006/relationships/slideLayout" Target="../slideLayouts/slideLayout7.xml"/><Relationship Id="rId4" Type="http://schemas.openxmlformats.org/officeDocument/2006/relationships/image" Target="../media/image114.wmf"/><Relationship Id="rId3" Type="http://schemas.openxmlformats.org/officeDocument/2006/relationships/oleObject" Target="../embeddings/oleObject114.bin"/><Relationship Id="rId2" Type="http://schemas.openxmlformats.org/officeDocument/2006/relationships/image" Target="../media/image113.wmf"/><Relationship Id="rId1" Type="http://schemas.openxmlformats.org/officeDocument/2006/relationships/oleObject" Target="../embeddings/oleObject113.bin"/></Relationships>
</file>

<file path=ppt/slides/_rels/slide58.xml.rels><?xml version="1.0" encoding="UTF-8" standalone="yes"?>
<Relationships xmlns="http://schemas.openxmlformats.org/package/2006/relationships"><Relationship Id="rId6" Type="http://schemas.openxmlformats.org/officeDocument/2006/relationships/vmlDrawing" Target="../drawings/vmlDrawing44.vml"/><Relationship Id="rId5" Type="http://schemas.openxmlformats.org/officeDocument/2006/relationships/slideLayout" Target="../slideLayouts/slideLayout7.xml"/><Relationship Id="rId4" Type="http://schemas.openxmlformats.org/officeDocument/2006/relationships/image" Target="../media/image116.wmf"/><Relationship Id="rId3" Type="http://schemas.openxmlformats.org/officeDocument/2006/relationships/oleObject" Target="../embeddings/oleObject116.bin"/><Relationship Id="rId2" Type="http://schemas.openxmlformats.org/officeDocument/2006/relationships/image" Target="../media/image115.wmf"/><Relationship Id="rId1" Type="http://schemas.openxmlformats.org/officeDocument/2006/relationships/oleObject" Target="../embeddings/oleObject115.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7.xml"/><Relationship Id="rId2" Type="http://schemas.openxmlformats.org/officeDocument/2006/relationships/image" Target="../media/image117.emf"/><Relationship Id="rId1" Type="http://schemas.openxmlformats.org/officeDocument/2006/relationships/oleObject" Target="../embeddings/oleObject117.bin"/></Relationships>
</file>

<file path=ppt/slides/_rels/slide61.xml.rels><?xml version="1.0" encoding="UTF-8" standalone="yes"?>
<Relationships xmlns="http://schemas.openxmlformats.org/package/2006/relationships"><Relationship Id="rId6" Type="http://schemas.openxmlformats.org/officeDocument/2006/relationships/vmlDrawing" Target="../drawings/vmlDrawing46.vml"/><Relationship Id="rId5" Type="http://schemas.openxmlformats.org/officeDocument/2006/relationships/slideLayout" Target="../slideLayouts/slideLayout7.xml"/><Relationship Id="rId4" Type="http://schemas.openxmlformats.org/officeDocument/2006/relationships/image" Target="../media/image119.wmf"/><Relationship Id="rId3" Type="http://schemas.openxmlformats.org/officeDocument/2006/relationships/oleObject" Target="../embeddings/oleObject119.bin"/><Relationship Id="rId2" Type="http://schemas.openxmlformats.org/officeDocument/2006/relationships/image" Target="../media/image118.wmf"/><Relationship Id="rId1" Type="http://schemas.openxmlformats.org/officeDocument/2006/relationships/oleObject" Target="../embeddings/oleObject118.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47.vml"/><Relationship Id="rId3" Type="http://schemas.openxmlformats.org/officeDocument/2006/relationships/slideLayout" Target="../slideLayouts/slideLayout7.xml"/><Relationship Id="rId2" Type="http://schemas.openxmlformats.org/officeDocument/2006/relationships/image" Target="../media/image120.wmf"/><Relationship Id="rId1" Type="http://schemas.openxmlformats.org/officeDocument/2006/relationships/oleObject" Target="../embeddings/oleObject120.bin"/></Relationships>
</file>

<file path=ppt/slides/_rels/slide63.xml.rels><?xml version="1.0" encoding="UTF-8" standalone="yes"?>
<Relationships xmlns="http://schemas.openxmlformats.org/package/2006/relationships"><Relationship Id="rId8" Type="http://schemas.openxmlformats.org/officeDocument/2006/relationships/vmlDrawing" Target="../drawings/vmlDrawing48.vml"/><Relationship Id="rId7" Type="http://schemas.openxmlformats.org/officeDocument/2006/relationships/slideLayout" Target="../slideLayouts/slideLayout7.xml"/><Relationship Id="rId6" Type="http://schemas.openxmlformats.org/officeDocument/2006/relationships/image" Target="../media/image123.wmf"/><Relationship Id="rId5" Type="http://schemas.openxmlformats.org/officeDocument/2006/relationships/oleObject" Target="../embeddings/oleObject123.bin"/><Relationship Id="rId4" Type="http://schemas.openxmlformats.org/officeDocument/2006/relationships/image" Target="../media/image122.wmf"/><Relationship Id="rId3" Type="http://schemas.openxmlformats.org/officeDocument/2006/relationships/oleObject" Target="../embeddings/oleObject122.bin"/><Relationship Id="rId2" Type="http://schemas.openxmlformats.org/officeDocument/2006/relationships/image" Target="../media/image121.wmf"/><Relationship Id="rId1" Type="http://schemas.openxmlformats.org/officeDocument/2006/relationships/oleObject" Target="../embeddings/oleObject121.bin"/></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49.vml"/><Relationship Id="rId3" Type="http://schemas.openxmlformats.org/officeDocument/2006/relationships/slideLayout" Target="../slideLayouts/slideLayout7.xml"/><Relationship Id="rId2" Type="http://schemas.openxmlformats.org/officeDocument/2006/relationships/image" Target="../media/image124.wmf"/><Relationship Id="rId1" Type="http://schemas.openxmlformats.org/officeDocument/2006/relationships/oleObject" Target="../embeddings/oleObject124.bin"/></Relationships>
</file>

<file path=ppt/slides/_rels/slide6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28.wmf"/><Relationship Id="rId7" Type="http://schemas.openxmlformats.org/officeDocument/2006/relationships/oleObject" Target="../embeddings/oleObject128.bin"/><Relationship Id="rId6" Type="http://schemas.openxmlformats.org/officeDocument/2006/relationships/image" Target="../media/image127.wmf"/><Relationship Id="rId5" Type="http://schemas.openxmlformats.org/officeDocument/2006/relationships/oleObject" Target="../embeddings/oleObject127.bin"/><Relationship Id="rId4" Type="http://schemas.openxmlformats.org/officeDocument/2006/relationships/image" Target="../media/image126.wmf"/><Relationship Id="rId3" Type="http://schemas.openxmlformats.org/officeDocument/2006/relationships/oleObject" Target="../embeddings/oleObject126.bin"/><Relationship Id="rId2" Type="http://schemas.openxmlformats.org/officeDocument/2006/relationships/image" Target="../media/image125.wmf"/><Relationship Id="rId10" Type="http://schemas.openxmlformats.org/officeDocument/2006/relationships/vmlDrawing" Target="../drawings/vmlDrawing50.vml"/><Relationship Id="rId1" Type="http://schemas.openxmlformats.org/officeDocument/2006/relationships/oleObject" Target="../embeddings/oleObject125.bin"/></Relationships>
</file>

<file path=ppt/slides/_rels/slide6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27.wmf"/><Relationship Id="rId7" Type="http://schemas.openxmlformats.org/officeDocument/2006/relationships/oleObject" Target="../embeddings/oleObject132.bin"/><Relationship Id="rId6" Type="http://schemas.openxmlformats.org/officeDocument/2006/relationships/image" Target="../media/image126.wmf"/><Relationship Id="rId5" Type="http://schemas.openxmlformats.org/officeDocument/2006/relationships/oleObject" Target="../embeddings/oleObject131.bin"/><Relationship Id="rId4" Type="http://schemas.openxmlformats.org/officeDocument/2006/relationships/image" Target="../media/image130.wmf"/><Relationship Id="rId3" Type="http://schemas.openxmlformats.org/officeDocument/2006/relationships/oleObject" Target="../embeddings/oleObject130.bin"/><Relationship Id="rId2" Type="http://schemas.openxmlformats.org/officeDocument/2006/relationships/image" Target="../media/image129.wmf"/><Relationship Id="rId10" Type="http://schemas.openxmlformats.org/officeDocument/2006/relationships/vmlDrawing" Target="../drawings/vmlDrawing51.vml"/><Relationship Id="rId1" Type="http://schemas.openxmlformats.org/officeDocument/2006/relationships/oleObject" Target="../embeddings/oleObject129.bin"/></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137.bin"/><Relationship Id="rId8" Type="http://schemas.openxmlformats.org/officeDocument/2006/relationships/image" Target="../media/image134.wmf"/><Relationship Id="rId7" Type="http://schemas.openxmlformats.org/officeDocument/2006/relationships/oleObject" Target="../embeddings/oleObject136.bin"/><Relationship Id="rId6" Type="http://schemas.openxmlformats.org/officeDocument/2006/relationships/image" Target="../media/image133.wmf"/><Relationship Id="rId5" Type="http://schemas.openxmlformats.org/officeDocument/2006/relationships/oleObject" Target="../embeddings/oleObject135.bin"/><Relationship Id="rId4" Type="http://schemas.openxmlformats.org/officeDocument/2006/relationships/image" Target="../media/image132.wmf"/><Relationship Id="rId3" Type="http://schemas.openxmlformats.org/officeDocument/2006/relationships/oleObject" Target="../embeddings/oleObject134.bin"/><Relationship Id="rId2" Type="http://schemas.openxmlformats.org/officeDocument/2006/relationships/image" Target="../media/image131.wmf"/><Relationship Id="rId12" Type="http://schemas.openxmlformats.org/officeDocument/2006/relationships/vmlDrawing" Target="../drawings/vmlDrawing52.vml"/><Relationship Id="rId11" Type="http://schemas.openxmlformats.org/officeDocument/2006/relationships/slideLayout" Target="../slideLayouts/slideLayout7.xml"/><Relationship Id="rId10" Type="http://schemas.openxmlformats.org/officeDocument/2006/relationships/image" Target="../media/image135.wmf"/><Relationship Id="rId1" Type="http://schemas.openxmlformats.org/officeDocument/2006/relationships/oleObject" Target="../embeddings/oleObject133.bin"/></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7.xml"/><Relationship Id="rId2" Type="http://schemas.openxmlformats.org/officeDocument/2006/relationships/image" Target="../media/image136.wmf"/><Relationship Id="rId1" Type="http://schemas.openxmlformats.org/officeDocument/2006/relationships/oleObject" Target="../embeddings/oleObject138.bin"/></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54.vml"/><Relationship Id="rId3" Type="http://schemas.openxmlformats.org/officeDocument/2006/relationships/slideLayout" Target="../slideLayouts/slideLayout7.xml"/><Relationship Id="rId2" Type="http://schemas.openxmlformats.org/officeDocument/2006/relationships/image" Target="../media/image137.wmf"/><Relationship Id="rId1" Type="http://schemas.openxmlformats.org/officeDocument/2006/relationships/oleObject" Target="../embeddings/oleObject139.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55.vml"/><Relationship Id="rId5" Type="http://schemas.openxmlformats.org/officeDocument/2006/relationships/slideLayout" Target="../slideLayouts/slideLayout7.xml"/><Relationship Id="rId4" Type="http://schemas.openxmlformats.org/officeDocument/2006/relationships/image" Target="../media/image139.wmf"/><Relationship Id="rId3" Type="http://schemas.openxmlformats.org/officeDocument/2006/relationships/oleObject" Target="../embeddings/oleObject141.bin"/><Relationship Id="rId2" Type="http://schemas.openxmlformats.org/officeDocument/2006/relationships/image" Target="../media/image138.wmf"/><Relationship Id="rId1" Type="http://schemas.openxmlformats.org/officeDocument/2006/relationships/oleObject" Target="../embeddings/oleObject140.bin"/></Relationships>
</file>

<file path=ppt/slides/_rels/slide72.xml.rels><?xml version="1.0" encoding="UTF-8" standalone="yes"?>
<Relationships xmlns="http://schemas.openxmlformats.org/package/2006/relationships"><Relationship Id="rId8" Type="http://schemas.openxmlformats.org/officeDocument/2006/relationships/vmlDrawing" Target="../drawings/vmlDrawing56.vml"/><Relationship Id="rId7" Type="http://schemas.openxmlformats.org/officeDocument/2006/relationships/slideLayout" Target="../slideLayouts/slideLayout7.xml"/><Relationship Id="rId6" Type="http://schemas.openxmlformats.org/officeDocument/2006/relationships/image" Target="../media/image142.wmf"/><Relationship Id="rId5" Type="http://schemas.openxmlformats.org/officeDocument/2006/relationships/oleObject" Target="../embeddings/oleObject144.bin"/><Relationship Id="rId4" Type="http://schemas.openxmlformats.org/officeDocument/2006/relationships/image" Target="../media/image141.wmf"/><Relationship Id="rId3" Type="http://schemas.openxmlformats.org/officeDocument/2006/relationships/oleObject" Target="../embeddings/oleObject143.bin"/><Relationship Id="rId2" Type="http://schemas.openxmlformats.org/officeDocument/2006/relationships/image" Target="../media/image140.wmf"/><Relationship Id="rId1" Type="http://schemas.openxmlformats.org/officeDocument/2006/relationships/oleObject" Target="../embeddings/oleObject142.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8" Type="http://schemas.openxmlformats.org/officeDocument/2006/relationships/vmlDrawing" Target="../drawings/vmlDrawing57.vml"/><Relationship Id="rId7" Type="http://schemas.openxmlformats.org/officeDocument/2006/relationships/slideLayout" Target="../slideLayouts/slideLayout7.xml"/><Relationship Id="rId6" Type="http://schemas.openxmlformats.org/officeDocument/2006/relationships/image" Target="../media/image145.wmf"/><Relationship Id="rId5" Type="http://schemas.openxmlformats.org/officeDocument/2006/relationships/oleObject" Target="../embeddings/oleObject147.bin"/><Relationship Id="rId4" Type="http://schemas.openxmlformats.org/officeDocument/2006/relationships/image" Target="../media/image144.wmf"/><Relationship Id="rId3" Type="http://schemas.openxmlformats.org/officeDocument/2006/relationships/oleObject" Target="../embeddings/oleObject146.bin"/><Relationship Id="rId2" Type="http://schemas.openxmlformats.org/officeDocument/2006/relationships/image" Target="../media/image143.wmf"/><Relationship Id="rId1" Type="http://schemas.openxmlformats.org/officeDocument/2006/relationships/oleObject" Target="../embeddings/oleObject145.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6" Type="http://schemas.openxmlformats.org/officeDocument/2006/relationships/vmlDrawing" Target="../drawings/vmlDrawing58.vml"/><Relationship Id="rId5" Type="http://schemas.openxmlformats.org/officeDocument/2006/relationships/slideLayout" Target="../slideLayouts/slideLayout7.xml"/><Relationship Id="rId4" Type="http://schemas.openxmlformats.org/officeDocument/2006/relationships/image" Target="../media/image147.wmf"/><Relationship Id="rId3" Type="http://schemas.openxmlformats.org/officeDocument/2006/relationships/oleObject" Target="../embeddings/oleObject149.bin"/><Relationship Id="rId2" Type="http://schemas.openxmlformats.org/officeDocument/2006/relationships/image" Target="../media/image146.wmf"/><Relationship Id="rId1" Type="http://schemas.openxmlformats.org/officeDocument/2006/relationships/oleObject" Target="../embeddings/oleObject148.bin"/></Relationships>
</file>

<file path=ppt/slides/_rels/slide7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51.wmf"/><Relationship Id="rId7" Type="http://schemas.openxmlformats.org/officeDocument/2006/relationships/oleObject" Target="../embeddings/oleObject153.bin"/><Relationship Id="rId6" Type="http://schemas.openxmlformats.org/officeDocument/2006/relationships/image" Target="../media/image150.wmf"/><Relationship Id="rId5" Type="http://schemas.openxmlformats.org/officeDocument/2006/relationships/oleObject" Target="../embeddings/oleObject152.bin"/><Relationship Id="rId4" Type="http://schemas.openxmlformats.org/officeDocument/2006/relationships/image" Target="../media/image149.wmf"/><Relationship Id="rId3" Type="http://schemas.openxmlformats.org/officeDocument/2006/relationships/oleObject" Target="../embeddings/oleObject151.bin"/><Relationship Id="rId2" Type="http://schemas.openxmlformats.org/officeDocument/2006/relationships/image" Target="../media/image148.wmf"/><Relationship Id="rId10" Type="http://schemas.openxmlformats.org/officeDocument/2006/relationships/vmlDrawing" Target="../drawings/vmlDrawing59.vml"/><Relationship Id="rId1" Type="http://schemas.openxmlformats.org/officeDocument/2006/relationships/oleObject" Target="../embeddings/oleObject150.bin"/></Relationships>
</file>

<file path=ppt/slides/_rels/slide79.xml.rels><?xml version="1.0" encoding="UTF-8" standalone="yes"?>
<Relationships xmlns="http://schemas.openxmlformats.org/package/2006/relationships"><Relationship Id="rId8" Type="http://schemas.openxmlformats.org/officeDocument/2006/relationships/vmlDrawing" Target="../drawings/vmlDrawing60.vml"/><Relationship Id="rId7" Type="http://schemas.openxmlformats.org/officeDocument/2006/relationships/slideLayout" Target="../slideLayouts/slideLayout7.xml"/><Relationship Id="rId6" Type="http://schemas.openxmlformats.org/officeDocument/2006/relationships/image" Target="../media/image154.wmf"/><Relationship Id="rId5" Type="http://schemas.openxmlformats.org/officeDocument/2006/relationships/oleObject" Target="../embeddings/oleObject156.bin"/><Relationship Id="rId4" Type="http://schemas.openxmlformats.org/officeDocument/2006/relationships/image" Target="../media/image153.wmf"/><Relationship Id="rId3" Type="http://schemas.openxmlformats.org/officeDocument/2006/relationships/oleObject" Target="../embeddings/oleObject155.bin"/><Relationship Id="rId2" Type="http://schemas.openxmlformats.org/officeDocument/2006/relationships/image" Target="../media/image152.wmf"/><Relationship Id="rId1" Type="http://schemas.openxmlformats.org/officeDocument/2006/relationships/oleObject" Target="../embeddings/oleObject154.bin"/></Relationships>
</file>

<file path=ppt/slides/_rels/slide80.xml.rels><?xml version="1.0" encoding="UTF-8" standalone="yes"?>
<Relationships xmlns="http://schemas.openxmlformats.org/package/2006/relationships"><Relationship Id="rId6" Type="http://schemas.openxmlformats.org/officeDocument/2006/relationships/vmlDrawing" Target="../drawings/vmlDrawing61.vml"/><Relationship Id="rId5" Type="http://schemas.openxmlformats.org/officeDocument/2006/relationships/slideLayout" Target="../slideLayouts/slideLayout7.xml"/><Relationship Id="rId4" Type="http://schemas.openxmlformats.org/officeDocument/2006/relationships/image" Target="../media/image156.wmf"/><Relationship Id="rId3" Type="http://schemas.openxmlformats.org/officeDocument/2006/relationships/oleObject" Target="../embeddings/oleObject158.bin"/><Relationship Id="rId2" Type="http://schemas.openxmlformats.org/officeDocument/2006/relationships/image" Target="../media/image155.wmf"/><Relationship Id="rId1" Type="http://schemas.openxmlformats.org/officeDocument/2006/relationships/oleObject" Target="../embeddings/oleObject15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9" name="动作按钮: 后退或前一项 2083">
            <a:hlinkClick r:id="" action="ppaction://hlinkshowjump?jump=previousslide"/>
          </p:cNvPr>
          <p:cNvSpPr/>
          <p:nvPr/>
        </p:nvSpPr>
        <p:spPr>
          <a:xfrm>
            <a:off x="8304213" y="6240463"/>
            <a:ext cx="457200" cy="6096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0" hangingPunct="0"/>
            <a:r>
              <a:rPr lang="zh-CN" altLang="en-US" dirty="0">
                <a:solidFill>
                  <a:srgbClr val="FF0066"/>
                </a:solidFill>
                <a:latin typeface="Times New Roman" panose="02020603050405020304" pitchFamily="18" charset="0"/>
                <a:ea typeface="宋体" panose="02010600030101010101" pitchFamily="2" charset="-122"/>
              </a:rPr>
              <a:t>上</a:t>
            </a:r>
            <a:endParaRPr lang="zh-CN" altLang="en-US" dirty="0">
              <a:latin typeface="Times New Roman" panose="02020603050405020304" pitchFamily="18" charset="0"/>
              <a:ea typeface="宋体" panose="02010600030101010101" pitchFamily="2" charset="-122"/>
            </a:endParaRPr>
          </a:p>
        </p:txBody>
      </p:sp>
      <p:sp>
        <p:nvSpPr>
          <p:cNvPr id="2050" name="动作按钮: 前进或下一项 2084">
            <a:hlinkClick r:id="" action="ppaction://hlinkshowjump?jump=nextslide"/>
          </p:cNvPr>
          <p:cNvSpPr/>
          <p:nvPr/>
        </p:nvSpPr>
        <p:spPr>
          <a:xfrm>
            <a:off x="8761413" y="6240463"/>
            <a:ext cx="381000" cy="609600"/>
          </a:xfrm>
          <a:prstGeom prst="actionButtonForwardNex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0" hangingPunct="0"/>
            <a:r>
              <a:rPr lang="zh-CN" altLang="en-US" dirty="0">
                <a:solidFill>
                  <a:srgbClr val="FF0066"/>
                </a:solidFill>
                <a:latin typeface="Times New Roman" panose="02020603050405020304" pitchFamily="18" charset="0"/>
                <a:ea typeface="宋体" panose="02010600030101010101" pitchFamily="2" charset="-122"/>
              </a:rPr>
              <a:t>下</a:t>
            </a:r>
            <a:endParaRPr lang="zh-CN" altLang="en-US" dirty="0">
              <a:solidFill>
                <a:srgbClr val="FF0066"/>
              </a:solidFill>
              <a:latin typeface="Times New Roman" panose="02020603050405020304" pitchFamily="18" charset="0"/>
              <a:ea typeface="宋体" panose="02010600030101010101" pitchFamily="2" charset="-122"/>
            </a:endParaRPr>
          </a:p>
        </p:txBody>
      </p:sp>
      <p:sp>
        <p:nvSpPr>
          <p:cNvPr id="2051" name="文本框 2085"/>
          <p:cNvSpPr txBox="1"/>
          <p:nvPr/>
        </p:nvSpPr>
        <p:spPr>
          <a:xfrm>
            <a:off x="2051050" y="1484313"/>
            <a:ext cx="5256213" cy="1871662"/>
          </a:xfrm>
          <a:prstGeom prst="rect">
            <a:avLst/>
          </a:prstGeom>
          <a:noFill/>
          <a:ln w="9525">
            <a:noFill/>
          </a:ln>
        </p:spPr>
        <p:txBody>
          <a:bodyPr lIns="0" tIns="0" rIns="0" bIns="0" anchor="t" anchorCtr="0"/>
          <a:p>
            <a:pPr algn="ctr"/>
            <a:r>
              <a:rPr lang="en-US" altLang="zh-CN" sz="4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4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电机与拖动基础</a:t>
            </a:r>
            <a:r>
              <a:rPr lang="en-US" altLang="zh-CN" sz="4000">
                <a:solidFill>
                  <a:srgbClr val="FF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4000">
              <a:solidFill>
                <a:srgbClr val="FF0000"/>
              </a:solidFill>
              <a:latin typeface="Times New Roman" panose="02020603050405020304" pitchFamily="18" charset="0"/>
              <a:ea typeface="宋体" panose="02010600030101010101" pitchFamily="2" charset="-122"/>
              <a:sym typeface="Symbol" panose="05050102010706020507" pitchFamily="18" charset="2"/>
            </a:endParaRPr>
          </a:p>
          <a:p>
            <a:pPr algn="ctr"/>
            <a:endParaRPr lang="en-US" altLang="zh-CN" sz="4000">
              <a:solidFill>
                <a:srgbClr val="FF0000"/>
              </a:solidFill>
              <a:latin typeface="Times New Roman" panose="02020603050405020304" pitchFamily="18" charset="0"/>
              <a:ea typeface="宋体" panose="02010600030101010101" pitchFamily="2" charset="-122"/>
              <a:sym typeface="Symbol" panose="05050102010706020507" pitchFamily="18" charset="2"/>
            </a:endParaRPr>
          </a:p>
          <a:p>
            <a:pPr algn="ctr"/>
            <a:r>
              <a:rPr lang="zh-CN" altLang="en-US" sz="4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习题答案分析</a:t>
            </a:r>
            <a:endParaRPr lang="zh-CN" altLang="en-US" sz="4000"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文本框 8295"/>
          <p:cNvSpPr txBox="1"/>
          <p:nvPr/>
        </p:nvSpPr>
        <p:spPr>
          <a:xfrm>
            <a:off x="2555875" y="333375"/>
            <a:ext cx="3241675" cy="647700"/>
          </a:xfrm>
          <a:prstGeom prst="rect">
            <a:avLst/>
          </a:prstGeom>
          <a:noFill/>
          <a:ln w="9525">
            <a:noFill/>
          </a:ln>
        </p:spPr>
        <p:txBody>
          <a:bodyPr lIns="0" tIns="0" rIns="0" bIns="0" anchor="t" anchorCtr="0"/>
          <a:p>
            <a:pPr algn="just"/>
            <a:r>
              <a:rPr lang="zh-CN" altLang="en-US" sz="2800" dirty="0">
                <a:solidFill>
                  <a:srgbClr val="FF0000"/>
                </a:solidFill>
                <a:latin typeface="Times New Roman" panose="02020603050405020304" pitchFamily="18" charset="0"/>
                <a:ea typeface="宋体" panose="02010600030101010101" pitchFamily="2" charset="-122"/>
                <a:sym typeface="Symbol" panose="05050102010706020507" pitchFamily="18" charset="2"/>
              </a:rPr>
              <a:t>第一章  磁路习题</a:t>
            </a:r>
            <a:endParaRPr lang="zh-CN" altLang="en-US" sz="2800" dirty="0">
              <a:solidFill>
                <a:srgbClr val="FF0000"/>
              </a:solidFill>
              <a:latin typeface="Times New Roman" panose="02020603050405020304" pitchFamily="18" charset="0"/>
              <a:ea typeface="宋体" panose="02010600030101010101" pitchFamily="2" charset="-122"/>
            </a:endParaRPr>
          </a:p>
        </p:txBody>
      </p:sp>
      <p:sp>
        <p:nvSpPr>
          <p:cNvPr id="3074" name="文本框 8296"/>
          <p:cNvSpPr txBox="1"/>
          <p:nvPr/>
        </p:nvSpPr>
        <p:spPr>
          <a:xfrm>
            <a:off x="250825" y="836613"/>
            <a:ext cx="8642350" cy="1655762"/>
          </a:xfrm>
          <a:prstGeom prst="rect">
            <a:avLst/>
          </a:prstGeom>
          <a:noFill/>
          <a:ln w="9525">
            <a:noFill/>
          </a:ln>
        </p:spPr>
        <p:txBody>
          <a:bodyPr lIns="0" tIns="0" rIns="0" bIns="0" anchor="t" anchorCtr="0"/>
          <a:p>
            <a:pPr marL="457200" indent="-457200" algn="just">
              <a:lnSpc>
                <a:spcPct val="105000"/>
              </a:lnSpc>
              <a:buNone/>
            </a:pPr>
            <a:r>
              <a:rPr lang="en-US" altLang="zh-CN" dirty="0">
                <a:latin typeface="Times New Roman" panose="02020603050405020304" pitchFamily="18" charset="0"/>
                <a:ea typeface="宋体" panose="02010600030101010101" pitchFamily="2" charset="-122"/>
                <a:sym typeface="Symbol" panose="05050102010706020507" pitchFamily="18" charset="2"/>
              </a:rPr>
              <a:t>1-5 </a:t>
            </a:r>
            <a:r>
              <a:rPr lang="zh-CN" altLang="en-US" dirty="0">
                <a:latin typeface="Times New Roman" panose="02020603050405020304" pitchFamily="18" charset="0"/>
                <a:ea typeface="宋体" panose="02010600030101010101" pitchFamily="2" charset="-122"/>
                <a:sym typeface="Symbol" panose="05050102010706020507" pitchFamily="18" charset="2"/>
              </a:rPr>
              <a:t>：一直流铁心，磁路面积</a:t>
            </a:r>
            <a:r>
              <a:rPr lang="en-US" altLang="zh-CN">
                <a:latin typeface="Times New Roman" panose="02020603050405020304" pitchFamily="18" charset="0"/>
                <a:ea typeface="宋体" panose="02010600030101010101" pitchFamily="2" charset="-122"/>
                <a:sym typeface="Symbol" panose="05050102010706020507" pitchFamily="18" charset="2"/>
              </a:rPr>
              <a:t>A=20cm²</a:t>
            </a:r>
            <a:r>
              <a:rPr lang="zh-CN" altLang="en-US" dirty="0">
                <a:latin typeface="Times New Roman" panose="02020603050405020304" pitchFamily="18" charset="0"/>
                <a:ea typeface="宋体" panose="02010600030101010101" pitchFamily="2" charset="-122"/>
                <a:sym typeface="Symbol" panose="05050102010706020507" pitchFamily="18" charset="2"/>
              </a:rPr>
              <a:t>，磁路平均长</a:t>
            </a:r>
            <a:r>
              <a:rPr lang="en-US" altLang="zh-CN" i="1">
                <a:latin typeface="Times New Roman" panose="02020603050405020304" pitchFamily="18" charset="0"/>
                <a:ea typeface="宋体" panose="02010600030101010101" pitchFamily="2" charset="-122"/>
                <a:sym typeface="Symbol" panose="05050102010706020507" pitchFamily="18" charset="2"/>
              </a:rPr>
              <a:t>l</a:t>
            </a:r>
            <a:r>
              <a:rPr lang="en-US" altLang="zh-CN" dirty="0">
                <a:latin typeface="Times New Roman" panose="02020603050405020304" pitchFamily="18" charset="0"/>
                <a:ea typeface="宋体" panose="02010600030101010101" pitchFamily="2" charset="-122"/>
                <a:sym typeface="Symbol" panose="05050102010706020507" pitchFamily="18" charset="2"/>
              </a:rPr>
              <a:t>=30cm</a:t>
            </a:r>
            <a:r>
              <a:rPr lang="zh-CN" altLang="en-US" dirty="0">
                <a:latin typeface="Times New Roman" panose="02020603050405020304" pitchFamily="18" charset="0"/>
                <a:ea typeface="宋体" panose="02010600030101010101" pitchFamily="2" charset="-122"/>
                <a:sym typeface="Symbol" panose="05050102010706020507" pitchFamily="18" charset="2"/>
              </a:rPr>
              <a:t>。</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a:p>
            <a:pPr marL="457200" indent="-457200" algn="just">
              <a:lnSpc>
                <a:spcPct val="105000"/>
              </a:lnSpc>
              <a:buAutoNum type="arabicParenBoth"/>
            </a:pPr>
            <a:r>
              <a:rPr lang="zh-CN" altLang="en-US" dirty="0">
                <a:latin typeface="Times New Roman" panose="02020603050405020304" pitchFamily="18" charset="0"/>
                <a:ea typeface="宋体" panose="02010600030101010101" pitchFamily="2" charset="-122"/>
                <a:sym typeface="Symbol" panose="05050102010706020507" pitchFamily="18" charset="2"/>
              </a:rPr>
              <a:t>若要产生磁通</a:t>
            </a:r>
            <a:r>
              <a:rPr lang="en-US" altLang="zh-CN" dirty="0">
                <a:latin typeface="Times New Roman" panose="02020603050405020304" pitchFamily="18" charset="0"/>
                <a:ea typeface="宋体" panose="02010600030101010101" pitchFamily="2" charset="-122"/>
                <a:sym typeface="Symbol" panose="05050102010706020507" pitchFamily="18" charset="2"/>
              </a:rPr>
              <a:t>Φ=0.002Wb</a:t>
            </a:r>
            <a:r>
              <a:rPr lang="zh-CN" altLang="en-US" dirty="0">
                <a:latin typeface="Times New Roman" panose="02020603050405020304" pitchFamily="18" charset="0"/>
                <a:ea typeface="宋体" panose="02010600030101010101" pitchFamily="2" charset="-122"/>
                <a:sym typeface="Symbol" panose="05050102010706020507" pitchFamily="18" charset="2"/>
              </a:rPr>
              <a:t>，则磁动势应为？</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a:p>
            <a:pPr marL="457200" indent="-457200" algn="just">
              <a:lnSpc>
                <a:spcPct val="105000"/>
              </a:lnSpc>
              <a:buAutoNum type="arabicParenBoth"/>
            </a:pPr>
            <a:r>
              <a:rPr lang="zh-CN" altLang="en-US" dirty="0">
                <a:latin typeface="Times New Roman" panose="02020603050405020304" pitchFamily="18" charset="0"/>
                <a:ea typeface="宋体" panose="02010600030101010101" pitchFamily="2" charset="-122"/>
                <a:sym typeface="Symbol" panose="05050102010706020507" pitchFamily="18" charset="2"/>
              </a:rPr>
              <a:t>如铁心上开</a:t>
            </a:r>
            <a:r>
              <a:rPr lang="en-US" altLang="zh-CN" dirty="0">
                <a:latin typeface="Times New Roman" panose="02020603050405020304" pitchFamily="18" charset="0"/>
                <a:ea typeface="宋体" panose="02010600030101010101" pitchFamily="2" charset="-122"/>
                <a:sym typeface="Symbol" panose="05050102010706020507" pitchFamily="18" charset="2"/>
              </a:rPr>
              <a:t>0.1cm</a:t>
            </a:r>
            <a:r>
              <a:rPr lang="zh-CN" altLang="en-US" dirty="0">
                <a:latin typeface="Times New Roman" panose="02020603050405020304" pitchFamily="18" charset="0"/>
                <a:ea typeface="宋体" panose="02010600030101010101" pitchFamily="2" charset="-122"/>
                <a:sym typeface="Symbol" panose="05050102010706020507" pitchFamily="18" charset="2"/>
              </a:rPr>
              <a:t>长的空气隙，忽略漏磁和边缘效应，问线圈应增加到多少安匝才能保持铁心磁通不变？</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a:p>
            <a:pPr marL="457200" indent="-457200" algn="just">
              <a:lnSpc>
                <a:spcPct val="105000"/>
              </a:lnSpc>
              <a:buNone/>
            </a:pPr>
            <a:r>
              <a:rPr lang="zh-CN" altLang="en-US" dirty="0">
                <a:latin typeface="Times New Roman" panose="02020603050405020304" pitchFamily="18" charset="0"/>
                <a:ea typeface="宋体" panose="02010600030101010101" pitchFamily="2" charset="-122"/>
                <a:sym typeface="Symbol" panose="05050102010706020507" pitchFamily="18" charset="2"/>
              </a:rPr>
              <a:t>      </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zh-CN" altLang="en-US" dirty="0">
                <a:latin typeface="Times New Roman" panose="02020603050405020304" pitchFamily="18" charset="0"/>
                <a:ea typeface="宋体" panose="02010600030101010101" pitchFamily="2" charset="-122"/>
                <a:sym typeface="Symbol" panose="05050102010706020507" pitchFamily="18" charset="2"/>
              </a:rPr>
              <a:t>铸铁中</a:t>
            </a:r>
            <a:r>
              <a:rPr lang="en-US" altLang="zh-CN">
                <a:latin typeface="Times New Roman" panose="02020603050405020304" pitchFamily="18" charset="0"/>
                <a:ea typeface="宋体" panose="02010600030101010101" pitchFamily="2" charset="-122"/>
                <a:sym typeface="Symbol" panose="05050102010706020507" pitchFamily="18" charset="2"/>
              </a:rPr>
              <a:t>B=1T,H=98A/cm)</a:t>
            </a:r>
            <a:endParaRPr lang="en-US" altLang="zh-CN">
              <a:latin typeface="Times New Roman" panose="02020603050405020304" pitchFamily="18" charset="0"/>
              <a:ea typeface="宋体" panose="02010600030101010101" pitchFamily="2" charset="-122"/>
            </a:endParaRPr>
          </a:p>
        </p:txBody>
      </p:sp>
      <p:sp>
        <p:nvSpPr>
          <p:cNvPr id="3075" name="文本框 8297"/>
          <p:cNvSpPr txBox="1"/>
          <p:nvPr/>
        </p:nvSpPr>
        <p:spPr>
          <a:xfrm>
            <a:off x="395288" y="3716338"/>
            <a:ext cx="7993062" cy="2355850"/>
          </a:xfrm>
          <a:prstGeom prst="rect">
            <a:avLst/>
          </a:prstGeom>
          <a:noFill/>
          <a:ln w="9525">
            <a:noFill/>
          </a:ln>
        </p:spPr>
        <p:txBody>
          <a:bodyPr anchor="t" anchorCtr="0">
            <a:spAutoFit/>
          </a:bodyPr>
          <a:p>
            <a:pPr algn="ctr"/>
            <a:r>
              <a:rPr lang="en-US" altLang="zh-CN">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F=Hl=</a:t>
            </a:r>
            <a:r>
              <a:rPr lang="en-US" altLang="zh-CN">
                <a:latin typeface="Times New Roman" panose="02020603050405020304" pitchFamily="18" charset="0"/>
                <a:ea typeface="宋体" panose="02010600030101010101" pitchFamily="2" charset="-122"/>
              </a:rPr>
              <a:t>98A/</a:t>
            </a:r>
            <a:r>
              <a:rPr lang="en-US" altLang="zh-CN" i="1">
                <a:latin typeface="Times New Roman" panose="02020603050405020304" pitchFamily="18" charset="0"/>
                <a:ea typeface="宋体" panose="02010600030101010101" pitchFamily="2" charset="-122"/>
              </a:rPr>
              <a:t>cm</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30</a:t>
            </a:r>
            <a:r>
              <a:rPr lang="en-US" altLang="zh-CN" i="1">
                <a:latin typeface="Times New Roman" panose="02020603050405020304" pitchFamily="18" charset="0"/>
                <a:ea typeface="宋体" panose="02010600030101010101" pitchFamily="2" charset="-122"/>
              </a:rPr>
              <a:t>cm=</a:t>
            </a:r>
            <a:r>
              <a:rPr lang="en-US" altLang="zh-CN">
                <a:latin typeface="Times New Roman" panose="02020603050405020304" pitchFamily="18" charset="0"/>
                <a:ea typeface="宋体" panose="02010600030101010101" pitchFamily="2" charset="-122"/>
              </a:rPr>
              <a:t>2940A;</a:t>
            </a:r>
            <a:endParaRPr lang="en-US" altLang="zh-CN">
              <a:latin typeface="Times New Roman" panose="02020603050405020304" pitchFamily="18" charset="0"/>
              <a:ea typeface="宋体" panose="02010600030101010101" pitchFamily="2" charset="-122"/>
            </a:endParaRPr>
          </a:p>
          <a:p>
            <a:pPr algn="ctr">
              <a:lnSpc>
                <a:spcPct val="130000"/>
              </a:lnSpc>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此时，</a:t>
            </a:r>
            <a:r>
              <a:rPr lang="en-US" altLang="zh-CN" i="1">
                <a:latin typeface="Times New Roman" panose="02020603050405020304" pitchFamily="18" charset="0"/>
                <a:ea typeface="宋体" panose="02010600030101010101" pitchFamily="2" charset="-122"/>
              </a:rPr>
              <a:t>F</a:t>
            </a:r>
            <a:r>
              <a:rPr lang="zh-CN" altLang="en-US" sz="1600" i="1" dirty="0">
                <a:latin typeface="Times New Roman" panose="02020603050405020304" pitchFamily="18" charset="0"/>
                <a:ea typeface="宋体" panose="02010600030101010101" pitchFamily="2" charset="-122"/>
              </a:rPr>
              <a:t>总</a:t>
            </a:r>
            <a:r>
              <a:rPr lang="en-US" altLang="zh-CN" i="1">
                <a:latin typeface="Times New Roman" panose="02020603050405020304" pitchFamily="18" charset="0"/>
                <a:ea typeface="宋体" panose="02010600030101010101" pitchFamily="2" charset="-122"/>
              </a:rPr>
              <a:t>=H</a:t>
            </a:r>
            <a:r>
              <a:rPr lang="zh-CN" altLang="en-US" sz="1600" i="1" dirty="0">
                <a:latin typeface="Times New Roman" panose="02020603050405020304" pitchFamily="18" charset="0"/>
                <a:ea typeface="宋体" panose="02010600030101010101" pitchFamily="2" charset="-122"/>
              </a:rPr>
              <a:t>铁</a:t>
            </a:r>
            <a:r>
              <a:rPr lang="en-US" altLang="zh-CN" i="1">
                <a:latin typeface="Times New Roman" panose="02020603050405020304" pitchFamily="18" charset="0"/>
                <a:ea typeface="宋体" panose="02010600030101010101" pitchFamily="2" charset="-122"/>
              </a:rPr>
              <a:t>l</a:t>
            </a:r>
            <a:r>
              <a:rPr lang="zh-CN" altLang="en-US" sz="1600" i="1" dirty="0">
                <a:latin typeface="Times New Roman" panose="02020603050405020304" pitchFamily="18" charset="0"/>
                <a:ea typeface="宋体" panose="02010600030101010101" pitchFamily="2" charset="-122"/>
              </a:rPr>
              <a:t>铁</a:t>
            </a:r>
            <a:r>
              <a:rPr lang="en-US" altLang="zh-CN" i="1">
                <a:latin typeface="Times New Roman" panose="02020603050405020304" pitchFamily="18" charset="0"/>
                <a:ea typeface="宋体" panose="02010600030101010101" pitchFamily="2" charset="-122"/>
              </a:rPr>
              <a:t>+H</a:t>
            </a:r>
            <a:r>
              <a:rPr lang="en-US" altLang="zh-CN" sz="1600"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t>
            </a:r>
            <a:endParaRPr lang="en-US" altLang="zh-CN">
              <a:latin typeface="Times New Roman" panose="02020603050405020304" pitchFamily="18" charset="0"/>
              <a:ea typeface="宋体" panose="02010600030101010101" pitchFamily="2" charset="-122"/>
            </a:endParaRPr>
          </a:p>
          <a:p>
            <a:pPr algn="ctr">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其中：</a:t>
            </a:r>
            <a:r>
              <a:rPr lang="en-US" altLang="zh-CN" i="1">
                <a:latin typeface="Times New Roman" panose="02020603050405020304" pitchFamily="18" charset="0"/>
                <a:ea typeface="宋体" panose="02010600030101010101" pitchFamily="2" charset="-122"/>
              </a:rPr>
              <a:t>H</a:t>
            </a:r>
            <a:r>
              <a:rPr lang="zh-CN" altLang="en-US" sz="1600" i="1" dirty="0">
                <a:latin typeface="Times New Roman" panose="02020603050405020304" pitchFamily="18" charset="0"/>
                <a:ea typeface="宋体" panose="02010600030101010101" pitchFamily="2" charset="-122"/>
              </a:rPr>
              <a:t>铁</a:t>
            </a:r>
            <a:r>
              <a:rPr lang="en-US" altLang="zh-CN" i="1">
                <a:latin typeface="Times New Roman" panose="02020603050405020304" pitchFamily="18" charset="0"/>
                <a:ea typeface="宋体" panose="02010600030101010101" pitchFamily="2" charset="-122"/>
              </a:rPr>
              <a:t>l</a:t>
            </a:r>
            <a:r>
              <a:rPr lang="zh-CN" altLang="en-US" sz="1600" i="1" dirty="0">
                <a:latin typeface="Times New Roman" panose="02020603050405020304" pitchFamily="18" charset="0"/>
                <a:ea typeface="宋体" panose="02010600030101010101" pitchFamily="2" charset="-122"/>
              </a:rPr>
              <a:t>铁</a:t>
            </a:r>
            <a:r>
              <a:rPr lang="en-US" altLang="zh-CN" i="1">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98</a:t>
            </a:r>
            <a:r>
              <a:rPr lang="en-US" altLang="zh-CN" i="1">
                <a:latin typeface="Times New Roman" panose="02020603050405020304" pitchFamily="18" charset="0"/>
                <a:ea typeface="宋体" panose="02010600030101010101" pitchFamily="2" charset="-122"/>
              </a:rPr>
              <a:t>A/cm</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29.9</a:t>
            </a:r>
            <a:r>
              <a:rPr lang="en-US" altLang="zh-CN" i="1">
                <a:latin typeface="Times New Roman" panose="02020603050405020304" pitchFamily="18" charset="0"/>
                <a:ea typeface="宋体" panose="02010600030101010101" pitchFamily="2" charset="-122"/>
              </a:rPr>
              <a:t>cm=</a:t>
            </a:r>
            <a:r>
              <a:rPr lang="en-US" altLang="zh-CN">
                <a:latin typeface="Times New Roman" panose="02020603050405020304" pitchFamily="18" charset="0"/>
                <a:ea typeface="宋体" panose="02010600030101010101" pitchFamily="2" charset="-122"/>
              </a:rPr>
              <a:t>2930.2A</a:t>
            </a:r>
            <a:r>
              <a:rPr lang="en-US" altLang="zh-CN" i="1">
                <a:latin typeface="Times New Roman" panose="02020603050405020304" pitchFamily="18" charset="0"/>
                <a:ea typeface="宋体" panose="02010600030101010101" pitchFamily="2" charset="-122"/>
              </a:rPr>
              <a:t>;</a:t>
            </a:r>
            <a:endParaRPr lang="en-US" altLang="zh-CN" i="1">
              <a:latin typeface="Times New Roman" panose="02020603050405020304" pitchFamily="18" charset="0"/>
              <a:ea typeface="宋体" panose="02010600030101010101" pitchFamily="2" charset="-122"/>
            </a:endParaRPr>
          </a:p>
          <a:p>
            <a:pPr algn="ctr">
              <a:lnSpc>
                <a:spcPct val="130000"/>
              </a:lnSpc>
            </a:pPr>
            <a:r>
              <a:rPr lang="en-US" altLang="zh-CN" i="1">
                <a:latin typeface="Times New Roman" panose="02020603050405020304" pitchFamily="18" charset="0"/>
                <a:ea typeface="宋体" panose="02010600030101010101" pitchFamily="2" charset="-122"/>
              </a:rPr>
              <a:t>         H</a:t>
            </a:r>
            <a:r>
              <a:rPr lang="en-US" altLang="zh-CN" sz="1600"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B/</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sz="16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=0.001/(4</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10</a:t>
            </a:r>
            <a:r>
              <a:rPr lang="en-US" altLang="zh-CN" baseline="30000">
                <a:latin typeface="Times New Roman" panose="02020603050405020304" pitchFamily="18" charset="0"/>
                <a:ea typeface="宋体" panose="02010600030101010101" pitchFamily="2" charset="-122"/>
              </a:rPr>
              <a:t>-7</a:t>
            </a:r>
            <a:r>
              <a:rPr lang="en-US" altLang="zh-CN">
                <a:latin typeface="Times New Roman" panose="02020603050405020304" pitchFamily="18" charset="0"/>
                <a:ea typeface="宋体" panose="02010600030101010101" pitchFamily="2" charset="-122"/>
              </a:rPr>
              <a:t>)=795.8A;</a:t>
            </a:r>
            <a:endParaRPr lang="en-US" altLang="zh-CN">
              <a:latin typeface="Times New Roman" panose="02020603050405020304" pitchFamily="18" charset="0"/>
              <a:ea typeface="宋体" panose="02010600030101010101" pitchFamily="2" charset="-122"/>
            </a:endParaRPr>
          </a:p>
          <a:p>
            <a:pPr algn="ctr">
              <a:lnSpc>
                <a:spcPct val="130000"/>
              </a:lnSpc>
            </a:pPr>
            <a:r>
              <a:rPr lang="en-US" altLang="zh-CN" i="1">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所以：</a:t>
            </a:r>
            <a:r>
              <a:rPr lang="en-US" altLang="zh-CN" i="1">
                <a:latin typeface="Times New Roman" panose="02020603050405020304" pitchFamily="18" charset="0"/>
                <a:ea typeface="宋体" panose="02010600030101010101" pitchFamily="2" charset="-122"/>
              </a:rPr>
              <a:t>F</a:t>
            </a:r>
            <a:r>
              <a:rPr lang="zh-CN" altLang="en-US" sz="1600" i="1" dirty="0">
                <a:latin typeface="Times New Roman" panose="02020603050405020304" pitchFamily="18" charset="0"/>
                <a:ea typeface="宋体" panose="02010600030101010101" pitchFamily="2" charset="-122"/>
              </a:rPr>
              <a:t>总</a:t>
            </a:r>
            <a:r>
              <a:rPr lang="en-US" altLang="zh-CN" i="1">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2930.2+795.8=3726A</a:t>
            </a:r>
            <a:endParaRPr lang="en-US" altLang="zh-CN">
              <a:latin typeface="Times New Roman" panose="02020603050405020304" pitchFamily="18" charset="0"/>
              <a:ea typeface="宋体" panose="02010600030101010101" pitchFamily="2" charset="-122"/>
            </a:endParaRPr>
          </a:p>
        </p:txBody>
      </p:sp>
      <p:sp>
        <p:nvSpPr>
          <p:cNvPr id="3076" name="矩形 8299"/>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077" name="矩形 8301"/>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3078" name="对象 8300"/>
          <p:cNvGraphicFramePr/>
          <p:nvPr/>
        </p:nvGraphicFramePr>
        <p:xfrm>
          <a:off x="2398713" y="2852738"/>
          <a:ext cx="4273550" cy="766762"/>
        </p:xfrm>
        <a:graphic>
          <a:graphicData uri="http://schemas.openxmlformats.org/presentationml/2006/ole">
            <mc:AlternateContent xmlns:mc="http://schemas.openxmlformats.org/markup-compatibility/2006">
              <mc:Choice xmlns:v="urn:schemas-microsoft-com:vml" Requires="v">
                <p:oleObj spid="_x0000_s2" name="" r:id="rId1" imgW="2183765" imgH="393700" progId="Equation.DSMT4">
                  <p:embed/>
                </p:oleObj>
              </mc:Choice>
              <mc:Fallback>
                <p:oleObj name="" r:id="rId1" imgW="2183765" imgH="393700" progId="Equation.DSMT4">
                  <p:embed/>
                  <p:pic>
                    <p:nvPicPr>
                      <p:cNvPr id="0" name="图片 1"/>
                      <p:cNvPicPr/>
                      <p:nvPr/>
                    </p:nvPicPr>
                    <p:blipFill>
                      <a:blip r:embed="rId2"/>
                      <a:stretch>
                        <a:fillRect/>
                      </a:stretch>
                    </p:blipFill>
                    <p:spPr>
                      <a:xfrm>
                        <a:off x="2398713" y="2852738"/>
                        <a:ext cx="4273550" cy="766762"/>
                      </a:xfrm>
                      <a:prstGeom prst="rect">
                        <a:avLst/>
                      </a:prstGeom>
                      <a:noFill/>
                      <a:ln w="38100">
                        <a:noFill/>
                        <a:miter/>
                      </a:ln>
                    </p:spPr>
                  </p:pic>
                </p:oleObj>
              </mc:Fallback>
            </mc:AlternateContent>
          </a:graphicData>
        </a:graphic>
      </p:graphicFrame>
      <p:sp>
        <p:nvSpPr>
          <p:cNvPr id="3079" name="文本框 8302"/>
          <p:cNvSpPr txBox="1"/>
          <p:nvPr/>
        </p:nvSpPr>
        <p:spPr>
          <a:xfrm>
            <a:off x="755650" y="2924175"/>
            <a:ext cx="796925"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25607"/>
          <p:cNvSpPr txBox="1"/>
          <p:nvPr/>
        </p:nvSpPr>
        <p:spPr>
          <a:xfrm>
            <a:off x="539750" y="692150"/>
            <a:ext cx="8135938" cy="1187450"/>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：一交流铁心线圈接电压</a:t>
            </a:r>
            <a:r>
              <a:rPr lang="en-US" altLang="zh-CN" dirty="0">
                <a:latin typeface="Times New Roman" panose="02020603050405020304" pitchFamily="18" charset="0"/>
                <a:ea typeface="宋体" panose="02010600030101010101" pitchFamily="2" charset="-122"/>
              </a:rPr>
              <a:t>100V</a:t>
            </a:r>
            <a:r>
              <a:rPr lang="zh-CN" altLang="en-US" dirty="0">
                <a:latin typeface="Times New Roman" panose="02020603050405020304" pitchFamily="18" charset="0"/>
                <a:ea typeface="宋体" panose="02010600030101010101" pitchFamily="2" charset="-122"/>
              </a:rPr>
              <a:t>，频率</a:t>
            </a:r>
            <a:r>
              <a:rPr lang="en-US" altLang="zh-CN" dirty="0">
                <a:latin typeface="Times New Roman" panose="02020603050405020304" pitchFamily="18" charset="0"/>
                <a:ea typeface="宋体" panose="02010600030101010101" pitchFamily="2" charset="-122"/>
              </a:rPr>
              <a:t>50Hz</a:t>
            </a:r>
            <a:r>
              <a:rPr lang="zh-CN" altLang="en-US" dirty="0">
                <a:latin typeface="Times New Roman" panose="02020603050405020304" pitchFamily="18" charset="0"/>
                <a:ea typeface="宋体" panose="02010600030101010101" pitchFamily="2" charset="-122"/>
              </a:rPr>
              <a:t>电源，其</a:t>
            </a:r>
            <a:r>
              <a:rPr lang="en-US" altLang="zh-CN" i="1">
                <a:latin typeface="Times New Roman" panose="02020603050405020304" pitchFamily="18" charset="0"/>
                <a:ea typeface="宋体" panose="02010600030101010101" pitchFamily="2" charset="-122"/>
              </a:rPr>
              <a:t>I</a:t>
            </a:r>
            <a:r>
              <a:rPr lang="en-US" altLang="zh-CN" sz="12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=0.5A</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cos</a:t>
            </a:r>
            <a:r>
              <a:rPr lang="en-US" altLang="zh-CN" i="1">
                <a:latin typeface="Times New Roman" panose="02020603050405020304" pitchFamily="18" charset="0"/>
                <a:ea typeface="宋体" panose="02010600030101010101" pitchFamily="2" charset="-122"/>
              </a:rPr>
              <a:t>φ</a:t>
            </a:r>
            <a:r>
              <a:rPr lang="en-US" altLang="zh-CN" sz="12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=0.07</a:t>
            </a:r>
            <a:r>
              <a:rPr lang="zh-CN" altLang="en-US" dirty="0">
                <a:latin typeface="Times New Roman" panose="02020603050405020304" pitchFamily="18" charset="0"/>
                <a:ea typeface="宋体" panose="02010600030101010101" pitchFamily="2" charset="-122"/>
              </a:rPr>
              <a:t>，将铁心抽出，则变为</a:t>
            </a:r>
            <a:r>
              <a:rPr lang="en-US" altLang="zh-CN" i="1">
                <a:latin typeface="Times New Roman" panose="02020603050405020304" pitchFamily="18" charset="0"/>
                <a:ea typeface="宋体" panose="02010600030101010101" pitchFamily="2" charset="-122"/>
              </a:rPr>
              <a:t>I</a:t>
            </a:r>
            <a:r>
              <a:rPr lang="en-US" altLang="zh-CN" sz="12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=10A</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cos</a:t>
            </a:r>
            <a:r>
              <a:rPr lang="en-US" altLang="zh-CN" i="1">
                <a:latin typeface="Times New Roman" panose="02020603050405020304" pitchFamily="18" charset="0"/>
                <a:ea typeface="宋体" panose="02010600030101010101" pitchFamily="2" charset="-122"/>
              </a:rPr>
              <a:t>φ</a:t>
            </a:r>
            <a:r>
              <a:rPr lang="en-US" altLang="zh-CN" sz="1200">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0.5</a:t>
            </a:r>
            <a:r>
              <a:rPr lang="zh-CN" altLang="en-US" dirty="0">
                <a:latin typeface="Times New Roman" panose="02020603050405020304" pitchFamily="18" charset="0"/>
                <a:ea typeface="宋体" panose="02010600030101010101" pitchFamily="2" charset="-122"/>
              </a:rPr>
              <a:t>，计算其等效电路各参数并画该铁心线圈相量图。</a:t>
            </a:r>
            <a:endParaRPr lang="zh-CN" altLang="en-US" dirty="0">
              <a:latin typeface="Times New Roman" panose="02020603050405020304" pitchFamily="18" charset="0"/>
              <a:ea typeface="宋体" panose="02010600030101010101" pitchFamily="2" charset="-122"/>
            </a:endParaRPr>
          </a:p>
        </p:txBody>
      </p:sp>
      <p:sp>
        <p:nvSpPr>
          <p:cNvPr id="4098" name="矩形 25610"/>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099" name="文本框 25615"/>
          <p:cNvSpPr txBox="1"/>
          <p:nvPr/>
        </p:nvSpPr>
        <p:spPr>
          <a:xfrm>
            <a:off x="250825" y="2276475"/>
            <a:ext cx="2376488" cy="457200"/>
          </a:xfrm>
          <a:prstGeom prst="rect">
            <a:avLst/>
          </a:prstGeom>
          <a:noFill/>
          <a:ln w="9525">
            <a:noFill/>
          </a:ln>
        </p:spPr>
        <p:txBody>
          <a:bodyPr anchor="t" anchorCtr="0">
            <a:spAutoFit/>
          </a:bodyPr>
          <a:p>
            <a:pPr algn="ctr"/>
            <a:r>
              <a:rPr lang="zh-CN" altLang="en-US"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sym typeface="Wingdings" panose="05000000000000000000" pitchFamily="2" charset="2"/>
              </a:rPr>
              <a:t>： </a:t>
            </a:r>
            <a:r>
              <a:rPr lang="en-US" altLang="zh-CN">
                <a:latin typeface="Times New Roman" panose="02020603050405020304" pitchFamily="18" charset="0"/>
                <a:ea typeface="宋体" panose="02010600030101010101" pitchFamily="2" charset="-122"/>
                <a:sym typeface="Wingdings" panose="05000000000000000000" pitchFamily="2" charset="2"/>
              </a:rPr>
              <a:t>(1)</a:t>
            </a:r>
            <a:endParaRPr lang="en-US" altLang="zh-CN">
              <a:latin typeface="Times New Roman" panose="02020603050405020304" pitchFamily="18" charset="0"/>
              <a:ea typeface="宋体" panose="02010600030101010101" pitchFamily="2" charset="-122"/>
            </a:endParaRPr>
          </a:p>
        </p:txBody>
      </p:sp>
      <p:sp>
        <p:nvSpPr>
          <p:cNvPr id="4100" name="矩形 25617"/>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4101" name="对象 25616"/>
          <p:cNvGraphicFramePr/>
          <p:nvPr/>
        </p:nvGraphicFramePr>
        <p:xfrm>
          <a:off x="2441575" y="2133600"/>
          <a:ext cx="4116388" cy="1700213"/>
        </p:xfrm>
        <a:graphic>
          <a:graphicData uri="http://schemas.openxmlformats.org/presentationml/2006/ole">
            <mc:AlternateContent xmlns:mc="http://schemas.openxmlformats.org/markup-compatibility/2006">
              <mc:Choice xmlns:v="urn:schemas-microsoft-com:vml" Requires="v">
                <p:oleObj spid="_x0000_s3077" name="" r:id="rId1" imgW="2056765" imgH="850265" progId="Equation.DSMT4">
                  <p:embed/>
                </p:oleObj>
              </mc:Choice>
              <mc:Fallback>
                <p:oleObj name="" r:id="rId1" imgW="2056765" imgH="850265" progId="Equation.DSMT4">
                  <p:embed/>
                  <p:pic>
                    <p:nvPicPr>
                      <p:cNvPr id="0" name="图片 3076"/>
                      <p:cNvPicPr/>
                      <p:nvPr/>
                    </p:nvPicPr>
                    <p:blipFill>
                      <a:blip r:embed="rId2"/>
                      <a:stretch>
                        <a:fillRect/>
                      </a:stretch>
                    </p:blipFill>
                    <p:spPr>
                      <a:xfrm>
                        <a:off x="2441575" y="2133600"/>
                        <a:ext cx="4116388" cy="1700213"/>
                      </a:xfrm>
                      <a:prstGeom prst="rect">
                        <a:avLst/>
                      </a:prstGeom>
                      <a:noFill/>
                      <a:ln w="38100">
                        <a:noFill/>
                        <a:miter/>
                      </a:ln>
                    </p:spPr>
                  </p:pic>
                </p:oleObj>
              </mc:Fallback>
            </mc:AlternateContent>
          </a:graphicData>
        </a:graphic>
      </p:graphicFrame>
      <p:sp>
        <p:nvSpPr>
          <p:cNvPr id="4102" name="矩形 25619"/>
          <p:cNvSpPr/>
          <p:nvPr/>
        </p:nvSpPr>
        <p:spPr>
          <a:xfrm>
            <a:off x="0" y="292417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4103" name="对象 25618"/>
          <p:cNvGraphicFramePr/>
          <p:nvPr/>
        </p:nvGraphicFramePr>
        <p:xfrm>
          <a:off x="2406650" y="4076700"/>
          <a:ext cx="3251200" cy="1676400"/>
        </p:xfrm>
        <a:graphic>
          <a:graphicData uri="http://schemas.openxmlformats.org/presentationml/2006/ole">
            <mc:AlternateContent xmlns:mc="http://schemas.openxmlformats.org/markup-compatibility/2006">
              <mc:Choice xmlns:v="urn:schemas-microsoft-com:vml" Requires="v">
                <p:oleObj spid="_x0000_s3078" name="" r:id="rId3" imgW="1840865" imgH="850265" progId="Equation.DSMT4">
                  <p:embed/>
                </p:oleObj>
              </mc:Choice>
              <mc:Fallback>
                <p:oleObj name="" r:id="rId3" imgW="1840865" imgH="850265" progId="Equation.DSMT4">
                  <p:embed/>
                  <p:pic>
                    <p:nvPicPr>
                      <p:cNvPr id="0" name="图片 3077"/>
                      <p:cNvPicPr/>
                      <p:nvPr/>
                    </p:nvPicPr>
                    <p:blipFill>
                      <a:blip r:embed="rId4"/>
                      <a:stretch>
                        <a:fillRect/>
                      </a:stretch>
                    </p:blipFill>
                    <p:spPr>
                      <a:xfrm>
                        <a:off x="2406650" y="4076700"/>
                        <a:ext cx="3251200" cy="1676400"/>
                      </a:xfrm>
                      <a:prstGeom prst="rect">
                        <a:avLst/>
                      </a:prstGeom>
                      <a:noFill/>
                      <a:ln w="38100">
                        <a:noFill/>
                        <a:miter/>
                      </a:ln>
                    </p:spPr>
                  </p:pic>
                </p:oleObj>
              </mc:Fallback>
            </mc:AlternateContent>
          </a:graphicData>
        </a:graphic>
      </p:graphicFrame>
      <p:sp>
        <p:nvSpPr>
          <p:cNvPr id="4104" name="文本框 25620"/>
          <p:cNvSpPr txBox="1"/>
          <p:nvPr/>
        </p:nvSpPr>
        <p:spPr>
          <a:xfrm>
            <a:off x="1258888" y="4221163"/>
            <a:ext cx="949325" cy="457200"/>
          </a:xfrm>
          <a:prstGeom prst="rect">
            <a:avLst/>
          </a:prstGeom>
          <a:noFill/>
          <a:ln w="9525">
            <a:noFill/>
          </a:ln>
        </p:spPr>
        <p:txBody>
          <a:bodyPr anchor="t" anchorCtr="0">
            <a:spAutoFit/>
          </a:bodyPr>
          <a:p>
            <a:pPr algn="ctr"/>
            <a:r>
              <a:rPr lang="en-US" altLang="zh-CN">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标题 26627"/>
          <p:cNvSpPr>
            <a:spLocks noGrp="1"/>
          </p:cNvSpPr>
          <p:nvPr>
            <p:ph type="title"/>
          </p:nvPr>
        </p:nvSpPr>
        <p:spPr>
          <a:xfrm>
            <a:off x="539750" y="692150"/>
            <a:ext cx="8208963" cy="1152525"/>
          </a:xfrm>
          <a:ln/>
        </p:spPr>
        <p:txBody>
          <a:bodyPr anchor="ctr" anchorCtr="0"/>
          <a:p>
            <a:pPr algn="l"/>
            <a:r>
              <a:rPr lang="en-US" altLang="zh-CN" sz="2400" b="1" dirty="0"/>
              <a:t>1-7</a:t>
            </a:r>
            <a:r>
              <a:rPr lang="zh-CN" altLang="en-US" sz="2400" b="1" dirty="0"/>
              <a:t>：若</a:t>
            </a:r>
            <a:r>
              <a:rPr lang="en-US" altLang="zh-CN" sz="2400" b="1" dirty="0"/>
              <a:t>1-6</a:t>
            </a:r>
            <a:r>
              <a:rPr lang="zh-CN" altLang="en-US" sz="2400" b="1" dirty="0"/>
              <a:t>中漏磁可忽略，且铁心磁通</a:t>
            </a:r>
            <a:r>
              <a:rPr lang="en-US" altLang="zh-CN" sz="2400" b="1" dirty="0"/>
              <a:t>Φ=0.0022sin314tWb</a:t>
            </a:r>
            <a:r>
              <a:rPr lang="zh-CN" altLang="en-US" sz="2400" b="1" dirty="0"/>
              <a:t>，计算线圈每匝感应电势？要获得</a:t>
            </a:r>
            <a:r>
              <a:rPr lang="en-US" altLang="zh-CN" sz="2400" b="1" dirty="0"/>
              <a:t>36V</a:t>
            </a:r>
            <a:r>
              <a:rPr lang="zh-CN" altLang="en-US" sz="2400" b="1" dirty="0"/>
              <a:t>的电压电源，铁心应绕一个多少匝的线圈？</a:t>
            </a:r>
            <a:endParaRPr lang="zh-CN" altLang="en-US" sz="2400" b="1" dirty="0"/>
          </a:p>
        </p:txBody>
      </p:sp>
      <p:sp>
        <p:nvSpPr>
          <p:cNvPr id="5122" name="文本占位符 26628"/>
          <p:cNvSpPr>
            <a:spLocks noGrp="1"/>
          </p:cNvSpPr>
          <p:nvPr>
            <p:ph idx="1"/>
          </p:nvPr>
        </p:nvSpPr>
        <p:spPr>
          <a:xfrm>
            <a:off x="611188" y="2133600"/>
            <a:ext cx="2952750" cy="431800"/>
          </a:xfrm>
          <a:ln/>
        </p:spPr>
        <p:txBody>
          <a:bodyPr anchor="t" anchorCtr="0"/>
          <a:p>
            <a:pPr>
              <a:buNone/>
            </a:pPr>
            <a:r>
              <a:rPr lang="zh-CN" altLang="en-US" sz="2400" b="1" dirty="0"/>
              <a:t>解：每匝电势为：</a:t>
            </a:r>
            <a:endParaRPr lang="zh-CN" altLang="en-US" sz="2400" b="1" dirty="0"/>
          </a:p>
        </p:txBody>
      </p:sp>
      <p:sp>
        <p:nvSpPr>
          <p:cNvPr id="5123" name="矩形 26630"/>
          <p:cNvSpPr/>
          <p:nvPr/>
        </p:nvSpPr>
        <p:spPr>
          <a:xfrm>
            <a:off x="0" y="302895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5124" name="对象 26629"/>
          <p:cNvGraphicFramePr/>
          <p:nvPr/>
        </p:nvGraphicFramePr>
        <p:xfrm>
          <a:off x="1042988" y="3141663"/>
          <a:ext cx="6022975" cy="1195387"/>
        </p:xfrm>
        <a:graphic>
          <a:graphicData uri="http://schemas.openxmlformats.org/presentationml/2006/ole">
            <mc:AlternateContent xmlns:mc="http://schemas.openxmlformats.org/markup-compatibility/2006">
              <mc:Choice xmlns:v="urn:schemas-microsoft-com:vml" Requires="v">
                <p:oleObj spid="_x0000_s3081" name="" r:id="rId1" imgW="2794000" imgH="609600" progId="Equation.DSMT4">
                  <p:embed/>
                </p:oleObj>
              </mc:Choice>
              <mc:Fallback>
                <p:oleObj name="" r:id="rId1" imgW="2794000" imgH="609600" progId="Equation.DSMT4">
                  <p:embed/>
                  <p:pic>
                    <p:nvPicPr>
                      <p:cNvPr id="0" name="图片 3080"/>
                      <p:cNvPicPr/>
                      <p:nvPr/>
                    </p:nvPicPr>
                    <p:blipFill>
                      <a:blip r:embed="rId2"/>
                      <a:stretch>
                        <a:fillRect/>
                      </a:stretch>
                    </p:blipFill>
                    <p:spPr>
                      <a:xfrm>
                        <a:off x="1042988" y="3141663"/>
                        <a:ext cx="6022975" cy="1195387"/>
                      </a:xfrm>
                      <a:prstGeom prst="rect">
                        <a:avLst/>
                      </a:prstGeom>
                      <a:noFill/>
                      <a:ln w="38100">
                        <a:noFill/>
                        <a:miter/>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标题 27651"/>
          <p:cNvSpPr>
            <a:spLocks noGrp="1"/>
          </p:cNvSpPr>
          <p:nvPr>
            <p:ph type="title" idx="4294967295"/>
          </p:nvPr>
        </p:nvSpPr>
        <p:spPr>
          <a:xfrm>
            <a:off x="179388" y="908050"/>
            <a:ext cx="8640762" cy="1800225"/>
          </a:xfrm>
          <a:ln/>
        </p:spPr>
        <p:txBody>
          <a:bodyPr anchor="ctr" anchorCtr="0"/>
          <a:p>
            <a:pPr algn="l"/>
            <a:r>
              <a:rPr lang="en-US" altLang="zh-CN" sz="2400" b="1" dirty="0"/>
              <a:t>2-13</a:t>
            </a:r>
            <a:r>
              <a:rPr lang="zh-CN" altLang="en-US" sz="2400" b="1" dirty="0"/>
              <a:t>：计算电机启动时的转矩，</a:t>
            </a:r>
            <a:r>
              <a:rPr lang="en-US" altLang="zh-CN" sz="2400" b="1" dirty="0"/>
              <a:t>H=190m</a:t>
            </a:r>
            <a:r>
              <a:rPr lang="zh-CN" altLang="en-US" sz="2400" b="1" dirty="0"/>
              <a:t>，</a:t>
            </a:r>
            <a:r>
              <a:rPr lang="en-US" altLang="zh-CN" sz="2400" b="1" i="1"/>
              <a:t>m</a:t>
            </a:r>
            <a:r>
              <a:rPr lang="en-US" altLang="zh-CN" sz="1200" b="1"/>
              <a:t>1</a:t>
            </a:r>
            <a:r>
              <a:rPr lang="en-US" altLang="zh-CN" sz="2400" b="1" dirty="0"/>
              <a:t>=650Kg</a:t>
            </a:r>
            <a:r>
              <a:rPr lang="zh-CN" altLang="en-US" sz="2400" b="1" dirty="0"/>
              <a:t>，矿物</a:t>
            </a:r>
            <a:r>
              <a:rPr lang="en-US" altLang="zh-CN" sz="2400" b="1" i="1"/>
              <a:t>m</a:t>
            </a:r>
            <a:r>
              <a:rPr lang="en-US" altLang="zh-CN" sz="1200" b="1"/>
              <a:t>2</a:t>
            </a:r>
            <a:r>
              <a:rPr lang="en-US" altLang="zh-CN" sz="2400" b="1" dirty="0"/>
              <a:t>=1000Kg</a:t>
            </a:r>
            <a:r>
              <a:rPr lang="zh-CN" altLang="en-US" sz="2400" b="1" dirty="0"/>
              <a:t>，罐笼</a:t>
            </a:r>
            <a:r>
              <a:rPr lang="en-US" altLang="zh-CN" sz="2400" b="1" i="1"/>
              <a:t>m</a:t>
            </a:r>
            <a:r>
              <a:rPr lang="en-US" altLang="zh-CN" sz="2400" b="1" dirty="0"/>
              <a:t>=1600kg</a:t>
            </a:r>
            <a:r>
              <a:rPr lang="zh-CN" altLang="en-US" sz="2400" b="1" dirty="0"/>
              <a:t>，</a:t>
            </a:r>
            <a:r>
              <a:rPr lang="en-US" altLang="zh-CN" sz="2400" b="1" i="1"/>
              <a:t>h</a:t>
            </a:r>
            <a:r>
              <a:rPr lang="en-US" altLang="zh-CN" sz="2400" b="1" dirty="0"/>
              <a:t>=18m</a:t>
            </a:r>
            <a:r>
              <a:rPr lang="zh-CN" altLang="en-US" sz="2400" b="1" dirty="0"/>
              <a:t>，每条钢丝长</a:t>
            </a:r>
            <a:r>
              <a:rPr lang="en-US" altLang="zh-CN" sz="2400" b="1" dirty="0"/>
              <a:t>280m</a:t>
            </a:r>
            <a:r>
              <a:rPr lang="zh-CN" altLang="en-US" sz="2400" b="1" dirty="0"/>
              <a:t>，</a:t>
            </a:r>
            <a:r>
              <a:rPr lang="en-US" altLang="zh-CN" sz="2400" b="1" i="1"/>
              <a:t>q</a:t>
            </a:r>
            <a:r>
              <a:rPr lang="en-US" altLang="zh-CN" sz="2400" b="1" dirty="0"/>
              <a:t>=1.6kg/m</a:t>
            </a:r>
            <a:r>
              <a:rPr lang="zh-CN" altLang="en-US" sz="2400" b="1" dirty="0"/>
              <a:t>，提升电机</a:t>
            </a:r>
            <a:r>
              <a:rPr lang="en-US" altLang="zh-CN" sz="2400" b="1" i="1"/>
              <a:t>n</a:t>
            </a:r>
            <a:r>
              <a:rPr lang="en-US" altLang="zh-CN" sz="1200" b="1"/>
              <a:t>N</a:t>
            </a:r>
            <a:r>
              <a:rPr lang="en-US" altLang="zh-CN" sz="2400" b="1" dirty="0"/>
              <a:t>=975r/min</a:t>
            </a:r>
            <a:r>
              <a:rPr lang="zh-CN" altLang="en-US" sz="2400" b="1" dirty="0"/>
              <a:t>，</a:t>
            </a:r>
            <a:r>
              <a:rPr lang="en-US" altLang="zh-CN" sz="2400" b="1" i="1"/>
              <a:t>J</a:t>
            </a:r>
            <a:r>
              <a:rPr lang="en-US" altLang="zh-CN" sz="1200" b="1"/>
              <a:t>M</a:t>
            </a:r>
            <a:r>
              <a:rPr lang="en-US" altLang="zh-CN" sz="2400" b="1"/>
              <a:t>=6.25kg·</a:t>
            </a:r>
            <a:r>
              <a:rPr lang="en-US" altLang="zh-CN" sz="2400" b="1" dirty="0"/>
              <a:t>m2</a:t>
            </a:r>
            <a:r>
              <a:rPr lang="zh-CN" altLang="en-US" sz="2400" b="1" dirty="0"/>
              <a:t>，提升机</a:t>
            </a:r>
            <a:r>
              <a:rPr lang="en-US" altLang="zh-CN" sz="2400" b="1" i="1"/>
              <a:t>J</a:t>
            </a:r>
            <a:r>
              <a:rPr lang="en-US" altLang="zh-CN" sz="2400" b="1"/>
              <a:t>m=10250kg·m</a:t>
            </a:r>
            <a:r>
              <a:rPr lang="en-US" altLang="zh-CN" sz="2400" b="1" baseline="30000"/>
              <a:t>2</a:t>
            </a:r>
            <a:r>
              <a:rPr lang="zh-CN" altLang="en-US" sz="2400" b="1" dirty="0"/>
              <a:t>，滚筒</a:t>
            </a:r>
            <a:r>
              <a:rPr lang="en-US" altLang="zh-CN" sz="2400" b="1" i="1"/>
              <a:t>D</a:t>
            </a:r>
            <a:r>
              <a:rPr lang="en-US" altLang="zh-CN" sz="2400" b="1" dirty="0"/>
              <a:t>=2m</a:t>
            </a:r>
            <a:r>
              <a:rPr lang="zh-CN" altLang="en-US" sz="2400" b="1" dirty="0"/>
              <a:t>，传动比</a:t>
            </a:r>
            <a:r>
              <a:rPr lang="en-US" altLang="zh-CN" sz="2400" b="1" i="1"/>
              <a:t>i</a:t>
            </a:r>
            <a:r>
              <a:rPr lang="en-US" altLang="zh-CN" sz="2400" b="1" dirty="0"/>
              <a:t>=20</a:t>
            </a:r>
            <a:r>
              <a:rPr lang="zh-CN" altLang="en-US" sz="2400" b="1" dirty="0"/>
              <a:t>，</a:t>
            </a:r>
            <a:r>
              <a:rPr lang="en-US" altLang="zh-CN" sz="2400" b="1" i="1"/>
              <a:t>η</a:t>
            </a:r>
            <a:r>
              <a:rPr lang="en-US" altLang="zh-CN" sz="2400" b="1" dirty="0"/>
              <a:t>=0.9</a:t>
            </a:r>
            <a:r>
              <a:rPr lang="zh-CN" altLang="en-US" sz="2400" b="1" dirty="0"/>
              <a:t>，天轮的</a:t>
            </a:r>
            <a:r>
              <a:rPr lang="en-US" altLang="zh-CN" sz="2400" b="1" i="1"/>
              <a:t>J</a:t>
            </a:r>
            <a:r>
              <a:rPr lang="en-US" altLang="zh-CN" sz="2400" b="1"/>
              <a:t>=375kg·m</a:t>
            </a:r>
            <a:r>
              <a:rPr lang="en-US" altLang="zh-CN" sz="2400" b="1" baseline="30000"/>
              <a:t>2</a:t>
            </a:r>
            <a:r>
              <a:rPr lang="zh-CN" altLang="en-US" sz="2400" b="1" dirty="0"/>
              <a:t>，</a:t>
            </a:r>
            <a:r>
              <a:rPr lang="en-US" altLang="zh-CN" sz="2400" b="1" i="1"/>
              <a:t>a</a:t>
            </a:r>
            <a:r>
              <a:rPr lang="en-US" altLang="zh-CN" sz="2400" b="1"/>
              <a:t>=0.5m/s</a:t>
            </a:r>
            <a:r>
              <a:rPr lang="en-US" altLang="zh-CN" sz="2400" b="1" baseline="30000"/>
              <a:t>2</a:t>
            </a:r>
            <a:r>
              <a:rPr lang="en-US" altLang="zh-CN" sz="2400" b="1"/>
              <a:t>.</a:t>
            </a:r>
            <a:endParaRPr lang="en-US" altLang="zh-CN" sz="2400" b="1"/>
          </a:p>
        </p:txBody>
      </p:sp>
      <p:sp>
        <p:nvSpPr>
          <p:cNvPr id="6146" name="矩形 27654"/>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6147" name="对象 27653"/>
          <p:cNvGraphicFramePr/>
          <p:nvPr/>
        </p:nvGraphicFramePr>
        <p:xfrm>
          <a:off x="473075" y="3476625"/>
          <a:ext cx="6399213" cy="452438"/>
        </p:xfrm>
        <a:graphic>
          <a:graphicData uri="http://schemas.openxmlformats.org/presentationml/2006/ole">
            <mc:AlternateContent xmlns:mc="http://schemas.openxmlformats.org/markup-compatibility/2006">
              <mc:Choice xmlns:v="urn:schemas-microsoft-com:vml" Requires="v">
                <p:oleObj spid="_x0000_s3082" name="" r:id="rId1" imgW="3009900" imgH="228600" progId="Equation.DSMT4">
                  <p:embed/>
                </p:oleObj>
              </mc:Choice>
              <mc:Fallback>
                <p:oleObj name="" r:id="rId1" imgW="3009900" imgH="228600" progId="Equation.DSMT4">
                  <p:embed/>
                  <p:pic>
                    <p:nvPicPr>
                      <p:cNvPr id="0" name="图片 3081"/>
                      <p:cNvPicPr/>
                      <p:nvPr/>
                    </p:nvPicPr>
                    <p:blipFill>
                      <a:blip r:embed="rId2"/>
                      <a:stretch>
                        <a:fillRect/>
                      </a:stretch>
                    </p:blipFill>
                    <p:spPr>
                      <a:xfrm>
                        <a:off x="473075" y="3476625"/>
                        <a:ext cx="6399213" cy="452438"/>
                      </a:xfrm>
                      <a:prstGeom prst="rect">
                        <a:avLst/>
                      </a:prstGeom>
                      <a:noFill/>
                      <a:ln w="38100">
                        <a:noFill/>
                        <a:miter/>
                      </a:ln>
                    </p:spPr>
                  </p:pic>
                </p:oleObj>
              </mc:Fallback>
            </mc:AlternateContent>
          </a:graphicData>
        </a:graphic>
      </p:graphicFrame>
      <p:sp>
        <p:nvSpPr>
          <p:cNvPr id="6148" name="矩形 27656"/>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6149" name="对象 27655"/>
          <p:cNvGraphicFramePr/>
          <p:nvPr/>
        </p:nvGraphicFramePr>
        <p:xfrm>
          <a:off x="2306638" y="3933825"/>
          <a:ext cx="4387850" cy="842963"/>
        </p:xfrm>
        <a:graphic>
          <a:graphicData uri="http://schemas.openxmlformats.org/presentationml/2006/ole">
            <mc:AlternateContent xmlns:mc="http://schemas.openxmlformats.org/markup-compatibility/2006">
              <mc:Choice xmlns:v="urn:schemas-microsoft-com:vml" Requires="v">
                <p:oleObj spid="_x0000_s3079" name="" r:id="rId3" imgW="2184400" imgH="419100" progId="Equation.DSMT4">
                  <p:embed/>
                </p:oleObj>
              </mc:Choice>
              <mc:Fallback>
                <p:oleObj name="" r:id="rId3" imgW="2184400" imgH="419100" progId="Equation.DSMT4">
                  <p:embed/>
                  <p:pic>
                    <p:nvPicPr>
                      <p:cNvPr id="0" name="图片 3078"/>
                      <p:cNvPicPr/>
                      <p:nvPr/>
                    </p:nvPicPr>
                    <p:blipFill>
                      <a:blip r:embed="rId4"/>
                      <a:stretch>
                        <a:fillRect/>
                      </a:stretch>
                    </p:blipFill>
                    <p:spPr>
                      <a:xfrm>
                        <a:off x="2306638" y="3933825"/>
                        <a:ext cx="4387850" cy="842963"/>
                      </a:xfrm>
                      <a:prstGeom prst="rect">
                        <a:avLst/>
                      </a:prstGeom>
                      <a:noFill/>
                      <a:ln w="38100">
                        <a:noFill/>
                        <a:miter/>
                      </a:ln>
                    </p:spPr>
                  </p:pic>
                </p:oleObj>
              </mc:Fallback>
            </mc:AlternateContent>
          </a:graphicData>
        </a:graphic>
      </p:graphicFrame>
      <p:sp>
        <p:nvSpPr>
          <p:cNvPr id="6150" name="矩形 27658"/>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6151" name="对象 27657"/>
          <p:cNvGraphicFramePr/>
          <p:nvPr/>
        </p:nvGraphicFramePr>
        <p:xfrm>
          <a:off x="1665288" y="5516563"/>
          <a:ext cx="4227512" cy="704850"/>
        </p:xfrm>
        <a:graphic>
          <a:graphicData uri="http://schemas.openxmlformats.org/presentationml/2006/ole">
            <mc:AlternateContent xmlns:mc="http://schemas.openxmlformats.org/markup-compatibility/2006">
              <mc:Choice xmlns:v="urn:schemas-microsoft-com:vml" Requires="v">
                <p:oleObj spid="_x0000_s3080" name="" r:id="rId5" imgW="2335530" imgH="393700" progId="Equation.DSMT4">
                  <p:embed/>
                </p:oleObj>
              </mc:Choice>
              <mc:Fallback>
                <p:oleObj name="" r:id="rId5" imgW="2335530" imgH="393700" progId="Equation.DSMT4">
                  <p:embed/>
                  <p:pic>
                    <p:nvPicPr>
                      <p:cNvPr id="0" name="图片 3079"/>
                      <p:cNvPicPr/>
                      <p:nvPr/>
                    </p:nvPicPr>
                    <p:blipFill>
                      <a:blip r:embed="rId6"/>
                      <a:stretch>
                        <a:fillRect/>
                      </a:stretch>
                    </p:blipFill>
                    <p:spPr>
                      <a:xfrm>
                        <a:off x="1665288" y="5516563"/>
                        <a:ext cx="4227512" cy="704850"/>
                      </a:xfrm>
                      <a:prstGeom prst="rect">
                        <a:avLst/>
                      </a:prstGeom>
                      <a:noFill/>
                      <a:ln w="38100">
                        <a:noFill/>
                        <a:miter/>
                      </a:ln>
                    </p:spPr>
                  </p:pic>
                </p:oleObj>
              </mc:Fallback>
            </mc:AlternateContent>
          </a:graphicData>
        </a:graphic>
      </p:graphicFrame>
      <p:sp>
        <p:nvSpPr>
          <p:cNvPr id="6152" name="矩形 27660"/>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153" name="矩形 27662"/>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154" name="文本框 27663"/>
          <p:cNvSpPr txBox="1"/>
          <p:nvPr/>
        </p:nvSpPr>
        <p:spPr>
          <a:xfrm>
            <a:off x="971550" y="333375"/>
            <a:ext cx="6624638" cy="519113"/>
          </a:xfrm>
          <a:prstGeom prst="rect">
            <a:avLst/>
          </a:prstGeom>
          <a:noFill/>
          <a:ln w="9525">
            <a:noFill/>
          </a:ln>
        </p:spPr>
        <p:txBody>
          <a:bodyPr anchor="t" anchorCtr="0">
            <a:spAutoFit/>
          </a:bodyPr>
          <a:p>
            <a:pPr algn="ctr"/>
            <a:r>
              <a:rPr lang="zh-CN" altLang="en-US" sz="2800" dirty="0">
                <a:solidFill>
                  <a:srgbClr val="FF0000"/>
                </a:solidFill>
                <a:latin typeface="Times New Roman" panose="02020603050405020304" pitchFamily="18" charset="0"/>
                <a:ea typeface="宋体" panose="02010600030101010101" pitchFamily="2" charset="-122"/>
              </a:rPr>
              <a:t>第二章 电力拖动动力学基础</a:t>
            </a:r>
            <a:endParaRPr lang="zh-CN" altLang="en-US" sz="2800" dirty="0">
              <a:solidFill>
                <a:srgbClr val="FF0000"/>
              </a:solidFill>
              <a:latin typeface="Times New Roman" panose="02020603050405020304" pitchFamily="18" charset="0"/>
              <a:ea typeface="宋体" panose="02010600030101010101" pitchFamily="2" charset="-122"/>
            </a:endParaRPr>
          </a:p>
        </p:txBody>
      </p:sp>
      <p:sp>
        <p:nvSpPr>
          <p:cNvPr id="6155" name="文本框 27664"/>
          <p:cNvSpPr txBox="1"/>
          <p:nvPr/>
        </p:nvSpPr>
        <p:spPr>
          <a:xfrm>
            <a:off x="242888" y="2852738"/>
            <a:ext cx="3860800"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解：作直线运动的总质量：</a:t>
            </a:r>
            <a:endParaRPr lang="zh-CN" altLang="en-US" dirty="0">
              <a:latin typeface="Times New Roman" panose="02020603050405020304" pitchFamily="18" charset="0"/>
              <a:ea typeface="宋体" panose="02010600030101010101" pitchFamily="2" charset="-122"/>
            </a:endParaRPr>
          </a:p>
        </p:txBody>
      </p:sp>
      <p:grpSp>
        <p:nvGrpSpPr>
          <p:cNvPr id="6156" name="组合 27666"/>
          <p:cNvGrpSpPr/>
          <p:nvPr/>
        </p:nvGrpSpPr>
        <p:grpSpPr>
          <a:xfrm>
            <a:off x="6948488" y="2636838"/>
            <a:ext cx="1830387" cy="3665537"/>
            <a:chOff x="7017" y="4872"/>
            <a:chExt cx="2883" cy="5772"/>
          </a:xfrm>
        </p:grpSpPr>
        <p:sp>
          <p:nvSpPr>
            <p:cNvPr id="6157" name="直接连接符 27667"/>
            <p:cNvSpPr/>
            <p:nvPr/>
          </p:nvSpPr>
          <p:spPr>
            <a:xfrm flipV="1">
              <a:off x="9177" y="5652"/>
              <a:ext cx="360" cy="624"/>
            </a:xfrm>
            <a:prstGeom prst="line">
              <a:avLst/>
            </a:prstGeom>
            <a:ln w="76200" cap="flat" cmpd="sng">
              <a:solidFill>
                <a:srgbClr val="000000"/>
              </a:solidFill>
              <a:prstDash val="solid"/>
              <a:round/>
              <a:headEnd type="none" w="med" len="med"/>
              <a:tailEnd type="none" w="med" len="med"/>
            </a:ln>
          </p:spPr>
        </p:sp>
        <p:sp>
          <p:nvSpPr>
            <p:cNvPr id="6158" name="直接连接符 27668"/>
            <p:cNvSpPr/>
            <p:nvPr/>
          </p:nvSpPr>
          <p:spPr>
            <a:xfrm flipV="1">
              <a:off x="7917" y="5964"/>
              <a:ext cx="540" cy="936"/>
            </a:xfrm>
            <a:prstGeom prst="line">
              <a:avLst/>
            </a:prstGeom>
            <a:ln w="76200" cap="flat" cmpd="sng">
              <a:solidFill>
                <a:srgbClr val="000000"/>
              </a:solidFill>
              <a:prstDash val="solid"/>
              <a:round/>
              <a:headEnd type="none" w="med" len="med"/>
              <a:tailEnd type="none" w="med" len="med"/>
            </a:ln>
          </p:spPr>
        </p:sp>
        <p:sp>
          <p:nvSpPr>
            <p:cNvPr id="6159" name="椭圆 27669"/>
            <p:cNvSpPr/>
            <p:nvPr/>
          </p:nvSpPr>
          <p:spPr>
            <a:xfrm>
              <a:off x="7557" y="6432"/>
              <a:ext cx="900" cy="936"/>
            </a:xfrm>
            <a:prstGeom prst="ellipse">
              <a:avLst/>
            </a:prstGeom>
            <a:solidFill>
              <a:srgbClr val="993300"/>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6160" name="组合 27670"/>
            <p:cNvGrpSpPr/>
            <p:nvPr/>
          </p:nvGrpSpPr>
          <p:grpSpPr>
            <a:xfrm>
              <a:off x="7392" y="9864"/>
              <a:ext cx="345" cy="780"/>
              <a:chOff x="7377" y="9552"/>
              <a:chExt cx="360" cy="1092"/>
            </a:xfrm>
          </p:grpSpPr>
          <p:sp>
            <p:nvSpPr>
              <p:cNvPr id="6161" name="矩形 27671"/>
              <p:cNvSpPr/>
              <p:nvPr/>
            </p:nvSpPr>
            <p:spPr>
              <a:xfrm>
                <a:off x="7377" y="10020"/>
                <a:ext cx="360" cy="62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162" name="等腰三角形 27672"/>
              <p:cNvSpPr/>
              <p:nvPr/>
            </p:nvSpPr>
            <p:spPr>
              <a:xfrm>
                <a:off x="7377" y="9552"/>
                <a:ext cx="360" cy="468"/>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163" name="直接连接符 27673"/>
              <p:cNvSpPr/>
              <p:nvPr/>
            </p:nvSpPr>
            <p:spPr>
              <a:xfrm flipH="1">
                <a:off x="7377" y="10020"/>
                <a:ext cx="360" cy="624"/>
              </a:xfrm>
              <a:prstGeom prst="line">
                <a:avLst/>
              </a:prstGeom>
              <a:ln w="9525" cap="flat" cmpd="sng">
                <a:solidFill>
                  <a:srgbClr val="000000"/>
                </a:solidFill>
                <a:prstDash val="solid"/>
                <a:round/>
                <a:headEnd type="none" w="med" len="med"/>
                <a:tailEnd type="none" w="med" len="med"/>
              </a:ln>
            </p:spPr>
          </p:sp>
          <p:sp>
            <p:nvSpPr>
              <p:cNvPr id="6164" name="直接连接符 27674"/>
              <p:cNvSpPr/>
              <p:nvPr/>
            </p:nvSpPr>
            <p:spPr>
              <a:xfrm>
                <a:off x="7377" y="10020"/>
                <a:ext cx="360" cy="624"/>
              </a:xfrm>
              <a:prstGeom prst="line">
                <a:avLst/>
              </a:prstGeom>
              <a:ln w="9525" cap="flat" cmpd="sng">
                <a:solidFill>
                  <a:srgbClr val="000000"/>
                </a:solidFill>
                <a:prstDash val="solid"/>
                <a:round/>
                <a:headEnd type="none" w="med" len="med"/>
                <a:tailEnd type="none" w="med" len="med"/>
              </a:ln>
            </p:spPr>
          </p:sp>
        </p:grpSp>
        <p:sp>
          <p:nvSpPr>
            <p:cNvPr id="6165" name="直接连接符 27675"/>
            <p:cNvSpPr/>
            <p:nvPr/>
          </p:nvSpPr>
          <p:spPr>
            <a:xfrm flipH="1">
              <a:off x="7557" y="6744"/>
              <a:ext cx="15" cy="3120"/>
            </a:xfrm>
            <a:prstGeom prst="line">
              <a:avLst/>
            </a:prstGeom>
            <a:ln w="28575" cap="flat" cmpd="sng">
              <a:solidFill>
                <a:srgbClr val="000000"/>
              </a:solidFill>
              <a:prstDash val="solid"/>
              <a:round/>
              <a:headEnd type="none" w="med" len="med"/>
              <a:tailEnd type="none" w="med" len="med"/>
            </a:ln>
          </p:spPr>
        </p:sp>
        <p:grpSp>
          <p:nvGrpSpPr>
            <p:cNvPr id="6166" name="组合 27676"/>
            <p:cNvGrpSpPr/>
            <p:nvPr/>
          </p:nvGrpSpPr>
          <p:grpSpPr>
            <a:xfrm>
              <a:off x="8277" y="7680"/>
              <a:ext cx="360" cy="780"/>
              <a:chOff x="7377" y="9552"/>
              <a:chExt cx="360" cy="1092"/>
            </a:xfrm>
          </p:grpSpPr>
          <p:sp>
            <p:nvSpPr>
              <p:cNvPr id="6167" name="矩形 27677"/>
              <p:cNvSpPr/>
              <p:nvPr/>
            </p:nvSpPr>
            <p:spPr>
              <a:xfrm>
                <a:off x="7377" y="10020"/>
                <a:ext cx="360" cy="62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168" name="等腰三角形 27678"/>
              <p:cNvSpPr/>
              <p:nvPr/>
            </p:nvSpPr>
            <p:spPr>
              <a:xfrm>
                <a:off x="7377" y="9552"/>
                <a:ext cx="360" cy="468"/>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169" name="直接连接符 27679"/>
              <p:cNvSpPr/>
              <p:nvPr/>
            </p:nvSpPr>
            <p:spPr>
              <a:xfrm flipH="1">
                <a:off x="7377" y="10020"/>
                <a:ext cx="360" cy="624"/>
              </a:xfrm>
              <a:prstGeom prst="line">
                <a:avLst/>
              </a:prstGeom>
              <a:ln w="9525" cap="flat" cmpd="sng">
                <a:solidFill>
                  <a:srgbClr val="000000"/>
                </a:solidFill>
                <a:prstDash val="solid"/>
                <a:round/>
                <a:headEnd type="none" w="med" len="med"/>
                <a:tailEnd type="none" w="med" len="med"/>
              </a:ln>
            </p:spPr>
          </p:sp>
          <p:sp>
            <p:nvSpPr>
              <p:cNvPr id="6170" name="直接连接符 27680"/>
              <p:cNvSpPr/>
              <p:nvPr/>
            </p:nvSpPr>
            <p:spPr>
              <a:xfrm>
                <a:off x="7377" y="10020"/>
                <a:ext cx="360" cy="624"/>
              </a:xfrm>
              <a:prstGeom prst="line">
                <a:avLst/>
              </a:prstGeom>
              <a:ln w="9525" cap="flat" cmpd="sng">
                <a:solidFill>
                  <a:srgbClr val="000000"/>
                </a:solidFill>
                <a:prstDash val="solid"/>
                <a:round/>
                <a:headEnd type="none" w="med" len="med"/>
                <a:tailEnd type="none" w="med" len="med"/>
              </a:ln>
            </p:spPr>
          </p:sp>
        </p:grpSp>
        <p:sp>
          <p:nvSpPr>
            <p:cNvPr id="6171" name="直接连接符 27681"/>
            <p:cNvSpPr/>
            <p:nvPr/>
          </p:nvSpPr>
          <p:spPr>
            <a:xfrm>
              <a:off x="8457" y="6900"/>
              <a:ext cx="0" cy="780"/>
            </a:xfrm>
            <a:prstGeom prst="line">
              <a:avLst/>
            </a:prstGeom>
            <a:ln w="28575" cap="flat" cmpd="sng">
              <a:solidFill>
                <a:srgbClr val="000000"/>
              </a:solidFill>
              <a:prstDash val="solid"/>
              <a:round/>
              <a:headEnd type="none" w="med" len="med"/>
              <a:tailEnd type="none" w="med" len="med"/>
            </a:ln>
          </p:spPr>
        </p:sp>
        <p:sp>
          <p:nvSpPr>
            <p:cNvPr id="6172" name="矩形 27682"/>
            <p:cNvSpPr/>
            <p:nvPr/>
          </p:nvSpPr>
          <p:spPr>
            <a:xfrm rot="-3636080">
              <a:off x="9216" y="5214"/>
              <a:ext cx="900" cy="468"/>
            </a:xfrm>
            <a:prstGeom prst="rect">
              <a:avLst/>
            </a:prstGeom>
            <a:solidFill>
              <a:srgbClr val="008000"/>
            </a:solidFill>
            <a:ln w="38100" cap="flat" cmpd="sng">
              <a:solidFill>
                <a:srgbClr val="000000"/>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173" name="矩形 27683"/>
            <p:cNvSpPr/>
            <p:nvPr/>
          </p:nvSpPr>
          <p:spPr>
            <a:xfrm rot="-3636080">
              <a:off x="8794" y="5357"/>
              <a:ext cx="353" cy="1440"/>
            </a:xfrm>
            <a:prstGeom prst="rect">
              <a:avLst/>
            </a:prstGeom>
            <a:solidFill>
              <a:srgbClr val="FFFFFF"/>
            </a:solidFill>
            <a:ln w="38100" cap="flat" cmpd="sng">
              <a:solidFill>
                <a:srgbClr val="000000"/>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174" name="直接连接符 27684"/>
            <p:cNvSpPr/>
            <p:nvPr/>
          </p:nvSpPr>
          <p:spPr>
            <a:xfrm flipV="1">
              <a:off x="8637" y="5808"/>
              <a:ext cx="180" cy="312"/>
            </a:xfrm>
            <a:prstGeom prst="line">
              <a:avLst/>
            </a:prstGeom>
            <a:ln w="38100" cap="flat" cmpd="sng">
              <a:solidFill>
                <a:srgbClr val="000000"/>
              </a:solidFill>
              <a:prstDash val="solid"/>
              <a:round/>
              <a:headEnd type="none" w="med" len="med"/>
              <a:tailEnd type="none" w="med" len="med"/>
            </a:ln>
          </p:spPr>
        </p:sp>
        <p:sp>
          <p:nvSpPr>
            <p:cNvPr id="6175" name="直接连接符 27685"/>
            <p:cNvSpPr/>
            <p:nvPr/>
          </p:nvSpPr>
          <p:spPr>
            <a:xfrm>
              <a:off x="7017" y="10644"/>
              <a:ext cx="360" cy="0"/>
            </a:xfrm>
            <a:prstGeom prst="line">
              <a:avLst/>
            </a:prstGeom>
            <a:ln w="19050" cap="flat" cmpd="sng">
              <a:solidFill>
                <a:srgbClr val="993300"/>
              </a:solidFill>
              <a:prstDash val="solid"/>
              <a:round/>
              <a:headEnd type="none" w="med" len="med"/>
              <a:tailEnd type="none" w="med" len="med"/>
            </a:ln>
          </p:spPr>
        </p:sp>
        <p:sp>
          <p:nvSpPr>
            <p:cNvPr id="6176" name="直接连接符 27686"/>
            <p:cNvSpPr/>
            <p:nvPr/>
          </p:nvSpPr>
          <p:spPr>
            <a:xfrm>
              <a:off x="7017" y="8304"/>
              <a:ext cx="360" cy="0"/>
            </a:xfrm>
            <a:prstGeom prst="line">
              <a:avLst/>
            </a:prstGeom>
            <a:ln w="19050" cap="flat" cmpd="sng">
              <a:solidFill>
                <a:srgbClr val="993300"/>
              </a:solidFill>
              <a:prstDash val="solid"/>
              <a:round/>
              <a:headEnd type="none" w="med" len="med"/>
              <a:tailEnd type="none" w="med" len="med"/>
            </a:ln>
          </p:spPr>
        </p:sp>
        <p:sp>
          <p:nvSpPr>
            <p:cNvPr id="6177" name="直接连接符 27687"/>
            <p:cNvSpPr/>
            <p:nvPr/>
          </p:nvSpPr>
          <p:spPr>
            <a:xfrm>
              <a:off x="7197" y="8304"/>
              <a:ext cx="0" cy="2340"/>
            </a:xfrm>
            <a:prstGeom prst="line">
              <a:avLst/>
            </a:prstGeom>
            <a:ln w="9525" cap="flat" cmpd="sng">
              <a:solidFill>
                <a:srgbClr val="993300"/>
              </a:solidFill>
              <a:prstDash val="solid"/>
              <a:round/>
              <a:headEnd type="triangle" w="med" len="med"/>
              <a:tailEnd type="triangle" w="med" len="med"/>
            </a:ln>
          </p:spPr>
        </p:sp>
        <p:sp>
          <p:nvSpPr>
            <p:cNvPr id="6178" name="文本框 27688"/>
            <p:cNvSpPr txBox="1"/>
            <p:nvPr/>
          </p:nvSpPr>
          <p:spPr>
            <a:xfrm>
              <a:off x="7017" y="8616"/>
              <a:ext cx="360" cy="468"/>
            </a:xfrm>
            <a:prstGeom prst="rect">
              <a:avLst/>
            </a:prstGeom>
            <a:noFill/>
            <a:ln w="9525">
              <a:noFill/>
            </a:ln>
          </p:spPr>
          <p:txBody>
            <a:bodyPr lIns="0" tIns="0" rIns="0" bIns="0" anchor="t" anchorCtr="0"/>
            <a:p>
              <a:pPr algn="just"/>
              <a:r>
                <a:rPr lang="en-US" altLang="zh-CN" sz="1400">
                  <a:solidFill>
                    <a:srgbClr val="800000"/>
                  </a:solidFill>
                  <a:latin typeface="Times New Roman" panose="02020603050405020304" pitchFamily="18" charset="0"/>
                  <a:ea typeface="宋体" panose="02010600030101010101" pitchFamily="2" charset="-122"/>
                </a:rPr>
                <a:t>H</a:t>
              </a:r>
              <a:endParaRPr lang="en-US" altLang="zh-CN">
                <a:latin typeface="Times New Roman" panose="02020603050405020304" pitchFamily="18" charset="0"/>
                <a:ea typeface="宋体" panose="02010600030101010101" pitchFamily="2" charset="-122"/>
              </a:endParaRPr>
            </a:p>
          </p:txBody>
        </p:sp>
        <p:sp>
          <p:nvSpPr>
            <p:cNvPr id="6179" name="文本框 27689"/>
            <p:cNvSpPr txBox="1"/>
            <p:nvPr/>
          </p:nvSpPr>
          <p:spPr>
            <a:xfrm>
              <a:off x="7917" y="10020"/>
              <a:ext cx="1260" cy="468"/>
            </a:xfrm>
            <a:prstGeom prst="rect">
              <a:avLst/>
            </a:prstGeom>
            <a:noFill/>
            <a:ln w="9525">
              <a:noFill/>
            </a:ln>
          </p:spPr>
          <p:txBody>
            <a:bodyPr lIns="0" tIns="0" rIns="0" bIns="0" anchor="t" anchorCtr="0"/>
            <a:p>
              <a:pPr algn="just"/>
              <a:r>
                <a:rPr lang="en-US" altLang="zh-CN" sz="1400">
                  <a:solidFill>
                    <a:srgbClr val="800000"/>
                  </a:solidFill>
                  <a:latin typeface="Times New Roman" panose="02020603050405020304" pitchFamily="18" charset="0"/>
                  <a:ea typeface="宋体" panose="02010600030101010101" pitchFamily="2" charset="-122"/>
                </a:rPr>
                <a:t>Q+Q</a:t>
              </a:r>
              <a:r>
                <a:rPr lang="en-US" altLang="zh-CN" sz="1400" baseline="-25000">
                  <a:solidFill>
                    <a:srgbClr val="800000"/>
                  </a:solidFill>
                  <a:latin typeface="Times New Roman" panose="02020603050405020304" pitchFamily="18" charset="0"/>
                  <a:ea typeface="宋体" panose="02010600030101010101" pitchFamily="2" charset="-122"/>
                </a:rPr>
                <a:t>1</a:t>
              </a:r>
              <a:r>
                <a:rPr lang="en-US" altLang="zh-CN" sz="1400">
                  <a:solidFill>
                    <a:srgbClr val="800000"/>
                  </a:solidFill>
                  <a:latin typeface="Times New Roman" panose="02020603050405020304" pitchFamily="18" charset="0"/>
                  <a:ea typeface="宋体" panose="02010600030101010101" pitchFamily="2" charset="-122"/>
                </a:rPr>
                <a:t>+Q</a:t>
              </a:r>
              <a:r>
                <a:rPr lang="en-US" altLang="zh-CN" sz="1400" baseline="-25000">
                  <a:solidFill>
                    <a:srgbClr val="800000"/>
                  </a:solidFill>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6180" name="文本框 27690"/>
            <p:cNvSpPr txBox="1"/>
            <p:nvPr/>
          </p:nvSpPr>
          <p:spPr>
            <a:xfrm>
              <a:off x="8277" y="8616"/>
              <a:ext cx="900" cy="468"/>
            </a:xfrm>
            <a:prstGeom prst="rect">
              <a:avLst/>
            </a:prstGeom>
            <a:noFill/>
            <a:ln w="9525">
              <a:noFill/>
            </a:ln>
          </p:spPr>
          <p:txBody>
            <a:bodyPr lIns="0" tIns="0" rIns="0" bIns="0" anchor="t" anchorCtr="0"/>
            <a:p>
              <a:pPr algn="just"/>
              <a:r>
                <a:rPr lang="en-US" altLang="zh-CN" sz="1400">
                  <a:solidFill>
                    <a:srgbClr val="800000"/>
                  </a:solidFill>
                  <a:latin typeface="Times New Roman" panose="02020603050405020304" pitchFamily="18" charset="0"/>
                  <a:ea typeface="宋体" panose="02010600030101010101" pitchFamily="2" charset="-122"/>
                </a:rPr>
                <a:t>Q+Q</a:t>
              </a:r>
              <a:r>
                <a:rPr lang="en-US" altLang="zh-CN" sz="1400" baseline="-25000">
                  <a:solidFill>
                    <a:srgbClr val="800000"/>
                  </a:solidFill>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6181" name="文本框 27691"/>
            <p:cNvSpPr txBox="1"/>
            <p:nvPr/>
          </p:nvSpPr>
          <p:spPr>
            <a:xfrm>
              <a:off x="8817" y="4872"/>
              <a:ext cx="900" cy="468"/>
            </a:xfrm>
            <a:prstGeom prst="rect">
              <a:avLst/>
            </a:prstGeom>
            <a:noFill/>
            <a:ln w="9525">
              <a:noFill/>
            </a:ln>
          </p:spPr>
          <p:txBody>
            <a:bodyPr lIns="0" tIns="0" rIns="0" bIns="0" anchor="t" anchorCtr="0"/>
            <a:p>
              <a:pPr algn="just"/>
              <a:r>
                <a:rPr lang="zh-CN" altLang="en-US" sz="1400" dirty="0">
                  <a:solidFill>
                    <a:srgbClr val="800000"/>
                  </a:solidFill>
                  <a:latin typeface="Times New Roman" panose="02020603050405020304" pitchFamily="18" charset="0"/>
                  <a:ea typeface="宋体" panose="02010600030101010101" pitchFamily="2" charset="-122"/>
                </a:rPr>
                <a:t>电动机</a:t>
              </a:r>
              <a:endParaRPr lang="zh-CN" altLang="en-US" dirty="0">
                <a:latin typeface="Times New Roman" panose="02020603050405020304" pitchFamily="18" charset="0"/>
                <a:ea typeface="宋体" panose="02010600030101010101" pitchFamily="2" charset="-122"/>
              </a:endParaRPr>
            </a:p>
          </p:txBody>
        </p:sp>
      </p:grpSp>
      <p:sp>
        <p:nvSpPr>
          <p:cNvPr id="6182" name="文本框 27692"/>
          <p:cNvSpPr txBox="1"/>
          <p:nvPr/>
        </p:nvSpPr>
        <p:spPr>
          <a:xfrm>
            <a:off x="395288" y="4149725"/>
            <a:ext cx="2022475"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转动惯量为：</a:t>
            </a:r>
            <a:endParaRPr lang="zh-CN" altLang="en-US" dirty="0">
              <a:latin typeface="Times New Roman" panose="02020603050405020304" pitchFamily="18" charset="0"/>
              <a:ea typeface="宋体" panose="02010600030101010101" pitchFamily="2" charset="-122"/>
            </a:endParaRPr>
          </a:p>
        </p:txBody>
      </p:sp>
      <p:sp>
        <p:nvSpPr>
          <p:cNvPr id="6183" name="文本框 27693"/>
          <p:cNvSpPr txBox="1"/>
          <p:nvPr/>
        </p:nvSpPr>
        <p:spPr>
          <a:xfrm>
            <a:off x="539750" y="4868863"/>
            <a:ext cx="3554413"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系统折算后总转动惯量：</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文本框 32771"/>
          <p:cNvSpPr txBox="1"/>
          <p:nvPr/>
        </p:nvSpPr>
        <p:spPr>
          <a:xfrm>
            <a:off x="611188" y="2636838"/>
            <a:ext cx="2735262" cy="639762"/>
          </a:xfrm>
          <a:prstGeom prst="rect">
            <a:avLst/>
          </a:prstGeom>
          <a:noFill/>
          <a:ln w="9525">
            <a:noFill/>
          </a:ln>
        </p:spPr>
        <p:txBody>
          <a:bodyPr anchor="t" anchorCtr="0">
            <a:spAutoFit/>
          </a:bodyPr>
          <a:p>
            <a:pPr>
              <a:lnSpc>
                <a:spcPct val="150000"/>
              </a:lnSpc>
              <a:spcBef>
                <a:spcPct val="20000"/>
              </a:spcBef>
              <a:spcAft>
                <a:spcPct val="20000"/>
              </a:spcAft>
            </a:pPr>
            <a:r>
              <a:rPr lang="zh-CN" altLang="en-US" dirty="0">
                <a:latin typeface="Times New Roman" panose="02020603050405020304" pitchFamily="18" charset="0"/>
                <a:ea typeface="宋体" panose="02010600030101010101" pitchFamily="2" charset="-122"/>
              </a:rPr>
              <a:t>电动机转速加速度：</a:t>
            </a:r>
            <a:endParaRPr lang="zh-CN" altLang="en-US" dirty="0">
              <a:latin typeface="Times New Roman" panose="02020603050405020304" pitchFamily="18" charset="0"/>
              <a:ea typeface="宋体" panose="02010600030101010101" pitchFamily="2" charset="-122"/>
            </a:endParaRPr>
          </a:p>
        </p:txBody>
      </p:sp>
      <p:sp>
        <p:nvSpPr>
          <p:cNvPr id="7170" name="矩形 32773"/>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7171" name="对象 32772"/>
          <p:cNvGraphicFramePr/>
          <p:nvPr/>
        </p:nvGraphicFramePr>
        <p:xfrm>
          <a:off x="2544763" y="3429000"/>
          <a:ext cx="3335337" cy="727075"/>
        </p:xfrm>
        <a:graphic>
          <a:graphicData uri="http://schemas.openxmlformats.org/presentationml/2006/ole">
            <mc:AlternateContent xmlns:mc="http://schemas.openxmlformats.org/markup-compatibility/2006">
              <mc:Choice xmlns:v="urn:schemas-microsoft-com:vml" Requires="v">
                <p:oleObj spid="_x0000_s3093" name="" r:id="rId1" imgW="1790065" imgH="393700" progId="Equation.DSMT4">
                  <p:embed/>
                </p:oleObj>
              </mc:Choice>
              <mc:Fallback>
                <p:oleObj name="" r:id="rId1" imgW="1790065" imgH="393700" progId="Equation.DSMT4">
                  <p:embed/>
                  <p:pic>
                    <p:nvPicPr>
                      <p:cNvPr id="0" name="图片 3092"/>
                      <p:cNvPicPr/>
                      <p:nvPr/>
                    </p:nvPicPr>
                    <p:blipFill>
                      <a:blip r:embed="rId2"/>
                      <a:stretch>
                        <a:fillRect/>
                      </a:stretch>
                    </p:blipFill>
                    <p:spPr>
                      <a:xfrm>
                        <a:off x="2544763" y="3429000"/>
                        <a:ext cx="3335337" cy="727075"/>
                      </a:xfrm>
                      <a:prstGeom prst="rect">
                        <a:avLst/>
                      </a:prstGeom>
                      <a:noFill/>
                      <a:ln w="38100">
                        <a:noFill/>
                        <a:miter/>
                      </a:ln>
                    </p:spPr>
                  </p:pic>
                </p:oleObj>
              </mc:Fallback>
            </mc:AlternateContent>
          </a:graphicData>
        </a:graphic>
      </p:graphicFrame>
      <p:sp>
        <p:nvSpPr>
          <p:cNvPr id="7172" name="矩形 32775"/>
          <p:cNvSpPr/>
          <p:nvPr/>
        </p:nvSpPr>
        <p:spPr>
          <a:xfrm>
            <a:off x="0" y="32337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7173" name="对象 32774"/>
          <p:cNvGraphicFramePr/>
          <p:nvPr/>
        </p:nvGraphicFramePr>
        <p:xfrm>
          <a:off x="1427163" y="5013325"/>
          <a:ext cx="6288087" cy="763588"/>
        </p:xfrm>
        <a:graphic>
          <a:graphicData uri="http://schemas.openxmlformats.org/presentationml/2006/ole">
            <mc:AlternateContent xmlns:mc="http://schemas.openxmlformats.org/markup-compatibility/2006">
              <mc:Choice xmlns:v="urn:schemas-microsoft-com:vml" Requires="v">
                <p:oleObj spid="_x0000_s3094" name="" r:id="rId3" imgW="3211830" imgH="393700" progId="Equation.DSMT4">
                  <p:embed/>
                </p:oleObj>
              </mc:Choice>
              <mc:Fallback>
                <p:oleObj name="" r:id="rId3" imgW="3211830" imgH="393700" progId="Equation.DSMT4">
                  <p:embed/>
                  <p:pic>
                    <p:nvPicPr>
                      <p:cNvPr id="0" name="图片 3093"/>
                      <p:cNvPicPr/>
                      <p:nvPr/>
                    </p:nvPicPr>
                    <p:blipFill>
                      <a:blip r:embed="rId4"/>
                      <a:stretch>
                        <a:fillRect/>
                      </a:stretch>
                    </p:blipFill>
                    <p:spPr>
                      <a:xfrm>
                        <a:off x="1427163" y="5013325"/>
                        <a:ext cx="6288087" cy="763588"/>
                      </a:xfrm>
                      <a:prstGeom prst="rect">
                        <a:avLst/>
                      </a:prstGeom>
                      <a:noFill/>
                      <a:ln w="38100">
                        <a:noFill/>
                        <a:miter/>
                      </a:ln>
                    </p:spPr>
                  </p:pic>
                </p:oleObj>
              </mc:Fallback>
            </mc:AlternateContent>
          </a:graphicData>
        </a:graphic>
      </p:graphicFrame>
      <p:graphicFrame>
        <p:nvGraphicFramePr>
          <p:cNvPr id="7174" name="对象 32777"/>
          <p:cNvGraphicFramePr/>
          <p:nvPr/>
        </p:nvGraphicFramePr>
        <p:xfrm>
          <a:off x="3384550" y="1844675"/>
          <a:ext cx="2232025" cy="741363"/>
        </p:xfrm>
        <a:graphic>
          <a:graphicData uri="http://schemas.openxmlformats.org/presentationml/2006/ole">
            <mc:AlternateContent xmlns:mc="http://schemas.openxmlformats.org/markup-compatibility/2006">
              <mc:Choice xmlns:v="urn:schemas-microsoft-com:vml" Requires="v">
                <p:oleObj spid="_x0000_s3095" name="" r:id="rId5" imgW="1168400" imgH="419100" progId="Equation.DSMT4">
                  <p:embed/>
                </p:oleObj>
              </mc:Choice>
              <mc:Fallback>
                <p:oleObj name="" r:id="rId5" imgW="1168400" imgH="419100" progId="Equation.DSMT4">
                  <p:embed/>
                  <p:pic>
                    <p:nvPicPr>
                      <p:cNvPr id="0" name="图片 3094"/>
                      <p:cNvPicPr/>
                      <p:nvPr/>
                    </p:nvPicPr>
                    <p:blipFill>
                      <a:blip r:embed="rId6"/>
                      <a:stretch>
                        <a:fillRect/>
                      </a:stretch>
                    </p:blipFill>
                    <p:spPr>
                      <a:xfrm>
                        <a:off x="3384550" y="1844675"/>
                        <a:ext cx="2232025" cy="741363"/>
                      </a:xfrm>
                      <a:prstGeom prst="rect">
                        <a:avLst/>
                      </a:prstGeom>
                      <a:noFill/>
                      <a:ln w="38100">
                        <a:noFill/>
                        <a:miter/>
                      </a:ln>
                    </p:spPr>
                  </p:pic>
                </p:oleObj>
              </mc:Fallback>
            </mc:AlternateContent>
          </a:graphicData>
        </a:graphic>
      </p:graphicFrame>
      <p:graphicFrame>
        <p:nvGraphicFramePr>
          <p:cNvPr id="7175" name="对象 32778"/>
          <p:cNvGraphicFramePr/>
          <p:nvPr/>
        </p:nvGraphicFramePr>
        <p:xfrm>
          <a:off x="2055813" y="1196975"/>
          <a:ext cx="4745037" cy="401638"/>
        </p:xfrm>
        <a:graphic>
          <a:graphicData uri="http://schemas.openxmlformats.org/presentationml/2006/ole">
            <mc:AlternateContent xmlns:mc="http://schemas.openxmlformats.org/markup-compatibility/2006">
              <mc:Choice xmlns:v="urn:schemas-microsoft-com:vml" Requires="v">
                <p:oleObj spid="_x0000_s3092" name="" r:id="rId7" imgW="2360295" imgH="203200" progId="Equation.DSMT4">
                  <p:embed/>
                </p:oleObj>
              </mc:Choice>
              <mc:Fallback>
                <p:oleObj name="" r:id="rId7" imgW="2360295" imgH="203200" progId="Equation.DSMT4">
                  <p:embed/>
                  <p:pic>
                    <p:nvPicPr>
                      <p:cNvPr id="0" name="图片 3091"/>
                      <p:cNvPicPr/>
                      <p:nvPr/>
                    </p:nvPicPr>
                    <p:blipFill>
                      <a:blip r:embed="rId8"/>
                      <a:stretch>
                        <a:fillRect/>
                      </a:stretch>
                    </p:blipFill>
                    <p:spPr>
                      <a:xfrm>
                        <a:off x="2055813" y="1196975"/>
                        <a:ext cx="4745037" cy="401638"/>
                      </a:xfrm>
                      <a:prstGeom prst="rect">
                        <a:avLst/>
                      </a:prstGeom>
                      <a:noFill/>
                      <a:ln w="38100">
                        <a:noFill/>
                        <a:miter/>
                      </a:ln>
                    </p:spPr>
                  </p:pic>
                </p:oleObj>
              </mc:Fallback>
            </mc:AlternateContent>
          </a:graphicData>
        </a:graphic>
      </p:graphicFrame>
      <p:sp>
        <p:nvSpPr>
          <p:cNvPr id="7176" name="文本框 32779"/>
          <p:cNvSpPr txBox="1"/>
          <p:nvPr/>
        </p:nvSpPr>
        <p:spPr>
          <a:xfrm>
            <a:off x="611188" y="549275"/>
            <a:ext cx="2328862"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总负载静转矩：</a:t>
            </a:r>
            <a:endParaRPr lang="zh-CN" altLang="en-US" dirty="0">
              <a:latin typeface="Times New Roman" panose="02020603050405020304" pitchFamily="18" charset="0"/>
              <a:ea typeface="宋体" panose="02010600030101010101" pitchFamily="2" charset="-122"/>
            </a:endParaRPr>
          </a:p>
        </p:txBody>
      </p:sp>
      <p:sp>
        <p:nvSpPr>
          <p:cNvPr id="7177" name="文本框 32780"/>
          <p:cNvSpPr txBox="1"/>
          <p:nvPr/>
        </p:nvSpPr>
        <p:spPr>
          <a:xfrm>
            <a:off x="611188" y="1916113"/>
            <a:ext cx="2635250"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折算后负载转矩：</a:t>
            </a:r>
            <a:endParaRPr lang="zh-CN" altLang="en-US" dirty="0">
              <a:latin typeface="Times New Roman" panose="02020603050405020304" pitchFamily="18" charset="0"/>
              <a:ea typeface="宋体" panose="02010600030101010101" pitchFamily="2" charset="-122"/>
            </a:endParaRPr>
          </a:p>
        </p:txBody>
      </p:sp>
      <p:sp>
        <p:nvSpPr>
          <p:cNvPr id="7178" name="文本框 32781"/>
          <p:cNvSpPr txBox="1"/>
          <p:nvPr/>
        </p:nvSpPr>
        <p:spPr>
          <a:xfrm>
            <a:off x="684213" y="4365625"/>
            <a:ext cx="3554412"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由运动方程的启动转矩：</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35845"/>
          <p:cNvSpPr>
            <a:spLocks noGrp="1"/>
          </p:cNvSpPr>
          <p:nvPr>
            <p:ph type="title"/>
          </p:nvPr>
        </p:nvSpPr>
        <p:spPr>
          <a:xfrm>
            <a:off x="684213" y="333375"/>
            <a:ext cx="7772400" cy="574675"/>
          </a:xfrm>
          <a:ln/>
        </p:spPr>
        <p:txBody>
          <a:bodyPr anchor="ctr" anchorCtr="0"/>
          <a:p>
            <a:r>
              <a:rPr lang="zh-CN" altLang="en-US" sz="2800" b="1" dirty="0">
                <a:solidFill>
                  <a:srgbClr val="FF0000"/>
                </a:solidFill>
              </a:rPr>
              <a:t>第三章 直流电机</a:t>
            </a:r>
            <a:endParaRPr lang="zh-CN" altLang="en-US" sz="2800" b="1" dirty="0">
              <a:solidFill>
                <a:srgbClr val="FF0000"/>
              </a:solidFill>
            </a:endParaRPr>
          </a:p>
        </p:txBody>
      </p:sp>
      <p:sp>
        <p:nvSpPr>
          <p:cNvPr id="8194" name="文本占位符 35846"/>
          <p:cNvSpPr>
            <a:spLocks noGrp="1"/>
          </p:cNvSpPr>
          <p:nvPr>
            <p:ph idx="1"/>
          </p:nvPr>
        </p:nvSpPr>
        <p:spPr>
          <a:xfrm>
            <a:off x="395288" y="981075"/>
            <a:ext cx="7916862" cy="935038"/>
          </a:xfrm>
          <a:ln/>
        </p:spPr>
        <p:txBody>
          <a:bodyPr anchor="t" anchorCtr="0"/>
          <a:p>
            <a:pPr>
              <a:buNone/>
            </a:pPr>
            <a:r>
              <a:rPr lang="en-US" altLang="zh-CN" sz="2400" b="1" dirty="0"/>
              <a:t>3-12 </a:t>
            </a:r>
            <a:r>
              <a:rPr lang="zh-CN" altLang="en-US" sz="2400" b="1" dirty="0"/>
              <a:t>四极直流发电机</a:t>
            </a:r>
            <a:r>
              <a:rPr lang="en-US" altLang="zh-CN" sz="2400" b="1"/>
              <a:t>,</a:t>
            </a:r>
            <a:r>
              <a:rPr lang="en-US" altLang="zh-CN" sz="2400" b="1" i="1"/>
              <a:t>n</a:t>
            </a:r>
            <a:r>
              <a:rPr lang="en-US" altLang="zh-CN" sz="2400" b="1"/>
              <a:t>=60r/min,</a:t>
            </a:r>
            <a:r>
              <a:rPr lang="en-US" altLang="zh-CN" sz="2400" b="1" i="1"/>
              <a:t>Φ</a:t>
            </a:r>
            <a:r>
              <a:rPr lang="en-US" altLang="zh-CN" sz="2400" b="1" dirty="0"/>
              <a:t>=0.04Wb</a:t>
            </a:r>
            <a:r>
              <a:rPr lang="zh-CN" altLang="en-US" sz="2400" b="1" dirty="0"/>
              <a:t>时</a:t>
            </a:r>
            <a:r>
              <a:rPr lang="en-US" altLang="zh-CN" sz="2400" b="1" dirty="0"/>
              <a:t>,Ea=230V</a:t>
            </a:r>
            <a:r>
              <a:rPr lang="zh-CN" altLang="en-US" sz="2400" b="1" dirty="0"/>
              <a:t>，单叠绕组时，有多少导体？单波绕组，多少导体？</a:t>
            </a:r>
            <a:endParaRPr lang="zh-CN" altLang="en-US" sz="2400" b="1"/>
          </a:p>
        </p:txBody>
      </p:sp>
      <p:sp>
        <p:nvSpPr>
          <p:cNvPr id="8195" name="矩形 35848"/>
          <p:cNvSpPr/>
          <p:nvPr/>
        </p:nvSpPr>
        <p:spPr>
          <a:xfrm>
            <a:off x="0" y="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8196" name="对象 35847"/>
          <p:cNvGraphicFramePr/>
          <p:nvPr/>
        </p:nvGraphicFramePr>
        <p:xfrm>
          <a:off x="3419475" y="2060575"/>
          <a:ext cx="1800225" cy="828675"/>
        </p:xfrm>
        <a:graphic>
          <a:graphicData uri="http://schemas.openxmlformats.org/presentationml/2006/ole">
            <mc:AlternateContent xmlns:mc="http://schemas.openxmlformats.org/markup-compatibility/2006">
              <mc:Choice xmlns:v="urn:schemas-microsoft-com:vml" Requires="v">
                <p:oleObj spid="_x0000_s3083" name="" r:id="rId1" imgW="812165" imgH="393700" progId="Equation.DSMT4">
                  <p:embed/>
                </p:oleObj>
              </mc:Choice>
              <mc:Fallback>
                <p:oleObj name="" r:id="rId1" imgW="812165" imgH="393700" progId="Equation.DSMT4">
                  <p:embed/>
                  <p:pic>
                    <p:nvPicPr>
                      <p:cNvPr id="0" name="图片 3082"/>
                      <p:cNvPicPr/>
                      <p:nvPr/>
                    </p:nvPicPr>
                    <p:blipFill>
                      <a:blip r:embed="rId2"/>
                      <a:stretch>
                        <a:fillRect/>
                      </a:stretch>
                    </p:blipFill>
                    <p:spPr>
                      <a:xfrm>
                        <a:off x="3419475" y="2060575"/>
                        <a:ext cx="1800225" cy="828675"/>
                      </a:xfrm>
                      <a:prstGeom prst="rect">
                        <a:avLst/>
                      </a:prstGeom>
                      <a:noFill/>
                      <a:ln w="38100">
                        <a:noFill/>
                        <a:miter/>
                      </a:ln>
                    </p:spPr>
                  </p:pic>
                </p:oleObj>
              </mc:Fallback>
            </mc:AlternateContent>
          </a:graphicData>
        </a:graphic>
      </p:graphicFrame>
      <p:sp>
        <p:nvSpPr>
          <p:cNvPr id="8197" name="矩形 35850"/>
          <p:cNvSpPr/>
          <p:nvPr/>
        </p:nvSpPr>
        <p:spPr>
          <a:xfrm>
            <a:off x="0" y="35004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8198" name="对象 35849"/>
          <p:cNvGraphicFramePr/>
          <p:nvPr/>
        </p:nvGraphicFramePr>
        <p:xfrm>
          <a:off x="3276600" y="2997200"/>
          <a:ext cx="2665413" cy="719138"/>
        </p:xfrm>
        <a:graphic>
          <a:graphicData uri="http://schemas.openxmlformats.org/presentationml/2006/ole">
            <mc:AlternateContent xmlns:mc="http://schemas.openxmlformats.org/markup-compatibility/2006">
              <mc:Choice xmlns:v="urn:schemas-microsoft-com:vml" Requires="v">
                <p:oleObj spid="_x0000_s3084" name="" r:id="rId3" imgW="1447165" imgH="393700" progId="Equation.DSMT4">
                  <p:embed/>
                </p:oleObj>
              </mc:Choice>
              <mc:Fallback>
                <p:oleObj name="" r:id="rId3" imgW="1447165" imgH="393700" progId="Equation.DSMT4">
                  <p:embed/>
                  <p:pic>
                    <p:nvPicPr>
                      <p:cNvPr id="0" name="图片 3083"/>
                      <p:cNvPicPr/>
                      <p:nvPr/>
                    </p:nvPicPr>
                    <p:blipFill>
                      <a:blip r:embed="rId4"/>
                      <a:stretch>
                        <a:fillRect/>
                      </a:stretch>
                    </p:blipFill>
                    <p:spPr>
                      <a:xfrm>
                        <a:off x="3276600" y="2997200"/>
                        <a:ext cx="2665413" cy="719138"/>
                      </a:xfrm>
                      <a:prstGeom prst="rect">
                        <a:avLst/>
                      </a:prstGeom>
                      <a:noFill/>
                      <a:ln w="38100">
                        <a:noFill/>
                        <a:miter/>
                      </a:ln>
                    </p:spPr>
                  </p:pic>
                </p:oleObj>
              </mc:Fallback>
            </mc:AlternateContent>
          </a:graphicData>
        </a:graphic>
      </p:graphicFrame>
      <p:sp>
        <p:nvSpPr>
          <p:cNvPr id="8199" name="矩形 35852"/>
          <p:cNvSpPr/>
          <p:nvPr/>
        </p:nvSpPr>
        <p:spPr>
          <a:xfrm>
            <a:off x="1476375" y="2997200"/>
            <a:ext cx="1581150" cy="457200"/>
          </a:xfrm>
          <a:prstGeom prst="rect">
            <a:avLst/>
          </a:prstGeom>
          <a:noFill/>
          <a:ln w="9525">
            <a:noFill/>
          </a:ln>
        </p:spPr>
        <p:txBody>
          <a:bodyPr wrap="none" anchor="ctr" anchorCtr="0">
            <a:spAutoFit/>
          </a:bodyPr>
          <a:p>
            <a:pPr algn="ctr"/>
            <a:r>
              <a:rPr lang="zh-CN" altLang="en-US" dirty="0">
                <a:latin typeface="Times New Roman" panose="02020603050405020304" pitchFamily="18" charset="0"/>
                <a:ea typeface="宋体" panose="02010600030101010101" pitchFamily="2" charset="-122"/>
              </a:rPr>
              <a:t>单叠：</a:t>
            </a:r>
            <a:r>
              <a:rPr lang="en-US" altLang="zh-CN">
                <a:latin typeface="Times New Roman" panose="02020603050405020304" pitchFamily="18" charset="0"/>
                <a:ea typeface="宋体" panose="02010600030101010101" pitchFamily="2" charset="-122"/>
              </a:rPr>
              <a:t>a=2</a:t>
            </a:r>
            <a:endParaRPr lang="en-US" altLang="zh-CN">
              <a:latin typeface="Times New Roman" panose="02020603050405020304" pitchFamily="18" charset="0"/>
              <a:ea typeface="宋体" panose="02010600030101010101" pitchFamily="2" charset="-122"/>
            </a:endParaRPr>
          </a:p>
        </p:txBody>
      </p:sp>
      <p:graphicFrame>
        <p:nvGraphicFramePr>
          <p:cNvPr id="8200" name="对象 35851"/>
          <p:cNvGraphicFramePr/>
          <p:nvPr/>
        </p:nvGraphicFramePr>
        <p:xfrm>
          <a:off x="3348038" y="3933825"/>
          <a:ext cx="2620962" cy="714375"/>
        </p:xfrm>
        <a:graphic>
          <a:graphicData uri="http://schemas.openxmlformats.org/presentationml/2006/ole">
            <mc:AlternateContent xmlns:mc="http://schemas.openxmlformats.org/markup-compatibility/2006">
              <mc:Choice xmlns:v="urn:schemas-microsoft-com:vml" Requires="v">
                <p:oleObj spid="_x0000_s3085" name="" r:id="rId5" imgW="1434465" imgH="393700" progId="Equation.DSMT4">
                  <p:embed/>
                </p:oleObj>
              </mc:Choice>
              <mc:Fallback>
                <p:oleObj name="" r:id="rId5" imgW="1434465" imgH="393700" progId="Equation.DSMT4">
                  <p:embed/>
                  <p:pic>
                    <p:nvPicPr>
                      <p:cNvPr id="0" name="图片 3084"/>
                      <p:cNvPicPr/>
                      <p:nvPr/>
                    </p:nvPicPr>
                    <p:blipFill>
                      <a:blip r:embed="rId6"/>
                      <a:stretch>
                        <a:fillRect/>
                      </a:stretch>
                    </p:blipFill>
                    <p:spPr>
                      <a:xfrm>
                        <a:off x="3348038" y="3933825"/>
                        <a:ext cx="2620962" cy="714375"/>
                      </a:xfrm>
                      <a:prstGeom prst="rect">
                        <a:avLst/>
                      </a:prstGeom>
                      <a:noFill/>
                      <a:ln w="38100">
                        <a:noFill/>
                        <a:miter/>
                      </a:ln>
                    </p:spPr>
                  </p:pic>
                </p:oleObj>
              </mc:Fallback>
            </mc:AlternateContent>
          </a:graphicData>
        </a:graphic>
      </p:graphicFrame>
      <p:sp>
        <p:nvSpPr>
          <p:cNvPr id="8201" name="文本框 35853"/>
          <p:cNvSpPr txBox="1"/>
          <p:nvPr/>
        </p:nvSpPr>
        <p:spPr>
          <a:xfrm>
            <a:off x="1331913" y="4005263"/>
            <a:ext cx="1581150"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单波：</a:t>
            </a:r>
            <a:r>
              <a:rPr lang="en-US" altLang="zh-CN">
                <a:latin typeface="Times New Roman" panose="02020603050405020304" pitchFamily="18" charset="0"/>
                <a:ea typeface="宋体" panose="02010600030101010101" pitchFamily="2" charset="-122"/>
              </a:rPr>
              <a:t>a=1</a:t>
            </a:r>
            <a:endParaRPr lang="en-US" altLang="zh-CN">
              <a:latin typeface="Times New Roman" panose="02020603050405020304" pitchFamily="18" charset="0"/>
              <a:ea typeface="宋体" panose="02010600030101010101" pitchFamily="2" charset="-122"/>
            </a:endParaRPr>
          </a:p>
        </p:txBody>
      </p:sp>
      <p:sp>
        <p:nvSpPr>
          <p:cNvPr id="8202" name="文本框 35854"/>
          <p:cNvSpPr txBox="1"/>
          <p:nvPr/>
        </p:nvSpPr>
        <p:spPr>
          <a:xfrm>
            <a:off x="6443663" y="3141663"/>
            <a:ext cx="1728787" cy="457200"/>
          </a:xfrm>
          <a:prstGeom prst="rect">
            <a:avLst/>
          </a:prstGeom>
          <a:noFill/>
          <a:ln w="9525">
            <a:noFill/>
          </a:ln>
        </p:spPr>
        <p:txBody>
          <a:bodyPr anchor="t" anchorCtr="0">
            <a:spAutoFit/>
          </a:bodyPr>
          <a:p>
            <a:pPr algn="ctr"/>
            <a:r>
              <a:rPr lang="en-US" altLang="zh-CN">
                <a:latin typeface="Times New Roman" panose="02020603050405020304" pitchFamily="18" charset="0"/>
                <a:ea typeface="宋体" panose="02010600030101010101" pitchFamily="2" charset="-122"/>
              </a:rPr>
              <a:t>N=5750</a:t>
            </a:r>
            <a:endParaRPr lang="en-US" altLang="zh-CN">
              <a:latin typeface="Times New Roman" panose="02020603050405020304" pitchFamily="18" charset="0"/>
              <a:ea typeface="宋体" panose="02010600030101010101" pitchFamily="2" charset="-122"/>
            </a:endParaRPr>
          </a:p>
        </p:txBody>
      </p:sp>
      <p:sp>
        <p:nvSpPr>
          <p:cNvPr id="8203" name="文本框 35855"/>
          <p:cNvSpPr txBox="1"/>
          <p:nvPr/>
        </p:nvSpPr>
        <p:spPr>
          <a:xfrm>
            <a:off x="1116013" y="2205038"/>
            <a:ext cx="1409700"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解：因为</a:t>
            </a:r>
            <a:endParaRPr lang="zh-CN" altLang="en-US" dirty="0">
              <a:latin typeface="Times New Roman" panose="02020603050405020304" pitchFamily="18" charset="0"/>
              <a:ea typeface="宋体" panose="02010600030101010101" pitchFamily="2" charset="-122"/>
            </a:endParaRPr>
          </a:p>
        </p:txBody>
      </p:sp>
      <p:sp>
        <p:nvSpPr>
          <p:cNvPr id="8204" name="矩形 35856"/>
          <p:cNvSpPr/>
          <p:nvPr/>
        </p:nvSpPr>
        <p:spPr>
          <a:xfrm>
            <a:off x="6732588" y="4076700"/>
            <a:ext cx="1187450" cy="457200"/>
          </a:xfrm>
          <a:prstGeom prst="rect">
            <a:avLst/>
          </a:prstGeom>
          <a:noFill/>
          <a:ln w="9525">
            <a:noFill/>
          </a:ln>
        </p:spPr>
        <p:txBody>
          <a:bodyPr wrap="none" anchor="t" anchorCtr="0">
            <a:spAutoFit/>
          </a:bodyPr>
          <a:p>
            <a:r>
              <a:rPr lang="en-US" altLang="zh-CN">
                <a:latin typeface="Times New Roman" panose="02020603050405020304" pitchFamily="18" charset="0"/>
                <a:ea typeface="宋体" panose="02010600030101010101" pitchFamily="2" charset="-122"/>
              </a:rPr>
              <a:t>N=2875</a:t>
            </a:r>
            <a:endParaRPr lang="en-US" altLang="zh-CN">
              <a:latin typeface="Times New Roman" panose="02020603050405020304" pitchFamily="18"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文本框 38932"/>
          <p:cNvSpPr txBox="1"/>
          <p:nvPr/>
        </p:nvSpPr>
        <p:spPr>
          <a:xfrm>
            <a:off x="395288" y="404813"/>
            <a:ext cx="8208962" cy="1698625"/>
          </a:xfrm>
          <a:prstGeom prst="rect">
            <a:avLst/>
          </a:prstGeom>
          <a:noFill/>
          <a:ln w="9525">
            <a:noFill/>
          </a:ln>
        </p:spPr>
        <p:txBody>
          <a:bodyPr anchor="t" anchorCtr="0">
            <a:spAutoFit/>
          </a:bodyPr>
          <a:p>
            <a:pPr>
              <a:lnSpc>
                <a:spcPct val="110000"/>
              </a:lnSpc>
            </a:pPr>
            <a:r>
              <a:rPr lang="en-US" altLang="zh-CN" dirty="0">
                <a:latin typeface="Times New Roman" panose="02020603050405020304" pitchFamily="18" charset="0"/>
                <a:ea typeface="宋体" panose="02010600030101010101" pitchFamily="2" charset="-122"/>
              </a:rPr>
              <a:t>3-13 </a:t>
            </a:r>
            <a:r>
              <a:rPr lang="zh-CN" altLang="en-US" dirty="0">
                <a:latin typeface="Times New Roman" panose="02020603050405020304" pitchFamily="18" charset="0"/>
                <a:ea typeface="宋体" panose="02010600030101010101" pitchFamily="2" charset="-122"/>
              </a:rPr>
              <a:t>计算</a:t>
            </a:r>
            <a:r>
              <a:rPr lang="en-US" altLang="zh-CN" i="1">
                <a:latin typeface="Times New Roman" panose="02020603050405020304" pitchFamily="18" charset="0"/>
                <a:ea typeface="宋体" panose="02010600030101010101" pitchFamily="2" charset="-122"/>
              </a:rPr>
              <a:t>y</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y</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y</a:t>
            </a:r>
            <a:r>
              <a:rPr lang="en-US" altLang="zh-CN" baseline="-2500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y</a:t>
            </a:r>
            <a:r>
              <a:rPr lang="en-US" altLang="zh-CN" i="1" baseline="-2500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，绘制绕组展开图，安放主磁极和电刷，求并联支路对数。</a:t>
            </a:r>
            <a:endParaRPr lang="zh-CN" altLang="en-US" dirty="0">
              <a:latin typeface="Times New Roman" panose="02020603050405020304" pitchFamily="18" charset="0"/>
              <a:ea typeface="宋体" panose="02010600030101010101" pitchFamily="2" charset="-122"/>
            </a:endParaRPr>
          </a:p>
          <a:p>
            <a:pPr>
              <a:lnSpc>
                <a:spcPct val="110000"/>
              </a:lnSpc>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单叠绕组 </a:t>
            </a:r>
            <a:r>
              <a:rPr lang="en-US" altLang="zh-CN">
                <a:latin typeface="Times New Roman" panose="02020603050405020304" pitchFamily="18" charset="0"/>
                <a:ea typeface="宋体" panose="02010600030101010101" pitchFamily="2" charset="-122"/>
              </a:rPr>
              <a:t>2p=4,Z=S=22</a:t>
            </a:r>
            <a:endParaRPr lang="en-US" altLang="zh-CN">
              <a:latin typeface="Times New Roman" panose="02020603050405020304" pitchFamily="18" charset="0"/>
              <a:ea typeface="宋体" panose="02010600030101010101" pitchFamily="2" charset="-122"/>
            </a:endParaRPr>
          </a:p>
          <a:p>
            <a:pPr>
              <a:lnSpc>
                <a:spcPct val="110000"/>
              </a:lnSpc>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单波绕组 </a:t>
            </a:r>
            <a:r>
              <a:rPr lang="en-US" altLang="zh-CN">
                <a:latin typeface="Times New Roman" panose="02020603050405020304" pitchFamily="18" charset="0"/>
                <a:ea typeface="宋体" panose="02010600030101010101" pitchFamily="2" charset="-122"/>
              </a:rPr>
              <a:t>2p=4,Z=S=19</a:t>
            </a:r>
            <a:endParaRPr lang="en-US" altLang="zh-CN">
              <a:latin typeface="Times New Roman" panose="02020603050405020304" pitchFamily="18" charset="0"/>
              <a:ea typeface="宋体" panose="02010600030101010101" pitchFamily="2" charset="-122"/>
            </a:endParaRPr>
          </a:p>
        </p:txBody>
      </p:sp>
      <p:sp>
        <p:nvSpPr>
          <p:cNvPr id="9218" name="矩形 38934"/>
          <p:cNvSpPr/>
          <p:nvPr/>
        </p:nvSpPr>
        <p:spPr>
          <a:xfrm>
            <a:off x="0" y="312420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9219" name="对象 38933"/>
          <p:cNvGraphicFramePr/>
          <p:nvPr/>
        </p:nvGraphicFramePr>
        <p:xfrm>
          <a:off x="3132138" y="2060575"/>
          <a:ext cx="3317875" cy="865188"/>
        </p:xfrm>
        <a:graphic>
          <a:graphicData uri="http://schemas.openxmlformats.org/presentationml/2006/ole">
            <mc:AlternateContent xmlns:mc="http://schemas.openxmlformats.org/markup-compatibility/2006">
              <mc:Choice xmlns:v="urn:schemas-microsoft-com:vml" Requires="v">
                <p:oleObj spid="_x0000_s3087" name="" r:id="rId1" imgW="1600200" imgH="419100" progId="Equation.DSMT4">
                  <p:embed/>
                </p:oleObj>
              </mc:Choice>
              <mc:Fallback>
                <p:oleObj name="" r:id="rId1" imgW="1600200" imgH="419100" progId="Equation.DSMT4">
                  <p:embed/>
                  <p:pic>
                    <p:nvPicPr>
                      <p:cNvPr id="0" name="图片 3086"/>
                      <p:cNvPicPr/>
                      <p:nvPr/>
                    </p:nvPicPr>
                    <p:blipFill>
                      <a:blip r:embed="rId2"/>
                      <a:stretch>
                        <a:fillRect/>
                      </a:stretch>
                    </p:blipFill>
                    <p:spPr>
                      <a:xfrm>
                        <a:off x="3132138" y="2060575"/>
                        <a:ext cx="3317875" cy="865188"/>
                      </a:xfrm>
                      <a:prstGeom prst="rect">
                        <a:avLst/>
                      </a:prstGeom>
                      <a:noFill/>
                      <a:ln w="38100">
                        <a:noFill/>
                        <a:miter/>
                      </a:ln>
                    </p:spPr>
                  </p:pic>
                </p:oleObj>
              </mc:Fallback>
            </mc:AlternateContent>
          </a:graphicData>
        </a:graphic>
      </p:graphicFrame>
      <p:sp>
        <p:nvSpPr>
          <p:cNvPr id="9220" name="文本框 38935"/>
          <p:cNvSpPr txBox="1"/>
          <p:nvPr/>
        </p:nvSpPr>
        <p:spPr>
          <a:xfrm>
            <a:off x="971550" y="3068638"/>
            <a:ext cx="3554413" cy="457200"/>
          </a:xfrm>
          <a:prstGeom prst="rect">
            <a:avLst/>
          </a:prstGeom>
          <a:noFill/>
          <a:ln w="9525">
            <a:noFill/>
          </a:ln>
        </p:spPr>
        <p:txBody>
          <a:bodyPr anchor="t" anchorCtr="0">
            <a:spAutoFit/>
          </a:bodyPr>
          <a:p>
            <a:pPr algn="ctr"/>
            <a:r>
              <a:rPr lang="zh-CN" altLang="en-US" dirty="0">
                <a:latin typeface="Times New Roman" panose="02020603050405020304" pitchFamily="18" charset="0"/>
                <a:ea typeface="宋体" panose="02010600030101010101" pitchFamily="2" charset="-122"/>
              </a:rPr>
              <a:t>合成节距与换向节距为：</a:t>
            </a:r>
            <a:endParaRPr lang="zh-CN" altLang="en-US" dirty="0">
              <a:latin typeface="Times New Roman" panose="02020603050405020304" pitchFamily="18" charset="0"/>
              <a:ea typeface="宋体" panose="02010600030101010101" pitchFamily="2" charset="-122"/>
            </a:endParaRPr>
          </a:p>
        </p:txBody>
      </p:sp>
      <p:graphicFrame>
        <p:nvGraphicFramePr>
          <p:cNvPr id="9221" name="对象 38936"/>
          <p:cNvGraphicFramePr/>
          <p:nvPr/>
        </p:nvGraphicFramePr>
        <p:xfrm>
          <a:off x="4643438" y="2997200"/>
          <a:ext cx="1511300" cy="544513"/>
        </p:xfrm>
        <a:graphic>
          <a:graphicData uri="http://schemas.openxmlformats.org/presentationml/2006/ole">
            <mc:AlternateContent xmlns:mc="http://schemas.openxmlformats.org/markup-compatibility/2006">
              <mc:Choice xmlns:v="urn:schemas-microsoft-com:vml" Requires="v">
                <p:oleObj spid="_x0000_s3086" name="" r:id="rId3" imgW="635000" imgH="228600" progId="Equation.DSMT4">
                  <p:embed/>
                </p:oleObj>
              </mc:Choice>
              <mc:Fallback>
                <p:oleObj name="" r:id="rId3" imgW="635000" imgH="228600" progId="Equation.DSMT4">
                  <p:embed/>
                  <p:pic>
                    <p:nvPicPr>
                      <p:cNvPr id="0" name="图片 3085"/>
                      <p:cNvPicPr/>
                      <p:nvPr/>
                    </p:nvPicPr>
                    <p:blipFill>
                      <a:blip r:embed="rId4"/>
                      <a:stretch>
                        <a:fillRect/>
                      </a:stretch>
                    </p:blipFill>
                    <p:spPr>
                      <a:xfrm>
                        <a:off x="4643438" y="2997200"/>
                        <a:ext cx="1511300" cy="544513"/>
                      </a:xfrm>
                      <a:prstGeom prst="rect">
                        <a:avLst/>
                      </a:prstGeom>
                      <a:noFill/>
                      <a:ln w="38100">
                        <a:noFill/>
                        <a:miter/>
                      </a:ln>
                    </p:spPr>
                  </p:pic>
                </p:oleObj>
              </mc:Fallback>
            </mc:AlternateContent>
          </a:graphicData>
        </a:graphic>
      </p:graphicFrame>
      <p:sp>
        <p:nvSpPr>
          <p:cNvPr id="9222" name="文本框 38937"/>
          <p:cNvSpPr txBox="1"/>
          <p:nvPr/>
        </p:nvSpPr>
        <p:spPr>
          <a:xfrm>
            <a:off x="323850" y="2276475"/>
            <a:ext cx="2378075"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单叠绕组</a:t>
            </a:r>
            <a:endParaRPr lang="zh-CN" altLang="en-US" dirty="0">
              <a:latin typeface="Times New Roman" panose="02020603050405020304" pitchFamily="18" charset="0"/>
              <a:ea typeface="宋体" panose="02010600030101010101" pitchFamily="2" charset="-122"/>
            </a:endParaRPr>
          </a:p>
        </p:txBody>
      </p:sp>
      <p:graphicFrame>
        <p:nvGraphicFramePr>
          <p:cNvPr id="9223" name="对象 38938"/>
          <p:cNvGraphicFramePr/>
          <p:nvPr/>
        </p:nvGraphicFramePr>
        <p:xfrm>
          <a:off x="2771775" y="3644900"/>
          <a:ext cx="2808288" cy="487363"/>
        </p:xfrm>
        <a:graphic>
          <a:graphicData uri="http://schemas.openxmlformats.org/presentationml/2006/ole">
            <mc:AlternateContent xmlns:mc="http://schemas.openxmlformats.org/markup-compatibility/2006">
              <mc:Choice xmlns:v="urn:schemas-microsoft-com:vml" Requires="v">
                <p:oleObj spid="_x0000_s3091" name="" r:id="rId5" imgW="1320165" imgH="228600" progId="Equation.DSMT4">
                  <p:embed/>
                </p:oleObj>
              </mc:Choice>
              <mc:Fallback>
                <p:oleObj name="" r:id="rId5" imgW="1320165" imgH="228600" progId="Equation.DSMT4">
                  <p:embed/>
                  <p:pic>
                    <p:nvPicPr>
                      <p:cNvPr id="0" name="图片 3090"/>
                      <p:cNvPicPr/>
                      <p:nvPr/>
                    </p:nvPicPr>
                    <p:blipFill>
                      <a:blip r:embed="rId6"/>
                      <a:stretch>
                        <a:fillRect/>
                      </a:stretch>
                    </p:blipFill>
                    <p:spPr>
                      <a:xfrm>
                        <a:off x="2771775" y="3644900"/>
                        <a:ext cx="2808288" cy="487363"/>
                      </a:xfrm>
                      <a:prstGeom prst="rect">
                        <a:avLst/>
                      </a:prstGeom>
                      <a:noFill/>
                      <a:ln w="38100">
                        <a:noFill/>
                        <a:miter/>
                      </a:ln>
                    </p:spPr>
                  </p:pic>
                </p:oleObj>
              </mc:Fallback>
            </mc:AlternateContent>
          </a:graphicData>
        </a:graphic>
      </p:graphicFrame>
      <p:sp>
        <p:nvSpPr>
          <p:cNvPr id="9224" name="文本框 38939"/>
          <p:cNvSpPr txBox="1"/>
          <p:nvPr/>
        </p:nvSpPr>
        <p:spPr>
          <a:xfrm>
            <a:off x="900113" y="4221163"/>
            <a:ext cx="2328862"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并联支路对数：</a:t>
            </a:r>
            <a:endParaRPr lang="zh-CN" altLang="en-US" dirty="0">
              <a:latin typeface="Times New Roman" panose="02020603050405020304" pitchFamily="18" charset="0"/>
              <a:ea typeface="宋体" panose="02010600030101010101" pitchFamily="2" charset="-122"/>
            </a:endParaRPr>
          </a:p>
        </p:txBody>
      </p:sp>
      <p:graphicFrame>
        <p:nvGraphicFramePr>
          <p:cNvPr id="9225" name="对象 38940"/>
          <p:cNvGraphicFramePr/>
          <p:nvPr/>
        </p:nvGraphicFramePr>
        <p:xfrm>
          <a:off x="3276600" y="4221163"/>
          <a:ext cx="1366838" cy="455612"/>
        </p:xfrm>
        <a:graphic>
          <a:graphicData uri="http://schemas.openxmlformats.org/presentationml/2006/ole">
            <mc:AlternateContent xmlns:mc="http://schemas.openxmlformats.org/markup-compatibility/2006">
              <mc:Choice xmlns:v="urn:schemas-microsoft-com:vml" Requires="v">
                <p:oleObj spid="_x0000_s3088" name="" r:id="rId7" imgW="608965" imgH="203200" progId="Equation.DSMT4">
                  <p:embed/>
                </p:oleObj>
              </mc:Choice>
              <mc:Fallback>
                <p:oleObj name="" r:id="rId7" imgW="608965" imgH="203200" progId="Equation.DSMT4">
                  <p:embed/>
                  <p:pic>
                    <p:nvPicPr>
                      <p:cNvPr id="0" name="图片 3087"/>
                      <p:cNvPicPr/>
                      <p:nvPr/>
                    </p:nvPicPr>
                    <p:blipFill>
                      <a:blip r:embed="rId8"/>
                      <a:stretch>
                        <a:fillRect/>
                      </a:stretch>
                    </p:blipFill>
                    <p:spPr>
                      <a:xfrm>
                        <a:off x="3276600" y="4221163"/>
                        <a:ext cx="1366838" cy="455612"/>
                      </a:xfrm>
                      <a:prstGeom prst="rect">
                        <a:avLst/>
                      </a:prstGeom>
                      <a:noFill/>
                      <a:ln w="38100">
                        <a:noFill/>
                        <a:miter/>
                      </a:ln>
                    </p:spPr>
                  </p:pic>
                </p:oleObj>
              </mc:Fallback>
            </mc:AlternateContent>
          </a:graphicData>
        </a:graphic>
      </p:graphicFrame>
      <p:sp>
        <p:nvSpPr>
          <p:cNvPr id="9226" name="文本框 38941"/>
          <p:cNvSpPr txBox="1"/>
          <p:nvPr/>
        </p:nvSpPr>
        <p:spPr>
          <a:xfrm>
            <a:off x="900113" y="4868863"/>
            <a:ext cx="1841500" cy="457200"/>
          </a:xfrm>
          <a:prstGeom prst="rect">
            <a:avLst/>
          </a:prstGeom>
          <a:noFill/>
          <a:ln w="9525">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单波绕组</a:t>
            </a:r>
            <a:endParaRPr lang="zh-CN" altLang="en-US" dirty="0">
              <a:latin typeface="Times New Roman" panose="02020603050405020304" pitchFamily="18" charset="0"/>
              <a:ea typeface="宋体" panose="02010600030101010101" pitchFamily="2" charset="-122"/>
            </a:endParaRPr>
          </a:p>
        </p:txBody>
      </p:sp>
      <p:graphicFrame>
        <p:nvGraphicFramePr>
          <p:cNvPr id="9227" name="对象 38942"/>
          <p:cNvGraphicFramePr/>
          <p:nvPr/>
        </p:nvGraphicFramePr>
        <p:xfrm>
          <a:off x="2843213" y="4797425"/>
          <a:ext cx="5113337" cy="863600"/>
        </p:xfrm>
        <a:graphic>
          <a:graphicData uri="http://schemas.openxmlformats.org/presentationml/2006/ole">
            <mc:AlternateContent xmlns:mc="http://schemas.openxmlformats.org/markup-compatibility/2006">
              <mc:Choice xmlns:v="urn:schemas-microsoft-com:vml" Requires="v">
                <p:oleObj spid="_x0000_s3089" name="" r:id="rId9" imgW="2514600" imgH="419100" progId="Equation.DSMT4">
                  <p:embed/>
                </p:oleObj>
              </mc:Choice>
              <mc:Fallback>
                <p:oleObj name="" r:id="rId9" imgW="2514600" imgH="419100" progId="Equation.DSMT4">
                  <p:embed/>
                  <p:pic>
                    <p:nvPicPr>
                      <p:cNvPr id="0" name="图片 3088"/>
                      <p:cNvPicPr/>
                      <p:nvPr/>
                    </p:nvPicPr>
                    <p:blipFill>
                      <a:blip r:embed="rId10"/>
                      <a:stretch>
                        <a:fillRect/>
                      </a:stretch>
                    </p:blipFill>
                    <p:spPr>
                      <a:xfrm>
                        <a:off x="2843213" y="4797425"/>
                        <a:ext cx="5113337" cy="863600"/>
                      </a:xfrm>
                      <a:prstGeom prst="rect">
                        <a:avLst/>
                      </a:prstGeom>
                      <a:noFill/>
                      <a:ln w="38100">
                        <a:noFill/>
                        <a:miter/>
                      </a:ln>
                    </p:spPr>
                  </p:pic>
                </p:oleObj>
              </mc:Fallback>
            </mc:AlternateContent>
          </a:graphicData>
        </a:graphic>
      </p:graphicFrame>
      <p:graphicFrame>
        <p:nvGraphicFramePr>
          <p:cNvPr id="9228" name="对象 38943"/>
          <p:cNvGraphicFramePr/>
          <p:nvPr/>
        </p:nvGraphicFramePr>
        <p:xfrm>
          <a:off x="2051050" y="5805488"/>
          <a:ext cx="4897438" cy="566737"/>
        </p:xfrm>
        <a:graphic>
          <a:graphicData uri="http://schemas.openxmlformats.org/presentationml/2006/ole">
            <mc:AlternateContent xmlns:mc="http://schemas.openxmlformats.org/markup-compatibility/2006">
              <mc:Choice xmlns:v="urn:schemas-microsoft-com:vml" Requires="v">
                <p:oleObj spid="_x0000_s3090" name="" r:id="rId11" imgW="1981200" imgH="228600" progId="Equation.DSMT4">
                  <p:embed/>
                </p:oleObj>
              </mc:Choice>
              <mc:Fallback>
                <p:oleObj name="" r:id="rId11" imgW="1981200" imgH="228600" progId="Equation.DSMT4">
                  <p:embed/>
                  <p:pic>
                    <p:nvPicPr>
                      <p:cNvPr id="0" name="图片 3089"/>
                      <p:cNvPicPr/>
                      <p:nvPr/>
                    </p:nvPicPr>
                    <p:blipFill>
                      <a:blip r:embed="rId12"/>
                      <a:stretch>
                        <a:fillRect/>
                      </a:stretch>
                    </p:blipFill>
                    <p:spPr>
                      <a:xfrm>
                        <a:off x="2051050" y="5805488"/>
                        <a:ext cx="4897438" cy="566737"/>
                      </a:xfrm>
                      <a:prstGeom prst="rect">
                        <a:avLst/>
                      </a:prstGeom>
                      <a:noFill/>
                      <a:ln w="38100">
                        <a:noFill/>
                        <a:miter/>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46083"/>
          <p:cNvSpPr txBox="1"/>
          <p:nvPr/>
        </p:nvSpPr>
        <p:spPr>
          <a:xfrm>
            <a:off x="611188" y="547688"/>
            <a:ext cx="7561262" cy="822325"/>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3-14 </a:t>
            </a:r>
            <a:r>
              <a:rPr lang="zh-CN" altLang="en-US" dirty="0">
                <a:latin typeface="Times New Roman" panose="02020603050405020304" pitchFamily="18" charset="0"/>
                <a:ea typeface="宋体" panose="02010600030101010101" pitchFamily="2" charset="-122"/>
              </a:rPr>
              <a:t>直流发电机铭牌：</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=75kW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=230V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=1500r/min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η</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=90%</a:t>
            </a:r>
            <a:r>
              <a:rPr lang="zh-CN" altLang="en-US" dirty="0">
                <a:latin typeface="Times New Roman" panose="02020603050405020304" pitchFamily="18" charset="0"/>
                <a:ea typeface="宋体" panose="02010600030101010101" pitchFamily="2" charset="-122"/>
              </a:rPr>
              <a:t>，求输入功率</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和额定电流</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0242" name="矩形 46085"/>
          <p:cNvSpPr/>
          <p:nvPr/>
        </p:nvSpPr>
        <p:spPr>
          <a:xfrm>
            <a:off x="0" y="31575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0243" name="对象 46084"/>
          <p:cNvGraphicFramePr/>
          <p:nvPr/>
        </p:nvGraphicFramePr>
        <p:xfrm>
          <a:off x="1811338" y="1700213"/>
          <a:ext cx="4297362" cy="784225"/>
        </p:xfrm>
        <a:graphic>
          <a:graphicData uri="http://schemas.openxmlformats.org/presentationml/2006/ole">
            <mc:AlternateContent xmlns:mc="http://schemas.openxmlformats.org/markup-compatibility/2006">
              <mc:Choice xmlns:v="urn:schemas-microsoft-com:vml" Requires="v">
                <p:oleObj spid="_x0000_s3101" name="" r:id="rId1" imgW="2298700" imgH="419100" progId="Equation.DSMT4">
                  <p:embed/>
                </p:oleObj>
              </mc:Choice>
              <mc:Fallback>
                <p:oleObj name="" r:id="rId1" imgW="2298700" imgH="419100" progId="Equation.DSMT4">
                  <p:embed/>
                  <p:pic>
                    <p:nvPicPr>
                      <p:cNvPr id="0" name="图片 3100"/>
                      <p:cNvPicPr/>
                      <p:nvPr/>
                    </p:nvPicPr>
                    <p:blipFill>
                      <a:blip r:embed="rId2"/>
                      <a:stretch>
                        <a:fillRect/>
                      </a:stretch>
                    </p:blipFill>
                    <p:spPr>
                      <a:xfrm>
                        <a:off x="1811338" y="1700213"/>
                        <a:ext cx="4297362" cy="784225"/>
                      </a:xfrm>
                      <a:prstGeom prst="rect">
                        <a:avLst/>
                      </a:prstGeom>
                      <a:noFill/>
                      <a:ln w="38100">
                        <a:noFill/>
                        <a:miter/>
                      </a:ln>
                    </p:spPr>
                  </p:pic>
                </p:oleObj>
              </mc:Fallback>
            </mc:AlternateContent>
          </a:graphicData>
        </a:graphic>
      </p:graphicFrame>
      <p:sp>
        <p:nvSpPr>
          <p:cNvPr id="10244" name="文本框 46086"/>
          <p:cNvSpPr txBox="1"/>
          <p:nvPr/>
        </p:nvSpPr>
        <p:spPr>
          <a:xfrm>
            <a:off x="827088" y="1844675"/>
            <a:ext cx="654050" cy="457200"/>
          </a:xfrm>
          <a:prstGeom prst="rect">
            <a:avLst/>
          </a:prstGeom>
          <a:noFill/>
          <a:ln w="9525">
            <a:noFill/>
          </a:ln>
        </p:spPr>
        <p:txBody>
          <a:bodyPr anchor="t" anchorCtr="0">
            <a:spAutoFit/>
          </a:bodyPr>
          <a:p>
            <a:pPr algn="ct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
        <p:nvSpPr>
          <p:cNvPr id="10245" name="文本框 46087"/>
          <p:cNvSpPr txBox="1"/>
          <p:nvPr/>
        </p:nvSpPr>
        <p:spPr>
          <a:xfrm>
            <a:off x="611188" y="2636838"/>
            <a:ext cx="8137525" cy="822325"/>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3-15 </a:t>
            </a:r>
            <a:r>
              <a:rPr lang="zh-CN" altLang="en-US" dirty="0">
                <a:latin typeface="Times New Roman" panose="02020603050405020304" pitchFamily="18" charset="0"/>
                <a:ea typeface="宋体" panose="02010600030101010101" pitchFamily="2" charset="-122"/>
              </a:rPr>
              <a:t>直流机铭牌：</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=145kW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=1450r/min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η</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=90%</a:t>
            </a:r>
            <a:r>
              <a:rPr lang="zh-CN" altLang="en-US" dirty="0">
                <a:latin typeface="Times New Roman" panose="02020603050405020304" pitchFamily="18" charset="0"/>
                <a:ea typeface="宋体" panose="02010600030101010101" pitchFamily="2" charset="-122"/>
              </a:rPr>
              <a:t>，求额定转矩</a:t>
            </a:r>
            <a:r>
              <a:rPr lang="en-US" altLang="zh-CN">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和额定电流</a:t>
            </a:r>
            <a:r>
              <a:rPr lang="en-US" altLang="zh-CN">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endParaRPr lang="zh-CN" altLang="en-US" baseline="-25000" dirty="0">
              <a:latin typeface="Times New Roman" panose="02020603050405020304" pitchFamily="18" charset="0"/>
              <a:ea typeface="宋体" panose="02010600030101010101" pitchFamily="2" charset="-122"/>
            </a:endParaRPr>
          </a:p>
        </p:txBody>
      </p:sp>
      <p:sp>
        <p:nvSpPr>
          <p:cNvPr id="10246" name="矩形 46089"/>
          <p:cNvSpPr/>
          <p:nvPr/>
        </p:nvSpPr>
        <p:spPr>
          <a:xfrm>
            <a:off x="0" y="317658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0247" name="对象 46088"/>
          <p:cNvGraphicFramePr/>
          <p:nvPr/>
        </p:nvGraphicFramePr>
        <p:xfrm>
          <a:off x="2182813" y="3789363"/>
          <a:ext cx="4489450" cy="796925"/>
        </p:xfrm>
        <a:graphic>
          <a:graphicData uri="http://schemas.openxmlformats.org/presentationml/2006/ole">
            <mc:AlternateContent xmlns:mc="http://schemas.openxmlformats.org/markup-compatibility/2006">
              <mc:Choice xmlns:v="urn:schemas-microsoft-com:vml" Requires="v">
                <p:oleObj spid="_x0000_s3096" name="" r:id="rId3" imgW="2362200" imgH="419100" progId="Equation.DSMT4">
                  <p:embed/>
                </p:oleObj>
              </mc:Choice>
              <mc:Fallback>
                <p:oleObj name="" r:id="rId3" imgW="2362200" imgH="419100" progId="Equation.DSMT4">
                  <p:embed/>
                  <p:pic>
                    <p:nvPicPr>
                      <p:cNvPr id="0" name="图片 3095"/>
                      <p:cNvPicPr/>
                      <p:nvPr/>
                    </p:nvPicPr>
                    <p:blipFill>
                      <a:blip r:embed="rId4"/>
                      <a:stretch>
                        <a:fillRect/>
                      </a:stretch>
                    </p:blipFill>
                    <p:spPr>
                      <a:xfrm>
                        <a:off x="2182813" y="3789363"/>
                        <a:ext cx="4489450" cy="796925"/>
                      </a:xfrm>
                      <a:prstGeom prst="rect">
                        <a:avLst/>
                      </a:prstGeom>
                      <a:noFill/>
                      <a:ln w="38100">
                        <a:noFill/>
                        <a:miter/>
                      </a:ln>
                    </p:spPr>
                  </p:pic>
                </p:oleObj>
              </mc:Fallback>
            </mc:AlternateContent>
          </a:graphicData>
        </a:graphic>
      </p:graphicFrame>
      <p:sp>
        <p:nvSpPr>
          <p:cNvPr id="10248" name="矩形 46091"/>
          <p:cNvSpPr/>
          <p:nvPr/>
        </p:nvSpPr>
        <p:spPr>
          <a:xfrm>
            <a:off x="0" y="32337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0249" name="对象 46090"/>
          <p:cNvGraphicFramePr/>
          <p:nvPr/>
        </p:nvGraphicFramePr>
        <p:xfrm>
          <a:off x="2905125" y="4724400"/>
          <a:ext cx="3024188" cy="750888"/>
        </p:xfrm>
        <a:graphic>
          <a:graphicData uri="http://schemas.openxmlformats.org/presentationml/2006/ole">
            <mc:AlternateContent xmlns:mc="http://schemas.openxmlformats.org/markup-compatibility/2006">
              <mc:Choice xmlns:v="urn:schemas-microsoft-com:vml" Requires="v">
                <p:oleObj spid="_x0000_s3097" name="" r:id="rId5" imgW="1574165" imgH="393700" progId="Equation.DSMT4">
                  <p:embed/>
                </p:oleObj>
              </mc:Choice>
              <mc:Fallback>
                <p:oleObj name="" r:id="rId5" imgW="1574165" imgH="393700" progId="Equation.DSMT4">
                  <p:embed/>
                  <p:pic>
                    <p:nvPicPr>
                      <p:cNvPr id="0" name="图片 3096"/>
                      <p:cNvPicPr/>
                      <p:nvPr/>
                    </p:nvPicPr>
                    <p:blipFill>
                      <a:blip r:embed="rId6"/>
                      <a:stretch>
                        <a:fillRect/>
                      </a:stretch>
                    </p:blipFill>
                    <p:spPr>
                      <a:xfrm>
                        <a:off x="2905125" y="4724400"/>
                        <a:ext cx="3024188" cy="750888"/>
                      </a:xfrm>
                      <a:prstGeom prst="rect">
                        <a:avLst/>
                      </a:prstGeom>
                      <a:noFill/>
                      <a:ln w="38100">
                        <a:noFill/>
                        <a:miter/>
                      </a:ln>
                    </p:spPr>
                  </p:pic>
                </p:oleObj>
              </mc:Fallback>
            </mc:AlternateContent>
          </a:graphicData>
        </a:graphic>
      </p:graphicFrame>
      <p:sp>
        <p:nvSpPr>
          <p:cNvPr id="10250" name="文本框 46092"/>
          <p:cNvSpPr txBox="1"/>
          <p:nvPr/>
        </p:nvSpPr>
        <p:spPr>
          <a:xfrm>
            <a:off x="900113" y="3860800"/>
            <a:ext cx="796925"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文本框 52227"/>
          <p:cNvSpPr txBox="1"/>
          <p:nvPr/>
        </p:nvSpPr>
        <p:spPr>
          <a:xfrm>
            <a:off x="468313" y="476250"/>
            <a:ext cx="7991475" cy="1187450"/>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3-19 </a:t>
            </a:r>
            <a:r>
              <a:rPr lang="zh-CN" altLang="en-US" dirty="0">
                <a:latin typeface="Times New Roman" panose="02020603050405020304" pitchFamily="18" charset="0"/>
                <a:ea typeface="宋体" panose="02010600030101010101" pitchFamily="2" charset="-122"/>
              </a:rPr>
              <a:t>他励直流发电机，总</a:t>
            </a:r>
            <a:r>
              <a:rPr lang="en-US" altLang="zh-CN" i="1">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a=4.3Ω</a:t>
            </a:r>
            <a:r>
              <a:rPr lang="zh-CN" altLang="en-US" dirty="0">
                <a:latin typeface="Times New Roman" panose="02020603050405020304" pitchFamily="18" charset="0"/>
                <a:ea typeface="宋体" panose="02010600030101010101" pitchFamily="2" charset="-122"/>
              </a:rPr>
              <a:t>。以</a:t>
            </a:r>
            <a:r>
              <a:rPr lang="en-US" altLang="zh-CN" dirty="0">
                <a:latin typeface="Times New Roman" panose="02020603050405020304" pitchFamily="18" charset="0"/>
                <a:ea typeface="宋体" panose="02010600030101010101" pitchFamily="2" charset="-122"/>
              </a:rPr>
              <a:t>200rad/s</a:t>
            </a:r>
            <a:r>
              <a:rPr lang="zh-CN" altLang="en-US" dirty="0">
                <a:latin typeface="Times New Roman" panose="02020603050405020304" pitchFamily="18" charset="0"/>
                <a:ea typeface="宋体" panose="02010600030101010101" pitchFamily="2" charset="-122"/>
              </a:rPr>
              <a:t>，开路电压</a:t>
            </a:r>
            <a:r>
              <a:rPr lang="en-US" altLang="zh-CN" dirty="0">
                <a:latin typeface="Times New Roman" panose="02020603050405020304" pitchFamily="18" charset="0"/>
                <a:ea typeface="宋体" panose="02010600030101010101" pitchFamily="2" charset="-122"/>
              </a:rPr>
              <a:t>85V</a:t>
            </a:r>
            <a:r>
              <a:rPr lang="zh-CN" altLang="en-US" dirty="0">
                <a:latin typeface="Times New Roman" panose="02020603050405020304" pitchFamily="18" charset="0"/>
                <a:ea typeface="宋体" panose="02010600030101010101" pitchFamily="2" charset="-122"/>
              </a:rPr>
              <a:t>，励磁电流为额定。若负载</a:t>
            </a:r>
            <a:r>
              <a:rPr lang="en-US" altLang="zh-CN" dirty="0">
                <a:latin typeface="Times New Roman" panose="02020603050405020304" pitchFamily="18" charset="0"/>
                <a:ea typeface="宋体" panose="02010600030101010101" pitchFamily="2" charset="-122"/>
              </a:rPr>
              <a:t>50Ω</a:t>
            </a:r>
            <a:r>
              <a:rPr lang="zh-CN" altLang="en-US" dirty="0">
                <a:latin typeface="Times New Roman" panose="02020603050405020304" pitchFamily="18" charset="0"/>
                <a:ea typeface="宋体" panose="02010600030101010101" pitchFamily="2" charset="-122"/>
              </a:rPr>
              <a:t>，以</a:t>
            </a:r>
            <a:r>
              <a:rPr lang="en-US" altLang="zh-CN" dirty="0">
                <a:latin typeface="Times New Roman" panose="02020603050405020304" pitchFamily="18" charset="0"/>
                <a:ea typeface="宋体" panose="02010600030101010101" pitchFamily="2" charset="-122"/>
              </a:rPr>
              <a:t>260rad/s</a:t>
            </a:r>
            <a:r>
              <a:rPr lang="zh-CN" altLang="en-US" dirty="0">
                <a:latin typeface="Times New Roman" panose="02020603050405020304" pitchFamily="18" charset="0"/>
                <a:ea typeface="宋体" panose="02010600030101010101" pitchFamily="2" charset="-122"/>
              </a:rPr>
              <a:t>运行，励磁仍为额定，求此时负载功率。</a:t>
            </a:r>
            <a:endParaRPr lang="zh-CN" altLang="en-US" dirty="0">
              <a:latin typeface="Times New Roman" panose="02020603050405020304" pitchFamily="18" charset="0"/>
              <a:ea typeface="宋体" panose="02010600030101010101" pitchFamily="2" charset="-122"/>
            </a:endParaRPr>
          </a:p>
        </p:txBody>
      </p:sp>
      <p:sp>
        <p:nvSpPr>
          <p:cNvPr id="11266" name="矩形 52229"/>
          <p:cNvSpPr/>
          <p:nvPr/>
        </p:nvSpPr>
        <p:spPr>
          <a:xfrm>
            <a:off x="2743200" y="374491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1267" name="对象 52228"/>
          <p:cNvGraphicFramePr/>
          <p:nvPr/>
        </p:nvGraphicFramePr>
        <p:xfrm>
          <a:off x="3306763" y="1844675"/>
          <a:ext cx="3540125" cy="930275"/>
        </p:xfrm>
        <a:graphic>
          <a:graphicData uri="http://schemas.openxmlformats.org/presentationml/2006/ole">
            <mc:AlternateContent xmlns:mc="http://schemas.openxmlformats.org/markup-compatibility/2006">
              <mc:Choice xmlns:v="urn:schemas-microsoft-com:vml" Requires="v">
                <p:oleObj spid="_x0000_s3099" name="" r:id="rId1" imgW="1485265" imgH="393700" progId="Equation.DSMT4">
                  <p:embed/>
                </p:oleObj>
              </mc:Choice>
              <mc:Fallback>
                <p:oleObj name="" r:id="rId1" imgW="1485265" imgH="393700" progId="Equation.DSMT4">
                  <p:embed/>
                  <p:pic>
                    <p:nvPicPr>
                      <p:cNvPr id="0" name="图片 3098"/>
                      <p:cNvPicPr/>
                      <p:nvPr/>
                    </p:nvPicPr>
                    <p:blipFill>
                      <a:blip r:embed="rId2"/>
                      <a:stretch>
                        <a:fillRect/>
                      </a:stretch>
                    </p:blipFill>
                    <p:spPr>
                      <a:xfrm>
                        <a:off x="3306763" y="1844675"/>
                        <a:ext cx="3540125" cy="930275"/>
                      </a:xfrm>
                      <a:prstGeom prst="rect">
                        <a:avLst/>
                      </a:prstGeom>
                      <a:noFill/>
                      <a:ln w="38100">
                        <a:noFill/>
                        <a:miter/>
                      </a:ln>
                    </p:spPr>
                  </p:pic>
                </p:oleObj>
              </mc:Fallback>
            </mc:AlternateContent>
          </a:graphicData>
        </a:graphic>
      </p:graphicFrame>
      <p:sp>
        <p:nvSpPr>
          <p:cNvPr id="11268" name="矩形 52231"/>
          <p:cNvSpPr/>
          <p:nvPr/>
        </p:nvSpPr>
        <p:spPr>
          <a:xfrm>
            <a:off x="4017963" y="497046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1269" name="对象 52230"/>
          <p:cNvGraphicFramePr/>
          <p:nvPr/>
        </p:nvGraphicFramePr>
        <p:xfrm>
          <a:off x="2917825" y="3068638"/>
          <a:ext cx="4746625" cy="468312"/>
        </p:xfrm>
        <a:graphic>
          <a:graphicData uri="http://schemas.openxmlformats.org/presentationml/2006/ole">
            <mc:AlternateContent xmlns:mc="http://schemas.openxmlformats.org/markup-compatibility/2006">
              <mc:Choice xmlns:v="urn:schemas-microsoft-com:vml" Requires="v">
                <p:oleObj spid="_x0000_s3100" name="" r:id="rId3" imgW="2017395" imgH="203200" progId="Equation.DSMT4">
                  <p:embed/>
                </p:oleObj>
              </mc:Choice>
              <mc:Fallback>
                <p:oleObj name="" r:id="rId3" imgW="2017395" imgH="203200" progId="Equation.DSMT4">
                  <p:embed/>
                  <p:pic>
                    <p:nvPicPr>
                      <p:cNvPr id="0" name="图片 3099"/>
                      <p:cNvPicPr/>
                      <p:nvPr/>
                    </p:nvPicPr>
                    <p:blipFill>
                      <a:blip r:embed="rId4"/>
                      <a:stretch>
                        <a:fillRect/>
                      </a:stretch>
                    </p:blipFill>
                    <p:spPr>
                      <a:xfrm>
                        <a:off x="2917825" y="3068638"/>
                        <a:ext cx="4746625" cy="468312"/>
                      </a:xfrm>
                      <a:prstGeom prst="rect">
                        <a:avLst/>
                      </a:prstGeom>
                      <a:noFill/>
                      <a:ln w="38100">
                        <a:noFill/>
                        <a:miter/>
                      </a:ln>
                    </p:spPr>
                  </p:pic>
                </p:oleObj>
              </mc:Fallback>
            </mc:AlternateContent>
          </a:graphicData>
        </a:graphic>
      </p:graphicFrame>
      <p:sp>
        <p:nvSpPr>
          <p:cNvPr id="11270" name="文本框 52232"/>
          <p:cNvSpPr txBox="1"/>
          <p:nvPr/>
        </p:nvSpPr>
        <p:spPr>
          <a:xfrm>
            <a:off x="468313" y="1989138"/>
            <a:ext cx="2328862"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解：负载运行时</a:t>
            </a:r>
            <a:endParaRPr lang="zh-CN" altLang="en-US" dirty="0">
              <a:latin typeface="Times New Roman" panose="02020603050405020304" pitchFamily="18" charset="0"/>
              <a:ea typeface="宋体" panose="02010600030101010101" pitchFamily="2" charset="-122"/>
            </a:endParaRPr>
          </a:p>
        </p:txBody>
      </p:sp>
      <p:sp>
        <p:nvSpPr>
          <p:cNvPr id="11271" name="文本框 52233"/>
          <p:cNvSpPr txBox="1"/>
          <p:nvPr/>
        </p:nvSpPr>
        <p:spPr>
          <a:xfrm>
            <a:off x="827088" y="2997200"/>
            <a:ext cx="2022475" cy="457200"/>
          </a:xfrm>
          <a:prstGeom prst="rect">
            <a:avLst/>
          </a:prstGeom>
          <a:noFill/>
          <a:ln w="9525">
            <a:noFill/>
          </a:ln>
        </p:spPr>
        <p:txBody>
          <a:bodyPr anchor="t" anchorCtr="0">
            <a:spAutoFit/>
          </a:bodyPr>
          <a:p>
            <a:pPr algn="ctr"/>
            <a:r>
              <a:rPr lang="zh-CN" altLang="en-US" dirty="0">
                <a:latin typeface="Times New Roman" panose="02020603050405020304" pitchFamily="18" charset="0"/>
                <a:ea typeface="宋体" panose="02010600030101010101" pitchFamily="2" charset="-122"/>
              </a:rPr>
              <a:t>电压方程为：</a:t>
            </a:r>
            <a:endParaRPr lang="zh-CN" altLang="en-US" dirty="0">
              <a:latin typeface="Times New Roman" panose="02020603050405020304" pitchFamily="18" charset="0"/>
              <a:ea typeface="宋体" panose="02010600030101010101" pitchFamily="2" charset="-122"/>
            </a:endParaRPr>
          </a:p>
        </p:txBody>
      </p:sp>
      <p:sp>
        <p:nvSpPr>
          <p:cNvPr id="11272" name="矩形 52235"/>
          <p:cNvSpPr/>
          <p:nvPr/>
        </p:nvSpPr>
        <p:spPr>
          <a:xfrm>
            <a:off x="3259138" y="448151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1273" name="对象 52234"/>
          <p:cNvGraphicFramePr/>
          <p:nvPr/>
        </p:nvGraphicFramePr>
        <p:xfrm>
          <a:off x="3044825" y="4005263"/>
          <a:ext cx="2836863" cy="561975"/>
        </p:xfrm>
        <a:graphic>
          <a:graphicData uri="http://schemas.openxmlformats.org/presentationml/2006/ole">
            <mc:AlternateContent xmlns:mc="http://schemas.openxmlformats.org/markup-compatibility/2006">
              <mc:Choice xmlns:v="urn:schemas-microsoft-com:vml" Requires="v">
                <p:oleObj spid="_x0000_s3098" name="" r:id="rId5" imgW="1205865" imgH="241300" progId="Equation.DSMT4">
                  <p:embed/>
                </p:oleObj>
              </mc:Choice>
              <mc:Fallback>
                <p:oleObj name="" r:id="rId5" imgW="1205865" imgH="241300" progId="Equation.DSMT4">
                  <p:embed/>
                  <p:pic>
                    <p:nvPicPr>
                      <p:cNvPr id="0" name="图片 3097"/>
                      <p:cNvPicPr/>
                      <p:nvPr/>
                    </p:nvPicPr>
                    <p:blipFill>
                      <a:blip r:embed="rId6"/>
                      <a:stretch>
                        <a:fillRect/>
                      </a:stretch>
                    </p:blipFill>
                    <p:spPr>
                      <a:xfrm>
                        <a:off x="3044825" y="4005263"/>
                        <a:ext cx="2836863" cy="561975"/>
                      </a:xfrm>
                      <a:prstGeom prst="rect">
                        <a:avLst/>
                      </a:prstGeom>
                      <a:noFill/>
                      <a:ln w="38100">
                        <a:noFill/>
                        <a:miter/>
                      </a:ln>
                    </p:spPr>
                  </p:pic>
                </p:oleObj>
              </mc:Fallback>
            </mc:AlternateContent>
          </a:graphicData>
        </a:graphic>
      </p:graphicFrame>
      <p:sp>
        <p:nvSpPr>
          <p:cNvPr id="11274" name="文本框 52236"/>
          <p:cNvSpPr txBox="1"/>
          <p:nvPr/>
        </p:nvSpPr>
        <p:spPr>
          <a:xfrm>
            <a:off x="900113" y="4005263"/>
            <a:ext cx="2022475"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负载功率为：</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51203"/>
          <p:cNvSpPr txBox="1"/>
          <p:nvPr/>
        </p:nvSpPr>
        <p:spPr>
          <a:xfrm>
            <a:off x="684213" y="476250"/>
            <a:ext cx="7775575" cy="1552575"/>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3-21 </a:t>
            </a:r>
            <a:r>
              <a:rPr lang="zh-CN" altLang="en-US" dirty="0">
                <a:latin typeface="Times New Roman" panose="02020603050405020304" pitchFamily="18" charset="0"/>
                <a:ea typeface="宋体" panose="02010600030101010101" pitchFamily="2" charset="-122"/>
              </a:rPr>
              <a:t>并励直流发电机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=16kW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=230V</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=69.3A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=1600r/min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η</a:t>
            </a:r>
            <a:r>
              <a:rPr lang="en-US" altLang="zh-CN" baseline="-25000">
                <a:latin typeface="Times New Roman" panose="02020603050405020304" pitchFamily="18" charset="0"/>
                <a:ea typeface="宋体" panose="02010600030101010101" pitchFamily="2" charset="-122"/>
              </a:rPr>
              <a:t>N </a:t>
            </a:r>
            <a:r>
              <a:rPr lang="en-US" altLang="zh-CN" dirty="0">
                <a:latin typeface="Times New Roman" panose="02020603050405020304" pitchFamily="18" charset="0"/>
                <a:ea typeface="宋体" panose="02010600030101010101" pitchFamily="2" charset="-122"/>
              </a:rPr>
              <a:t>=88.5%</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a=0.128Ω</a:t>
            </a:r>
            <a:r>
              <a:rPr lang="zh-CN" altLang="en-US" dirty="0">
                <a:latin typeface="Times New Roman" panose="02020603050405020304" pitchFamily="18" charset="0"/>
                <a:ea typeface="宋体" panose="02010600030101010101" pitchFamily="2" charset="-122"/>
              </a:rPr>
              <a:t>，励磁回路</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f</a:t>
            </a:r>
            <a:r>
              <a:rPr lang="en-US" altLang="zh-CN" dirty="0">
                <a:latin typeface="Times New Roman" panose="02020603050405020304" pitchFamily="18" charset="0"/>
                <a:ea typeface="宋体" panose="02010600030101010101" pitchFamily="2" charset="-122"/>
              </a:rPr>
              <a:t>=150Ω</a:t>
            </a:r>
            <a:r>
              <a:rPr lang="zh-CN" altLang="en-US" dirty="0">
                <a:latin typeface="Times New Roman" panose="02020603050405020304" pitchFamily="18" charset="0"/>
                <a:ea typeface="宋体" panose="02010600030101010101" pitchFamily="2" charset="-122"/>
              </a:rPr>
              <a:t>。求额定状态下</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Cuf</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，输入转矩</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12290" name="对象 51209"/>
          <p:cNvGraphicFramePr/>
          <p:nvPr/>
        </p:nvGraphicFramePr>
        <p:xfrm>
          <a:off x="1955800" y="2205038"/>
          <a:ext cx="4441825" cy="782637"/>
        </p:xfrm>
        <a:graphic>
          <a:graphicData uri="http://schemas.openxmlformats.org/presentationml/2006/ole">
            <mc:AlternateContent xmlns:mc="http://schemas.openxmlformats.org/markup-compatibility/2006">
              <mc:Choice xmlns:v="urn:schemas-microsoft-com:vml" Requires="v">
                <p:oleObj spid="_x0000_s3076" name="" r:id="rId1" imgW="2284095" imgH="405765" progId="Equation.DSMT4">
                  <p:embed/>
                </p:oleObj>
              </mc:Choice>
              <mc:Fallback>
                <p:oleObj name="" r:id="rId1" imgW="2284095" imgH="405765" progId="Equation.DSMT4">
                  <p:embed/>
                  <p:pic>
                    <p:nvPicPr>
                      <p:cNvPr id="0" name="图片 3075"/>
                      <p:cNvPicPr/>
                      <p:nvPr/>
                    </p:nvPicPr>
                    <p:blipFill>
                      <a:blip r:embed="rId2"/>
                      <a:stretch>
                        <a:fillRect/>
                      </a:stretch>
                    </p:blipFill>
                    <p:spPr>
                      <a:xfrm>
                        <a:off x="1955800" y="2205038"/>
                        <a:ext cx="4441825" cy="782637"/>
                      </a:xfrm>
                      <a:prstGeom prst="rect">
                        <a:avLst/>
                      </a:prstGeom>
                      <a:noFill/>
                      <a:ln w="38100">
                        <a:noFill/>
                        <a:miter/>
                      </a:ln>
                    </p:spPr>
                  </p:pic>
                </p:oleObj>
              </mc:Fallback>
            </mc:AlternateContent>
          </a:graphicData>
        </a:graphic>
      </p:graphicFrame>
      <p:graphicFrame>
        <p:nvGraphicFramePr>
          <p:cNvPr id="12291" name="对象 51208"/>
          <p:cNvGraphicFramePr/>
          <p:nvPr/>
        </p:nvGraphicFramePr>
        <p:xfrm>
          <a:off x="2903538" y="3068638"/>
          <a:ext cx="3052762" cy="368300"/>
        </p:xfrm>
        <a:graphic>
          <a:graphicData uri="http://schemas.openxmlformats.org/presentationml/2006/ole">
            <mc:AlternateContent xmlns:mc="http://schemas.openxmlformats.org/markup-compatibility/2006">
              <mc:Choice xmlns:v="urn:schemas-microsoft-com:vml" Requires="v">
                <p:oleObj spid="_x0000_s3099" name="" r:id="rId3" imgW="1432560" imgH="177800" progId="Equation.DSMT4">
                  <p:embed/>
                </p:oleObj>
              </mc:Choice>
              <mc:Fallback>
                <p:oleObj name="" r:id="rId3" imgW="1432560" imgH="177800" progId="Equation.DSMT4">
                  <p:embed/>
                  <p:pic>
                    <p:nvPicPr>
                      <p:cNvPr id="0" name="图片 3098"/>
                      <p:cNvPicPr/>
                      <p:nvPr/>
                    </p:nvPicPr>
                    <p:blipFill>
                      <a:blip r:embed="rId4"/>
                      <a:stretch>
                        <a:fillRect/>
                      </a:stretch>
                    </p:blipFill>
                    <p:spPr>
                      <a:xfrm>
                        <a:off x="2903538" y="3068638"/>
                        <a:ext cx="3052762" cy="368300"/>
                      </a:xfrm>
                      <a:prstGeom prst="rect">
                        <a:avLst/>
                      </a:prstGeom>
                      <a:noFill/>
                      <a:ln w="38100">
                        <a:noFill/>
                        <a:miter/>
                      </a:ln>
                    </p:spPr>
                  </p:pic>
                </p:oleObj>
              </mc:Fallback>
            </mc:AlternateContent>
          </a:graphicData>
        </a:graphic>
      </p:graphicFrame>
      <p:graphicFrame>
        <p:nvGraphicFramePr>
          <p:cNvPr id="12292" name="对象 51207"/>
          <p:cNvGraphicFramePr/>
          <p:nvPr/>
        </p:nvGraphicFramePr>
        <p:xfrm>
          <a:off x="1979613" y="3644900"/>
          <a:ext cx="5545137" cy="508000"/>
        </p:xfrm>
        <a:graphic>
          <a:graphicData uri="http://schemas.openxmlformats.org/presentationml/2006/ole">
            <mc:AlternateContent xmlns:mc="http://schemas.openxmlformats.org/markup-compatibility/2006">
              <mc:Choice xmlns:v="urn:schemas-microsoft-com:vml" Requires="v">
                <p:oleObj spid="_x0000_s3098" name="" r:id="rId5" imgW="2804160" imgH="254000" progId="Equation.DSMT4">
                  <p:embed/>
                </p:oleObj>
              </mc:Choice>
              <mc:Fallback>
                <p:oleObj name="" r:id="rId5" imgW="2804160" imgH="254000" progId="Equation.DSMT4">
                  <p:embed/>
                  <p:pic>
                    <p:nvPicPr>
                      <p:cNvPr id="0" name="图片 3097"/>
                      <p:cNvPicPr/>
                      <p:nvPr/>
                    </p:nvPicPr>
                    <p:blipFill>
                      <a:blip r:embed="rId6"/>
                      <a:stretch>
                        <a:fillRect/>
                      </a:stretch>
                    </p:blipFill>
                    <p:spPr>
                      <a:xfrm>
                        <a:off x="1979613" y="3644900"/>
                        <a:ext cx="5545137" cy="508000"/>
                      </a:xfrm>
                      <a:prstGeom prst="rect">
                        <a:avLst/>
                      </a:prstGeom>
                      <a:noFill/>
                      <a:ln w="38100">
                        <a:noFill/>
                        <a:miter/>
                      </a:ln>
                    </p:spPr>
                  </p:pic>
                </p:oleObj>
              </mc:Fallback>
            </mc:AlternateContent>
          </a:graphicData>
        </a:graphic>
      </p:graphicFrame>
      <p:graphicFrame>
        <p:nvGraphicFramePr>
          <p:cNvPr id="12293" name="对象 51206"/>
          <p:cNvGraphicFramePr/>
          <p:nvPr/>
        </p:nvGraphicFramePr>
        <p:xfrm>
          <a:off x="1966913" y="4221163"/>
          <a:ext cx="5426075" cy="774700"/>
        </p:xfrm>
        <a:graphic>
          <a:graphicData uri="http://schemas.openxmlformats.org/presentationml/2006/ole">
            <mc:AlternateContent xmlns:mc="http://schemas.openxmlformats.org/markup-compatibility/2006">
              <mc:Choice xmlns:v="urn:schemas-microsoft-com:vml" Requires="v">
                <p:oleObj spid="_x0000_s3101" name="" r:id="rId7" imgW="2679700" imgH="419100" progId="Equation.DSMT4">
                  <p:embed/>
                </p:oleObj>
              </mc:Choice>
              <mc:Fallback>
                <p:oleObj name="" r:id="rId7" imgW="2679700" imgH="419100" progId="Equation.DSMT4">
                  <p:embed/>
                  <p:pic>
                    <p:nvPicPr>
                      <p:cNvPr id="0" name="图片 3100"/>
                      <p:cNvPicPr/>
                      <p:nvPr/>
                    </p:nvPicPr>
                    <p:blipFill>
                      <a:blip r:embed="rId8"/>
                      <a:stretch>
                        <a:fillRect/>
                      </a:stretch>
                    </p:blipFill>
                    <p:spPr>
                      <a:xfrm>
                        <a:off x="1966913" y="4221163"/>
                        <a:ext cx="5426075" cy="774700"/>
                      </a:xfrm>
                      <a:prstGeom prst="rect">
                        <a:avLst/>
                      </a:prstGeom>
                      <a:noFill/>
                      <a:ln w="38100">
                        <a:noFill/>
                        <a:miter/>
                      </a:ln>
                    </p:spPr>
                  </p:pic>
                </p:oleObj>
              </mc:Fallback>
            </mc:AlternateContent>
          </a:graphicData>
        </a:graphic>
      </p:graphicFrame>
      <p:graphicFrame>
        <p:nvGraphicFramePr>
          <p:cNvPr id="12294" name="对象 51205"/>
          <p:cNvGraphicFramePr/>
          <p:nvPr/>
        </p:nvGraphicFramePr>
        <p:xfrm>
          <a:off x="2855913" y="5013325"/>
          <a:ext cx="3141662" cy="454025"/>
        </p:xfrm>
        <a:graphic>
          <a:graphicData uri="http://schemas.openxmlformats.org/presentationml/2006/ole">
            <mc:AlternateContent xmlns:mc="http://schemas.openxmlformats.org/markup-compatibility/2006">
              <mc:Choice xmlns:v="urn:schemas-microsoft-com:vml" Requires="v">
                <p:oleObj spid="_x0000_s3102" name="" r:id="rId9" imgW="1446530" imgH="203200" progId="Equation.DSMT4">
                  <p:embed/>
                </p:oleObj>
              </mc:Choice>
              <mc:Fallback>
                <p:oleObj name="" r:id="rId9" imgW="1446530" imgH="203200" progId="Equation.DSMT4">
                  <p:embed/>
                  <p:pic>
                    <p:nvPicPr>
                      <p:cNvPr id="0" name="图片 3101"/>
                      <p:cNvPicPr/>
                      <p:nvPr/>
                    </p:nvPicPr>
                    <p:blipFill>
                      <a:blip r:embed="rId10"/>
                      <a:stretch>
                        <a:fillRect/>
                      </a:stretch>
                    </p:blipFill>
                    <p:spPr>
                      <a:xfrm>
                        <a:off x="2855913" y="5013325"/>
                        <a:ext cx="3141662" cy="454025"/>
                      </a:xfrm>
                      <a:prstGeom prst="rect">
                        <a:avLst/>
                      </a:prstGeom>
                      <a:noFill/>
                      <a:ln w="38100">
                        <a:noFill/>
                        <a:miter/>
                      </a:ln>
                    </p:spPr>
                  </p:pic>
                </p:oleObj>
              </mc:Fallback>
            </mc:AlternateContent>
          </a:graphicData>
        </a:graphic>
      </p:graphicFrame>
      <p:graphicFrame>
        <p:nvGraphicFramePr>
          <p:cNvPr id="12295" name="对象 51204"/>
          <p:cNvGraphicFramePr/>
          <p:nvPr/>
        </p:nvGraphicFramePr>
        <p:xfrm>
          <a:off x="1654175" y="5475288"/>
          <a:ext cx="6051550" cy="1073150"/>
        </p:xfrm>
        <a:graphic>
          <a:graphicData uri="http://schemas.openxmlformats.org/presentationml/2006/ole">
            <mc:AlternateContent xmlns:mc="http://schemas.openxmlformats.org/markup-compatibility/2006">
              <mc:Choice xmlns:v="urn:schemas-microsoft-com:vml" Requires="v">
                <p:oleObj spid="_x0000_s3103" name="" r:id="rId11" imgW="3275330" imgH="584200" progId="Equation.DSMT4">
                  <p:embed/>
                </p:oleObj>
              </mc:Choice>
              <mc:Fallback>
                <p:oleObj name="" r:id="rId11" imgW="3275330" imgH="584200" progId="Equation.DSMT4">
                  <p:embed/>
                  <p:pic>
                    <p:nvPicPr>
                      <p:cNvPr id="0" name="图片 3102"/>
                      <p:cNvPicPr/>
                      <p:nvPr/>
                    </p:nvPicPr>
                    <p:blipFill>
                      <a:blip r:embed="rId12"/>
                      <a:stretch>
                        <a:fillRect/>
                      </a:stretch>
                    </p:blipFill>
                    <p:spPr>
                      <a:xfrm>
                        <a:off x="1654175" y="5475288"/>
                        <a:ext cx="6051550" cy="1073150"/>
                      </a:xfrm>
                      <a:prstGeom prst="rect">
                        <a:avLst/>
                      </a:prstGeom>
                      <a:noFill/>
                      <a:ln w="38100">
                        <a:noFill/>
                        <a:miter/>
                      </a:ln>
                    </p:spPr>
                  </p:pic>
                </p:oleObj>
              </mc:Fallback>
            </mc:AlternateContent>
          </a:graphicData>
        </a:graphic>
      </p:graphicFrame>
      <p:sp>
        <p:nvSpPr>
          <p:cNvPr id="12296" name="矩形 51210"/>
          <p:cNvSpPr/>
          <p:nvPr/>
        </p:nvSpPr>
        <p:spPr>
          <a:xfrm>
            <a:off x="0" y="240506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12297" name="矩形 51211"/>
          <p:cNvSpPr/>
          <p:nvPr/>
        </p:nvSpPr>
        <p:spPr>
          <a:xfrm>
            <a:off x="0" y="28146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12298" name="矩形 51212"/>
          <p:cNvSpPr/>
          <p:nvPr/>
        </p:nvSpPr>
        <p:spPr>
          <a:xfrm>
            <a:off x="-252412" y="321310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12299" name="矩形 51213"/>
          <p:cNvSpPr/>
          <p:nvPr/>
        </p:nvSpPr>
        <p:spPr>
          <a:xfrm>
            <a:off x="0" y="32845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12300" name="矩形 51214"/>
          <p:cNvSpPr/>
          <p:nvPr/>
        </p:nvSpPr>
        <p:spPr>
          <a:xfrm>
            <a:off x="0" y="378936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12301" name="矩形 51215"/>
          <p:cNvSpPr/>
          <p:nvPr/>
        </p:nvSpPr>
        <p:spPr>
          <a:xfrm>
            <a:off x="2771775" y="4221163"/>
            <a:ext cx="2808288" cy="576262"/>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12302" name="文本框 51216"/>
          <p:cNvSpPr txBox="1"/>
          <p:nvPr/>
        </p:nvSpPr>
        <p:spPr>
          <a:xfrm>
            <a:off x="755650" y="2349500"/>
            <a:ext cx="796925"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框 50179"/>
          <p:cNvSpPr txBox="1"/>
          <p:nvPr/>
        </p:nvSpPr>
        <p:spPr>
          <a:xfrm>
            <a:off x="539750" y="404813"/>
            <a:ext cx="7777163" cy="1187450"/>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3-24 </a:t>
            </a:r>
            <a:r>
              <a:rPr lang="zh-CN" altLang="en-US" dirty="0">
                <a:latin typeface="Times New Roman" panose="02020603050405020304" pitchFamily="18" charset="0"/>
                <a:ea typeface="宋体" panose="02010600030101010101" pitchFamily="2" charset="-122"/>
              </a:rPr>
              <a:t>一直流并励机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=5.5kW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=110V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=60.6A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fN</a:t>
            </a:r>
            <a:r>
              <a:rPr lang="en-US" altLang="zh-CN" i="1">
                <a:latin typeface="Times New Roman" panose="02020603050405020304" pitchFamily="18" charset="0"/>
                <a:ea typeface="宋体" panose="02010600030101010101" pitchFamily="2" charset="-122"/>
              </a:rPr>
              <a:t>=0.88A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=3000r/min</a:t>
            </a:r>
            <a:r>
              <a:rPr lang="zh-CN" altLang="en-US" dirty="0">
                <a:latin typeface="Times New Roman" panose="02020603050405020304" pitchFamily="18" charset="0"/>
                <a:ea typeface="宋体" panose="02010600030101010101" pitchFamily="2" charset="-122"/>
              </a:rPr>
              <a:t>，求额定状态下：</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输入功率</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(2) </a:t>
            </a:r>
            <a:r>
              <a:rPr lang="zh-CN" altLang="en-US" dirty="0">
                <a:latin typeface="Times New Roman" panose="02020603050405020304" pitchFamily="18" charset="0"/>
                <a:ea typeface="宋体" panose="02010600030101010101" pitchFamily="2" charset="-122"/>
              </a:rPr>
              <a:t>效率</a:t>
            </a:r>
            <a:r>
              <a:rPr lang="en-US" altLang="zh-CN" i="1">
                <a:latin typeface="Times New Roman" panose="02020603050405020304" pitchFamily="18" charset="0"/>
                <a:ea typeface="宋体" panose="02010600030101010101" pitchFamily="2" charset="-122"/>
              </a:rPr>
              <a:t>η</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(3)</a:t>
            </a:r>
            <a:r>
              <a:rPr lang="zh-CN" altLang="en-US" dirty="0">
                <a:latin typeface="Times New Roman" panose="02020603050405020304" pitchFamily="18" charset="0"/>
                <a:ea typeface="宋体" panose="02010600030101010101" pitchFamily="2" charset="-122"/>
              </a:rPr>
              <a:t>输出转矩</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3314" name="对象 50181"/>
          <p:cNvGraphicFramePr/>
          <p:nvPr/>
        </p:nvGraphicFramePr>
        <p:xfrm>
          <a:off x="1679575" y="1989138"/>
          <a:ext cx="4995863" cy="852487"/>
        </p:xfrm>
        <a:graphic>
          <a:graphicData uri="http://schemas.openxmlformats.org/presentationml/2006/ole">
            <mc:AlternateContent xmlns:mc="http://schemas.openxmlformats.org/markup-compatibility/2006">
              <mc:Choice xmlns:v="urn:schemas-microsoft-com:vml" Requires="v">
                <p:oleObj spid="_x0000_s3097" name="" r:id="rId1" imgW="2284730" imgH="393700" progId="Equation.DSMT4">
                  <p:embed/>
                </p:oleObj>
              </mc:Choice>
              <mc:Fallback>
                <p:oleObj name="" r:id="rId1" imgW="2284730" imgH="393700" progId="Equation.DSMT4">
                  <p:embed/>
                  <p:pic>
                    <p:nvPicPr>
                      <p:cNvPr id="0" name="图片 3096"/>
                      <p:cNvPicPr/>
                      <p:nvPr/>
                    </p:nvPicPr>
                    <p:blipFill>
                      <a:blip r:embed="rId2"/>
                      <a:stretch>
                        <a:fillRect/>
                      </a:stretch>
                    </p:blipFill>
                    <p:spPr>
                      <a:xfrm>
                        <a:off x="1679575" y="1989138"/>
                        <a:ext cx="4995863" cy="852487"/>
                      </a:xfrm>
                      <a:prstGeom prst="rect">
                        <a:avLst/>
                      </a:prstGeom>
                      <a:noFill/>
                      <a:ln w="38100">
                        <a:noFill/>
                        <a:miter/>
                      </a:ln>
                    </p:spPr>
                  </p:pic>
                </p:oleObj>
              </mc:Fallback>
            </mc:AlternateContent>
          </a:graphicData>
        </a:graphic>
      </p:graphicFrame>
      <p:graphicFrame>
        <p:nvGraphicFramePr>
          <p:cNvPr id="13315" name="对象 50180"/>
          <p:cNvGraphicFramePr/>
          <p:nvPr/>
        </p:nvGraphicFramePr>
        <p:xfrm>
          <a:off x="2411413" y="2997200"/>
          <a:ext cx="3313112" cy="808038"/>
        </p:xfrm>
        <a:graphic>
          <a:graphicData uri="http://schemas.openxmlformats.org/presentationml/2006/ole">
            <mc:AlternateContent xmlns:mc="http://schemas.openxmlformats.org/markup-compatibility/2006">
              <mc:Choice xmlns:v="urn:schemas-microsoft-com:vml" Requires="v">
                <p:oleObj spid="_x0000_s3100" name="" r:id="rId3" imgW="1599565" imgH="393700" progId="Equation.DSMT4">
                  <p:embed/>
                </p:oleObj>
              </mc:Choice>
              <mc:Fallback>
                <p:oleObj name="" r:id="rId3" imgW="1599565" imgH="393700" progId="Equation.DSMT4">
                  <p:embed/>
                  <p:pic>
                    <p:nvPicPr>
                      <p:cNvPr id="0" name="图片 3099"/>
                      <p:cNvPicPr/>
                      <p:nvPr/>
                    </p:nvPicPr>
                    <p:blipFill>
                      <a:blip r:embed="rId4"/>
                      <a:stretch>
                        <a:fillRect/>
                      </a:stretch>
                    </p:blipFill>
                    <p:spPr>
                      <a:xfrm>
                        <a:off x="2411413" y="2997200"/>
                        <a:ext cx="3313112" cy="808038"/>
                      </a:xfrm>
                      <a:prstGeom prst="rect">
                        <a:avLst/>
                      </a:prstGeom>
                      <a:noFill/>
                      <a:ln w="38100">
                        <a:noFill/>
                        <a:miter/>
                      </a:ln>
                    </p:spPr>
                  </p:pic>
                </p:oleObj>
              </mc:Fallback>
            </mc:AlternateContent>
          </a:graphicData>
        </a:graphic>
      </p:graphicFrame>
      <p:sp>
        <p:nvSpPr>
          <p:cNvPr id="13316" name="矩形 50182"/>
          <p:cNvSpPr/>
          <p:nvPr/>
        </p:nvSpPr>
        <p:spPr>
          <a:xfrm>
            <a:off x="2530475" y="330676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13317" name="矩形 50183"/>
          <p:cNvSpPr/>
          <p:nvPr/>
        </p:nvSpPr>
        <p:spPr>
          <a:xfrm>
            <a:off x="2530475" y="369728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13318" name="文本框 50184"/>
          <p:cNvSpPr txBox="1"/>
          <p:nvPr/>
        </p:nvSpPr>
        <p:spPr>
          <a:xfrm>
            <a:off x="611188" y="2133600"/>
            <a:ext cx="796925"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文本框 49155"/>
          <p:cNvSpPr txBox="1"/>
          <p:nvPr/>
        </p:nvSpPr>
        <p:spPr>
          <a:xfrm>
            <a:off x="1042988" y="333375"/>
            <a:ext cx="6840537" cy="519113"/>
          </a:xfrm>
          <a:prstGeom prst="rect">
            <a:avLst/>
          </a:prstGeom>
          <a:noFill/>
          <a:ln w="9525">
            <a:noFill/>
          </a:ln>
        </p:spPr>
        <p:txBody>
          <a:bodyPr anchor="t" anchorCtr="0">
            <a:spAutoFit/>
          </a:bodyPr>
          <a:p>
            <a:pPr algn="ctr"/>
            <a:r>
              <a:rPr lang="zh-CN" altLang="en-US" sz="2800" dirty="0">
                <a:solidFill>
                  <a:srgbClr val="FF0000"/>
                </a:solidFill>
                <a:latin typeface="Times New Roman" panose="02020603050405020304" pitchFamily="18" charset="0"/>
                <a:ea typeface="宋体" panose="02010600030101010101" pitchFamily="2" charset="-122"/>
              </a:rPr>
              <a:t>第四章 直流电机的电力拖动</a:t>
            </a:r>
            <a:endParaRPr lang="zh-CN" altLang="en-US" sz="2800" dirty="0">
              <a:solidFill>
                <a:srgbClr val="FF0000"/>
              </a:solidFill>
              <a:latin typeface="Times New Roman" panose="02020603050405020304" pitchFamily="18" charset="0"/>
              <a:ea typeface="宋体" panose="02010600030101010101" pitchFamily="2" charset="-122"/>
            </a:endParaRPr>
          </a:p>
        </p:txBody>
      </p:sp>
      <p:sp>
        <p:nvSpPr>
          <p:cNvPr id="14338" name="文本框 49156"/>
          <p:cNvSpPr txBox="1"/>
          <p:nvPr/>
        </p:nvSpPr>
        <p:spPr>
          <a:xfrm>
            <a:off x="501650" y="908050"/>
            <a:ext cx="8642350" cy="1552575"/>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4-6 ZD2</a:t>
            </a:r>
            <a:r>
              <a:rPr lang="zh-CN" altLang="en-US" dirty="0">
                <a:latin typeface="Times New Roman" panose="02020603050405020304" pitchFamily="18" charset="0"/>
                <a:ea typeface="宋体" panose="02010600030101010101" pitchFamily="2" charset="-122"/>
              </a:rPr>
              <a:t>型直流机，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=17kW,</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=220V,</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=630A,</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=750r/min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=0.0127Ω,</a:t>
            </a:r>
            <a:r>
              <a:rPr lang="zh-CN" altLang="en-US" dirty="0">
                <a:latin typeface="Times New Roman" panose="02020603050405020304" pitchFamily="18" charset="0"/>
                <a:ea typeface="宋体" panose="02010600030101010101" pitchFamily="2" charset="-122"/>
              </a:rPr>
              <a:t>他励绕组电阻</a:t>
            </a:r>
            <a:r>
              <a:rPr lang="en-US" altLang="zh-CN">
                <a:latin typeface="Times New Roman" panose="02020603050405020304" pitchFamily="18" charset="0"/>
                <a:ea typeface="宋体" panose="02010600030101010101" pitchFamily="2" charset="-122"/>
              </a:rPr>
              <a:t>14.3Ω,</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=220V,</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fN</a:t>
            </a:r>
            <a:r>
              <a:rPr lang="en-US" altLang="zh-CN" dirty="0">
                <a:latin typeface="Times New Roman" panose="02020603050405020304" pitchFamily="18" charset="0"/>
                <a:ea typeface="宋体" panose="02010600030101010101" pitchFamily="2" charset="-122"/>
              </a:rPr>
              <a:t>=11.73A</a:t>
            </a:r>
            <a:r>
              <a:rPr lang="zh-CN" altLang="en-US" dirty="0">
                <a:latin typeface="Times New Roman" panose="02020603050405020304" pitchFamily="18" charset="0"/>
                <a:ea typeface="宋体" panose="02010600030101010101" pitchFamily="2" charset="-122"/>
              </a:rPr>
              <a:t>。求：</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额定时励磁回路的附加电阻。</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额定电磁转矩和额定输出转矩。</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理想空载转速。</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绘出电机的自然机械特性。</a:t>
            </a:r>
            <a:endParaRPr lang="zh-CN" altLang="en-US" dirty="0">
              <a:latin typeface="Times New Roman" panose="02020603050405020304" pitchFamily="18" charset="0"/>
              <a:ea typeface="宋体" panose="02010600030101010101" pitchFamily="2" charset="-122"/>
            </a:endParaRPr>
          </a:p>
        </p:txBody>
      </p:sp>
      <p:sp>
        <p:nvSpPr>
          <p:cNvPr id="14339" name="文本框 49157"/>
          <p:cNvSpPr txBox="1"/>
          <p:nvPr/>
        </p:nvSpPr>
        <p:spPr>
          <a:xfrm>
            <a:off x="395288" y="2636838"/>
            <a:ext cx="3244850"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解</a:t>
            </a:r>
            <a:r>
              <a:rPr lang="en-US" altLang="zh-CN">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sym typeface="Wingdings" panose="05000000000000000000" pitchFamily="2" charset="2"/>
              </a:rPr>
              <a:t>(1)</a:t>
            </a:r>
            <a:r>
              <a:rPr lang="zh-CN" altLang="en-US" dirty="0">
                <a:latin typeface="Times New Roman" panose="02020603050405020304" pitchFamily="18" charset="0"/>
                <a:ea typeface="宋体" panose="02010600030101010101" pitchFamily="2" charset="-122"/>
              </a:rPr>
              <a:t>额定附加电阻： </a:t>
            </a:r>
            <a:endParaRPr lang="zh-CN" altLang="en-US" dirty="0">
              <a:latin typeface="Times New Roman" panose="02020603050405020304" pitchFamily="18" charset="0"/>
              <a:ea typeface="宋体" panose="02010600030101010101" pitchFamily="2" charset="-122"/>
            </a:endParaRPr>
          </a:p>
        </p:txBody>
      </p:sp>
      <p:sp>
        <p:nvSpPr>
          <p:cNvPr id="14340" name="矩形 49159"/>
          <p:cNvSpPr/>
          <p:nvPr/>
        </p:nvSpPr>
        <p:spPr>
          <a:xfrm>
            <a:off x="3532188" y="31321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4341" name="对象 49158"/>
          <p:cNvGraphicFramePr/>
          <p:nvPr/>
        </p:nvGraphicFramePr>
        <p:xfrm>
          <a:off x="3673475" y="2492375"/>
          <a:ext cx="3163888" cy="814388"/>
        </p:xfrm>
        <a:graphic>
          <a:graphicData uri="http://schemas.openxmlformats.org/presentationml/2006/ole">
            <mc:AlternateContent xmlns:mc="http://schemas.openxmlformats.org/markup-compatibility/2006">
              <mc:Choice xmlns:v="urn:schemas-microsoft-com:vml" Requires="v">
                <p:oleObj spid="_x0000_s3090" name="" r:id="rId1" imgW="1586230" imgH="405765" progId="Equation.DSMT4">
                  <p:embed/>
                </p:oleObj>
              </mc:Choice>
              <mc:Fallback>
                <p:oleObj name="" r:id="rId1" imgW="1586230" imgH="405765" progId="Equation.DSMT4">
                  <p:embed/>
                  <p:pic>
                    <p:nvPicPr>
                      <p:cNvPr id="0" name="图片 3089"/>
                      <p:cNvPicPr/>
                      <p:nvPr/>
                    </p:nvPicPr>
                    <p:blipFill>
                      <a:blip r:embed="rId2"/>
                      <a:stretch>
                        <a:fillRect/>
                      </a:stretch>
                    </p:blipFill>
                    <p:spPr>
                      <a:xfrm>
                        <a:off x="3673475" y="2492375"/>
                        <a:ext cx="3163888" cy="814388"/>
                      </a:xfrm>
                      <a:prstGeom prst="rect">
                        <a:avLst/>
                      </a:prstGeom>
                      <a:noFill/>
                      <a:ln w="38100">
                        <a:noFill/>
                        <a:miter/>
                      </a:ln>
                    </p:spPr>
                  </p:pic>
                </p:oleObj>
              </mc:Fallback>
            </mc:AlternateContent>
          </a:graphicData>
        </a:graphic>
      </p:graphicFrame>
      <p:sp>
        <p:nvSpPr>
          <p:cNvPr id="14342" name="文本框 49160"/>
          <p:cNvSpPr txBox="1"/>
          <p:nvPr/>
        </p:nvSpPr>
        <p:spPr>
          <a:xfrm>
            <a:off x="574675" y="3429000"/>
            <a:ext cx="8569325" cy="457200"/>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额定运行电枢电压方程：</a:t>
            </a:r>
            <a:r>
              <a:rPr lang="en-US" altLang="zh-CN" i="1">
                <a:latin typeface="Times New Roman" panose="02020603050405020304" pitchFamily="18" charset="0"/>
                <a:ea typeface="宋体" panose="02010600030101010101" pitchFamily="2" charset="-122"/>
              </a:rPr>
              <a:t>220=E</a:t>
            </a:r>
            <a:r>
              <a:rPr lang="en-US" altLang="zh-CN" i="1" baseline="-25000">
                <a:latin typeface="Times New Roman" panose="02020603050405020304" pitchFamily="18" charset="0"/>
                <a:ea typeface="宋体" panose="02010600030101010101" pitchFamily="2" charset="-122"/>
              </a:rPr>
              <a:t>aN</a:t>
            </a:r>
            <a:r>
              <a:rPr lang="en-US" altLang="zh-CN" i="1">
                <a:latin typeface="Times New Roman" panose="02020603050405020304" pitchFamily="18" charset="0"/>
                <a:ea typeface="宋体" panose="02010600030101010101" pitchFamily="2" charset="-122"/>
              </a:rPr>
              <a:t>+630</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0.0127; E</a:t>
            </a:r>
            <a:r>
              <a:rPr lang="en-US" altLang="zh-CN" i="1" baseline="-25000">
                <a:latin typeface="Times New Roman" panose="02020603050405020304" pitchFamily="18" charset="0"/>
                <a:ea typeface="宋体" panose="02010600030101010101" pitchFamily="2" charset="-122"/>
              </a:rPr>
              <a:t>aN</a:t>
            </a:r>
            <a:r>
              <a:rPr lang="en-US" altLang="zh-CN" i="1">
                <a:latin typeface="Times New Roman" panose="02020603050405020304" pitchFamily="18" charset="0"/>
                <a:ea typeface="宋体" panose="02010600030101010101" pitchFamily="2" charset="-122"/>
              </a:rPr>
              <a:t> =212V</a:t>
            </a:r>
            <a:endParaRPr lang="en-US" altLang="zh-CN" i="1">
              <a:latin typeface="Times New Roman" panose="02020603050405020304" pitchFamily="18" charset="0"/>
              <a:ea typeface="宋体" panose="02010600030101010101" pitchFamily="2" charset="-122"/>
            </a:endParaRPr>
          </a:p>
        </p:txBody>
      </p:sp>
      <p:sp>
        <p:nvSpPr>
          <p:cNvPr id="14343" name="矩形 49162"/>
          <p:cNvSpPr/>
          <p:nvPr/>
        </p:nvSpPr>
        <p:spPr>
          <a:xfrm>
            <a:off x="4352925" y="428942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4344" name="对象 49161"/>
          <p:cNvGraphicFramePr/>
          <p:nvPr/>
        </p:nvGraphicFramePr>
        <p:xfrm>
          <a:off x="3505200" y="4005263"/>
          <a:ext cx="3573463" cy="817562"/>
        </p:xfrm>
        <a:graphic>
          <a:graphicData uri="http://schemas.openxmlformats.org/presentationml/2006/ole">
            <mc:AlternateContent xmlns:mc="http://schemas.openxmlformats.org/markup-compatibility/2006">
              <mc:Choice xmlns:v="urn:schemas-microsoft-com:vml" Requires="v">
                <p:oleObj spid="_x0000_s3092" name="" r:id="rId3" imgW="1713865" imgH="393700" progId="Equation.DSMT4">
                  <p:embed/>
                </p:oleObj>
              </mc:Choice>
              <mc:Fallback>
                <p:oleObj name="" r:id="rId3" imgW="1713865" imgH="393700" progId="Equation.DSMT4">
                  <p:embed/>
                  <p:pic>
                    <p:nvPicPr>
                      <p:cNvPr id="0" name="图片 3091"/>
                      <p:cNvPicPr/>
                      <p:nvPr/>
                    </p:nvPicPr>
                    <p:blipFill>
                      <a:blip r:embed="rId4"/>
                      <a:stretch>
                        <a:fillRect/>
                      </a:stretch>
                    </p:blipFill>
                    <p:spPr>
                      <a:xfrm>
                        <a:off x="3505200" y="4005263"/>
                        <a:ext cx="3573463" cy="817562"/>
                      </a:xfrm>
                      <a:prstGeom prst="rect">
                        <a:avLst/>
                      </a:prstGeom>
                      <a:noFill/>
                      <a:ln w="38100">
                        <a:noFill/>
                        <a:miter/>
                      </a:ln>
                    </p:spPr>
                  </p:pic>
                </p:oleObj>
              </mc:Fallback>
            </mc:AlternateContent>
          </a:graphicData>
        </a:graphic>
      </p:graphicFrame>
      <p:sp>
        <p:nvSpPr>
          <p:cNvPr id="14345" name="矩形 49164"/>
          <p:cNvSpPr/>
          <p:nvPr/>
        </p:nvSpPr>
        <p:spPr>
          <a:xfrm>
            <a:off x="4610100" y="522922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4346" name="对象 49163"/>
          <p:cNvGraphicFramePr/>
          <p:nvPr/>
        </p:nvGraphicFramePr>
        <p:xfrm>
          <a:off x="3505200" y="4724400"/>
          <a:ext cx="3287713" cy="795338"/>
        </p:xfrm>
        <a:graphic>
          <a:graphicData uri="http://schemas.openxmlformats.org/presentationml/2006/ole">
            <mc:AlternateContent xmlns:mc="http://schemas.openxmlformats.org/markup-compatibility/2006">
              <mc:Choice xmlns:v="urn:schemas-microsoft-com:vml" Requires="v">
                <p:oleObj spid="_x0000_s3091" name="" r:id="rId5" imgW="1612265" imgH="393700" progId="Equation.DSMT4">
                  <p:embed/>
                </p:oleObj>
              </mc:Choice>
              <mc:Fallback>
                <p:oleObj name="" r:id="rId5" imgW="1612265" imgH="393700" progId="Equation.DSMT4">
                  <p:embed/>
                  <p:pic>
                    <p:nvPicPr>
                      <p:cNvPr id="0" name="图片 3090"/>
                      <p:cNvPicPr/>
                      <p:nvPr/>
                    </p:nvPicPr>
                    <p:blipFill>
                      <a:blip r:embed="rId6"/>
                      <a:stretch>
                        <a:fillRect/>
                      </a:stretch>
                    </p:blipFill>
                    <p:spPr>
                      <a:xfrm>
                        <a:off x="3505200" y="4724400"/>
                        <a:ext cx="3287713" cy="795338"/>
                      </a:xfrm>
                      <a:prstGeom prst="rect">
                        <a:avLst/>
                      </a:prstGeom>
                      <a:noFill/>
                      <a:ln w="38100">
                        <a:noFill/>
                        <a:miter/>
                      </a:ln>
                    </p:spPr>
                  </p:pic>
                </p:oleObj>
              </mc:Fallback>
            </mc:AlternateContent>
          </a:graphicData>
        </a:graphic>
      </p:graphicFrame>
      <p:sp>
        <p:nvSpPr>
          <p:cNvPr id="14347" name="文本框 49165"/>
          <p:cNvSpPr txBox="1"/>
          <p:nvPr/>
        </p:nvSpPr>
        <p:spPr>
          <a:xfrm>
            <a:off x="900113" y="4149725"/>
            <a:ext cx="2328862"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额定电磁转矩：</a:t>
            </a:r>
            <a:endParaRPr lang="zh-CN" altLang="en-US" dirty="0">
              <a:latin typeface="Times New Roman" panose="02020603050405020304" pitchFamily="18" charset="0"/>
              <a:ea typeface="宋体" panose="02010600030101010101" pitchFamily="2" charset="-122"/>
            </a:endParaRPr>
          </a:p>
        </p:txBody>
      </p:sp>
      <p:sp>
        <p:nvSpPr>
          <p:cNvPr id="14348" name="文本框 49166"/>
          <p:cNvSpPr txBox="1"/>
          <p:nvPr/>
        </p:nvSpPr>
        <p:spPr>
          <a:xfrm>
            <a:off x="971550" y="4868863"/>
            <a:ext cx="2328863"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额定输出转矩：</a:t>
            </a:r>
            <a:endParaRPr lang="zh-CN" altLang="en-US" dirty="0">
              <a:latin typeface="Times New Roman" panose="02020603050405020304" pitchFamily="18" charset="0"/>
              <a:ea typeface="宋体" panose="02010600030101010101" pitchFamily="2" charset="-122"/>
            </a:endParaRPr>
          </a:p>
        </p:txBody>
      </p:sp>
      <p:sp>
        <p:nvSpPr>
          <p:cNvPr id="14349" name="文本框 49167"/>
          <p:cNvSpPr txBox="1"/>
          <p:nvPr/>
        </p:nvSpPr>
        <p:spPr>
          <a:xfrm>
            <a:off x="539750" y="5734050"/>
            <a:ext cx="3679825" cy="457200"/>
          </a:xfrm>
          <a:prstGeom prst="rect">
            <a:avLst/>
          </a:prstGeom>
          <a:noFill/>
          <a:ln w="9525">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电机的理想空载转速：</a:t>
            </a:r>
            <a:endParaRPr lang="zh-CN" altLang="en-US" dirty="0">
              <a:latin typeface="Times New Roman" panose="02020603050405020304" pitchFamily="18" charset="0"/>
              <a:ea typeface="宋体" panose="02010600030101010101" pitchFamily="2" charset="-122"/>
            </a:endParaRPr>
          </a:p>
        </p:txBody>
      </p:sp>
      <p:sp>
        <p:nvSpPr>
          <p:cNvPr id="14350" name="矩形 49169"/>
          <p:cNvSpPr/>
          <p:nvPr/>
        </p:nvSpPr>
        <p:spPr>
          <a:xfrm>
            <a:off x="4546600" y="566737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4351" name="对象 49168"/>
          <p:cNvGraphicFramePr/>
          <p:nvPr/>
        </p:nvGraphicFramePr>
        <p:xfrm>
          <a:off x="4186238" y="5589588"/>
          <a:ext cx="4084637" cy="854075"/>
        </p:xfrm>
        <a:graphic>
          <a:graphicData uri="http://schemas.openxmlformats.org/presentationml/2006/ole">
            <mc:AlternateContent xmlns:mc="http://schemas.openxmlformats.org/markup-compatibility/2006">
              <mc:Choice xmlns:v="urn:schemas-microsoft-com:vml" Requires="v">
                <p:oleObj spid="_x0000_s3095" name="" r:id="rId7" imgW="2006600" imgH="419100" progId="Equation.DSMT4">
                  <p:embed/>
                </p:oleObj>
              </mc:Choice>
              <mc:Fallback>
                <p:oleObj name="" r:id="rId7" imgW="2006600" imgH="419100" progId="Equation.DSMT4">
                  <p:embed/>
                  <p:pic>
                    <p:nvPicPr>
                      <p:cNvPr id="0" name="图片 3094"/>
                      <p:cNvPicPr/>
                      <p:nvPr/>
                    </p:nvPicPr>
                    <p:blipFill>
                      <a:blip r:embed="rId8"/>
                      <a:stretch>
                        <a:fillRect/>
                      </a:stretch>
                    </p:blipFill>
                    <p:spPr>
                      <a:xfrm>
                        <a:off x="4186238" y="5589588"/>
                        <a:ext cx="4084637" cy="854075"/>
                      </a:xfrm>
                      <a:prstGeom prst="rect">
                        <a:avLst/>
                      </a:prstGeom>
                      <a:noFill/>
                      <a:ln w="38100">
                        <a:noFill/>
                        <a:miter/>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48131"/>
          <p:cNvSpPr txBox="1"/>
          <p:nvPr/>
        </p:nvSpPr>
        <p:spPr>
          <a:xfrm>
            <a:off x="539750" y="404813"/>
            <a:ext cx="8208963" cy="1406525"/>
          </a:xfrm>
          <a:prstGeom prst="rect">
            <a:avLst/>
          </a:prstGeom>
          <a:noFill/>
          <a:ln w="9525">
            <a:noFill/>
          </a:ln>
        </p:spPr>
        <p:txBody>
          <a:bodyPr anchor="t" anchorCtr="0">
            <a:spAutoFit/>
          </a:bodyPr>
          <a:p>
            <a:pPr>
              <a:lnSpc>
                <a:spcPct val="120000"/>
              </a:lnSpc>
            </a:pPr>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并励直流机</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=17kW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=90A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=1500r/min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fN</a:t>
            </a:r>
            <a:r>
              <a:rPr lang="en-US" altLang="zh-CN">
                <a:latin typeface="Times New Roman" panose="02020603050405020304" pitchFamily="18" charset="0"/>
                <a:ea typeface="宋体" panose="02010600030101010101" pitchFamily="2" charset="-122"/>
              </a:rPr>
              <a:t>=2.135A,</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mec</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Fe</a:t>
            </a:r>
            <a:r>
              <a:rPr lang="en-US" altLang="zh-CN">
                <a:latin typeface="Times New Roman" panose="02020603050405020304" pitchFamily="18" charset="0"/>
                <a:ea typeface="宋体" panose="02010600030101010101" pitchFamily="2" charset="-122"/>
              </a:rPr>
              <a:t>=215W,</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=0.5%</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，求：</a:t>
            </a:r>
            <a:endParaRPr lang="zh-CN" altLang="en-US" dirty="0">
              <a:latin typeface="Times New Roman" panose="02020603050405020304" pitchFamily="18" charset="0"/>
              <a:ea typeface="宋体" panose="02010600030101010101" pitchFamily="2" charset="-122"/>
            </a:endParaRPr>
          </a:p>
          <a:p>
            <a:pPr>
              <a:lnSpc>
                <a:spcPct val="120000"/>
              </a:lnSpc>
            </a:pPr>
            <a:r>
              <a:rPr lang="en-US" altLang="zh-CN">
                <a:latin typeface="Times New Roman" panose="02020603050405020304" pitchFamily="18" charset="0"/>
                <a:ea typeface="宋体" panose="02010600030101010101" pitchFamily="2" charset="-122"/>
              </a:rPr>
              <a:t>(1) </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(2) </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 </a:t>
            </a:r>
            <a:r>
              <a:rPr lang="en-US" altLang="zh-CN" i="1">
                <a:latin typeface="Times New Roman" panose="02020603050405020304" pitchFamily="18" charset="0"/>
                <a:ea typeface="宋体" panose="02010600030101010101" pitchFamily="2" charset="-122"/>
              </a:rPr>
              <a:t>η</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空载转速。</a:t>
            </a:r>
            <a:endParaRPr lang="zh-CN" altLang="en-US" dirty="0">
              <a:latin typeface="Times New Roman" panose="02020603050405020304" pitchFamily="18" charset="0"/>
              <a:ea typeface="宋体" panose="02010600030101010101" pitchFamily="2" charset="-122"/>
            </a:endParaRPr>
          </a:p>
        </p:txBody>
      </p:sp>
      <p:sp>
        <p:nvSpPr>
          <p:cNvPr id="15362" name="文本框 48132"/>
          <p:cNvSpPr txBox="1"/>
          <p:nvPr/>
        </p:nvSpPr>
        <p:spPr>
          <a:xfrm>
            <a:off x="468313" y="1844675"/>
            <a:ext cx="2022475" cy="457200"/>
          </a:xfrm>
          <a:prstGeom prst="rect">
            <a:avLst/>
          </a:prstGeom>
          <a:noFill/>
          <a:ln w="9525">
            <a:noFill/>
          </a:ln>
        </p:spPr>
        <p:txBody>
          <a:bodyPr wrap="none" anchor="t" anchorCtr="0">
            <a:spAutoFit/>
          </a:bodyPr>
          <a:p>
            <a:pPr algn="ctr"/>
            <a:r>
              <a:rPr lang="zh-CN" altLang="en-US" dirty="0">
                <a:latin typeface="Times New Roman" panose="02020603050405020304" pitchFamily="18" charset="0"/>
                <a:ea typeface="宋体" panose="02010600030101010101" pitchFamily="2" charset="-122"/>
              </a:rPr>
              <a:t>解：额定时：</a:t>
            </a:r>
            <a:endParaRPr lang="zh-CN" altLang="en-US" dirty="0">
              <a:latin typeface="Times New Roman" panose="02020603050405020304" pitchFamily="18" charset="0"/>
              <a:ea typeface="宋体" panose="02010600030101010101" pitchFamily="2" charset="-122"/>
            </a:endParaRPr>
          </a:p>
        </p:txBody>
      </p:sp>
      <p:sp>
        <p:nvSpPr>
          <p:cNvPr id="15363" name="矩形 48134"/>
          <p:cNvSpPr/>
          <p:nvPr/>
        </p:nvSpPr>
        <p:spPr>
          <a:xfrm>
            <a:off x="3055938" y="229235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5364" name="对象 48133"/>
          <p:cNvGraphicFramePr/>
          <p:nvPr/>
        </p:nvGraphicFramePr>
        <p:xfrm>
          <a:off x="1476375" y="2565400"/>
          <a:ext cx="6480175" cy="1233488"/>
        </p:xfrm>
        <a:graphic>
          <a:graphicData uri="http://schemas.openxmlformats.org/presentationml/2006/ole">
            <mc:AlternateContent xmlns:mc="http://schemas.openxmlformats.org/markup-compatibility/2006">
              <mc:Choice xmlns:v="urn:schemas-microsoft-com:vml" Requires="v">
                <p:oleObj spid="_x0000_s3096" name="" r:id="rId1" imgW="3200400" imgH="609600" progId="Equation.DSMT4">
                  <p:embed/>
                </p:oleObj>
              </mc:Choice>
              <mc:Fallback>
                <p:oleObj name="" r:id="rId1" imgW="3200400" imgH="609600" progId="Equation.DSMT4">
                  <p:embed/>
                  <p:pic>
                    <p:nvPicPr>
                      <p:cNvPr id="0" name="图片 3095"/>
                      <p:cNvPicPr/>
                      <p:nvPr/>
                    </p:nvPicPr>
                    <p:blipFill>
                      <a:blip r:embed="rId2"/>
                      <a:stretch>
                        <a:fillRect/>
                      </a:stretch>
                    </p:blipFill>
                    <p:spPr>
                      <a:xfrm>
                        <a:off x="1476375" y="2565400"/>
                        <a:ext cx="6480175" cy="1233488"/>
                      </a:xfrm>
                      <a:prstGeom prst="rect">
                        <a:avLst/>
                      </a:prstGeom>
                      <a:noFill/>
                      <a:ln w="38100">
                        <a:noFill/>
                        <a:miter/>
                      </a:ln>
                    </p:spPr>
                  </p:pic>
                </p:oleObj>
              </mc:Fallback>
            </mc:AlternateContent>
          </a:graphicData>
        </a:graphic>
      </p:graphicFrame>
      <p:sp>
        <p:nvSpPr>
          <p:cNvPr id="15365" name="矩形 48135"/>
          <p:cNvSpPr/>
          <p:nvPr/>
        </p:nvSpPr>
        <p:spPr>
          <a:xfrm>
            <a:off x="539750" y="3860800"/>
            <a:ext cx="7489825" cy="457200"/>
          </a:xfrm>
          <a:prstGeom prst="rect">
            <a:avLst/>
          </a:prstGeom>
          <a:noFill/>
          <a:ln w="9525">
            <a:noFill/>
          </a:ln>
        </p:spPr>
        <p:txBody>
          <a:bodyPr anchor="ctr" anchorCtr="0">
            <a:spAutoFit/>
          </a:bodyPr>
          <a:p>
            <a:pPr marL="457200" indent="-457200">
              <a:buAutoNum type="arabicParenBoth"/>
            </a:pPr>
            <a:r>
              <a:rPr lang="zh-CN" altLang="en-US" dirty="0">
                <a:latin typeface="Times New Roman" panose="02020603050405020304" pitchFamily="18" charset="0"/>
                <a:ea typeface="宋体" panose="02010600030101010101" pitchFamily="2" charset="-122"/>
              </a:rPr>
              <a:t>电压方程为：</a:t>
            </a:r>
            <a:endParaRPr lang="zh-CN" altLang="en-US" b="0" i="1" dirty="0">
              <a:latin typeface="Times New Roman" panose="02020603050405020304" pitchFamily="18" charset="0"/>
              <a:ea typeface="宋体" panose="02010600030101010101" pitchFamily="2" charset="-122"/>
              <a:sym typeface="Symbol" panose="05050102010706020507" pitchFamily="18" charset="2"/>
            </a:endParaRPr>
          </a:p>
        </p:txBody>
      </p:sp>
      <p:sp>
        <p:nvSpPr>
          <p:cNvPr id="15366" name="矩形 48136"/>
          <p:cNvSpPr/>
          <p:nvPr/>
        </p:nvSpPr>
        <p:spPr>
          <a:xfrm>
            <a:off x="539750" y="5013325"/>
            <a:ext cx="2836863"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额定电磁转矩： </a:t>
            </a:r>
            <a:endParaRPr lang="zh-CN" altLang="en-US" dirty="0">
              <a:latin typeface="Times New Roman" panose="02020603050405020304" pitchFamily="18" charset="0"/>
              <a:ea typeface="宋体" panose="02010600030101010101" pitchFamily="2" charset="-122"/>
            </a:endParaRPr>
          </a:p>
        </p:txBody>
      </p:sp>
      <p:sp>
        <p:nvSpPr>
          <p:cNvPr id="15367" name="矩形 48138"/>
          <p:cNvSpPr/>
          <p:nvPr/>
        </p:nvSpPr>
        <p:spPr>
          <a:xfrm>
            <a:off x="3748088" y="461010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15368" name="对象 48137"/>
          <p:cNvGraphicFramePr/>
          <p:nvPr/>
        </p:nvGraphicFramePr>
        <p:xfrm>
          <a:off x="2098675" y="5589588"/>
          <a:ext cx="4084638" cy="806450"/>
        </p:xfrm>
        <a:graphic>
          <a:graphicData uri="http://schemas.openxmlformats.org/presentationml/2006/ole">
            <mc:AlternateContent xmlns:mc="http://schemas.openxmlformats.org/markup-compatibility/2006">
              <mc:Choice xmlns:v="urn:schemas-microsoft-com:vml" Requires="v">
                <p:oleObj spid="_x0000_s3093" name="" r:id="rId3" imgW="1980565" imgH="393700" progId="Equation.DSMT4">
                  <p:embed/>
                </p:oleObj>
              </mc:Choice>
              <mc:Fallback>
                <p:oleObj name="" r:id="rId3" imgW="1980565" imgH="393700" progId="Equation.DSMT4">
                  <p:embed/>
                  <p:pic>
                    <p:nvPicPr>
                      <p:cNvPr id="0" name="图片 3092"/>
                      <p:cNvPicPr/>
                      <p:nvPr/>
                    </p:nvPicPr>
                    <p:blipFill>
                      <a:blip r:embed="rId4"/>
                      <a:stretch>
                        <a:fillRect/>
                      </a:stretch>
                    </p:blipFill>
                    <p:spPr>
                      <a:xfrm>
                        <a:off x="2098675" y="5589588"/>
                        <a:ext cx="4084638" cy="806450"/>
                      </a:xfrm>
                      <a:prstGeom prst="rect">
                        <a:avLst/>
                      </a:prstGeom>
                      <a:noFill/>
                      <a:ln w="38100">
                        <a:noFill/>
                        <a:miter/>
                      </a:ln>
                    </p:spPr>
                  </p:pic>
                </p:oleObj>
              </mc:Fallback>
            </mc:AlternateContent>
          </a:graphicData>
        </a:graphic>
      </p:graphicFrame>
      <p:sp>
        <p:nvSpPr>
          <p:cNvPr id="15369" name="文本框 48143"/>
          <p:cNvSpPr txBox="1"/>
          <p:nvPr/>
        </p:nvSpPr>
        <p:spPr>
          <a:xfrm>
            <a:off x="1547813" y="4437063"/>
            <a:ext cx="5853112" cy="457200"/>
          </a:xfrm>
          <a:prstGeom prst="rect">
            <a:avLst/>
          </a:prstGeom>
          <a:noFill/>
          <a:ln w="9525">
            <a:noFill/>
          </a:ln>
        </p:spPr>
        <p:txBody>
          <a:bodyPr anchor="t" anchorCtr="0">
            <a:spAutoFit/>
          </a:bodyPr>
          <a:p>
            <a:r>
              <a:rPr lang="en-US" altLang="zh-CN" i="1">
                <a:latin typeface="Times New Roman" panose="02020603050405020304" pitchFamily="18" charset="0"/>
                <a:ea typeface="宋体" panose="02010600030101010101" pitchFamily="2" charset="-122"/>
              </a:rPr>
              <a:t>220=196.89+87.865</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R</a:t>
            </a:r>
            <a:r>
              <a:rPr lang="en-US" altLang="zh-CN" i="1" baseline="-25000">
                <a:latin typeface="Times New Roman" panose="02020603050405020304" pitchFamily="18" charset="0"/>
                <a:ea typeface="宋体" panose="02010600030101010101" pitchFamily="2" charset="-122"/>
                <a:sym typeface="Symbol" panose="05050102010706020507" pitchFamily="18" charset="2"/>
              </a:rPr>
              <a:t>a</a:t>
            </a:r>
            <a:r>
              <a:rPr lang="en-US" altLang="zh-CN" i="1">
                <a:latin typeface="Times New Roman" panose="02020603050405020304" pitchFamily="18" charset="0"/>
                <a:ea typeface="宋体" panose="02010600030101010101" pitchFamily="2" charset="-122"/>
                <a:sym typeface="Symbol" panose="05050102010706020507" pitchFamily="18" charset="2"/>
              </a:rPr>
              <a:t>;   R</a:t>
            </a:r>
            <a:r>
              <a:rPr lang="en-US" altLang="zh-CN" i="1" baseline="-25000">
                <a:latin typeface="Times New Roman" panose="02020603050405020304" pitchFamily="18" charset="0"/>
                <a:ea typeface="宋体" panose="02010600030101010101" pitchFamily="2" charset="-122"/>
                <a:sym typeface="Symbol" panose="05050102010706020507" pitchFamily="18" charset="2"/>
              </a:rPr>
              <a:t>a</a:t>
            </a:r>
            <a:r>
              <a:rPr lang="en-US" altLang="zh-CN" i="1" dirty="0">
                <a:latin typeface="Times New Roman" panose="02020603050405020304" pitchFamily="18" charset="0"/>
                <a:ea typeface="宋体" panose="02010600030101010101" pitchFamily="2" charset="-122"/>
                <a:sym typeface="Symbol" panose="05050102010706020507" pitchFamily="18" charset="2"/>
              </a:rPr>
              <a:t>=0.263</a:t>
            </a:r>
            <a:r>
              <a:rPr lang="zh-CN" altLang="en-US" i="1" dirty="0">
                <a:latin typeface="Times New Roman" panose="02020603050405020304" pitchFamily="18" charset="0"/>
                <a:ea typeface="宋体" panose="02010600030101010101" pitchFamily="2" charset="-122"/>
                <a:sym typeface="Symbol" panose="05050102010706020507" pitchFamily="18" charset="2"/>
              </a:rPr>
              <a:t>欧</a:t>
            </a:r>
            <a:endParaRPr lang="zh-CN" altLang="en-US" i="1" dirty="0">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385" name="对象 47107"/>
          <p:cNvGraphicFramePr/>
          <p:nvPr/>
        </p:nvGraphicFramePr>
        <p:xfrm>
          <a:off x="1644650" y="1557338"/>
          <a:ext cx="6284913" cy="781050"/>
        </p:xfrm>
        <a:graphic>
          <a:graphicData uri="http://schemas.openxmlformats.org/presentationml/2006/ole">
            <mc:AlternateContent xmlns:mc="http://schemas.openxmlformats.org/markup-compatibility/2006">
              <mc:Choice xmlns:v="urn:schemas-microsoft-com:vml" Requires="v">
                <p:oleObj spid="_x0000_s3094" name="" r:id="rId1" imgW="3135630" imgH="393700" progId="Equation.DSMT4">
                  <p:embed/>
                </p:oleObj>
              </mc:Choice>
              <mc:Fallback>
                <p:oleObj name="" r:id="rId1" imgW="3135630" imgH="393700" progId="Equation.DSMT4">
                  <p:embed/>
                  <p:pic>
                    <p:nvPicPr>
                      <p:cNvPr id="0" name="图片 3093"/>
                      <p:cNvPicPr/>
                      <p:nvPr/>
                    </p:nvPicPr>
                    <p:blipFill>
                      <a:blip r:embed="rId2"/>
                      <a:stretch>
                        <a:fillRect/>
                      </a:stretch>
                    </p:blipFill>
                    <p:spPr>
                      <a:xfrm>
                        <a:off x="1644650" y="1557338"/>
                        <a:ext cx="6284913" cy="781050"/>
                      </a:xfrm>
                      <a:prstGeom prst="rect">
                        <a:avLst/>
                      </a:prstGeom>
                      <a:noFill/>
                      <a:ln w="38100">
                        <a:noFill/>
                        <a:miter/>
                      </a:ln>
                    </p:spPr>
                  </p:pic>
                </p:oleObj>
              </mc:Fallback>
            </mc:AlternateContent>
          </a:graphicData>
        </a:graphic>
      </p:graphicFrame>
      <p:sp>
        <p:nvSpPr>
          <p:cNvPr id="16386" name="文本框 47108"/>
          <p:cNvSpPr txBox="1"/>
          <p:nvPr/>
        </p:nvSpPr>
        <p:spPr>
          <a:xfrm>
            <a:off x="611188" y="765175"/>
            <a:ext cx="4529137" cy="457200"/>
          </a:xfrm>
          <a:prstGeom prst="rect">
            <a:avLst/>
          </a:prstGeom>
          <a:noFill/>
          <a:ln w="9525">
            <a:noFill/>
          </a:ln>
        </p:spPr>
        <p:txBody>
          <a:bodyPr anchor="t" anchorCtr="0">
            <a:spAutoFit/>
          </a:bodyPr>
          <a:p>
            <a:pPr algn="ctr"/>
            <a:r>
              <a:rPr lang="en-US" altLang="zh-CN">
                <a:latin typeface="Times New Roman" panose="02020603050405020304" pitchFamily="18" charset="0"/>
                <a:ea typeface="宋体" panose="02010600030101010101" pitchFamily="2" charset="-122"/>
              </a:rPr>
              <a:t>(3)  </a:t>
            </a:r>
            <a:r>
              <a:rPr lang="en-US" altLang="zh-CN" i="1">
                <a:latin typeface="Times New Roman" panose="02020603050405020304" pitchFamily="18" charset="0"/>
                <a:ea typeface="宋体" panose="02010600030101010101" pitchFamily="2" charset="-122"/>
              </a:rPr>
              <a:t>P</a:t>
            </a:r>
            <a:r>
              <a:rPr lang="en-US" altLang="zh-CN" i="1" baseline="-2500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=19800W</a:t>
            </a:r>
            <a:r>
              <a:rPr lang="zh-CN" altLang="en-US" i="1"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=85.86%</a:t>
            </a:r>
            <a:endParaRPr lang="en-US" altLang="zh-CN" i="1">
              <a:latin typeface="Times New Roman" panose="02020603050405020304" pitchFamily="18" charset="0"/>
              <a:ea typeface="宋体" panose="02010600030101010101" pitchFamily="2" charset="-122"/>
            </a:endParaRPr>
          </a:p>
        </p:txBody>
      </p:sp>
      <p:sp>
        <p:nvSpPr>
          <p:cNvPr id="16387" name="文本框 47109"/>
          <p:cNvSpPr txBox="1"/>
          <p:nvPr/>
        </p:nvSpPr>
        <p:spPr>
          <a:xfrm>
            <a:off x="971550" y="1700213"/>
            <a:ext cx="539750" cy="457200"/>
          </a:xfrm>
          <a:prstGeom prst="rect">
            <a:avLst/>
          </a:prstGeom>
          <a:noFill/>
          <a:ln w="9525">
            <a:noFill/>
          </a:ln>
        </p:spPr>
        <p:txBody>
          <a:bodyPr wrap="none" anchor="t" anchorCtr="0">
            <a:spAutoFit/>
          </a:bodyPr>
          <a:p>
            <a:pPr algn="ctr"/>
            <a:r>
              <a:rPr lang="en-US" altLang="zh-CN">
                <a:latin typeface="Times New Roman" panose="02020603050405020304" pitchFamily="18" charset="0"/>
                <a:ea typeface="宋体" panose="02010600030101010101" pitchFamily="2" charset="-122"/>
              </a:rPr>
              <a:t>(4)</a:t>
            </a:r>
            <a:endParaRPr lang="en-US" altLang="zh-CN">
              <a:latin typeface="Times New Roman" panose="02020603050405020304" pitchFamily="18" charset="0"/>
              <a:ea typeface="宋体" panose="02010600030101010101" pitchFamily="2" charset="-122"/>
            </a:endParaRPr>
          </a:p>
        </p:txBody>
      </p:sp>
      <p:sp>
        <p:nvSpPr>
          <p:cNvPr id="16388" name="矩形 47110"/>
          <p:cNvSpPr/>
          <p:nvPr/>
        </p:nvSpPr>
        <p:spPr>
          <a:xfrm>
            <a:off x="1042988" y="2565400"/>
            <a:ext cx="5326062"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由电压方程得空载电势为</a:t>
            </a:r>
            <a:r>
              <a:rPr lang="zh-CN" altLang="en-US" b="0"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E</a:t>
            </a:r>
            <a:r>
              <a:rPr lang="en-US" altLang="zh-CN" i="1" baseline="-25000">
                <a:latin typeface="Times New Roman" panose="02020603050405020304" pitchFamily="18" charset="0"/>
                <a:ea typeface="宋体" panose="02010600030101010101" pitchFamily="2" charset="-122"/>
              </a:rPr>
              <a:t>a0</a:t>
            </a:r>
            <a:r>
              <a:rPr lang="en-US" altLang="zh-CN" i="1">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219.6</a:t>
            </a:r>
            <a:r>
              <a:rPr lang="en-US" altLang="zh-CN" i="1">
                <a:latin typeface="Times New Roman" panose="02020603050405020304" pitchFamily="18" charset="0"/>
                <a:ea typeface="宋体" panose="02010600030101010101" pitchFamily="2" charset="-122"/>
              </a:rPr>
              <a:t>V</a:t>
            </a:r>
            <a:endParaRPr lang="en-US" altLang="zh-CN" i="1">
              <a:latin typeface="Times New Roman" panose="02020603050405020304" pitchFamily="18" charset="0"/>
              <a:ea typeface="宋体" panose="02010600030101010101" pitchFamily="2" charset="-122"/>
            </a:endParaRPr>
          </a:p>
        </p:txBody>
      </p:sp>
      <p:sp>
        <p:nvSpPr>
          <p:cNvPr id="16389" name="矩形 47112"/>
          <p:cNvSpPr/>
          <p:nvPr/>
        </p:nvSpPr>
        <p:spPr>
          <a:xfrm>
            <a:off x="1116013" y="3429000"/>
            <a:ext cx="1974850"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空载转速为：</a:t>
            </a:r>
            <a:endParaRPr lang="zh-CN" altLang="en-US" dirty="0">
              <a:latin typeface="Times New Roman" panose="02020603050405020304" pitchFamily="18" charset="0"/>
              <a:ea typeface="宋体" panose="02010600030101010101" pitchFamily="2" charset="-122"/>
            </a:endParaRPr>
          </a:p>
        </p:txBody>
      </p:sp>
      <p:graphicFrame>
        <p:nvGraphicFramePr>
          <p:cNvPr id="16390" name="对象 47111"/>
          <p:cNvGraphicFramePr/>
          <p:nvPr/>
        </p:nvGraphicFramePr>
        <p:xfrm>
          <a:off x="3176588" y="3284538"/>
          <a:ext cx="3367087" cy="827087"/>
        </p:xfrm>
        <a:graphic>
          <a:graphicData uri="http://schemas.openxmlformats.org/presentationml/2006/ole">
            <mc:AlternateContent xmlns:mc="http://schemas.openxmlformats.org/markup-compatibility/2006">
              <mc:Choice xmlns:v="urn:schemas-microsoft-com:vml" Requires="v">
                <p:oleObj spid="_x0000_s3082" name="" r:id="rId3" imgW="1586865" imgH="393700" progId="Equation.DSMT4">
                  <p:embed/>
                </p:oleObj>
              </mc:Choice>
              <mc:Fallback>
                <p:oleObj name="" r:id="rId3" imgW="1586865" imgH="393700" progId="Equation.DSMT4">
                  <p:embed/>
                  <p:pic>
                    <p:nvPicPr>
                      <p:cNvPr id="0" name="图片 3081"/>
                      <p:cNvPicPr/>
                      <p:nvPr/>
                    </p:nvPicPr>
                    <p:blipFill>
                      <a:blip r:embed="rId4"/>
                      <a:stretch>
                        <a:fillRect/>
                      </a:stretch>
                    </p:blipFill>
                    <p:spPr>
                      <a:xfrm>
                        <a:off x="3176588" y="3284538"/>
                        <a:ext cx="3367087" cy="827087"/>
                      </a:xfrm>
                      <a:prstGeom prst="rect">
                        <a:avLst/>
                      </a:prstGeom>
                      <a:noFill/>
                      <a:ln w="38100">
                        <a:noFill/>
                        <a:miter/>
                      </a:ln>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框 55299"/>
          <p:cNvSpPr txBox="1"/>
          <p:nvPr/>
        </p:nvSpPr>
        <p:spPr>
          <a:xfrm>
            <a:off x="735013" y="547688"/>
            <a:ext cx="7581900" cy="1552575"/>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4-9 </a:t>
            </a:r>
            <a:r>
              <a:rPr lang="zh-CN" altLang="en-US" dirty="0">
                <a:latin typeface="Times New Roman" panose="02020603050405020304" pitchFamily="18" charset="0"/>
                <a:ea typeface="宋体" panose="02010600030101010101" pitchFamily="2" charset="-122"/>
              </a:rPr>
              <a:t>一台</a:t>
            </a:r>
            <a:r>
              <a:rPr lang="en-US" altLang="zh-CN" dirty="0">
                <a:latin typeface="Times New Roman" panose="02020603050405020304" pitchFamily="18" charset="0"/>
                <a:ea typeface="宋体" panose="02010600030101010101" pitchFamily="2" charset="-122"/>
              </a:rPr>
              <a:t>500V</a:t>
            </a:r>
            <a:r>
              <a:rPr lang="zh-CN" altLang="en-US" dirty="0">
                <a:latin typeface="Times New Roman" panose="02020603050405020304" pitchFamily="18" charset="0"/>
                <a:ea typeface="宋体" panose="02010600030101010101" pitchFamily="2" charset="-122"/>
              </a:rPr>
              <a:t>直流发电机，</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=1000r/min</a:t>
            </a:r>
            <a:r>
              <a:rPr lang="zh-CN" altLang="en-US" dirty="0">
                <a:latin typeface="Times New Roman" panose="02020603050405020304" pitchFamily="18" charset="0"/>
                <a:ea typeface="宋体" panose="02010600030101010101" pitchFamily="2" charset="-122"/>
              </a:rPr>
              <a:t>，输出功率</a:t>
            </a:r>
            <a:r>
              <a:rPr lang="en-US" altLang="zh-CN">
                <a:latin typeface="Times New Roman" panose="02020603050405020304" pitchFamily="18" charset="0"/>
                <a:ea typeface="宋体" panose="02010600030101010101" pitchFamily="2" charset="-122"/>
              </a:rPr>
              <a:t>50kW,</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=0.4Ω</a:t>
            </a:r>
            <a:r>
              <a:rPr lang="zh-CN" altLang="en-US" dirty="0">
                <a:latin typeface="Times New Roman" panose="02020603050405020304" pitchFamily="18" charset="0"/>
                <a:ea typeface="宋体" panose="02010600030101010101" pitchFamily="2" charset="-122"/>
              </a:rPr>
              <a:t>。接至</a:t>
            </a:r>
            <a:r>
              <a:rPr lang="en-US" altLang="zh-CN" dirty="0">
                <a:latin typeface="Times New Roman" panose="02020603050405020304" pitchFamily="18" charset="0"/>
                <a:ea typeface="宋体" panose="02010600030101010101" pitchFamily="2" charset="-122"/>
              </a:rPr>
              <a:t>200V</a:t>
            </a:r>
            <a:r>
              <a:rPr lang="zh-CN" altLang="en-US" dirty="0">
                <a:latin typeface="Times New Roman" panose="02020603050405020304" pitchFamily="18" charset="0"/>
                <a:ea typeface="宋体" panose="02010600030101010101" pitchFamily="2" charset="-122"/>
              </a:rPr>
              <a:t>电网做电动机，磁通及</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额定，求</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电动机转速。</a:t>
            </a:r>
            <a:r>
              <a:rPr lang="en-US" altLang="zh-CN">
                <a:latin typeface="Times New Roman" panose="02020603050405020304" pitchFamily="18" charset="0"/>
                <a:ea typeface="宋体" panose="02010600030101010101" pitchFamily="2" charset="-122"/>
              </a:rPr>
              <a:t>(2) </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额定，</a:t>
            </a:r>
            <a:r>
              <a:rPr lang="en-US" altLang="zh-CN" dirty="0">
                <a:latin typeface="Times New Roman" panose="02020603050405020304" pitchFamily="18" charset="0"/>
                <a:ea typeface="宋体" panose="02010600030101010101" pitchFamily="2" charset="-122"/>
              </a:rPr>
              <a:t>n=1000r/min</a:t>
            </a:r>
            <a:r>
              <a:rPr lang="zh-CN" altLang="en-US" dirty="0">
                <a:latin typeface="Times New Roman" panose="02020603050405020304" pitchFamily="18" charset="0"/>
                <a:ea typeface="宋体" panose="02010600030101010101" pitchFamily="2" charset="-122"/>
              </a:rPr>
              <a:t>，磁通及电磁转矩为额定时的多少倍？</a:t>
            </a:r>
            <a:endParaRPr lang="zh-CN" altLang="en-US">
              <a:latin typeface="Times New Roman" panose="02020603050405020304" pitchFamily="18" charset="0"/>
              <a:ea typeface="宋体" panose="02010600030101010101" pitchFamily="2" charset="-122"/>
            </a:endParaRPr>
          </a:p>
        </p:txBody>
      </p:sp>
      <p:graphicFrame>
        <p:nvGraphicFramePr>
          <p:cNvPr id="17410" name="对象 55302"/>
          <p:cNvGraphicFramePr/>
          <p:nvPr/>
        </p:nvGraphicFramePr>
        <p:xfrm>
          <a:off x="5003800" y="2349500"/>
          <a:ext cx="3097213" cy="419100"/>
        </p:xfrm>
        <a:graphic>
          <a:graphicData uri="http://schemas.openxmlformats.org/presentationml/2006/ole">
            <mc:AlternateContent xmlns:mc="http://schemas.openxmlformats.org/markup-compatibility/2006">
              <mc:Choice xmlns:v="urn:schemas-microsoft-com:vml" Requires="v">
                <p:oleObj spid="_x0000_s3084" name="" r:id="rId1" imgW="1409065" imgH="190500" progId="Equation.DSMT4">
                  <p:embed/>
                </p:oleObj>
              </mc:Choice>
              <mc:Fallback>
                <p:oleObj name="" r:id="rId1" imgW="1409065" imgH="190500" progId="Equation.DSMT4">
                  <p:embed/>
                  <p:pic>
                    <p:nvPicPr>
                      <p:cNvPr id="0" name="图片 3083"/>
                      <p:cNvPicPr/>
                      <p:nvPr/>
                    </p:nvPicPr>
                    <p:blipFill>
                      <a:blip r:embed="rId2"/>
                      <a:stretch>
                        <a:fillRect/>
                      </a:stretch>
                    </p:blipFill>
                    <p:spPr>
                      <a:xfrm>
                        <a:off x="5003800" y="2349500"/>
                        <a:ext cx="3097213" cy="419100"/>
                      </a:xfrm>
                      <a:prstGeom prst="rect">
                        <a:avLst/>
                      </a:prstGeom>
                      <a:noFill/>
                      <a:ln w="38100">
                        <a:noFill/>
                        <a:miter/>
                      </a:ln>
                    </p:spPr>
                  </p:pic>
                </p:oleObj>
              </mc:Fallback>
            </mc:AlternateContent>
          </a:graphicData>
        </a:graphic>
      </p:graphicFrame>
      <p:graphicFrame>
        <p:nvGraphicFramePr>
          <p:cNvPr id="17411" name="对象 55301"/>
          <p:cNvGraphicFramePr/>
          <p:nvPr/>
        </p:nvGraphicFramePr>
        <p:xfrm>
          <a:off x="4846638" y="2924175"/>
          <a:ext cx="2979737" cy="376238"/>
        </p:xfrm>
        <a:graphic>
          <a:graphicData uri="http://schemas.openxmlformats.org/presentationml/2006/ole">
            <mc:AlternateContent xmlns:mc="http://schemas.openxmlformats.org/markup-compatibility/2006">
              <mc:Choice xmlns:v="urn:schemas-microsoft-com:vml" Requires="v">
                <p:oleObj spid="_x0000_s3079" name="" r:id="rId3" imgW="1432560" imgH="177800" progId="Equation.DSMT4">
                  <p:embed/>
                </p:oleObj>
              </mc:Choice>
              <mc:Fallback>
                <p:oleObj name="" r:id="rId3" imgW="1432560" imgH="177800" progId="Equation.DSMT4">
                  <p:embed/>
                  <p:pic>
                    <p:nvPicPr>
                      <p:cNvPr id="0" name="图片 3078"/>
                      <p:cNvPicPr/>
                      <p:nvPr/>
                    </p:nvPicPr>
                    <p:blipFill>
                      <a:blip r:embed="rId4"/>
                      <a:stretch>
                        <a:fillRect/>
                      </a:stretch>
                    </p:blipFill>
                    <p:spPr>
                      <a:xfrm>
                        <a:off x="4846638" y="2924175"/>
                        <a:ext cx="2979737" cy="376238"/>
                      </a:xfrm>
                      <a:prstGeom prst="rect">
                        <a:avLst/>
                      </a:prstGeom>
                      <a:noFill/>
                      <a:ln w="38100">
                        <a:noFill/>
                        <a:miter/>
                      </a:ln>
                    </p:spPr>
                  </p:pic>
                </p:oleObj>
              </mc:Fallback>
            </mc:AlternateContent>
          </a:graphicData>
        </a:graphic>
      </p:graphicFrame>
      <p:graphicFrame>
        <p:nvGraphicFramePr>
          <p:cNvPr id="17412" name="对象 55300"/>
          <p:cNvGraphicFramePr/>
          <p:nvPr/>
        </p:nvGraphicFramePr>
        <p:xfrm>
          <a:off x="3924300" y="3429000"/>
          <a:ext cx="2998788" cy="857250"/>
        </p:xfrm>
        <a:graphic>
          <a:graphicData uri="http://schemas.openxmlformats.org/presentationml/2006/ole">
            <mc:AlternateContent xmlns:mc="http://schemas.openxmlformats.org/markup-compatibility/2006">
              <mc:Choice xmlns:v="urn:schemas-microsoft-com:vml" Requires="v">
                <p:oleObj spid="_x0000_s3077" name="" r:id="rId5" imgW="1433830" imgH="405765" progId="Equation.DSMT4">
                  <p:embed/>
                </p:oleObj>
              </mc:Choice>
              <mc:Fallback>
                <p:oleObj name="" r:id="rId5" imgW="1433830" imgH="405765" progId="Equation.DSMT4">
                  <p:embed/>
                  <p:pic>
                    <p:nvPicPr>
                      <p:cNvPr id="0" name="图片 3076"/>
                      <p:cNvPicPr/>
                      <p:nvPr/>
                    </p:nvPicPr>
                    <p:blipFill>
                      <a:blip r:embed="rId6"/>
                      <a:stretch>
                        <a:fillRect/>
                      </a:stretch>
                    </p:blipFill>
                    <p:spPr>
                      <a:xfrm>
                        <a:off x="3924300" y="3429000"/>
                        <a:ext cx="2998788" cy="857250"/>
                      </a:xfrm>
                      <a:prstGeom prst="rect">
                        <a:avLst/>
                      </a:prstGeom>
                      <a:noFill/>
                      <a:ln w="38100">
                        <a:noFill/>
                        <a:miter/>
                      </a:ln>
                    </p:spPr>
                  </p:pic>
                </p:oleObj>
              </mc:Fallback>
            </mc:AlternateContent>
          </a:graphicData>
        </a:graphic>
      </p:graphicFrame>
      <p:sp>
        <p:nvSpPr>
          <p:cNvPr id="17413" name="矩形 55303"/>
          <p:cNvSpPr/>
          <p:nvPr/>
        </p:nvSpPr>
        <p:spPr>
          <a:xfrm>
            <a:off x="611188" y="2276475"/>
            <a:ext cx="4175125"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解：发电机时电枢电压方程为：</a:t>
            </a:r>
            <a:endParaRPr lang="zh-CN" altLang="en-US" dirty="0">
              <a:latin typeface="Times New Roman" panose="02020603050405020304" pitchFamily="18" charset="0"/>
              <a:ea typeface="宋体" panose="02010600030101010101" pitchFamily="2" charset="-122"/>
            </a:endParaRPr>
          </a:p>
        </p:txBody>
      </p:sp>
      <p:sp>
        <p:nvSpPr>
          <p:cNvPr id="17414" name="矩形 55304"/>
          <p:cNvSpPr/>
          <p:nvPr/>
        </p:nvSpPr>
        <p:spPr>
          <a:xfrm>
            <a:off x="1187450" y="2852738"/>
            <a:ext cx="3860800"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电动机时电枢电压方程为：</a:t>
            </a:r>
            <a:endParaRPr lang="zh-CN" altLang="en-US" dirty="0">
              <a:latin typeface="Times New Roman" panose="02020603050405020304" pitchFamily="18" charset="0"/>
              <a:ea typeface="宋体" panose="02010600030101010101" pitchFamily="2" charset="-122"/>
            </a:endParaRPr>
          </a:p>
        </p:txBody>
      </p:sp>
      <p:sp>
        <p:nvSpPr>
          <p:cNvPr id="17415" name="矩形 55305"/>
          <p:cNvSpPr/>
          <p:nvPr/>
        </p:nvSpPr>
        <p:spPr>
          <a:xfrm>
            <a:off x="827088" y="3573463"/>
            <a:ext cx="2990850"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电动机的转速为：</a:t>
            </a:r>
            <a:endParaRPr lang="zh-CN" altLang="en-US" dirty="0">
              <a:latin typeface="Times New Roman" panose="02020603050405020304" pitchFamily="18" charset="0"/>
              <a:ea typeface="宋体" panose="02010600030101010101" pitchFamily="2" charset="-122"/>
            </a:endParaRPr>
          </a:p>
        </p:txBody>
      </p:sp>
      <p:sp>
        <p:nvSpPr>
          <p:cNvPr id="17416" name="矩形 55306"/>
          <p:cNvSpPr/>
          <p:nvPr/>
        </p:nvSpPr>
        <p:spPr>
          <a:xfrm>
            <a:off x="827088" y="4435475"/>
            <a:ext cx="7848600" cy="1698625"/>
          </a:xfrm>
          <a:prstGeom prst="rect">
            <a:avLst/>
          </a:prstGeom>
          <a:noFill/>
          <a:ln w="9525">
            <a:noFill/>
          </a:ln>
        </p:spPr>
        <p:txBody>
          <a:bodyPr anchor="ctr" anchorCtr="0">
            <a:spAutoFit/>
          </a:bodyPr>
          <a:p>
            <a:pPr>
              <a:lnSpc>
                <a:spcPct val="110000"/>
              </a:lnSpc>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由于电枢电流为额定值，所以由电枢电压方程可知，电势</a:t>
            </a:r>
            <a:r>
              <a:rPr lang="en-US" altLang="zh-CN" dirty="0">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不变；</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zh-CN" altLang="en-US" dirty="0">
                <a:latin typeface="Times New Roman" panose="02020603050405020304" pitchFamily="18" charset="0"/>
                <a:ea typeface="宋体" panose="02010600030101010101" pitchFamily="2" charset="-122"/>
              </a:rPr>
              <a:t>磁通之比等于转速的反比，即</a:t>
            </a:r>
            <a:r>
              <a:rPr lang="en-US" altLang="zh-CN" dirty="0">
                <a:latin typeface="Times New Roman" panose="02020603050405020304" pitchFamily="18" charset="0"/>
                <a:ea typeface="宋体" panose="02010600030101010101" pitchFamily="2" charset="-122"/>
              </a:rPr>
              <a:t>296/1000=0.296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zh-CN" altLang="en-US" dirty="0">
                <a:latin typeface="Times New Roman" panose="02020603050405020304" pitchFamily="18" charset="0"/>
                <a:ea typeface="宋体" panose="02010600030101010101" pitchFamily="2" charset="-122"/>
              </a:rPr>
              <a:t>电磁转矩之比与磁通之比相等。</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54273"/>
          <p:cNvSpPr txBox="1"/>
          <p:nvPr/>
        </p:nvSpPr>
        <p:spPr>
          <a:xfrm>
            <a:off x="611188" y="404813"/>
            <a:ext cx="7797800" cy="1917700"/>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4-10 </a:t>
            </a:r>
            <a:r>
              <a:rPr lang="zh-CN" altLang="en-US" dirty="0">
                <a:latin typeface="Times New Roman" panose="02020603050405020304" pitchFamily="18" charset="0"/>
                <a:ea typeface="宋体" panose="02010600030101010101" pitchFamily="2" charset="-122"/>
              </a:rPr>
              <a:t>他励直流机，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=60kW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=305A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=1000r/min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=0.024Ω</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fN</a:t>
            </a:r>
            <a:r>
              <a:rPr lang="en-US" altLang="zh-CN" dirty="0">
                <a:latin typeface="Times New Roman" panose="02020603050405020304" pitchFamily="18" charset="0"/>
                <a:ea typeface="宋体" panose="02010600030101010101" pitchFamily="2" charset="-122"/>
              </a:rPr>
              <a:t>=4.23A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f</a:t>
            </a:r>
            <a:r>
              <a:rPr lang="en-US" altLang="zh-CN" dirty="0">
                <a:latin typeface="Times New Roman" panose="02020603050405020304" pitchFamily="18" charset="0"/>
                <a:ea typeface="宋体" panose="02010600030101010101" pitchFamily="2" charset="-122"/>
              </a:rPr>
              <a:t>=49.6Ω</a:t>
            </a:r>
            <a:r>
              <a:rPr lang="zh-CN" altLang="en-US" dirty="0">
                <a:latin typeface="Times New Roman" panose="02020603050405020304" pitchFamily="18" charset="0"/>
                <a:ea typeface="宋体" panose="02010600030101010101" pitchFamily="2" charset="-122"/>
              </a:rPr>
              <a:t>。求：</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额定电磁转矩、空载转矩及效率。</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直接启动时的启动电流倍数。</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用降压启动法将电压降为</a:t>
            </a:r>
            <a:r>
              <a:rPr lang="en-US" altLang="zh-CN" dirty="0">
                <a:latin typeface="Times New Roman" panose="02020603050405020304" pitchFamily="18" charset="0"/>
                <a:ea typeface="宋体" panose="02010600030101010101" pitchFamily="2" charset="-122"/>
              </a:rPr>
              <a:t>100V</a:t>
            </a:r>
            <a:r>
              <a:rPr lang="zh-CN" altLang="en-US" dirty="0">
                <a:latin typeface="Times New Roman" panose="02020603050405020304" pitchFamily="18" charset="0"/>
                <a:ea typeface="宋体" panose="02010600030101010101" pitchFamily="2" charset="-122"/>
              </a:rPr>
              <a:t>时的启动电流倍数。 </a:t>
            </a:r>
            <a:endParaRPr lang="zh-CN" altLang="en-US" dirty="0">
              <a:latin typeface="Times New Roman" panose="02020603050405020304" pitchFamily="18" charset="0"/>
              <a:ea typeface="宋体" panose="02010600030101010101" pitchFamily="2" charset="-122"/>
            </a:endParaRPr>
          </a:p>
        </p:txBody>
      </p:sp>
      <p:graphicFrame>
        <p:nvGraphicFramePr>
          <p:cNvPr id="18434" name="对象 54282"/>
          <p:cNvGraphicFramePr/>
          <p:nvPr/>
        </p:nvGraphicFramePr>
        <p:xfrm>
          <a:off x="4546600" y="2552700"/>
          <a:ext cx="4157663" cy="412750"/>
        </p:xfrm>
        <a:graphic>
          <a:graphicData uri="http://schemas.openxmlformats.org/presentationml/2006/ole">
            <mc:AlternateContent xmlns:mc="http://schemas.openxmlformats.org/markup-compatibility/2006">
              <mc:Choice xmlns:v="urn:schemas-microsoft-com:vml" Requires="v">
                <p:oleObj spid="_x0000_s3086" name="" r:id="rId1" imgW="2042795" imgH="203200" progId="Equation.DSMT4">
                  <p:embed/>
                </p:oleObj>
              </mc:Choice>
              <mc:Fallback>
                <p:oleObj name="" r:id="rId1" imgW="2042795" imgH="203200" progId="Equation.DSMT4">
                  <p:embed/>
                  <p:pic>
                    <p:nvPicPr>
                      <p:cNvPr id="0" name="图片 3085"/>
                      <p:cNvPicPr/>
                      <p:nvPr/>
                    </p:nvPicPr>
                    <p:blipFill>
                      <a:blip r:embed="rId2"/>
                      <a:stretch>
                        <a:fillRect/>
                      </a:stretch>
                    </p:blipFill>
                    <p:spPr>
                      <a:xfrm>
                        <a:off x="4546600" y="2552700"/>
                        <a:ext cx="4157663" cy="412750"/>
                      </a:xfrm>
                      <a:prstGeom prst="rect">
                        <a:avLst/>
                      </a:prstGeom>
                      <a:noFill/>
                      <a:ln w="38100">
                        <a:noFill/>
                        <a:miter/>
                      </a:ln>
                    </p:spPr>
                  </p:pic>
                </p:oleObj>
              </mc:Fallback>
            </mc:AlternateContent>
          </a:graphicData>
        </a:graphic>
      </p:graphicFrame>
      <p:graphicFrame>
        <p:nvGraphicFramePr>
          <p:cNvPr id="18435" name="对象 54281"/>
          <p:cNvGraphicFramePr/>
          <p:nvPr/>
        </p:nvGraphicFramePr>
        <p:xfrm>
          <a:off x="1465263" y="3201988"/>
          <a:ext cx="5635625" cy="3225800"/>
        </p:xfrm>
        <a:graphic>
          <a:graphicData uri="http://schemas.openxmlformats.org/presentationml/2006/ole">
            <mc:AlternateContent xmlns:mc="http://schemas.openxmlformats.org/markup-compatibility/2006">
              <mc:Choice xmlns:v="urn:schemas-microsoft-com:vml" Requires="v">
                <p:oleObj spid="_x0000_s3080" name="" r:id="rId3" imgW="2870200" imgH="1714500" progId="Equation.DSMT4">
                  <p:embed/>
                </p:oleObj>
              </mc:Choice>
              <mc:Fallback>
                <p:oleObj name="" r:id="rId3" imgW="2870200" imgH="1714500" progId="Equation.DSMT4">
                  <p:embed/>
                  <p:pic>
                    <p:nvPicPr>
                      <p:cNvPr id="0" name="图片 3079"/>
                      <p:cNvPicPr/>
                      <p:nvPr/>
                    </p:nvPicPr>
                    <p:blipFill>
                      <a:blip r:embed="rId4"/>
                      <a:stretch>
                        <a:fillRect/>
                      </a:stretch>
                    </p:blipFill>
                    <p:spPr>
                      <a:xfrm>
                        <a:off x="1465263" y="3201988"/>
                        <a:ext cx="5635625" cy="3225800"/>
                      </a:xfrm>
                      <a:prstGeom prst="rect">
                        <a:avLst/>
                      </a:prstGeom>
                      <a:noFill/>
                      <a:ln w="38100">
                        <a:noFill/>
                        <a:miter/>
                      </a:ln>
                    </p:spPr>
                  </p:pic>
                </p:oleObj>
              </mc:Fallback>
            </mc:AlternateContent>
          </a:graphicData>
        </a:graphic>
      </p:graphicFrame>
      <p:sp>
        <p:nvSpPr>
          <p:cNvPr id="18436" name="矩形 54283"/>
          <p:cNvSpPr/>
          <p:nvPr/>
        </p:nvSpPr>
        <p:spPr>
          <a:xfrm>
            <a:off x="323850" y="2492375"/>
            <a:ext cx="4464050"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解：额定时电枢电压方程为： </a:t>
            </a:r>
            <a:endParaRPr lang="zh-CN" altLang="en-US" dirty="0">
              <a:latin typeface="Times New Roman" panose="02020603050405020304" pitchFamily="18" charset="0"/>
              <a:ea typeface="宋体" panose="02010600030101010101" pitchFamily="2" charset="-122"/>
            </a:endParaRPr>
          </a:p>
        </p:txBody>
      </p:sp>
      <p:sp>
        <p:nvSpPr>
          <p:cNvPr id="18437" name="矩形 54284"/>
          <p:cNvSpPr/>
          <p:nvPr/>
        </p:nvSpPr>
        <p:spPr>
          <a:xfrm>
            <a:off x="2843213" y="417036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457" name="对象 53250"/>
          <p:cNvGraphicFramePr/>
          <p:nvPr/>
        </p:nvGraphicFramePr>
        <p:xfrm>
          <a:off x="684213" y="549275"/>
          <a:ext cx="6911975" cy="777875"/>
        </p:xfrm>
        <a:graphic>
          <a:graphicData uri="http://schemas.openxmlformats.org/presentationml/2006/ole">
            <mc:AlternateContent xmlns:mc="http://schemas.openxmlformats.org/markup-compatibility/2006">
              <mc:Choice xmlns:v="urn:schemas-microsoft-com:vml" Requires="v">
                <p:oleObj spid="_x0000_s3085" name="" r:id="rId1" imgW="3467100" imgH="393700" progId="Equation.DSMT4">
                  <p:embed/>
                </p:oleObj>
              </mc:Choice>
              <mc:Fallback>
                <p:oleObj name="" r:id="rId1" imgW="3467100" imgH="393700" progId="Equation.DSMT4">
                  <p:embed/>
                  <p:pic>
                    <p:nvPicPr>
                      <p:cNvPr id="0" name="图片 3084"/>
                      <p:cNvPicPr/>
                      <p:nvPr/>
                    </p:nvPicPr>
                    <p:blipFill>
                      <a:blip r:embed="rId2"/>
                      <a:stretch>
                        <a:fillRect/>
                      </a:stretch>
                    </p:blipFill>
                    <p:spPr>
                      <a:xfrm>
                        <a:off x="684213" y="549275"/>
                        <a:ext cx="6911975" cy="777875"/>
                      </a:xfrm>
                      <a:prstGeom prst="rect">
                        <a:avLst/>
                      </a:prstGeom>
                      <a:noFill/>
                      <a:ln w="38100">
                        <a:noFill/>
                        <a:miter/>
                      </a:ln>
                    </p:spPr>
                  </p:pic>
                </p:oleObj>
              </mc:Fallback>
            </mc:AlternateContent>
          </a:graphicData>
        </a:graphic>
      </p:graphicFrame>
      <p:graphicFrame>
        <p:nvGraphicFramePr>
          <p:cNvPr id="19458" name="对象 53249"/>
          <p:cNvGraphicFramePr/>
          <p:nvPr/>
        </p:nvGraphicFramePr>
        <p:xfrm>
          <a:off x="684213" y="1341438"/>
          <a:ext cx="7129462" cy="730250"/>
        </p:xfrm>
        <a:graphic>
          <a:graphicData uri="http://schemas.openxmlformats.org/presentationml/2006/ole">
            <mc:AlternateContent xmlns:mc="http://schemas.openxmlformats.org/markup-compatibility/2006">
              <mc:Choice xmlns:v="urn:schemas-microsoft-com:vml" Requires="v">
                <p:oleObj spid="_x0000_s3083" name="" r:id="rId3" imgW="3810000" imgH="393700" progId="Equation.DSMT4">
                  <p:embed/>
                </p:oleObj>
              </mc:Choice>
              <mc:Fallback>
                <p:oleObj name="" r:id="rId3" imgW="3810000" imgH="393700" progId="Equation.DSMT4">
                  <p:embed/>
                  <p:pic>
                    <p:nvPicPr>
                      <p:cNvPr id="0" name="图片 3082"/>
                      <p:cNvPicPr/>
                      <p:nvPr/>
                    </p:nvPicPr>
                    <p:blipFill>
                      <a:blip r:embed="rId4"/>
                      <a:stretch>
                        <a:fillRect/>
                      </a:stretch>
                    </p:blipFill>
                    <p:spPr>
                      <a:xfrm>
                        <a:off x="684213" y="1341438"/>
                        <a:ext cx="7129462" cy="730250"/>
                      </a:xfrm>
                      <a:prstGeom prst="rect">
                        <a:avLst/>
                      </a:prstGeom>
                      <a:noFill/>
                      <a:ln w="38100">
                        <a:noFill/>
                        <a:miter/>
                      </a:ln>
                    </p:spPr>
                  </p:pic>
                </p:oleObj>
              </mc:Fallback>
            </mc:AlternateContent>
          </a:graphicData>
        </a:graphic>
      </p:graphicFrame>
      <p:sp>
        <p:nvSpPr>
          <p:cNvPr id="19459" name="矩形 53251"/>
          <p:cNvSpPr/>
          <p:nvPr/>
        </p:nvSpPr>
        <p:spPr>
          <a:xfrm>
            <a:off x="2630488" y="280511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19460" name="矩形 53252"/>
          <p:cNvSpPr/>
          <p:nvPr/>
        </p:nvSpPr>
        <p:spPr>
          <a:xfrm>
            <a:off x="2411413" y="292417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19461" name="文本框 53253"/>
          <p:cNvSpPr txBox="1"/>
          <p:nvPr/>
        </p:nvSpPr>
        <p:spPr>
          <a:xfrm>
            <a:off x="468313" y="2205038"/>
            <a:ext cx="8207375" cy="1552575"/>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4-11 </a:t>
            </a:r>
            <a:r>
              <a:rPr lang="zh-CN" altLang="en-US" dirty="0">
                <a:latin typeface="Times New Roman" panose="02020603050405020304" pitchFamily="18" charset="0"/>
                <a:ea typeface="宋体" panose="02010600030101010101" pitchFamily="2" charset="-122"/>
              </a:rPr>
              <a:t>起重并励直流机，</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=0.032Ω</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f</a:t>
            </a:r>
            <a:r>
              <a:rPr lang="en-US" altLang="zh-CN" dirty="0">
                <a:latin typeface="Times New Roman" panose="02020603050405020304" pitchFamily="18" charset="0"/>
                <a:ea typeface="宋体" panose="02010600030101010101" pitchFamily="2" charset="-122"/>
              </a:rPr>
              <a:t>=275Ω</a:t>
            </a:r>
            <a:r>
              <a:rPr lang="zh-CN" altLang="en-US" dirty="0">
                <a:latin typeface="Times New Roman" panose="02020603050405020304" pitchFamily="18" charset="0"/>
                <a:ea typeface="宋体" panose="02010600030101010101" pitchFamily="2" charset="-122"/>
              </a:rPr>
              <a:t>，提升重物时，</a:t>
            </a:r>
            <a:r>
              <a:rPr lang="en-US" altLang="zh-CN" i="1">
                <a:latin typeface="Times New Roman" panose="02020603050405020304" pitchFamily="18" charset="0"/>
                <a:ea typeface="宋体" panose="02010600030101010101" pitchFamily="2" charset="-122"/>
              </a:rPr>
              <a:t>U</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=350A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=795r/min</a:t>
            </a:r>
            <a:r>
              <a:rPr lang="zh-CN" altLang="en-US" dirty="0">
                <a:latin typeface="Times New Roman" panose="02020603050405020304" pitchFamily="18" charset="0"/>
                <a:ea typeface="宋体" panose="02010600030101010101" pitchFamily="2" charset="-122"/>
              </a:rPr>
              <a:t>。将同一重物下放时，电压及励磁电流保持不变，</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=300r/min</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问电枢回路需串入多大的电阻？</a:t>
            </a:r>
            <a:endParaRPr lang="zh-CN" altLang="en-US" dirty="0">
              <a:latin typeface="Times New Roman" panose="02020603050405020304" pitchFamily="18" charset="0"/>
              <a:ea typeface="宋体" panose="02010600030101010101" pitchFamily="2" charset="-122"/>
            </a:endParaRPr>
          </a:p>
        </p:txBody>
      </p:sp>
      <p:graphicFrame>
        <p:nvGraphicFramePr>
          <p:cNvPr id="19462" name="对象 53255"/>
          <p:cNvGraphicFramePr/>
          <p:nvPr/>
        </p:nvGraphicFramePr>
        <p:xfrm>
          <a:off x="4478338" y="3922713"/>
          <a:ext cx="3359150" cy="374650"/>
        </p:xfrm>
        <a:graphic>
          <a:graphicData uri="http://schemas.openxmlformats.org/presentationml/2006/ole">
            <mc:AlternateContent xmlns:mc="http://schemas.openxmlformats.org/markup-compatibility/2006">
              <mc:Choice xmlns:v="urn:schemas-microsoft-com:vml" Requires="v">
                <p:oleObj spid="_x0000_s3078" name="" r:id="rId5" imgW="1827530" imgH="203200" progId="Equation.DSMT4">
                  <p:embed/>
                </p:oleObj>
              </mc:Choice>
              <mc:Fallback>
                <p:oleObj name="" r:id="rId5" imgW="1827530" imgH="203200" progId="Equation.DSMT4">
                  <p:embed/>
                  <p:pic>
                    <p:nvPicPr>
                      <p:cNvPr id="0" name="图片 3077"/>
                      <p:cNvPicPr/>
                      <p:nvPr/>
                    </p:nvPicPr>
                    <p:blipFill>
                      <a:blip r:embed="rId6"/>
                      <a:stretch>
                        <a:fillRect/>
                      </a:stretch>
                    </p:blipFill>
                    <p:spPr>
                      <a:xfrm>
                        <a:off x="4478338" y="3922713"/>
                        <a:ext cx="3359150" cy="374650"/>
                      </a:xfrm>
                      <a:prstGeom prst="rect">
                        <a:avLst/>
                      </a:prstGeom>
                      <a:noFill/>
                      <a:ln w="38100">
                        <a:noFill/>
                        <a:miter/>
                      </a:ln>
                    </p:spPr>
                  </p:pic>
                </p:oleObj>
              </mc:Fallback>
            </mc:AlternateContent>
          </a:graphicData>
        </a:graphic>
      </p:graphicFrame>
      <p:graphicFrame>
        <p:nvGraphicFramePr>
          <p:cNvPr id="19463" name="对象 53254"/>
          <p:cNvGraphicFramePr/>
          <p:nvPr/>
        </p:nvGraphicFramePr>
        <p:xfrm>
          <a:off x="2432050" y="5661025"/>
          <a:ext cx="4281488" cy="427038"/>
        </p:xfrm>
        <a:graphic>
          <a:graphicData uri="http://schemas.openxmlformats.org/presentationml/2006/ole">
            <mc:AlternateContent xmlns:mc="http://schemas.openxmlformats.org/markup-compatibility/2006">
              <mc:Choice xmlns:v="urn:schemas-microsoft-com:vml" Requires="v">
                <p:oleObj spid="_x0000_s3081" name="" r:id="rId7" imgW="2068195" imgH="203200" progId="Equation.DSMT4">
                  <p:embed/>
                </p:oleObj>
              </mc:Choice>
              <mc:Fallback>
                <p:oleObj name="" r:id="rId7" imgW="2068195" imgH="203200" progId="Equation.DSMT4">
                  <p:embed/>
                  <p:pic>
                    <p:nvPicPr>
                      <p:cNvPr id="0" name="图片 3080"/>
                      <p:cNvPicPr/>
                      <p:nvPr/>
                    </p:nvPicPr>
                    <p:blipFill>
                      <a:blip r:embed="rId8"/>
                      <a:stretch>
                        <a:fillRect/>
                      </a:stretch>
                    </p:blipFill>
                    <p:spPr>
                      <a:xfrm>
                        <a:off x="2432050" y="5661025"/>
                        <a:ext cx="4281488" cy="427038"/>
                      </a:xfrm>
                      <a:prstGeom prst="rect">
                        <a:avLst/>
                      </a:prstGeom>
                      <a:noFill/>
                      <a:ln w="38100">
                        <a:noFill/>
                        <a:miter/>
                      </a:ln>
                    </p:spPr>
                  </p:pic>
                </p:oleObj>
              </mc:Fallback>
            </mc:AlternateContent>
          </a:graphicData>
        </a:graphic>
      </p:graphicFrame>
      <p:sp>
        <p:nvSpPr>
          <p:cNvPr id="19464" name="矩形 53256"/>
          <p:cNvSpPr/>
          <p:nvPr/>
        </p:nvSpPr>
        <p:spPr>
          <a:xfrm>
            <a:off x="395288" y="3860800"/>
            <a:ext cx="4214812"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解：提升时电枢电压方程为：</a:t>
            </a:r>
            <a:r>
              <a:rPr lang="zh-CN" altLang="en-US" sz="1500" b="0" dirty="0">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p:txBody>
      </p:sp>
      <p:sp>
        <p:nvSpPr>
          <p:cNvPr id="19465" name="矩形 53257"/>
          <p:cNvSpPr/>
          <p:nvPr/>
        </p:nvSpPr>
        <p:spPr>
          <a:xfrm>
            <a:off x="468313" y="4365625"/>
            <a:ext cx="7632700" cy="118745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下放是利用倒拉反转：</a:t>
            </a:r>
            <a:r>
              <a:rPr lang="en-US" altLang="zh-CN">
                <a:latin typeface="Times New Roman" panose="02020603050405020304" pitchFamily="18" charset="0"/>
                <a:ea typeface="宋体" panose="02010600030101010101" pitchFamily="2" charset="-122"/>
              </a:rPr>
              <a:t>n=-300rpm;</a:t>
            </a:r>
            <a:endParaRPr lang="en-US" altLang="zh-CN">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此时：</a:t>
            </a:r>
            <a:r>
              <a:rPr lang="en-US" altLang="zh-CN">
                <a:latin typeface="Times New Roman" panose="02020603050405020304" pitchFamily="18" charset="0"/>
                <a:ea typeface="宋体" panose="02010600030101010101" pitchFamily="2" charset="-122"/>
              </a:rPr>
              <a:t>E</a:t>
            </a:r>
            <a:r>
              <a:rPr lang="en-US" altLang="zh-CN" baseline="-30000">
                <a:latin typeface="Times New Roman" panose="02020603050405020304" pitchFamily="18" charset="0"/>
                <a:ea typeface="宋体" panose="02010600030101010101" pitchFamily="2" charset="-122"/>
              </a:rPr>
              <a:t>a</a:t>
            </a:r>
            <a:r>
              <a:rPr lang="en-US" altLang="zh-CN" baseline="3000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=(-300/795)</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208.8=-78.79V</a:t>
            </a:r>
            <a:r>
              <a:rPr lang="zh-CN" altLang="en-US" dirty="0">
                <a:latin typeface="Times New Roman" panose="02020603050405020304" pitchFamily="18" charset="0"/>
                <a:ea typeface="宋体" panose="02010600030101010101" pitchFamily="2" charset="-122"/>
                <a:sym typeface="Symbol" panose="05050102010706020507" pitchFamily="18" charset="2"/>
              </a:rPr>
              <a:t>，由于负载不变，所以</a:t>
            </a:r>
            <a:r>
              <a:rPr lang="en-US" altLang="zh-CN">
                <a:latin typeface="Times New Roman" panose="02020603050405020304" pitchFamily="18" charset="0"/>
                <a:ea typeface="宋体" panose="02010600030101010101" pitchFamily="2" charset="-122"/>
                <a:sym typeface="Symbol" panose="05050102010706020507" pitchFamily="18" charset="2"/>
              </a:rPr>
              <a:t>I</a:t>
            </a:r>
            <a:r>
              <a:rPr lang="en-US" altLang="zh-CN" baseline="-30000">
                <a:latin typeface="Times New Roman" panose="02020603050405020304" pitchFamily="18" charset="0"/>
                <a:ea typeface="宋体" panose="02010600030101010101" pitchFamily="2" charset="-122"/>
                <a:sym typeface="Symbol" panose="05050102010706020507" pitchFamily="18" charset="2"/>
              </a:rPr>
              <a:t>a</a:t>
            </a:r>
            <a:r>
              <a:rPr lang="zh-CN" altLang="en-US" dirty="0">
                <a:latin typeface="Times New Roman" panose="02020603050405020304" pitchFamily="18" charset="0"/>
                <a:ea typeface="宋体" panose="02010600030101010101" pitchFamily="2" charset="-122"/>
                <a:sym typeface="Symbol" panose="05050102010706020507" pitchFamily="18" charset="2"/>
              </a:rPr>
              <a:t>不变等于</a:t>
            </a:r>
            <a:r>
              <a:rPr lang="en-US" altLang="zh-CN" dirty="0">
                <a:latin typeface="Times New Roman" panose="02020603050405020304" pitchFamily="18" charset="0"/>
                <a:ea typeface="宋体" panose="02010600030101010101" pitchFamily="2" charset="-122"/>
                <a:sym typeface="Symbol" panose="05050102010706020507" pitchFamily="18" charset="2"/>
              </a:rPr>
              <a:t>350A</a:t>
            </a:r>
            <a:r>
              <a:rPr lang="zh-CN" altLang="en-US" dirty="0">
                <a:latin typeface="Times New Roman" panose="02020603050405020304" pitchFamily="18" charset="0"/>
                <a:ea typeface="宋体" panose="02010600030101010101" pitchFamily="2" charset="-122"/>
                <a:sym typeface="Symbol" panose="05050102010706020507" pitchFamily="18" charset="2"/>
              </a:rPr>
              <a:t>。此时电枢电压方程为：</a:t>
            </a:r>
            <a:r>
              <a:rPr lang="zh-CN" altLang="en-US" sz="1500" b="0" dirty="0">
                <a:latin typeface="Times New Roman" panose="02020603050405020304" pitchFamily="18" charset="0"/>
                <a:ea typeface="宋体" panose="02010600030101010101" pitchFamily="2" charset="-122"/>
                <a:sym typeface="Symbol" panose="05050102010706020507" pitchFamily="18" charset="2"/>
              </a:rPr>
              <a:t> </a:t>
            </a:r>
            <a:endParaRPr lang="zh-CN" altLang="en-US" sz="1500" b="0" dirty="0">
              <a:latin typeface="Times New Roman" panose="02020603050405020304" pitchFamily="18" charset="0"/>
              <a:ea typeface="宋体" panose="02010600030101010101" pitchFamily="2" charset="-122"/>
              <a:sym typeface="Symbol" panose="05050102010706020507" pitchFamily="18" charset="2"/>
            </a:endParaRPr>
          </a:p>
        </p:txBody>
      </p:sp>
      <p:sp>
        <p:nvSpPr>
          <p:cNvPr id="19466" name="矩形 53258"/>
          <p:cNvSpPr/>
          <p:nvPr/>
        </p:nvSpPr>
        <p:spPr>
          <a:xfrm>
            <a:off x="2051050" y="6165850"/>
            <a:ext cx="4321175"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所以电枢串入电阻为：</a:t>
            </a:r>
            <a:r>
              <a:rPr lang="en-US" altLang="zh-CN" dirty="0">
                <a:latin typeface="Times New Roman" panose="02020603050405020304" pitchFamily="18" charset="0"/>
                <a:ea typeface="宋体" panose="02010600030101010101" pitchFamily="2" charset="-122"/>
              </a:rPr>
              <a:t>0.822</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矩形 61441"/>
          <p:cNvSpPr/>
          <p:nvPr/>
        </p:nvSpPr>
        <p:spPr>
          <a:xfrm>
            <a:off x="250825" y="476250"/>
            <a:ext cx="8569325" cy="2282825"/>
          </a:xfrm>
          <a:prstGeom prst="rect">
            <a:avLst/>
          </a:prstGeom>
          <a:noFill/>
          <a:ln w="9525">
            <a:noFill/>
          </a:ln>
        </p:spPr>
        <p:txBody>
          <a:bodyPr anchor="ctr" anchorCtr="0">
            <a:spAutoFit/>
          </a:bodyPr>
          <a:p>
            <a:pPr marL="457200" indent="-457200">
              <a:buNone/>
            </a:pPr>
            <a:r>
              <a:rPr lang="en-US" altLang="zh-CN" dirty="0">
                <a:latin typeface="Times New Roman" panose="02020603050405020304" pitchFamily="18" charset="0"/>
                <a:ea typeface="宋体" panose="02010600030101010101" pitchFamily="2" charset="-122"/>
              </a:rPr>
              <a:t>4-12 </a:t>
            </a:r>
            <a:r>
              <a:rPr lang="zh-CN" altLang="en-US" dirty="0">
                <a:latin typeface="Times New Roman" panose="02020603050405020304" pitchFamily="18" charset="0"/>
                <a:ea typeface="宋体" panose="02010600030101010101" pitchFamily="2" charset="-122"/>
              </a:rPr>
              <a:t>并励直流机</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=185W,</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=220V,</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=1.2A,</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fN</a:t>
            </a:r>
            <a:r>
              <a:rPr lang="en-US" altLang="zh-CN" dirty="0">
                <a:latin typeface="Times New Roman" panose="02020603050405020304" pitchFamily="18" charset="0"/>
                <a:ea typeface="宋体" panose="02010600030101010101" pitchFamily="2" charset="-122"/>
              </a:rPr>
              <a:t>=0.11A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=1600r/min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时，</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=80mA</a:t>
            </a:r>
            <a:r>
              <a:rPr lang="zh-CN" altLang="en-US" dirty="0">
                <a:latin typeface="Times New Roman" panose="02020603050405020304" pitchFamily="18" charset="0"/>
                <a:ea typeface="宋体" panose="02010600030101010101" pitchFamily="2" charset="-122"/>
              </a:rPr>
              <a:t>，求：</a:t>
            </a:r>
            <a:endParaRPr lang="zh-CN" altLang="en-US" dirty="0">
              <a:latin typeface="Times New Roman" panose="02020603050405020304" pitchFamily="18" charset="0"/>
              <a:ea typeface="宋体" panose="02010600030101010101" pitchFamily="2" charset="-122"/>
            </a:endParaRPr>
          </a:p>
          <a:p>
            <a:pPr marL="457200" indent="-457200">
              <a:buAutoNum type="arabicParenBoth"/>
            </a:pPr>
            <a:r>
              <a:rPr lang="zh-CN" altLang="en-US" dirty="0">
                <a:latin typeface="Times New Roman" panose="02020603050405020304" pitchFamily="18" charset="0"/>
                <a:ea typeface="宋体" panose="02010600030101010101" pitchFamily="2" charset="-122"/>
              </a:rPr>
              <a:t>额定电磁转矩。</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电枢回路总电阻。</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电机空载转速。</a:t>
            </a:r>
            <a:endParaRPr lang="zh-CN" altLang="en-US" dirty="0">
              <a:latin typeface="Times New Roman" panose="02020603050405020304" pitchFamily="18" charset="0"/>
              <a:ea typeface="宋体" panose="02010600030101010101" pitchFamily="2" charset="-122"/>
            </a:endParaRPr>
          </a:p>
          <a:p>
            <a:pPr marL="457200" indent="-457200">
              <a:buNone/>
            </a:pPr>
            <a:r>
              <a:rPr lang="en-US" altLang="zh-CN">
                <a:latin typeface="Times New Roman" panose="02020603050405020304" pitchFamily="18" charset="0"/>
                <a:ea typeface="宋体" panose="02010600030101010101" pitchFamily="2" charset="-122"/>
              </a:rPr>
              <a:t>(4) </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=0.5</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=1400r/min</a:t>
            </a:r>
            <a:r>
              <a:rPr lang="zh-CN" altLang="en-US" dirty="0">
                <a:latin typeface="Times New Roman" panose="02020603050405020304" pitchFamily="18" charset="0"/>
                <a:ea typeface="宋体" panose="02010600030101010101" pitchFamily="2" charset="-122"/>
              </a:rPr>
              <a:t>，电枢回路串入的电阻</a:t>
            </a:r>
            <a:r>
              <a:rPr lang="en-US" altLang="zh-CN" i="1">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marL="457200" indent="-457200">
              <a:buNone/>
            </a:pP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若</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，电枢回路串入</a:t>
            </a:r>
            <a:r>
              <a:rPr lang="en-US" altLang="zh-CN" i="1">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=50Ω</a:t>
            </a:r>
            <a:r>
              <a:rPr lang="zh-CN" altLang="en-US" dirty="0">
                <a:latin typeface="Times New Roman" panose="02020603050405020304" pitchFamily="18" charset="0"/>
                <a:ea typeface="宋体" panose="02010600030101010101" pitchFamily="2" charset="-122"/>
              </a:rPr>
              <a:t>，求稳态转速。</a:t>
            </a:r>
            <a:endParaRPr lang="zh-CN" altLang="en-US" dirty="0">
              <a:latin typeface="Times New Roman" panose="02020603050405020304" pitchFamily="18" charset="0"/>
              <a:ea typeface="宋体" panose="02010600030101010101" pitchFamily="2" charset="-122"/>
            </a:endParaRPr>
          </a:p>
          <a:p>
            <a:pPr marL="457200" indent="-457200">
              <a:buNone/>
            </a:pPr>
            <a:r>
              <a:rPr lang="en-US" altLang="zh-CN" dirty="0">
                <a:latin typeface="Times New Roman" panose="02020603050405020304" pitchFamily="18" charset="0"/>
                <a:ea typeface="宋体" panose="02010600030101010101" pitchFamily="2" charset="-122"/>
              </a:rPr>
              <a:t>(6) </a:t>
            </a:r>
            <a:r>
              <a:rPr lang="zh-CN" altLang="en-US" dirty="0">
                <a:latin typeface="Times New Roman" panose="02020603050405020304" pitchFamily="18" charset="0"/>
                <a:ea typeface="宋体" panose="02010600030101010101" pitchFamily="2" charset="-122"/>
              </a:rPr>
              <a:t>在问题</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的情况下电机的效率 。</a:t>
            </a:r>
            <a:endParaRPr lang="zh-CN" altLang="en-US">
              <a:latin typeface="Times New Roman" panose="02020603050405020304" pitchFamily="18" charset="0"/>
              <a:ea typeface="宋体" panose="02010600030101010101" pitchFamily="2" charset="-122"/>
            </a:endParaRPr>
          </a:p>
        </p:txBody>
      </p:sp>
      <p:sp>
        <p:nvSpPr>
          <p:cNvPr id="20482" name="矩形 61442"/>
          <p:cNvSpPr/>
          <p:nvPr/>
        </p:nvSpPr>
        <p:spPr>
          <a:xfrm>
            <a:off x="630238" y="2924175"/>
            <a:ext cx="7804150" cy="822325"/>
          </a:xfrm>
          <a:prstGeom prst="rect">
            <a:avLst/>
          </a:prstGeom>
          <a:noFill/>
          <a:ln w="9525">
            <a:noFill/>
          </a:ln>
        </p:spPr>
        <p:txBody>
          <a:bodyPr wrap="none" anchor="ctr" anchorCtr="0">
            <a:spAutoFit/>
          </a:bodyPr>
          <a:p>
            <a:pPr algn="ctr"/>
            <a:r>
              <a:rPr lang="zh-CN" altLang="en-US" dirty="0">
                <a:latin typeface="Times New Roman" panose="02020603050405020304" pitchFamily="18" charset="0"/>
                <a:ea typeface="宋体" panose="02010600030101010101" pitchFamily="2" charset="-122"/>
              </a:rPr>
              <a:t>解：空载时电枢铜耗很小，可以忽略，所以空载功率为</a:t>
            </a:r>
            <a:r>
              <a:rPr lang="zh-CN" altLang="en-US" b="0"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algn="ctr"/>
            <a:r>
              <a:rPr lang="en-US" altLang="zh-CN" i="1">
                <a:latin typeface="Times New Roman" panose="02020603050405020304" pitchFamily="18" charset="0"/>
                <a:ea typeface="宋体" panose="02010600030101010101" pitchFamily="2" charset="-122"/>
              </a:rPr>
              <a:t>p</a:t>
            </a:r>
            <a:r>
              <a:rPr lang="en-US" altLang="zh-CN" i="1" baseline="-25000">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=220</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0.08=17.6W</a:t>
            </a:r>
            <a:r>
              <a:rPr lang="zh-CN" altLang="en-US" i="1" dirty="0">
                <a:latin typeface="Times New Roman" panose="02020603050405020304" pitchFamily="18" charset="0"/>
                <a:ea typeface="宋体" panose="02010600030101010101" pitchFamily="2" charset="-122"/>
                <a:sym typeface="Symbol" panose="05050102010706020507" pitchFamily="18" charset="2"/>
              </a:rPr>
              <a:t>；</a:t>
            </a:r>
            <a:endParaRPr lang="zh-CN" altLang="en-US" i="1" dirty="0">
              <a:latin typeface="Times New Roman" panose="02020603050405020304" pitchFamily="18" charset="0"/>
              <a:ea typeface="宋体" panose="02010600030101010101" pitchFamily="2" charset="-122"/>
              <a:sym typeface="Symbol" panose="05050102010706020507" pitchFamily="18" charset="2"/>
            </a:endParaRPr>
          </a:p>
        </p:txBody>
      </p:sp>
      <p:sp>
        <p:nvSpPr>
          <p:cNvPr id="20483" name="矩形 61444"/>
          <p:cNvSpPr/>
          <p:nvPr/>
        </p:nvSpPr>
        <p:spPr>
          <a:xfrm>
            <a:off x="755650" y="3860800"/>
            <a:ext cx="6553200" cy="82232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电磁功率为：</a:t>
            </a:r>
            <a:r>
              <a:rPr lang="en-US" altLang="zh-CN" i="1">
                <a:latin typeface="Times New Roman" panose="02020603050405020304" pitchFamily="18" charset="0"/>
                <a:ea typeface="宋体" panose="02010600030101010101" pitchFamily="2" charset="-122"/>
              </a:rPr>
              <a:t>185+17.6=202.6W;</a:t>
            </a:r>
            <a:endParaRPr lang="en-US" altLang="zh-CN" i="1">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电磁转矩为：</a:t>
            </a:r>
            <a:r>
              <a:rPr lang="en-US" altLang="zh-CN" i="1">
                <a:latin typeface="Times New Roman" panose="02020603050405020304" pitchFamily="18" charset="0"/>
                <a:ea typeface="宋体" panose="02010600030101010101" pitchFamily="2" charset="-122"/>
              </a:rPr>
              <a:t>9.55</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202.6/1600=1.21Nm</a:t>
            </a:r>
            <a:endParaRPr lang="en-US" altLang="zh-CN" i="1">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20484" name="对象 61443"/>
          <p:cNvGraphicFramePr/>
          <p:nvPr/>
        </p:nvGraphicFramePr>
        <p:xfrm>
          <a:off x="2870200" y="4835525"/>
          <a:ext cx="3552825" cy="406400"/>
        </p:xfrm>
        <a:graphic>
          <a:graphicData uri="http://schemas.openxmlformats.org/presentationml/2006/ole">
            <mc:AlternateContent xmlns:mc="http://schemas.openxmlformats.org/markup-compatibility/2006">
              <mc:Choice xmlns:v="urn:schemas-microsoft-com:vml" Requires="v">
                <p:oleObj spid="_x0000_s3088" name="" r:id="rId1" imgW="1902460" imgH="215900" progId="Equation.DSMT4">
                  <p:embed/>
                </p:oleObj>
              </mc:Choice>
              <mc:Fallback>
                <p:oleObj name="" r:id="rId1" imgW="1902460" imgH="215900" progId="Equation.DSMT4">
                  <p:embed/>
                  <p:pic>
                    <p:nvPicPr>
                      <p:cNvPr id="0" name="图片 3087"/>
                      <p:cNvPicPr/>
                      <p:nvPr/>
                    </p:nvPicPr>
                    <p:blipFill>
                      <a:blip r:embed="rId2"/>
                      <a:stretch>
                        <a:fillRect/>
                      </a:stretch>
                    </p:blipFill>
                    <p:spPr>
                      <a:xfrm>
                        <a:off x="2870200" y="4835525"/>
                        <a:ext cx="3552825" cy="406400"/>
                      </a:xfrm>
                      <a:prstGeom prst="rect">
                        <a:avLst/>
                      </a:prstGeom>
                      <a:noFill/>
                      <a:ln w="38100">
                        <a:noFill/>
                        <a:miter/>
                      </a:ln>
                    </p:spPr>
                  </p:pic>
                </p:oleObj>
              </mc:Fallback>
            </mc:AlternateContent>
          </a:graphicData>
        </a:graphic>
      </p:graphicFrame>
      <p:sp>
        <p:nvSpPr>
          <p:cNvPr id="20485" name="矩形 61446"/>
          <p:cNvSpPr/>
          <p:nvPr/>
        </p:nvSpPr>
        <p:spPr>
          <a:xfrm>
            <a:off x="684213" y="5300663"/>
            <a:ext cx="6334125" cy="1187450"/>
          </a:xfrm>
          <a:prstGeom prst="rect">
            <a:avLst/>
          </a:prstGeom>
          <a:noFill/>
          <a:ln w="9525">
            <a:noFill/>
          </a:ln>
        </p:spPr>
        <p:txBody>
          <a:bodyPr anchor="t" anchorCtr="0">
            <a:spAutoFit/>
          </a:bodyPr>
          <a:p>
            <a:pPr algn="ct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由电枢电压方程可计算出空载和额定时</a:t>
            </a:r>
            <a:r>
              <a:rPr lang="en-US" altLang="zh-CN" dirty="0">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gn="ctr"/>
            <a:r>
              <a:rPr lang="en-US" altLang="zh-CN" i="1">
                <a:latin typeface="Times New Roman" panose="02020603050405020304" pitchFamily="18" charset="0"/>
                <a:ea typeface="宋体" panose="02010600030101010101" pitchFamily="2" charset="-122"/>
              </a:rPr>
              <a:t>E</a:t>
            </a:r>
            <a:r>
              <a:rPr lang="en-US" altLang="zh-CN" i="1" baseline="-25000">
                <a:latin typeface="Times New Roman" panose="02020603050405020304" pitchFamily="18" charset="0"/>
                <a:ea typeface="宋体" panose="02010600030101010101" pitchFamily="2" charset="-122"/>
              </a:rPr>
              <a:t>a0</a:t>
            </a:r>
            <a:r>
              <a:rPr lang="en-US" altLang="zh-CN" i="1">
                <a:latin typeface="Times New Roman" panose="02020603050405020304" pitchFamily="18" charset="0"/>
                <a:ea typeface="宋体" panose="02010600030101010101" pitchFamily="2" charset="-122"/>
              </a:rPr>
              <a:t>=217.5V; E</a:t>
            </a:r>
            <a:r>
              <a:rPr lang="en-US" altLang="zh-CN" i="1" baseline="-25000">
                <a:latin typeface="Times New Roman" panose="02020603050405020304" pitchFamily="18" charset="0"/>
                <a:ea typeface="宋体" panose="02010600030101010101" pitchFamily="2" charset="-122"/>
              </a:rPr>
              <a:t>aN</a:t>
            </a:r>
            <a:r>
              <a:rPr lang="en-US" altLang="zh-CN" i="1">
                <a:latin typeface="Times New Roman" panose="02020603050405020304" pitchFamily="18" charset="0"/>
                <a:ea typeface="宋体" panose="02010600030101010101" pitchFamily="2" charset="-122"/>
              </a:rPr>
              <a:t>=185.9V</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gn="ctr"/>
            <a:r>
              <a:rPr lang="zh-CN" altLang="en-US" dirty="0">
                <a:latin typeface="Times New Roman" panose="02020603050405020304" pitchFamily="18" charset="0"/>
                <a:ea typeface="宋体" panose="02010600030101010101" pitchFamily="2" charset="-122"/>
              </a:rPr>
              <a:t>所以，空载转速为：</a:t>
            </a:r>
            <a:r>
              <a:rPr lang="en-US" altLang="zh-CN" b="0">
                <a:latin typeface="Times New Roman" panose="02020603050405020304" pitchFamily="18" charset="0"/>
                <a:ea typeface="宋体" panose="02010600030101010101" pitchFamily="2" charset="-122"/>
              </a:rPr>
              <a:t>1872rpm</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0486" name="文本框 61447"/>
          <p:cNvSpPr txBox="1"/>
          <p:nvPr/>
        </p:nvSpPr>
        <p:spPr>
          <a:xfrm>
            <a:off x="684213" y="4724400"/>
            <a:ext cx="2147887" cy="457200"/>
          </a:xfrm>
          <a:prstGeom prst="rect">
            <a:avLst/>
          </a:prstGeom>
          <a:noFill/>
          <a:ln w="9525">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功率方程：</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矩形 60418"/>
          <p:cNvSpPr/>
          <p:nvPr/>
        </p:nvSpPr>
        <p:spPr>
          <a:xfrm>
            <a:off x="2455863" y="141605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21506" name="对象 60417"/>
          <p:cNvGraphicFramePr/>
          <p:nvPr/>
        </p:nvGraphicFramePr>
        <p:xfrm>
          <a:off x="1476375" y="692150"/>
          <a:ext cx="6048375" cy="2698750"/>
        </p:xfrm>
        <a:graphic>
          <a:graphicData uri="http://schemas.openxmlformats.org/presentationml/2006/ole">
            <mc:AlternateContent xmlns:mc="http://schemas.openxmlformats.org/markup-compatibility/2006">
              <mc:Choice xmlns:v="urn:schemas-microsoft-com:vml" Requires="v">
                <p:oleObj spid="_x0000_s3089" name="" r:id="rId1" imgW="2781300" imgH="1447800" progId="Equation.DSMT4">
                  <p:embed/>
                </p:oleObj>
              </mc:Choice>
              <mc:Fallback>
                <p:oleObj name="" r:id="rId1" imgW="2781300" imgH="1447800" progId="Equation.DSMT4">
                  <p:embed/>
                  <p:pic>
                    <p:nvPicPr>
                      <p:cNvPr id="0" name="图片 3088"/>
                      <p:cNvPicPr/>
                      <p:nvPr/>
                    </p:nvPicPr>
                    <p:blipFill>
                      <a:blip r:embed="rId2"/>
                      <a:stretch>
                        <a:fillRect/>
                      </a:stretch>
                    </p:blipFill>
                    <p:spPr>
                      <a:xfrm>
                        <a:off x="1476375" y="692150"/>
                        <a:ext cx="6048375" cy="2698750"/>
                      </a:xfrm>
                      <a:prstGeom prst="rect">
                        <a:avLst/>
                      </a:prstGeom>
                      <a:noFill/>
                      <a:ln w="38100">
                        <a:noFill/>
                        <a:miter/>
                      </a:ln>
                    </p:spPr>
                  </p:pic>
                </p:oleObj>
              </mc:Fallback>
            </mc:AlternateContent>
          </a:graphicData>
        </a:graphic>
      </p:graphicFrame>
      <p:sp>
        <p:nvSpPr>
          <p:cNvPr id="21507" name="文本框 60419"/>
          <p:cNvSpPr txBox="1"/>
          <p:nvPr/>
        </p:nvSpPr>
        <p:spPr>
          <a:xfrm>
            <a:off x="395288" y="692150"/>
            <a:ext cx="539750" cy="457200"/>
          </a:xfrm>
          <a:prstGeom prst="rect">
            <a:avLst/>
          </a:prstGeom>
          <a:noFill/>
          <a:ln w="9525">
            <a:noFill/>
          </a:ln>
        </p:spPr>
        <p:txBody>
          <a:bodyPr wrap="none" anchor="t" anchorCtr="0">
            <a:spAutoFit/>
          </a:bodyPr>
          <a:p>
            <a:pPr algn="ctr"/>
            <a:r>
              <a:rPr lang="en-US" altLang="zh-CN">
                <a:latin typeface="Times New Roman" panose="02020603050405020304" pitchFamily="18" charset="0"/>
                <a:ea typeface="宋体" panose="02010600030101010101" pitchFamily="2" charset="-122"/>
              </a:rPr>
              <a:t>(4)</a:t>
            </a:r>
            <a:endParaRPr lang="en-US" altLang="zh-CN">
              <a:latin typeface="Times New Roman" panose="02020603050405020304" pitchFamily="18" charset="0"/>
              <a:ea typeface="宋体" panose="02010600030101010101" pitchFamily="2" charset="-122"/>
            </a:endParaRPr>
          </a:p>
        </p:txBody>
      </p:sp>
      <p:sp>
        <p:nvSpPr>
          <p:cNvPr id="21508" name="矩形 60420"/>
          <p:cNvSpPr/>
          <p:nvPr/>
        </p:nvSpPr>
        <p:spPr>
          <a:xfrm>
            <a:off x="1116013" y="3429000"/>
            <a:ext cx="6000750" cy="2282825"/>
          </a:xfrm>
          <a:prstGeom prst="rect">
            <a:avLst/>
          </a:prstGeom>
          <a:noFill/>
          <a:ln w="9525">
            <a:noFill/>
          </a:ln>
        </p:spPr>
        <p:txBody>
          <a:bodyPr wrap="none" anchor="ctr" anchorCtr="0">
            <a:spAutoFit/>
          </a:bodyPr>
          <a:p>
            <a:pPr>
              <a:lnSpc>
                <a:spcPct val="150000"/>
              </a:lnSpc>
            </a:pP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=1400rpm</a:t>
            </a:r>
            <a:r>
              <a:rPr lang="zh-CN" altLang="en-US" dirty="0">
                <a:latin typeface="Times New Roman" panose="02020603050405020304" pitchFamily="18" charset="0"/>
                <a:ea typeface="宋体" panose="02010600030101010101" pitchFamily="2" charset="-122"/>
              </a:rPr>
              <a:t>时，</a:t>
            </a:r>
            <a:r>
              <a:rPr lang="en-US" altLang="zh-CN" i="1">
                <a:latin typeface="Times New Roman" panose="02020603050405020304" pitchFamily="18" charset="0"/>
                <a:ea typeface="宋体" panose="02010600030101010101" pitchFamily="2" charset="-122"/>
              </a:rPr>
              <a:t>E</a:t>
            </a:r>
            <a:r>
              <a:rPr lang="en-US" altLang="zh-CN" i="1" baseline="-25000">
                <a:latin typeface="Times New Roman" panose="02020603050405020304" pitchFamily="18" charset="0"/>
                <a:ea typeface="宋体" panose="02010600030101010101" pitchFamily="2" charset="-122"/>
              </a:rPr>
              <a:t>a</a:t>
            </a:r>
            <a:r>
              <a:rPr lang="en-US" altLang="zh-CN" i="1">
                <a:latin typeface="Times New Roman" panose="02020603050405020304" pitchFamily="18" charset="0"/>
                <a:ea typeface="宋体" panose="02010600030101010101" pitchFamily="2" charset="-122"/>
              </a:rPr>
              <a:t>=185.9</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1400/1600=162.7V</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a:lnSpc>
                <a:spcPct val="15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由电压方程得：</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a:p>
            <a:pPr>
              <a:lnSpc>
                <a:spcPct val="150000"/>
              </a:lnSpc>
            </a:pPr>
            <a:r>
              <a:rPr lang="zh-CN" altLang="en-US">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220=162.7+0.592</a:t>
            </a:r>
            <a:r>
              <a:rPr lang="en-US" altLang="zh-CN" i="1">
                <a:latin typeface="Times New Roman" panose="02020603050405020304" pitchFamily="18" charset="0"/>
                <a:ea typeface="宋体" panose="02010600030101010101" pitchFamily="2" charset="-122"/>
              </a:rPr>
              <a:t>(31.31+R);</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a:lnSpc>
                <a:spcPct val="15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所以电枢串入电阻为：</a:t>
            </a:r>
            <a:r>
              <a:rPr lang="en-US" altLang="zh-CN" dirty="0">
                <a:latin typeface="Times New Roman" panose="02020603050405020304" pitchFamily="18" charset="0"/>
                <a:ea typeface="宋体" panose="02010600030101010101" pitchFamily="2" charset="-122"/>
                <a:sym typeface="Symbol" panose="05050102010706020507" pitchFamily="18" charset="2"/>
              </a:rPr>
              <a:t>65.5</a:t>
            </a:r>
            <a:r>
              <a:rPr lang="zh-CN" altLang="en-US" dirty="0">
                <a:latin typeface="Times New Roman" panose="02020603050405020304" pitchFamily="18" charset="0"/>
                <a:ea typeface="宋体" panose="02010600030101010101" pitchFamily="2" charset="-122"/>
                <a:sym typeface="Symbol" panose="05050102010706020507" pitchFamily="18" charset="2"/>
              </a:rPr>
              <a:t>欧</a:t>
            </a:r>
            <a:endParaRPr lang="zh-CN" altLang="en-US">
              <a:latin typeface="Times New Roman" panose="02020603050405020304" pitchFamily="18" charset="0"/>
              <a:ea typeface="宋体" panose="02010600030101010101" pitchFamily="2" charset="-122"/>
              <a:sym typeface="Symbol" panose="05050102010706020507" pitchFamily="18" charset="2"/>
            </a:endParaRPr>
          </a:p>
        </p:txBody>
      </p:sp>
      <p:sp>
        <p:nvSpPr>
          <p:cNvPr id="21509" name="矩形 60422"/>
          <p:cNvSpPr/>
          <p:nvPr/>
        </p:nvSpPr>
        <p:spPr>
          <a:xfrm>
            <a:off x="7189788" y="176688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矩形 59393"/>
          <p:cNvSpPr/>
          <p:nvPr/>
        </p:nvSpPr>
        <p:spPr>
          <a:xfrm>
            <a:off x="611188" y="2492375"/>
            <a:ext cx="6153150" cy="639763"/>
          </a:xfrm>
          <a:prstGeom prst="rect">
            <a:avLst/>
          </a:prstGeom>
          <a:noFill/>
          <a:ln w="9525">
            <a:noFill/>
          </a:ln>
        </p:spPr>
        <p:txBody>
          <a:bodyPr anchor="t" anchorCtr="0">
            <a:spAutoFit/>
          </a:bodyPr>
          <a:p>
            <a:pPr algn="ctr">
              <a:lnSpc>
                <a:spcPct val="15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所以转速为</a:t>
            </a:r>
            <a:r>
              <a:rPr lang="zh-CN" altLang="en-US" b="0" dirty="0">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n=1600</a:t>
            </a:r>
            <a:r>
              <a:rPr lang="en-US" altLang="zh-CN" i="1">
                <a:latin typeface="Times New Roman" panose="02020603050405020304" pitchFamily="18" charset="0"/>
                <a:ea typeface="宋体" panose="02010600030101010101" pitchFamily="2" charset="-122"/>
              </a:rPr>
              <a:t>131.4/185.9=1131rpm</a:t>
            </a:r>
            <a:r>
              <a:rPr lang="zh-CN" altLang="en-US" dirty="0">
                <a:latin typeface="Times New Roman" panose="02020603050405020304" pitchFamily="18" charset="0"/>
                <a:ea typeface="宋体" panose="02010600030101010101" pitchFamily="2" charset="-122"/>
                <a:sym typeface="Symbol" panose="05050102010706020507" pitchFamily="18" charset="2"/>
              </a:rPr>
              <a:t>。</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22530" name="对象 59394"/>
          <p:cNvGraphicFramePr/>
          <p:nvPr/>
        </p:nvGraphicFramePr>
        <p:xfrm>
          <a:off x="2419350" y="3357563"/>
          <a:ext cx="2868613" cy="1736725"/>
        </p:xfrm>
        <a:graphic>
          <a:graphicData uri="http://schemas.openxmlformats.org/presentationml/2006/ole">
            <mc:AlternateContent xmlns:mc="http://schemas.openxmlformats.org/markup-compatibility/2006">
              <mc:Choice xmlns:v="urn:schemas-microsoft-com:vml" Requires="v">
                <p:oleObj spid="_x0000_s3087" name="" r:id="rId1" imgW="1396365" imgH="850265" progId="Equation.DSMT4">
                  <p:embed/>
                </p:oleObj>
              </mc:Choice>
              <mc:Fallback>
                <p:oleObj name="" r:id="rId1" imgW="1396365" imgH="850265" progId="Equation.DSMT4">
                  <p:embed/>
                  <p:pic>
                    <p:nvPicPr>
                      <p:cNvPr id="0" name="图片 3086"/>
                      <p:cNvPicPr/>
                      <p:nvPr/>
                    </p:nvPicPr>
                    <p:blipFill>
                      <a:blip r:embed="rId2"/>
                      <a:stretch>
                        <a:fillRect/>
                      </a:stretch>
                    </p:blipFill>
                    <p:spPr>
                      <a:xfrm>
                        <a:off x="2419350" y="3357563"/>
                        <a:ext cx="2868613" cy="1736725"/>
                      </a:xfrm>
                      <a:prstGeom prst="rect">
                        <a:avLst/>
                      </a:prstGeom>
                      <a:noFill/>
                      <a:ln w="38100">
                        <a:noFill/>
                        <a:miter/>
                      </a:ln>
                    </p:spPr>
                  </p:pic>
                </p:oleObj>
              </mc:Fallback>
            </mc:AlternateContent>
          </a:graphicData>
        </a:graphic>
      </p:graphicFrame>
      <p:sp>
        <p:nvSpPr>
          <p:cNvPr id="22531" name="矩形 59395"/>
          <p:cNvSpPr/>
          <p:nvPr/>
        </p:nvSpPr>
        <p:spPr>
          <a:xfrm>
            <a:off x="539750" y="692150"/>
            <a:ext cx="6985000" cy="1735138"/>
          </a:xfrm>
          <a:prstGeom prst="rect">
            <a:avLst/>
          </a:prstGeom>
          <a:noFill/>
          <a:ln w="9525">
            <a:noFill/>
          </a:ln>
        </p:spPr>
        <p:txBody>
          <a:bodyPr anchor="t" anchorCtr="0">
            <a:spAutoFit/>
          </a:bodyPr>
          <a:p>
            <a:pPr>
              <a:lnSpc>
                <a:spcPct val="150000"/>
              </a:lnSpc>
            </a:pPr>
            <a:r>
              <a:rPr lang="en-US" altLang="zh-CN">
                <a:latin typeface="Times New Roman" panose="02020603050405020304" pitchFamily="18" charset="0"/>
                <a:ea typeface="宋体" panose="02010600030101010101" pitchFamily="2" charset="-122"/>
                <a:sym typeface="Symbol" panose="05050102010706020507" pitchFamily="18" charset="2"/>
              </a:rPr>
              <a:t>(5)</a:t>
            </a:r>
            <a:r>
              <a:rPr lang="en-US" altLang="zh-CN" b="0">
                <a:latin typeface="Times New Roman" panose="02020603050405020304" pitchFamily="18" charset="0"/>
                <a:ea typeface="宋体" panose="02010600030101010101" pitchFamily="2" charset="-122"/>
                <a:sym typeface="Symbol" panose="05050102010706020507" pitchFamily="18" charset="2"/>
              </a:rPr>
              <a:t> </a:t>
            </a:r>
            <a:r>
              <a:rPr lang="zh-CN" altLang="en-US" dirty="0">
                <a:latin typeface="Times New Roman" panose="02020603050405020304" pitchFamily="18" charset="0"/>
                <a:ea typeface="宋体" panose="02010600030101010101" pitchFamily="2" charset="-122"/>
                <a:sym typeface="Symbol" panose="05050102010706020507" pitchFamily="18" charset="2"/>
              </a:rPr>
              <a:t>由于负载转矩额定，所以电枢电流额定</a:t>
            </a:r>
            <a:r>
              <a:rPr lang="en-US" altLang="zh-CN">
                <a:latin typeface="Times New Roman" panose="02020603050405020304" pitchFamily="18" charset="0"/>
                <a:ea typeface="宋体" panose="02010600030101010101" pitchFamily="2" charset="-122"/>
                <a:sym typeface="Symbol" panose="05050102010706020507" pitchFamily="18" charset="2"/>
              </a:rPr>
              <a:t>=1.09A;</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nSpc>
                <a:spcPct val="15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由电压方程得</a:t>
            </a:r>
            <a:r>
              <a:rPr lang="zh-CN" altLang="en-US" b="0" dirty="0">
                <a:latin typeface="Times New Roman" panose="02020603050405020304" pitchFamily="18" charset="0"/>
                <a:ea typeface="宋体" panose="02010600030101010101" pitchFamily="2" charset="-122"/>
                <a:sym typeface="Symbol" panose="05050102010706020507" pitchFamily="18" charset="2"/>
              </a:rPr>
              <a:t>：</a:t>
            </a:r>
            <a:endParaRPr lang="zh-CN" altLang="en-US" b="0" dirty="0">
              <a:latin typeface="Times New Roman" panose="02020603050405020304" pitchFamily="18" charset="0"/>
              <a:ea typeface="宋体" panose="02010600030101010101" pitchFamily="2" charset="-122"/>
              <a:sym typeface="Symbol" panose="05050102010706020507" pitchFamily="18" charset="2"/>
            </a:endParaRPr>
          </a:p>
          <a:p>
            <a:pPr algn="ctr">
              <a:lnSpc>
                <a:spcPct val="150000"/>
              </a:lnSpc>
            </a:pPr>
            <a:r>
              <a:rPr lang="zh-CN" altLang="en-US" b="0">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220=Ea+1.09</a:t>
            </a:r>
            <a:r>
              <a:rPr lang="en-US" altLang="zh-CN" i="1">
                <a:latin typeface="Times New Roman" panose="02020603050405020304" pitchFamily="18" charset="0"/>
                <a:ea typeface="宋体" panose="02010600030101010101" pitchFamily="2" charset="-122"/>
              </a:rPr>
              <a:t>(50+31.31);</a:t>
            </a:r>
            <a:r>
              <a:rPr lang="en-US" altLang="zh-CN" i="1">
                <a:latin typeface="Times New Roman" panose="02020603050405020304" pitchFamily="18" charset="0"/>
                <a:ea typeface="宋体" panose="02010600030101010101" pitchFamily="2" charset="-122"/>
                <a:sym typeface="Symbol" panose="05050102010706020507" pitchFamily="18" charset="2"/>
              </a:rPr>
              <a:t>  Ea=131.4V</a:t>
            </a:r>
            <a:endParaRPr lang="en-US" altLang="zh-CN" i="1">
              <a:latin typeface="Times New Roman" panose="02020603050405020304" pitchFamily="18" charset="0"/>
              <a:ea typeface="宋体" panose="02010600030101010101" pitchFamily="2" charset="-122"/>
              <a:sym typeface="Symbol" panose="05050102010706020507" pitchFamily="18" charset="2"/>
            </a:endParaRPr>
          </a:p>
        </p:txBody>
      </p:sp>
      <p:sp>
        <p:nvSpPr>
          <p:cNvPr id="22532" name="文本框 59396"/>
          <p:cNvSpPr txBox="1"/>
          <p:nvPr/>
        </p:nvSpPr>
        <p:spPr>
          <a:xfrm>
            <a:off x="684213" y="3429000"/>
            <a:ext cx="539750" cy="457200"/>
          </a:xfrm>
          <a:prstGeom prst="rect">
            <a:avLst/>
          </a:prstGeom>
          <a:noFill/>
          <a:ln w="9525">
            <a:noFill/>
          </a:ln>
        </p:spPr>
        <p:txBody>
          <a:bodyPr wrap="none" anchor="t" anchorCtr="0">
            <a:spAutoFit/>
          </a:bodyPr>
          <a:p>
            <a:pPr algn="ctr"/>
            <a:r>
              <a:rPr lang="en-US" altLang="zh-CN">
                <a:latin typeface="Times New Roman" panose="02020603050405020304" pitchFamily="18" charset="0"/>
                <a:ea typeface="宋体" panose="02010600030101010101" pitchFamily="2" charset="-122"/>
              </a:rPr>
              <a:t>(6)</a:t>
            </a:r>
            <a:endParaRPr lang="en-US" altLang="zh-CN">
              <a:latin typeface="Times New Roman" panose="02020603050405020304" pitchFamily="18"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文本框 58369"/>
          <p:cNvSpPr txBox="1"/>
          <p:nvPr/>
        </p:nvSpPr>
        <p:spPr>
          <a:xfrm>
            <a:off x="468313" y="549275"/>
            <a:ext cx="8064500" cy="1917700"/>
          </a:xfrm>
          <a:prstGeom prst="rect">
            <a:avLst/>
          </a:prstGeom>
          <a:noFill/>
          <a:ln w="9525">
            <a:noFill/>
          </a:ln>
        </p:spPr>
        <p:txBody>
          <a:bodyPr anchor="t" anchorCtr="0">
            <a:spAutoFit/>
          </a:bodyPr>
          <a:p>
            <a:pPr marL="457200" indent="-457200">
              <a:buNone/>
            </a:pPr>
            <a:r>
              <a:rPr lang="en-US" altLang="zh-CN" dirty="0">
                <a:latin typeface="Times New Roman" panose="02020603050405020304" pitchFamily="18" charset="0"/>
                <a:ea typeface="宋体" panose="02010600030101010101" pitchFamily="2" charset="-122"/>
              </a:rPr>
              <a:t>4-13 </a:t>
            </a:r>
            <a:r>
              <a:rPr lang="zh-CN" altLang="en-US" dirty="0">
                <a:latin typeface="Times New Roman" panose="02020603050405020304" pitchFamily="18" charset="0"/>
                <a:ea typeface="宋体" panose="02010600030101010101" pitchFamily="2" charset="-122"/>
              </a:rPr>
              <a:t>并励直流机，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=1500r/min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η</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=84.5%</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fN</a:t>
            </a:r>
            <a:r>
              <a:rPr lang="en-US" altLang="zh-CN" dirty="0">
                <a:latin typeface="Times New Roman" panose="02020603050405020304" pitchFamily="18" charset="0"/>
                <a:ea typeface="宋体" panose="02010600030101010101" pitchFamily="2" charset="-122"/>
              </a:rPr>
              <a:t>=1.178A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=0.354Ω</a:t>
            </a:r>
            <a:r>
              <a:rPr lang="zh-CN" altLang="en-US" dirty="0">
                <a:latin typeface="Times New Roman" panose="02020603050405020304" pitchFamily="18" charset="0"/>
                <a:ea typeface="宋体" panose="02010600030101010101" pitchFamily="2" charset="-122"/>
              </a:rPr>
              <a:t>，采用能耗制动停车，在电枢回路串入</a:t>
            </a:r>
            <a:r>
              <a:rPr lang="en-US" altLang="zh-CN" i="1">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=0.5Ω</a:t>
            </a:r>
            <a:r>
              <a:rPr lang="zh-CN" altLang="en-US" dirty="0">
                <a:latin typeface="Times New Roman" panose="02020603050405020304" pitchFamily="18" charset="0"/>
                <a:ea typeface="宋体" panose="02010600030101010101" pitchFamily="2" charset="-122"/>
              </a:rPr>
              <a:t>，求：</a:t>
            </a:r>
            <a:endParaRPr lang="zh-CN" altLang="en-US" dirty="0">
              <a:latin typeface="Times New Roman" panose="02020603050405020304" pitchFamily="18" charset="0"/>
              <a:ea typeface="宋体" panose="02010600030101010101" pitchFamily="2" charset="-122"/>
            </a:endParaRPr>
          </a:p>
          <a:p>
            <a:pPr marL="457200" indent="-457200">
              <a:buAutoNum type="arabicParenBoth"/>
            </a:pPr>
            <a:r>
              <a:rPr lang="zh-CN" altLang="en-US" dirty="0">
                <a:latin typeface="Times New Roman" panose="02020603050405020304" pitchFamily="18" charset="0"/>
                <a:ea typeface="宋体" panose="02010600030101010101" pitchFamily="2" charset="-122"/>
              </a:rPr>
              <a:t>制动初瞬间的电枢电流及电磁转矩。</a:t>
            </a:r>
            <a:endParaRPr lang="zh-CN" altLang="en-US" dirty="0">
              <a:latin typeface="Times New Roman" panose="02020603050405020304" pitchFamily="18" charset="0"/>
              <a:ea typeface="宋体" panose="02010600030101010101" pitchFamily="2" charset="-122"/>
            </a:endParaRPr>
          </a:p>
          <a:p>
            <a:pPr marL="457200" indent="-457200">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串电阻后的机械特性。</a:t>
            </a:r>
            <a:endParaRPr lang="zh-CN" altLang="en-US" dirty="0">
              <a:latin typeface="Times New Roman" panose="02020603050405020304" pitchFamily="18" charset="0"/>
              <a:ea typeface="宋体" panose="02010600030101010101" pitchFamily="2" charset="-122"/>
            </a:endParaRPr>
          </a:p>
        </p:txBody>
      </p:sp>
      <p:graphicFrame>
        <p:nvGraphicFramePr>
          <p:cNvPr id="23554" name="对象 58373"/>
          <p:cNvGraphicFramePr/>
          <p:nvPr/>
        </p:nvGraphicFramePr>
        <p:xfrm>
          <a:off x="827088" y="2852738"/>
          <a:ext cx="7704137" cy="1127125"/>
        </p:xfrm>
        <a:graphic>
          <a:graphicData uri="http://schemas.openxmlformats.org/presentationml/2006/ole">
            <mc:AlternateContent xmlns:mc="http://schemas.openxmlformats.org/markup-compatibility/2006">
              <mc:Choice xmlns:v="urn:schemas-microsoft-com:vml" Requires="v">
                <p:oleObj spid="_x0000_s3109" name="" r:id="rId1" imgW="4483100" imgH="660400" progId="Equation.DSMT4">
                  <p:embed/>
                </p:oleObj>
              </mc:Choice>
              <mc:Fallback>
                <p:oleObj name="" r:id="rId1" imgW="4483100" imgH="660400" progId="Equation.DSMT4">
                  <p:embed/>
                  <p:pic>
                    <p:nvPicPr>
                      <p:cNvPr id="0" name="图片 3108"/>
                      <p:cNvPicPr/>
                      <p:nvPr/>
                    </p:nvPicPr>
                    <p:blipFill>
                      <a:blip r:embed="rId2"/>
                      <a:stretch>
                        <a:fillRect/>
                      </a:stretch>
                    </p:blipFill>
                    <p:spPr>
                      <a:xfrm>
                        <a:off x="827088" y="2852738"/>
                        <a:ext cx="7704137" cy="1127125"/>
                      </a:xfrm>
                      <a:prstGeom prst="rect">
                        <a:avLst/>
                      </a:prstGeom>
                      <a:noFill/>
                      <a:ln w="38100">
                        <a:noFill/>
                        <a:miter/>
                      </a:ln>
                    </p:spPr>
                  </p:pic>
                </p:oleObj>
              </mc:Fallback>
            </mc:AlternateContent>
          </a:graphicData>
        </a:graphic>
      </p:graphicFrame>
      <p:graphicFrame>
        <p:nvGraphicFramePr>
          <p:cNvPr id="23555" name="对象 58372"/>
          <p:cNvGraphicFramePr/>
          <p:nvPr/>
        </p:nvGraphicFramePr>
        <p:xfrm>
          <a:off x="1403350" y="5229225"/>
          <a:ext cx="5761038" cy="727075"/>
        </p:xfrm>
        <a:graphic>
          <a:graphicData uri="http://schemas.openxmlformats.org/presentationml/2006/ole">
            <mc:AlternateContent xmlns:mc="http://schemas.openxmlformats.org/markup-compatibility/2006">
              <mc:Choice xmlns:v="urn:schemas-microsoft-com:vml" Requires="v">
                <p:oleObj spid="_x0000_s3108" name="" r:id="rId3" imgW="3098800" imgH="393700" progId="Equation.DSMT4">
                  <p:embed/>
                </p:oleObj>
              </mc:Choice>
              <mc:Fallback>
                <p:oleObj name="" r:id="rId3" imgW="3098800" imgH="393700" progId="Equation.DSMT4">
                  <p:embed/>
                  <p:pic>
                    <p:nvPicPr>
                      <p:cNvPr id="0" name="图片 3107"/>
                      <p:cNvPicPr/>
                      <p:nvPr/>
                    </p:nvPicPr>
                    <p:blipFill>
                      <a:blip r:embed="rId4"/>
                      <a:stretch>
                        <a:fillRect/>
                      </a:stretch>
                    </p:blipFill>
                    <p:spPr>
                      <a:xfrm>
                        <a:off x="1403350" y="5229225"/>
                        <a:ext cx="5761038" cy="727075"/>
                      </a:xfrm>
                      <a:prstGeom prst="rect">
                        <a:avLst/>
                      </a:prstGeom>
                      <a:noFill/>
                      <a:ln w="38100">
                        <a:noFill/>
                        <a:miter/>
                      </a:ln>
                    </p:spPr>
                  </p:pic>
                </p:oleObj>
              </mc:Fallback>
            </mc:AlternateContent>
          </a:graphicData>
        </a:graphic>
      </p:graphicFrame>
      <p:sp>
        <p:nvSpPr>
          <p:cNvPr id="23556" name="矩形 58374"/>
          <p:cNvSpPr/>
          <p:nvPr/>
        </p:nvSpPr>
        <p:spPr>
          <a:xfrm>
            <a:off x="539750" y="2420938"/>
            <a:ext cx="3554413"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解：并励电动机额定时：</a:t>
            </a:r>
            <a:endParaRPr lang="zh-CN" altLang="en-US" b="0" dirty="0">
              <a:latin typeface="Times New Roman" panose="02020603050405020304" pitchFamily="18" charset="0"/>
              <a:ea typeface="宋体" panose="02010600030101010101" pitchFamily="2" charset="-122"/>
            </a:endParaRPr>
          </a:p>
        </p:txBody>
      </p:sp>
      <p:sp>
        <p:nvSpPr>
          <p:cNvPr id="23557" name="矩形 58375"/>
          <p:cNvSpPr/>
          <p:nvPr/>
        </p:nvSpPr>
        <p:spPr>
          <a:xfrm>
            <a:off x="971550" y="3933825"/>
            <a:ext cx="6889750" cy="1187450"/>
          </a:xfrm>
          <a:prstGeom prst="rect">
            <a:avLst/>
          </a:prstGeom>
          <a:noFill/>
          <a:ln w="9525">
            <a:noFill/>
          </a:ln>
        </p:spPr>
        <p:txBody>
          <a:bodyPr wrap="none" anchor="ctr" anchorCtr="0">
            <a:spAutoFit/>
          </a:bodyPr>
          <a:p>
            <a:pPr>
              <a:lnSpc>
                <a:spcPct val="150000"/>
              </a:lnSpc>
            </a:pPr>
            <a:r>
              <a:rPr lang="zh-CN" altLang="en-US" dirty="0">
                <a:latin typeface="Times New Roman" panose="02020603050405020304" pitchFamily="18" charset="0"/>
                <a:ea typeface="宋体" panose="02010600030101010101" pitchFamily="2" charset="-122"/>
              </a:rPr>
              <a:t>制动瞬间转速未变，电势未变，此时电压方程为</a:t>
            </a:r>
            <a:r>
              <a:rPr lang="zh-CN" altLang="en-US" b="0"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eaLnBrk="0" hangingPunct="0">
              <a:lnSpc>
                <a:spcPct val="150000"/>
              </a:lnSpc>
            </a:pPr>
            <a:r>
              <a:rPr lang="zh-CN" altLang="en-US" i="1">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0=201.4+I</a:t>
            </a:r>
            <a:r>
              <a:rPr lang="en-US" altLang="zh-CN" i="1" baseline="-30000">
                <a:latin typeface="Times New Roman" panose="02020603050405020304" pitchFamily="18" charset="0"/>
                <a:ea typeface="宋体" panose="02010600030101010101" pitchFamily="2" charset="-122"/>
              </a:rPr>
              <a:t>a</a:t>
            </a:r>
            <a:r>
              <a:rPr lang="en-US" altLang="zh-CN" i="1">
                <a:latin typeface="Times New Roman" panose="02020603050405020304" pitchFamily="18" charset="0"/>
                <a:ea typeface="宋体" panose="02010600030101010101" pitchFamily="2" charset="-122"/>
              </a:rPr>
              <a:t>(0.354+0.5); I</a:t>
            </a:r>
            <a:r>
              <a:rPr lang="en-US" altLang="zh-CN" i="1" baseline="-30000">
                <a:latin typeface="Times New Roman" panose="02020603050405020304" pitchFamily="18" charset="0"/>
                <a:ea typeface="宋体" panose="02010600030101010101" pitchFamily="2" charset="-122"/>
              </a:rPr>
              <a:t>a</a:t>
            </a:r>
            <a:r>
              <a:rPr lang="en-US" altLang="zh-CN" i="1" dirty="0">
                <a:latin typeface="Times New Roman" panose="02020603050405020304" pitchFamily="18" charset="0"/>
                <a:ea typeface="宋体" panose="02010600030101010101" pitchFamily="2" charset="-122"/>
              </a:rPr>
              <a:t>= -235.8A</a:t>
            </a:r>
            <a:r>
              <a:rPr lang="zh-CN" altLang="en-US" i="1"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p:txBody>
      </p:sp>
      <p:sp>
        <p:nvSpPr>
          <p:cNvPr id="23558" name="矩形 58378"/>
          <p:cNvSpPr/>
          <p:nvPr/>
        </p:nvSpPr>
        <p:spPr>
          <a:xfrm>
            <a:off x="468313" y="5949950"/>
            <a:ext cx="2635250"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制动瞬间转矩为：</a:t>
            </a:r>
            <a:endParaRPr lang="zh-CN" altLang="en-US" dirty="0">
              <a:latin typeface="Times New Roman" panose="02020603050405020304" pitchFamily="18" charset="0"/>
              <a:ea typeface="宋体" panose="02010600030101010101" pitchFamily="2" charset="-122"/>
            </a:endParaRPr>
          </a:p>
        </p:txBody>
      </p:sp>
      <p:graphicFrame>
        <p:nvGraphicFramePr>
          <p:cNvPr id="23559" name="对象 58377"/>
          <p:cNvGraphicFramePr/>
          <p:nvPr/>
        </p:nvGraphicFramePr>
        <p:xfrm>
          <a:off x="3132138" y="5949950"/>
          <a:ext cx="5111750" cy="661988"/>
        </p:xfrm>
        <a:graphic>
          <a:graphicData uri="http://schemas.openxmlformats.org/presentationml/2006/ole">
            <mc:AlternateContent xmlns:mc="http://schemas.openxmlformats.org/markup-compatibility/2006">
              <mc:Choice xmlns:v="urn:schemas-microsoft-com:vml" Requires="v">
                <p:oleObj spid="_x0000_s3106" name="" r:id="rId5" imgW="3022600" imgH="393700" progId="Equation.DSMT4">
                  <p:embed/>
                </p:oleObj>
              </mc:Choice>
              <mc:Fallback>
                <p:oleObj name="" r:id="rId5" imgW="3022600" imgH="393700" progId="Equation.DSMT4">
                  <p:embed/>
                  <p:pic>
                    <p:nvPicPr>
                      <p:cNvPr id="0" name="图片 3105"/>
                      <p:cNvPicPr/>
                      <p:nvPr/>
                    </p:nvPicPr>
                    <p:blipFill>
                      <a:blip r:embed="rId6"/>
                      <a:stretch>
                        <a:fillRect/>
                      </a:stretch>
                    </p:blipFill>
                    <p:spPr>
                      <a:xfrm>
                        <a:off x="3132138" y="5949950"/>
                        <a:ext cx="5111750" cy="661988"/>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框 62465"/>
          <p:cNvSpPr txBox="1"/>
          <p:nvPr/>
        </p:nvSpPr>
        <p:spPr>
          <a:xfrm>
            <a:off x="395288" y="476250"/>
            <a:ext cx="8280400" cy="1552575"/>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4-14 </a:t>
            </a:r>
            <a:r>
              <a:rPr lang="zh-CN" altLang="en-US" dirty="0">
                <a:latin typeface="Times New Roman" panose="02020603050405020304" pitchFamily="18" charset="0"/>
                <a:ea typeface="宋体" panose="02010600030101010101" pitchFamily="2" charset="-122"/>
              </a:rPr>
              <a:t>串励直流机，</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=40A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=1000r/min</a:t>
            </a:r>
            <a:r>
              <a:rPr lang="zh-CN" altLang="en-US" dirty="0">
                <a:latin typeface="Times New Roman" panose="02020603050405020304" pitchFamily="18" charset="0"/>
                <a:ea typeface="宋体" panose="02010600030101010101" pitchFamily="2" charset="-122"/>
              </a:rPr>
              <a:t>，电枢回路</a:t>
            </a:r>
            <a:r>
              <a:rPr lang="en-US" altLang="zh-CN" i="1">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=0.55Ω</a:t>
            </a:r>
            <a:r>
              <a:rPr lang="zh-CN" altLang="en-US" dirty="0">
                <a:latin typeface="Times New Roman" panose="02020603050405020304" pitchFamily="18" charset="0"/>
                <a:ea typeface="宋体" panose="02010600030101010101" pitchFamily="2" charset="-122"/>
              </a:rPr>
              <a:t>，若制动转矩为额定，电枢串入</a:t>
            </a:r>
            <a:r>
              <a:rPr lang="en-US" altLang="zh-CN" dirty="0">
                <a:latin typeface="Times New Roman" panose="02020603050405020304" pitchFamily="18" charset="0"/>
                <a:ea typeface="宋体" panose="02010600030101010101" pitchFamily="2" charset="-122"/>
              </a:rPr>
              <a:t>2Ω</a:t>
            </a:r>
            <a:r>
              <a:rPr lang="zh-CN" altLang="en-US" dirty="0">
                <a:latin typeface="Times New Roman" panose="02020603050405020304" pitchFamily="18" charset="0"/>
                <a:ea typeface="宋体" panose="02010600030101010101" pitchFamily="2" charset="-122"/>
              </a:rPr>
              <a:t>，求</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，假设磁路不饱和，电网电压下降使转速降为</a:t>
            </a:r>
            <a:r>
              <a:rPr lang="en-US" altLang="zh-CN" dirty="0">
                <a:latin typeface="Times New Roman" panose="02020603050405020304" pitchFamily="18" charset="0"/>
                <a:ea typeface="宋体" panose="02010600030101010101" pitchFamily="2" charset="-122"/>
              </a:rPr>
              <a:t>500r/min</a:t>
            </a:r>
            <a:r>
              <a:rPr lang="zh-CN" altLang="en-US" dirty="0">
                <a:latin typeface="Times New Roman" panose="02020603050405020304" pitchFamily="18" charset="0"/>
                <a:ea typeface="宋体" panose="02010600030101010101" pitchFamily="2" charset="-122"/>
              </a:rPr>
              <a:t>，求此时</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和电网电压。</a:t>
            </a:r>
            <a:endParaRPr lang="zh-CN" altLang="en-US" dirty="0">
              <a:latin typeface="Times New Roman" panose="02020603050405020304" pitchFamily="18" charset="0"/>
              <a:ea typeface="宋体" panose="02010600030101010101" pitchFamily="2" charset="-122"/>
            </a:endParaRPr>
          </a:p>
        </p:txBody>
      </p:sp>
      <p:sp>
        <p:nvSpPr>
          <p:cNvPr id="24578" name="矩形 62466"/>
          <p:cNvSpPr/>
          <p:nvPr/>
        </p:nvSpPr>
        <p:spPr>
          <a:xfrm>
            <a:off x="611188" y="2420938"/>
            <a:ext cx="7777162" cy="3414712"/>
          </a:xfrm>
          <a:prstGeom prst="rect">
            <a:avLst/>
          </a:prstGeom>
          <a:noFill/>
          <a:ln w="9525">
            <a:noFill/>
          </a:ln>
        </p:spPr>
        <p:txBody>
          <a:bodyPr anchor="ctr" anchorCtr="0">
            <a:spAutoFit/>
          </a:bodyPr>
          <a:p>
            <a:pPr algn="ctr">
              <a:lnSpc>
                <a:spcPct val="130000"/>
              </a:lnSpc>
            </a:pPr>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）磁路不饱和时，</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正比于</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，负载不变时，</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也不变为额定的</a:t>
            </a:r>
            <a:r>
              <a:rPr lang="en-US" altLang="zh-CN" dirty="0">
                <a:latin typeface="Times New Roman" panose="02020603050405020304" pitchFamily="18" charset="0"/>
                <a:ea typeface="宋体" panose="02010600030101010101" pitchFamily="2" charset="-122"/>
              </a:rPr>
              <a:t>40A</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gn="ctr">
              <a:lnSpc>
                <a:spcPct val="130000"/>
              </a:lnSpc>
            </a:pPr>
            <a:r>
              <a:rPr lang="en-US" altLang="zh-CN" i="1">
                <a:latin typeface="Times New Roman" panose="02020603050405020304" pitchFamily="18" charset="0"/>
                <a:ea typeface="宋体" panose="02010600030101010101" pitchFamily="2" charset="-122"/>
              </a:rPr>
              <a:t>EaN=220-40</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0.55=198V;</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a:lnSpc>
                <a:spcPct val="13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串电阻后：</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i="1" baseline="-25000">
                <a:latin typeface="Times New Roman" panose="02020603050405020304" pitchFamily="18" charset="0"/>
                <a:ea typeface="宋体" panose="02010600030101010101" pitchFamily="2" charset="-122"/>
                <a:sym typeface="Symbol" panose="05050102010706020507" pitchFamily="18" charset="2"/>
              </a:rPr>
              <a:t>a</a:t>
            </a:r>
            <a:r>
              <a:rPr lang="en-US" altLang="zh-CN" i="1">
                <a:latin typeface="Times New Roman" panose="02020603050405020304" pitchFamily="18" charset="0"/>
                <a:ea typeface="宋体" panose="02010600030101010101" pitchFamily="2" charset="-122"/>
                <a:sym typeface="Symbol" panose="05050102010706020507" pitchFamily="18" charset="2"/>
              </a:rPr>
              <a:t>=220-40</a:t>
            </a:r>
            <a:r>
              <a:rPr lang="zh-CN" altLang="en-US" i="1"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sym typeface="Symbol" panose="05050102010706020507" pitchFamily="18" charset="2"/>
              </a:rPr>
              <a:t>0.55+2</a:t>
            </a:r>
            <a:r>
              <a:rPr lang="zh-CN" altLang="en-US" i="1" dirty="0">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=118V;</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a:lnSpc>
                <a:spcPct val="13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所以转速变为：</a:t>
            </a:r>
            <a:r>
              <a:rPr lang="en-US" altLang="zh-CN" i="1">
                <a:latin typeface="Times New Roman" panose="02020603050405020304" pitchFamily="18" charset="0"/>
                <a:ea typeface="宋体" panose="02010600030101010101" pitchFamily="2" charset="-122"/>
                <a:sym typeface="Symbol" panose="05050102010706020507" pitchFamily="18" charset="2"/>
              </a:rPr>
              <a:t>n=1000</a:t>
            </a:r>
            <a:r>
              <a:rPr lang="en-US" altLang="zh-CN" i="1">
                <a:latin typeface="Times New Roman" panose="02020603050405020304" pitchFamily="18" charset="0"/>
                <a:ea typeface="宋体" panose="02010600030101010101" pitchFamily="2" charset="-122"/>
              </a:rPr>
              <a:t>118/198=596rpm</a:t>
            </a:r>
            <a:r>
              <a:rPr lang="zh-CN" altLang="en-US" i="1" dirty="0">
                <a:latin typeface="Times New Roman" panose="02020603050405020304" pitchFamily="18" charset="0"/>
                <a:ea typeface="宋体" panose="02010600030101010101" pitchFamily="2" charset="-122"/>
                <a:sym typeface="Symbol" panose="05050102010706020507" pitchFamily="18" charset="2"/>
              </a:rPr>
              <a:t>。</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a:p>
            <a:pPr algn="ctr">
              <a:lnSpc>
                <a:spcPct val="13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a:t>
            </a:r>
            <a:r>
              <a:rPr lang="en-US" altLang="zh-CN" dirty="0">
                <a:latin typeface="Times New Roman" panose="02020603050405020304" pitchFamily="18" charset="0"/>
                <a:ea typeface="宋体" panose="02010600030101010101" pitchFamily="2" charset="-122"/>
                <a:sym typeface="Symbol" panose="05050102010706020507" pitchFamily="18" charset="2"/>
              </a:rPr>
              <a:t>2</a:t>
            </a:r>
            <a:r>
              <a:rPr lang="zh-CN" altLang="en-US" dirty="0">
                <a:latin typeface="Times New Roman" panose="02020603050405020304" pitchFamily="18" charset="0"/>
                <a:ea typeface="宋体" panose="02010600030101010101" pitchFamily="2" charset="-122"/>
                <a:sym typeface="Symbol" panose="05050102010706020507" pitchFamily="18" charset="2"/>
              </a:rPr>
              <a:t>）转速变为</a:t>
            </a:r>
            <a:r>
              <a:rPr lang="en-US" altLang="zh-CN" dirty="0">
                <a:latin typeface="Times New Roman" panose="02020603050405020304" pitchFamily="18" charset="0"/>
                <a:ea typeface="宋体" panose="02010600030101010101" pitchFamily="2" charset="-122"/>
                <a:sym typeface="Symbol" panose="05050102010706020507" pitchFamily="18" charset="2"/>
              </a:rPr>
              <a:t>500rpm</a:t>
            </a:r>
            <a:r>
              <a:rPr lang="zh-CN" altLang="en-US" dirty="0">
                <a:latin typeface="Times New Roman" panose="02020603050405020304" pitchFamily="18" charset="0"/>
                <a:ea typeface="宋体" panose="02010600030101010101" pitchFamily="2" charset="-122"/>
                <a:sym typeface="Symbol" panose="05050102010706020507" pitchFamily="18" charset="2"/>
              </a:rPr>
              <a:t>时：</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i="1" baseline="-25000">
                <a:latin typeface="Times New Roman" panose="02020603050405020304" pitchFamily="18" charset="0"/>
                <a:ea typeface="宋体" panose="02010600030101010101" pitchFamily="2" charset="-122"/>
                <a:sym typeface="Symbol" panose="05050102010706020507" pitchFamily="18" charset="2"/>
              </a:rPr>
              <a:t>a</a:t>
            </a:r>
            <a:r>
              <a:rPr lang="en-US" altLang="zh-CN" i="1">
                <a:latin typeface="Times New Roman" panose="02020603050405020304" pitchFamily="18" charset="0"/>
                <a:ea typeface="宋体" panose="02010600030101010101" pitchFamily="2" charset="-122"/>
                <a:sym typeface="Symbol" panose="05050102010706020507" pitchFamily="18" charset="2"/>
              </a:rPr>
              <a:t>=198</a:t>
            </a:r>
            <a:r>
              <a:rPr lang="en-US" altLang="zh-CN" i="1">
                <a:latin typeface="Times New Roman" panose="02020603050405020304" pitchFamily="18" charset="0"/>
                <a:ea typeface="宋体" panose="02010600030101010101" pitchFamily="2" charset="-122"/>
              </a:rPr>
              <a:t>500/1000=99V</a:t>
            </a:r>
            <a:r>
              <a:rPr lang="zh-CN" altLang="en-US" dirty="0">
                <a:latin typeface="Times New Roman" panose="02020603050405020304" pitchFamily="18" charset="0"/>
                <a:ea typeface="宋体" panose="02010600030101010101" pitchFamily="2" charset="-122"/>
                <a:sym typeface="Symbol" panose="05050102010706020507" pitchFamily="18" charset="2"/>
              </a:rPr>
              <a:t>。</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a:p>
            <a:pPr algn="ctr">
              <a:lnSpc>
                <a:spcPct val="13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所以电压为：</a:t>
            </a:r>
            <a:r>
              <a:rPr lang="en-US" altLang="zh-CN" i="1">
                <a:latin typeface="Times New Roman" panose="02020603050405020304" pitchFamily="18" charset="0"/>
                <a:ea typeface="宋体" panose="02010600030101010101" pitchFamily="2" charset="-122"/>
                <a:sym typeface="Symbol" panose="05050102010706020507" pitchFamily="18" charset="2"/>
              </a:rPr>
              <a:t>U=99+40</a:t>
            </a:r>
            <a:r>
              <a:rPr lang="en-US" altLang="zh-CN" i="1">
                <a:latin typeface="Times New Roman" panose="02020603050405020304" pitchFamily="18" charset="0"/>
                <a:ea typeface="宋体" panose="02010600030101010101" pitchFamily="2" charset="-122"/>
              </a:rPr>
              <a:t>0.55=121V</a:t>
            </a:r>
            <a:endParaRPr lang="en-US" altLang="zh-CN" i="1">
              <a:latin typeface="Times New Roman" panose="02020603050405020304" pitchFamily="18"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文本框 57345"/>
          <p:cNvSpPr txBox="1"/>
          <p:nvPr/>
        </p:nvSpPr>
        <p:spPr>
          <a:xfrm>
            <a:off x="592138" y="331788"/>
            <a:ext cx="7867650" cy="1552575"/>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4-16</a:t>
            </a:r>
            <a:r>
              <a:rPr lang="zh-CN" altLang="en-US" dirty="0">
                <a:latin typeface="Times New Roman" panose="02020603050405020304" pitchFamily="18" charset="0"/>
                <a:ea typeface="宋体" panose="02010600030101010101" pitchFamily="2" charset="-122"/>
              </a:rPr>
              <a:t>：并励直流机，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=7.5kW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=40.6A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=3000r/min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=0.213Ω</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fN</a:t>
            </a:r>
            <a:r>
              <a:rPr lang="en-US" altLang="zh-CN" dirty="0">
                <a:latin typeface="Times New Roman" panose="02020603050405020304" pitchFamily="18" charset="0"/>
                <a:ea typeface="宋体" panose="02010600030101010101" pitchFamily="2" charset="-122"/>
              </a:rPr>
              <a:t>=0.683A</a:t>
            </a:r>
            <a:r>
              <a:rPr lang="zh-CN" altLang="en-US" dirty="0">
                <a:latin typeface="Times New Roman" panose="02020603050405020304" pitchFamily="18" charset="0"/>
                <a:ea typeface="宋体" panose="02010600030101010101" pitchFamily="2" charset="-122"/>
              </a:rPr>
              <a:t>。不考虑附加损耗，求</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η</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，轴上输出转矩</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Cuf</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25602" name="对象 57350"/>
          <p:cNvGraphicFramePr/>
          <p:nvPr/>
        </p:nvGraphicFramePr>
        <p:xfrm>
          <a:off x="1908175" y="1844675"/>
          <a:ext cx="5532438" cy="830263"/>
        </p:xfrm>
        <a:graphic>
          <a:graphicData uri="http://schemas.openxmlformats.org/presentationml/2006/ole">
            <mc:AlternateContent xmlns:mc="http://schemas.openxmlformats.org/markup-compatibility/2006">
              <mc:Choice xmlns:v="urn:schemas-microsoft-com:vml" Requires="v">
                <p:oleObj spid="_x0000_s3111" name="" r:id="rId1" imgW="2399030" imgH="393700" progId="Equation.DSMT4">
                  <p:embed/>
                </p:oleObj>
              </mc:Choice>
              <mc:Fallback>
                <p:oleObj name="" r:id="rId1" imgW="2399030" imgH="393700" progId="Equation.DSMT4">
                  <p:embed/>
                  <p:pic>
                    <p:nvPicPr>
                      <p:cNvPr id="0" name="图片 3110"/>
                      <p:cNvPicPr/>
                      <p:nvPr/>
                    </p:nvPicPr>
                    <p:blipFill>
                      <a:blip r:embed="rId2"/>
                      <a:stretch>
                        <a:fillRect/>
                      </a:stretch>
                    </p:blipFill>
                    <p:spPr>
                      <a:xfrm>
                        <a:off x="1908175" y="1844675"/>
                        <a:ext cx="5532438" cy="830263"/>
                      </a:xfrm>
                      <a:prstGeom prst="rect">
                        <a:avLst/>
                      </a:prstGeom>
                      <a:noFill/>
                      <a:ln w="38100">
                        <a:noFill/>
                        <a:miter/>
                      </a:ln>
                    </p:spPr>
                  </p:pic>
                </p:oleObj>
              </mc:Fallback>
            </mc:AlternateContent>
          </a:graphicData>
        </a:graphic>
      </p:graphicFrame>
      <p:graphicFrame>
        <p:nvGraphicFramePr>
          <p:cNvPr id="25603" name="对象 57349"/>
          <p:cNvGraphicFramePr/>
          <p:nvPr/>
        </p:nvGraphicFramePr>
        <p:xfrm>
          <a:off x="2411413" y="2492375"/>
          <a:ext cx="3240087" cy="1266825"/>
        </p:xfrm>
        <a:graphic>
          <a:graphicData uri="http://schemas.openxmlformats.org/presentationml/2006/ole">
            <mc:AlternateContent xmlns:mc="http://schemas.openxmlformats.org/markup-compatibility/2006">
              <mc:Choice xmlns:v="urn:schemas-microsoft-com:vml" Requires="v">
                <p:oleObj spid="_x0000_s3112" name="" r:id="rId3" imgW="1637665" imgH="635000" progId="Equation.DSMT4">
                  <p:embed/>
                </p:oleObj>
              </mc:Choice>
              <mc:Fallback>
                <p:oleObj name="" r:id="rId3" imgW="1637665" imgH="635000" progId="Equation.DSMT4">
                  <p:embed/>
                  <p:pic>
                    <p:nvPicPr>
                      <p:cNvPr id="0" name="图片 3111"/>
                      <p:cNvPicPr/>
                      <p:nvPr/>
                    </p:nvPicPr>
                    <p:blipFill>
                      <a:blip r:embed="rId4"/>
                      <a:stretch>
                        <a:fillRect/>
                      </a:stretch>
                    </p:blipFill>
                    <p:spPr>
                      <a:xfrm>
                        <a:off x="2411413" y="2492375"/>
                        <a:ext cx="3240087" cy="1266825"/>
                      </a:xfrm>
                      <a:prstGeom prst="rect">
                        <a:avLst/>
                      </a:prstGeom>
                      <a:noFill/>
                      <a:ln w="38100">
                        <a:noFill/>
                        <a:miter/>
                      </a:ln>
                    </p:spPr>
                  </p:pic>
                </p:oleObj>
              </mc:Fallback>
            </mc:AlternateContent>
          </a:graphicData>
        </a:graphic>
      </p:graphicFrame>
      <p:graphicFrame>
        <p:nvGraphicFramePr>
          <p:cNvPr id="25604" name="对象 57348"/>
          <p:cNvGraphicFramePr/>
          <p:nvPr/>
        </p:nvGraphicFramePr>
        <p:xfrm>
          <a:off x="2422525" y="3860800"/>
          <a:ext cx="2941638" cy="488950"/>
        </p:xfrm>
        <a:graphic>
          <a:graphicData uri="http://schemas.openxmlformats.org/presentationml/2006/ole">
            <mc:AlternateContent xmlns:mc="http://schemas.openxmlformats.org/markup-compatibility/2006">
              <mc:Choice xmlns:v="urn:schemas-microsoft-com:vml" Requires="v">
                <p:oleObj spid="_x0000_s3104" name="" r:id="rId5" imgW="1434465" imgH="241300" progId="Equation.DSMT4">
                  <p:embed/>
                </p:oleObj>
              </mc:Choice>
              <mc:Fallback>
                <p:oleObj name="" r:id="rId5" imgW="1434465" imgH="241300" progId="Equation.DSMT4">
                  <p:embed/>
                  <p:pic>
                    <p:nvPicPr>
                      <p:cNvPr id="0" name="图片 3103"/>
                      <p:cNvPicPr/>
                      <p:nvPr/>
                    </p:nvPicPr>
                    <p:blipFill>
                      <a:blip r:embed="rId6"/>
                      <a:stretch>
                        <a:fillRect/>
                      </a:stretch>
                    </p:blipFill>
                    <p:spPr>
                      <a:xfrm>
                        <a:off x="2422525" y="3860800"/>
                        <a:ext cx="2941638" cy="488950"/>
                      </a:xfrm>
                      <a:prstGeom prst="rect">
                        <a:avLst/>
                      </a:prstGeom>
                      <a:noFill/>
                      <a:ln w="38100">
                        <a:noFill/>
                        <a:miter/>
                      </a:ln>
                    </p:spPr>
                  </p:pic>
                </p:oleObj>
              </mc:Fallback>
            </mc:AlternateContent>
          </a:graphicData>
        </a:graphic>
      </p:graphicFrame>
      <p:graphicFrame>
        <p:nvGraphicFramePr>
          <p:cNvPr id="25605" name="对象 57347"/>
          <p:cNvGraphicFramePr/>
          <p:nvPr/>
        </p:nvGraphicFramePr>
        <p:xfrm>
          <a:off x="1403350" y="4437063"/>
          <a:ext cx="6337300" cy="427037"/>
        </p:xfrm>
        <a:graphic>
          <a:graphicData uri="http://schemas.openxmlformats.org/presentationml/2006/ole">
            <mc:AlternateContent xmlns:mc="http://schemas.openxmlformats.org/markup-compatibility/2006">
              <mc:Choice xmlns:v="urn:schemas-microsoft-com:vml" Requires="v">
                <p:oleObj spid="_x0000_s3107" name="" r:id="rId7" imgW="3349625" imgH="203200" progId="Equation.DSMT4">
                  <p:embed/>
                </p:oleObj>
              </mc:Choice>
              <mc:Fallback>
                <p:oleObj name="" r:id="rId7" imgW="3349625" imgH="203200" progId="Equation.DSMT4">
                  <p:embed/>
                  <p:pic>
                    <p:nvPicPr>
                      <p:cNvPr id="0" name="图片 3106"/>
                      <p:cNvPicPr/>
                      <p:nvPr/>
                    </p:nvPicPr>
                    <p:blipFill>
                      <a:blip r:embed="rId8"/>
                      <a:stretch>
                        <a:fillRect/>
                      </a:stretch>
                    </p:blipFill>
                    <p:spPr>
                      <a:xfrm>
                        <a:off x="1403350" y="4437063"/>
                        <a:ext cx="6337300" cy="427037"/>
                      </a:xfrm>
                      <a:prstGeom prst="rect">
                        <a:avLst/>
                      </a:prstGeom>
                      <a:noFill/>
                      <a:ln w="38100">
                        <a:noFill/>
                        <a:miter/>
                      </a:ln>
                    </p:spPr>
                  </p:pic>
                </p:oleObj>
              </mc:Fallback>
            </mc:AlternateContent>
          </a:graphicData>
        </a:graphic>
      </p:graphicFrame>
      <p:graphicFrame>
        <p:nvGraphicFramePr>
          <p:cNvPr id="25606" name="对象 57346"/>
          <p:cNvGraphicFramePr/>
          <p:nvPr/>
        </p:nvGraphicFramePr>
        <p:xfrm>
          <a:off x="2484438" y="5013325"/>
          <a:ext cx="3024187" cy="1196975"/>
        </p:xfrm>
        <a:graphic>
          <a:graphicData uri="http://schemas.openxmlformats.org/presentationml/2006/ole">
            <mc:AlternateContent xmlns:mc="http://schemas.openxmlformats.org/markup-compatibility/2006">
              <mc:Choice xmlns:v="urn:schemas-microsoft-com:vml" Requires="v">
                <p:oleObj spid="_x0000_s3105" name="" r:id="rId9" imgW="1536700" imgH="609600" progId="Equation.DSMT4">
                  <p:embed/>
                </p:oleObj>
              </mc:Choice>
              <mc:Fallback>
                <p:oleObj name="" r:id="rId9" imgW="1536700" imgH="609600" progId="Equation.DSMT4">
                  <p:embed/>
                  <p:pic>
                    <p:nvPicPr>
                      <p:cNvPr id="0" name="图片 3104"/>
                      <p:cNvPicPr/>
                      <p:nvPr/>
                    </p:nvPicPr>
                    <p:blipFill>
                      <a:blip r:embed="rId10"/>
                      <a:stretch>
                        <a:fillRect/>
                      </a:stretch>
                    </p:blipFill>
                    <p:spPr>
                      <a:xfrm>
                        <a:off x="2484438" y="5013325"/>
                        <a:ext cx="3024187" cy="1196975"/>
                      </a:xfrm>
                      <a:prstGeom prst="rect">
                        <a:avLst/>
                      </a:prstGeom>
                      <a:noFill/>
                      <a:ln w="38100">
                        <a:noFill/>
                        <a:miter/>
                      </a:ln>
                    </p:spPr>
                  </p:pic>
                </p:oleObj>
              </mc:Fallback>
            </mc:AlternateContent>
          </a:graphicData>
        </a:graphic>
      </p:graphicFrame>
      <p:sp>
        <p:nvSpPr>
          <p:cNvPr id="25607" name="矩形 57351"/>
          <p:cNvSpPr/>
          <p:nvPr/>
        </p:nvSpPr>
        <p:spPr>
          <a:xfrm>
            <a:off x="1187450" y="1989138"/>
            <a:ext cx="565150"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
        <p:nvSpPr>
          <p:cNvPr id="25608" name="矩形 57352"/>
          <p:cNvSpPr/>
          <p:nvPr/>
        </p:nvSpPr>
        <p:spPr>
          <a:xfrm>
            <a:off x="2943225" y="373062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25609" name="矩形 57353"/>
          <p:cNvSpPr/>
          <p:nvPr/>
        </p:nvSpPr>
        <p:spPr>
          <a:xfrm>
            <a:off x="2943225" y="436880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25610" name="矩形 57354"/>
          <p:cNvSpPr/>
          <p:nvPr/>
        </p:nvSpPr>
        <p:spPr>
          <a:xfrm>
            <a:off x="2771775" y="465296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25611" name="矩形 57355"/>
          <p:cNvSpPr/>
          <p:nvPr/>
        </p:nvSpPr>
        <p:spPr>
          <a:xfrm>
            <a:off x="2943225" y="480695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文本框 56321"/>
          <p:cNvSpPr txBox="1"/>
          <p:nvPr/>
        </p:nvSpPr>
        <p:spPr>
          <a:xfrm>
            <a:off x="468313" y="404813"/>
            <a:ext cx="8064500" cy="2282825"/>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4-17</a:t>
            </a:r>
            <a:r>
              <a:rPr lang="zh-CN" altLang="en-US" dirty="0">
                <a:latin typeface="Times New Roman" panose="02020603050405020304" pitchFamily="18" charset="0"/>
                <a:ea typeface="宋体" panose="02010600030101010101" pitchFamily="2" charset="-122"/>
              </a:rPr>
              <a:t>：并励直流机，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=5.5kW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=110V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=58A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=1470r/min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=0.15Ω</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f</a:t>
            </a:r>
            <a:r>
              <a:rPr lang="en-US" altLang="zh-CN" dirty="0">
                <a:latin typeface="Times New Roman" panose="02020603050405020304" pitchFamily="18" charset="0"/>
                <a:ea typeface="宋体" panose="02010600030101010101" pitchFamily="2" charset="-122"/>
              </a:rPr>
              <a:t>=138Ω</a:t>
            </a:r>
            <a:r>
              <a:rPr lang="zh-CN" altLang="en-US" dirty="0">
                <a:latin typeface="Times New Roman" panose="02020603050405020304" pitchFamily="18" charset="0"/>
                <a:ea typeface="宋体" panose="02010600030101010101" pitchFamily="2" charset="-122"/>
              </a:rPr>
              <a:t>。额定负载时，电枢回路突然串入</a:t>
            </a:r>
            <a:r>
              <a:rPr lang="en-US" altLang="zh-CN" dirty="0">
                <a:latin typeface="Times New Roman" panose="02020603050405020304" pitchFamily="18" charset="0"/>
                <a:ea typeface="宋体" panose="02010600030101010101" pitchFamily="2" charset="-122"/>
              </a:rPr>
              <a:t>0.5Ω</a:t>
            </a:r>
            <a:r>
              <a:rPr lang="zh-CN" altLang="en-US" dirty="0">
                <a:latin typeface="Times New Roman" panose="02020603050405020304" pitchFamily="18" charset="0"/>
                <a:ea typeface="宋体" panose="02010600030101010101" pitchFamily="2" charset="-122"/>
              </a:rPr>
              <a:t>，不计电枢回路的电感，忽略电枢反应，计算该瞬间：</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电枢反应势</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em</a:t>
            </a:r>
            <a:endParaRPr lang="en-US" altLang="zh-CN" baseline="-2500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负载转矩仍为额定值时的稳定转速</a:t>
            </a:r>
            <a:r>
              <a:rPr lang="en-US" altLang="zh-CN" i="1">
                <a:latin typeface="Times New Roman" panose="02020603050405020304" pitchFamily="18" charset="0"/>
                <a:ea typeface="宋体" panose="02010600030101010101" pitchFamily="2" charset="-122"/>
              </a:rPr>
              <a:t>n</a:t>
            </a:r>
            <a:endParaRPr lang="en-US" altLang="zh-CN" i="1">
              <a:latin typeface="Times New Roman" panose="02020603050405020304" pitchFamily="18" charset="0"/>
              <a:ea typeface="宋体" panose="02010600030101010101" pitchFamily="2" charset="-122"/>
            </a:endParaRPr>
          </a:p>
        </p:txBody>
      </p:sp>
      <p:graphicFrame>
        <p:nvGraphicFramePr>
          <p:cNvPr id="26626" name="对象 56323"/>
          <p:cNvGraphicFramePr/>
          <p:nvPr/>
        </p:nvGraphicFramePr>
        <p:xfrm>
          <a:off x="1258888" y="4005263"/>
          <a:ext cx="5688012" cy="739775"/>
        </p:xfrm>
        <a:graphic>
          <a:graphicData uri="http://schemas.openxmlformats.org/presentationml/2006/ole">
            <mc:AlternateContent xmlns:mc="http://schemas.openxmlformats.org/markup-compatibility/2006">
              <mc:Choice xmlns:v="urn:schemas-microsoft-com:vml" Requires="v">
                <p:oleObj spid="_x0000_s3110" name="" r:id="rId1" imgW="2997200" imgH="393700" progId="Equation.DSMT4">
                  <p:embed/>
                </p:oleObj>
              </mc:Choice>
              <mc:Fallback>
                <p:oleObj name="" r:id="rId1" imgW="2997200" imgH="393700" progId="Equation.DSMT4">
                  <p:embed/>
                  <p:pic>
                    <p:nvPicPr>
                      <p:cNvPr id="0" name="图片 3109"/>
                      <p:cNvPicPr/>
                      <p:nvPr/>
                    </p:nvPicPr>
                    <p:blipFill>
                      <a:blip r:embed="rId2"/>
                      <a:stretch>
                        <a:fillRect/>
                      </a:stretch>
                    </p:blipFill>
                    <p:spPr>
                      <a:xfrm>
                        <a:off x="1258888" y="4005263"/>
                        <a:ext cx="5688012" cy="739775"/>
                      </a:xfrm>
                      <a:prstGeom prst="rect">
                        <a:avLst/>
                      </a:prstGeom>
                      <a:noFill/>
                      <a:ln w="38100">
                        <a:noFill/>
                        <a:miter/>
                      </a:ln>
                    </p:spPr>
                  </p:pic>
                </p:oleObj>
              </mc:Fallback>
            </mc:AlternateContent>
          </a:graphicData>
        </a:graphic>
      </p:graphicFrame>
      <p:sp>
        <p:nvSpPr>
          <p:cNvPr id="26627" name="矩形 56324"/>
          <p:cNvSpPr/>
          <p:nvPr/>
        </p:nvSpPr>
        <p:spPr>
          <a:xfrm>
            <a:off x="539750" y="2708275"/>
            <a:ext cx="7812088" cy="1187450"/>
          </a:xfrm>
          <a:prstGeom prst="rect">
            <a:avLst/>
          </a:prstGeom>
          <a:noFill/>
          <a:ln w="9525">
            <a:noFill/>
          </a:ln>
        </p:spPr>
        <p:txBody>
          <a:bodyPr anchor="ctr" anchorCtr="0">
            <a:spAutoFit/>
          </a:bodyPr>
          <a:p>
            <a:pPr>
              <a:lnSpc>
                <a:spcPct val="150000"/>
              </a:lnSpc>
            </a:pPr>
            <a:r>
              <a:rPr lang="zh-CN" altLang="en-US" dirty="0">
                <a:latin typeface="Times New Roman" panose="02020603050405020304" pitchFamily="18" charset="0"/>
                <a:ea typeface="宋体" panose="02010600030101010101" pitchFamily="2" charset="-122"/>
              </a:rPr>
              <a:t>解：并励电动机额定时：</a:t>
            </a:r>
            <a:r>
              <a:rPr lang="en-US" altLang="zh-CN" i="1">
                <a:latin typeface="Times New Roman" panose="02020603050405020304" pitchFamily="18" charset="0"/>
                <a:ea typeface="宋体" panose="02010600030101010101" pitchFamily="2" charset="-122"/>
              </a:rPr>
              <a:t>I</a:t>
            </a:r>
            <a:r>
              <a:rPr lang="en-US" altLang="zh-CN" i="1" baseline="-30000">
                <a:latin typeface="Times New Roman" panose="02020603050405020304" pitchFamily="18" charset="0"/>
                <a:ea typeface="宋体" panose="02010600030101010101" pitchFamily="2" charset="-122"/>
              </a:rPr>
              <a:t>aN</a:t>
            </a:r>
            <a:r>
              <a:rPr lang="en-US" altLang="zh-CN" i="1">
                <a:latin typeface="Times New Roman" panose="02020603050405020304" pitchFamily="18" charset="0"/>
                <a:ea typeface="宋体" panose="02010600030101010101" pitchFamily="2" charset="-122"/>
              </a:rPr>
              <a:t>=58 -110/138=57.2A;</a:t>
            </a:r>
            <a:endParaRPr lang="en-US" altLang="zh-CN">
              <a:latin typeface="Times New Roman" panose="02020603050405020304" pitchFamily="18" charset="0"/>
              <a:ea typeface="宋体" panose="02010600030101010101" pitchFamily="2" charset="-122"/>
            </a:endParaRPr>
          </a:p>
          <a:p>
            <a:pPr eaLnBrk="0" hangingPunct="0">
              <a:lnSpc>
                <a:spcPct val="150000"/>
              </a:lnSpc>
            </a:pPr>
            <a:r>
              <a:rPr lang="en-US" altLang="zh-CN" i="1">
                <a:latin typeface="Times New Roman" panose="02020603050405020304" pitchFamily="18" charset="0"/>
                <a:ea typeface="宋体" panose="02010600030101010101" pitchFamily="2" charset="-122"/>
              </a:rPr>
              <a:t>E</a:t>
            </a:r>
            <a:r>
              <a:rPr lang="en-US" altLang="zh-CN" i="1" baseline="-30000">
                <a:latin typeface="Times New Roman" panose="02020603050405020304" pitchFamily="18" charset="0"/>
                <a:ea typeface="宋体" panose="02010600030101010101" pitchFamily="2" charset="-122"/>
              </a:rPr>
              <a:t>aN</a:t>
            </a:r>
            <a:r>
              <a:rPr lang="en-US" altLang="zh-CN" i="1">
                <a:latin typeface="Times New Roman" panose="02020603050405020304" pitchFamily="18" charset="0"/>
                <a:ea typeface="宋体" panose="02010600030101010101" pitchFamily="2" charset="-122"/>
              </a:rPr>
              <a:t>=110 – 57.2</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0.15=101.4V;</a:t>
            </a:r>
            <a:endParaRPr lang="en-US" altLang="zh-CN" i="1">
              <a:latin typeface="Times New Roman" panose="02020603050405020304" pitchFamily="18" charset="0"/>
              <a:ea typeface="宋体" panose="02010600030101010101" pitchFamily="2" charset="-122"/>
              <a:sym typeface="Symbol" panose="05050102010706020507" pitchFamily="18" charset="2"/>
            </a:endParaRPr>
          </a:p>
        </p:txBody>
      </p:sp>
      <p:sp>
        <p:nvSpPr>
          <p:cNvPr id="26628" name="矩形 56325"/>
          <p:cNvSpPr/>
          <p:nvPr/>
        </p:nvSpPr>
        <p:spPr>
          <a:xfrm>
            <a:off x="539750" y="4797425"/>
            <a:ext cx="8280400" cy="1187450"/>
          </a:xfrm>
          <a:prstGeom prst="rect">
            <a:avLst/>
          </a:prstGeom>
          <a:noFill/>
          <a:ln w="9525">
            <a:noFill/>
          </a:ln>
        </p:spPr>
        <p:txBody>
          <a:bodyPr anchor="ctr" anchorCtr="0">
            <a:spAutoFit/>
          </a:bodyPr>
          <a:p>
            <a:pPr defTabSz="914400">
              <a:lnSpc>
                <a:spcPct val="150000"/>
              </a:lnSpc>
              <a:buAutoNum type="arabicParenBoth"/>
              <a:tabLst>
                <a:tab pos="373380" algn="l"/>
              </a:tabLst>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串电阻瞬间转速未变，电势未变为</a:t>
            </a:r>
            <a:r>
              <a:rPr lang="en-US" altLang="zh-CN" dirty="0">
                <a:latin typeface="Times New Roman" panose="02020603050405020304" pitchFamily="18" charset="0"/>
                <a:ea typeface="宋体" panose="02010600030101010101" pitchFamily="2" charset="-122"/>
              </a:rPr>
              <a:t>101.4V</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defTabSz="914400">
              <a:lnSpc>
                <a:spcPct val="150000"/>
              </a:lnSpc>
              <a:buNone/>
              <a:tabLst>
                <a:tab pos="373380" algn="l"/>
              </a:tabLst>
            </a:pPr>
            <a:r>
              <a:rPr lang="zh-CN" altLang="en-US" dirty="0">
                <a:latin typeface="Times New Roman" panose="02020603050405020304" pitchFamily="18" charset="0"/>
                <a:ea typeface="宋体" panose="02010600030101010101" pitchFamily="2" charset="-122"/>
              </a:rPr>
              <a:t>     此时电压方程为：</a:t>
            </a:r>
            <a:r>
              <a:rPr lang="en-US" altLang="zh-CN" i="1">
                <a:latin typeface="Times New Roman" panose="02020603050405020304" pitchFamily="18" charset="0"/>
                <a:ea typeface="宋体" panose="02010600030101010101" pitchFamily="2" charset="-122"/>
              </a:rPr>
              <a:t>110=101.4+I</a:t>
            </a:r>
            <a:r>
              <a:rPr lang="en-US" altLang="zh-CN" i="1" baseline="-30000">
                <a:latin typeface="Times New Roman" panose="02020603050405020304" pitchFamily="18" charset="0"/>
                <a:ea typeface="宋体" panose="02010600030101010101" pitchFamily="2" charset="-122"/>
              </a:rPr>
              <a:t>a</a:t>
            </a:r>
            <a:r>
              <a:rPr lang="en-US" altLang="zh-CN" i="1">
                <a:latin typeface="Times New Roman" panose="02020603050405020304" pitchFamily="18" charset="0"/>
                <a:ea typeface="宋体" panose="02010600030101010101" pitchFamily="2" charset="-122"/>
              </a:rPr>
              <a:t>(0.15+0.5)</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a:t>
            </a:r>
            <a:r>
              <a:rPr lang="en-US" altLang="zh-CN" baseline="-30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=13.23A;</a:t>
            </a:r>
            <a:endParaRPr lang="en-US" altLang="zh-CN">
              <a:latin typeface="Times New Roman" panose="02020603050405020304" pitchFamily="18" charset="0"/>
              <a:ea typeface="宋体" panose="02010600030101010101" pitchFamily="2" charset="-122"/>
            </a:endParaRPr>
          </a:p>
        </p:txBody>
      </p:sp>
      <p:sp>
        <p:nvSpPr>
          <p:cNvPr id="26629" name="矩形 56326"/>
          <p:cNvSpPr/>
          <p:nvPr/>
        </p:nvSpPr>
        <p:spPr>
          <a:xfrm>
            <a:off x="2782888" y="6775450"/>
            <a:ext cx="9144000" cy="0"/>
          </a:xfrm>
          <a:prstGeom prst="rect">
            <a:avLst/>
          </a:prstGeom>
          <a:noFill/>
          <a:ln w="9525">
            <a:noFill/>
          </a:ln>
        </p:spPr>
        <p:txBody>
          <a:bodyPr wrap="none" anchor="ctr" anchorCtr="0">
            <a:spAutoFit/>
          </a:bodyPr>
          <a:p>
            <a:endParaRPr lang="zh-CN" b="0" dirty="0">
              <a:latin typeface="Times New Roman" panose="02020603050405020304" pitchFamily="18" charset="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矩形 72705"/>
          <p:cNvSpPr/>
          <p:nvPr/>
        </p:nvSpPr>
        <p:spPr>
          <a:xfrm>
            <a:off x="755650" y="1989138"/>
            <a:ext cx="7561263" cy="2282825"/>
          </a:xfrm>
          <a:prstGeom prst="rect">
            <a:avLst/>
          </a:prstGeom>
          <a:noFill/>
          <a:ln w="9525">
            <a:noFill/>
          </a:ln>
        </p:spPr>
        <p:txBody>
          <a:bodyPr anchor="ctr" anchorCtr="0">
            <a:spAutoFit/>
          </a:bodyPr>
          <a:p>
            <a:pPr algn="ctr" defTabSz="914400">
              <a:lnSpc>
                <a:spcPct val="150000"/>
              </a:lnSpc>
              <a:tabLst>
                <a:tab pos="259080" algn="l"/>
              </a:tabLst>
            </a:pP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串电阻稳定后，负载额定，所以电枢电流额定；</a:t>
            </a:r>
            <a:endParaRPr lang="zh-CN" altLang="en-US" dirty="0">
              <a:latin typeface="Times New Roman" panose="02020603050405020304" pitchFamily="18" charset="0"/>
              <a:ea typeface="宋体" panose="02010600030101010101" pitchFamily="2" charset="-122"/>
            </a:endParaRPr>
          </a:p>
          <a:p>
            <a:pPr algn="ctr" defTabSz="914400">
              <a:lnSpc>
                <a:spcPct val="150000"/>
              </a:lnSpc>
              <a:tabLst>
                <a:tab pos="259080" algn="l"/>
              </a:tabLst>
            </a:pPr>
            <a:r>
              <a:rPr lang="zh-CN" altLang="en-US" dirty="0">
                <a:latin typeface="Times New Roman" panose="02020603050405020304" pitchFamily="18" charset="0"/>
                <a:ea typeface="宋体" panose="02010600030101010101" pitchFamily="2" charset="-122"/>
              </a:rPr>
              <a:t>此时电压方程为：</a:t>
            </a:r>
            <a:r>
              <a:rPr lang="en-US" altLang="zh-CN" i="1">
                <a:latin typeface="Times New Roman" panose="02020603050405020304" pitchFamily="18" charset="0"/>
                <a:ea typeface="宋体" panose="02010600030101010101" pitchFamily="2" charset="-122"/>
              </a:rPr>
              <a:t>110= Ea +57.2(0.15+0.5)</a:t>
            </a:r>
            <a:endParaRPr lang="en-US" altLang="zh-CN" i="1">
              <a:latin typeface="Times New Roman" panose="02020603050405020304" pitchFamily="18" charset="0"/>
              <a:ea typeface="宋体" panose="02010600030101010101" pitchFamily="2" charset="-122"/>
            </a:endParaRPr>
          </a:p>
          <a:p>
            <a:pPr algn="ctr" defTabSz="914400">
              <a:lnSpc>
                <a:spcPct val="150000"/>
              </a:lnSpc>
              <a:tabLst>
                <a:tab pos="259080" algn="l"/>
              </a:tabLst>
            </a:pPr>
            <a:r>
              <a:rPr lang="en-US" altLang="zh-CN" i="1">
                <a:latin typeface="Times New Roman" panose="02020603050405020304" pitchFamily="18" charset="0"/>
                <a:ea typeface="宋体" panose="02010600030101010101" pitchFamily="2" charset="-122"/>
              </a:rPr>
              <a:t>Ea=72.82V</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algn="ctr" defTabSz="914400">
              <a:lnSpc>
                <a:spcPct val="150000"/>
              </a:lnSpc>
              <a:tabLst>
                <a:tab pos="259080" algn="l"/>
              </a:tabLst>
            </a:pPr>
            <a:r>
              <a:rPr lang="zh-CN" altLang="en-US" dirty="0">
                <a:latin typeface="Times New Roman" panose="02020603050405020304" pitchFamily="18" charset="0"/>
                <a:ea typeface="宋体" panose="02010600030101010101" pitchFamily="2" charset="-122"/>
              </a:rPr>
              <a:t>串电阻稳定后转速变为：</a:t>
            </a:r>
            <a:r>
              <a:rPr lang="en-US" altLang="zh-CN" i="1">
                <a:latin typeface="Times New Roman" panose="02020603050405020304" pitchFamily="18" charset="0"/>
                <a:ea typeface="宋体" panose="02010600030101010101" pitchFamily="2" charset="-122"/>
              </a:rPr>
              <a:t>n=1470</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72.82/101.4=1056rpm</a:t>
            </a:r>
            <a:endParaRPr lang="en-US" altLang="zh-CN" i="1">
              <a:latin typeface="Times New Roman" panose="02020603050405020304" pitchFamily="18" charset="0"/>
              <a:ea typeface="宋体" panose="02010600030101010101" pitchFamily="2" charset="-122"/>
            </a:endParaRPr>
          </a:p>
        </p:txBody>
      </p:sp>
      <p:graphicFrame>
        <p:nvGraphicFramePr>
          <p:cNvPr id="27650" name="对象 72706"/>
          <p:cNvGraphicFramePr/>
          <p:nvPr/>
        </p:nvGraphicFramePr>
        <p:xfrm>
          <a:off x="1547813" y="981075"/>
          <a:ext cx="5400675" cy="793750"/>
        </p:xfrm>
        <a:graphic>
          <a:graphicData uri="http://schemas.openxmlformats.org/presentationml/2006/ole">
            <mc:AlternateContent xmlns:mc="http://schemas.openxmlformats.org/markup-compatibility/2006">
              <mc:Choice xmlns:v="urn:schemas-microsoft-com:vml" Requires="v">
                <p:oleObj spid="_x0000_s3115" name="" r:id="rId1" imgW="2654300" imgH="393700" progId="Equation.DSMT4">
                  <p:embed/>
                </p:oleObj>
              </mc:Choice>
              <mc:Fallback>
                <p:oleObj name="" r:id="rId1" imgW="2654300" imgH="393700" progId="Equation.DSMT4">
                  <p:embed/>
                  <p:pic>
                    <p:nvPicPr>
                      <p:cNvPr id="0" name="图片 3114"/>
                      <p:cNvPicPr/>
                      <p:nvPr/>
                    </p:nvPicPr>
                    <p:blipFill>
                      <a:blip r:embed="rId2"/>
                      <a:stretch>
                        <a:fillRect/>
                      </a:stretch>
                    </p:blipFill>
                    <p:spPr>
                      <a:xfrm>
                        <a:off x="1547813" y="981075"/>
                        <a:ext cx="5400675" cy="793750"/>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矩形 71681"/>
          <p:cNvSpPr/>
          <p:nvPr/>
        </p:nvSpPr>
        <p:spPr>
          <a:xfrm>
            <a:off x="179388" y="476250"/>
            <a:ext cx="8783637" cy="82232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4-18</a:t>
            </a:r>
            <a:r>
              <a:rPr lang="zh-CN" altLang="en-US" dirty="0">
                <a:latin typeface="Times New Roman" panose="02020603050405020304" pitchFamily="18" charset="0"/>
                <a:ea typeface="宋体" panose="02010600030101010101" pitchFamily="2" charset="-122"/>
              </a:rPr>
              <a:t>：若题</a:t>
            </a:r>
            <a:r>
              <a:rPr lang="en-US" altLang="zh-CN" dirty="0">
                <a:latin typeface="Times New Roman" panose="02020603050405020304" pitchFamily="18" charset="0"/>
                <a:ea typeface="宋体" panose="02010600030101010101" pitchFamily="2" charset="-122"/>
              </a:rPr>
              <a:t>4-17 </a:t>
            </a:r>
            <a:r>
              <a:rPr lang="zh-CN" altLang="en-US" dirty="0">
                <a:latin typeface="Times New Roman" panose="02020603050405020304" pitchFamily="18" charset="0"/>
                <a:ea typeface="宋体" panose="02010600030101010101" pitchFamily="2" charset="-122"/>
              </a:rPr>
              <a:t>中磁通突然减少</a:t>
            </a:r>
            <a:r>
              <a:rPr lang="en-US" altLang="zh-CN" dirty="0">
                <a:latin typeface="Times New Roman" panose="02020603050405020304" pitchFamily="18" charset="0"/>
                <a:ea typeface="宋体" panose="02010600030101010101" pitchFamily="2" charset="-122"/>
              </a:rPr>
              <a:t>15%</a:t>
            </a:r>
            <a:r>
              <a:rPr lang="zh-CN" altLang="en-US" dirty="0">
                <a:latin typeface="Times New Roman" panose="02020603050405020304" pitchFamily="18" charset="0"/>
                <a:ea typeface="宋体" panose="02010600030101010101" pitchFamily="2" charset="-122"/>
              </a:rPr>
              <a:t>，或电源电压下降到</a:t>
            </a:r>
            <a:r>
              <a:rPr lang="en-US" altLang="zh-CN" dirty="0">
                <a:latin typeface="Times New Roman" panose="02020603050405020304" pitchFamily="18" charset="0"/>
                <a:ea typeface="宋体" panose="02010600030101010101" pitchFamily="2" charset="-122"/>
              </a:rPr>
              <a:t>80V</a:t>
            </a:r>
            <a:r>
              <a:rPr lang="zh-CN" altLang="en-US" dirty="0">
                <a:latin typeface="Times New Roman" panose="02020603050405020304" pitchFamily="18" charset="0"/>
                <a:ea typeface="宋体" panose="02010600030101010101" pitchFamily="2" charset="-122"/>
              </a:rPr>
              <a:t>，重新计算上述两个问题。</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设磁路不饱和且恒转矩负载</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aphicFrame>
        <p:nvGraphicFramePr>
          <p:cNvPr id="28674" name="对象 71683"/>
          <p:cNvGraphicFramePr/>
          <p:nvPr/>
        </p:nvGraphicFramePr>
        <p:xfrm>
          <a:off x="1403350" y="3357563"/>
          <a:ext cx="5545138" cy="766762"/>
        </p:xfrm>
        <a:graphic>
          <a:graphicData uri="http://schemas.openxmlformats.org/presentationml/2006/ole">
            <mc:AlternateContent xmlns:mc="http://schemas.openxmlformats.org/markup-compatibility/2006">
              <mc:Choice xmlns:v="urn:schemas-microsoft-com:vml" Requires="v">
                <p:oleObj spid="_x0000_s3114" name="" r:id="rId1" imgW="2818130" imgH="393700" progId="Equation.DSMT4">
                  <p:embed/>
                </p:oleObj>
              </mc:Choice>
              <mc:Fallback>
                <p:oleObj name="" r:id="rId1" imgW="2818130" imgH="393700" progId="Equation.DSMT4">
                  <p:embed/>
                  <p:pic>
                    <p:nvPicPr>
                      <p:cNvPr id="0" name="图片 3113"/>
                      <p:cNvPicPr/>
                      <p:nvPr/>
                    </p:nvPicPr>
                    <p:blipFill>
                      <a:blip r:embed="rId2"/>
                      <a:stretch>
                        <a:fillRect/>
                      </a:stretch>
                    </p:blipFill>
                    <p:spPr>
                      <a:xfrm>
                        <a:off x="1403350" y="3357563"/>
                        <a:ext cx="5545138" cy="766762"/>
                      </a:xfrm>
                      <a:prstGeom prst="rect">
                        <a:avLst/>
                      </a:prstGeom>
                      <a:noFill/>
                      <a:ln w="38100">
                        <a:noFill/>
                        <a:miter/>
                      </a:ln>
                    </p:spPr>
                  </p:pic>
                </p:oleObj>
              </mc:Fallback>
            </mc:AlternateContent>
          </a:graphicData>
        </a:graphic>
      </p:graphicFrame>
      <p:graphicFrame>
        <p:nvGraphicFramePr>
          <p:cNvPr id="28675" name="对象 71682"/>
          <p:cNvGraphicFramePr/>
          <p:nvPr/>
        </p:nvGraphicFramePr>
        <p:xfrm>
          <a:off x="2627313" y="5445125"/>
          <a:ext cx="3600450" cy="869950"/>
        </p:xfrm>
        <a:graphic>
          <a:graphicData uri="http://schemas.openxmlformats.org/presentationml/2006/ole">
            <mc:AlternateContent xmlns:mc="http://schemas.openxmlformats.org/markup-compatibility/2006">
              <mc:Choice xmlns:v="urn:schemas-microsoft-com:vml" Requires="v">
                <p:oleObj spid="_x0000_s3117" name="" r:id="rId3" imgW="1777365" imgH="431800" progId="Equation.DSMT4">
                  <p:embed/>
                </p:oleObj>
              </mc:Choice>
              <mc:Fallback>
                <p:oleObj name="" r:id="rId3" imgW="1777365" imgH="431800" progId="Equation.DSMT4">
                  <p:embed/>
                  <p:pic>
                    <p:nvPicPr>
                      <p:cNvPr id="0" name="图片 3116"/>
                      <p:cNvPicPr/>
                      <p:nvPr/>
                    </p:nvPicPr>
                    <p:blipFill>
                      <a:blip r:embed="rId4"/>
                      <a:stretch>
                        <a:fillRect/>
                      </a:stretch>
                    </p:blipFill>
                    <p:spPr>
                      <a:xfrm>
                        <a:off x="2627313" y="5445125"/>
                        <a:ext cx="3600450" cy="869950"/>
                      </a:xfrm>
                      <a:prstGeom prst="rect">
                        <a:avLst/>
                      </a:prstGeom>
                      <a:noFill/>
                      <a:ln w="38100">
                        <a:noFill/>
                        <a:miter/>
                      </a:ln>
                    </p:spPr>
                  </p:pic>
                </p:oleObj>
              </mc:Fallback>
            </mc:AlternateContent>
          </a:graphicData>
        </a:graphic>
      </p:graphicFrame>
      <p:sp>
        <p:nvSpPr>
          <p:cNvPr id="28676" name="矩形 71684"/>
          <p:cNvSpPr/>
          <p:nvPr/>
        </p:nvSpPr>
        <p:spPr>
          <a:xfrm>
            <a:off x="755650" y="1412875"/>
            <a:ext cx="7056438" cy="1735138"/>
          </a:xfrm>
          <a:prstGeom prst="rect">
            <a:avLst/>
          </a:prstGeom>
          <a:noFill/>
          <a:ln w="9525">
            <a:noFill/>
          </a:ln>
        </p:spPr>
        <p:txBody>
          <a:bodyPr anchor="ctr" anchorCtr="0">
            <a:spAutoFit/>
          </a:bodyPr>
          <a:p>
            <a:pPr>
              <a:lnSpc>
                <a:spcPct val="150000"/>
              </a:lnSpc>
            </a:pPr>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磁通为额定的</a:t>
            </a:r>
            <a:r>
              <a:rPr lang="en-US" altLang="zh-CN" dirty="0">
                <a:latin typeface="Times New Roman" panose="02020603050405020304" pitchFamily="18" charset="0"/>
                <a:ea typeface="宋体" panose="02010600030101010101" pitchFamily="2" charset="-122"/>
              </a:rPr>
              <a:t>0.85</a:t>
            </a:r>
            <a:r>
              <a:rPr lang="zh-CN" altLang="en-US" dirty="0">
                <a:latin typeface="Times New Roman" panose="02020603050405020304" pitchFamily="18" charset="0"/>
                <a:ea typeface="宋体" panose="02010600030101010101" pitchFamily="2" charset="-122"/>
              </a:rPr>
              <a:t>时：</a:t>
            </a:r>
            <a:endParaRPr lang="zh-CN" altLang="en-US" dirty="0">
              <a:latin typeface="Times New Roman" panose="02020603050405020304" pitchFamily="18" charset="0"/>
              <a:ea typeface="宋体" panose="02010600030101010101" pitchFamily="2" charset="-122"/>
            </a:endParaRPr>
          </a:p>
          <a:p>
            <a:pPr eaLnBrk="0" hangingPunct="0">
              <a:lnSpc>
                <a:spcPct val="150000"/>
              </a:lnSpc>
            </a:pP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变化瞬间转速未变，</a:t>
            </a:r>
            <a:r>
              <a:rPr lang="en-US" altLang="zh-CN" i="1">
                <a:latin typeface="Times New Roman" panose="02020603050405020304" pitchFamily="18" charset="0"/>
                <a:ea typeface="宋体" panose="02010600030101010101" pitchFamily="2" charset="-122"/>
              </a:rPr>
              <a:t>E</a:t>
            </a:r>
            <a:r>
              <a:rPr lang="en-US" altLang="zh-CN" i="1" baseline="-30000">
                <a:latin typeface="Times New Roman" panose="02020603050405020304" pitchFamily="18" charset="0"/>
                <a:ea typeface="宋体" panose="02010600030101010101" pitchFamily="2" charset="-122"/>
              </a:rPr>
              <a:t>a</a:t>
            </a:r>
            <a:r>
              <a:rPr lang="en-US" altLang="zh-CN" i="1">
                <a:latin typeface="Times New Roman" panose="02020603050405020304" pitchFamily="18" charset="0"/>
                <a:ea typeface="宋体" panose="02010600030101010101" pitchFamily="2" charset="-122"/>
              </a:rPr>
              <a:t>=0.85</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101.4=86.2V</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5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此时电压方程为：</a:t>
            </a:r>
            <a:r>
              <a:rPr lang="en-US" altLang="zh-CN" i="1">
                <a:latin typeface="Times New Roman" panose="02020603050405020304" pitchFamily="18" charset="0"/>
                <a:ea typeface="宋体" panose="02010600030101010101" pitchFamily="2" charset="-122"/>
                <a:sym typeface="Symbol" panose="05050102010706020507" pitchFamily="18" charset="2"/>
              </a:rPr>
              <a:t>110=86.2+I</a:t>
            </a:r>
            <a:r>
              <a:rPr lang="en-US" altLang="zh-CN" i="1" baseline="-30000">
                <a:latin typeface="Times New Roman" panose="02020603050405020304" pitchFamily="18" charset="0"/>
                <a:ea typeface="宋体" panose="02010600030101010101" pitchFamily="2" charset="-122"/>
                <a:sym typeface="Symbol" panose="05050102010706020507" pitchFamily="18" charset="2"/>
              </a:rPr>
              <a:t>a</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0.15</a:t>
            </a:r>
            <a:r>
              <a:rPr lang="zh-CN" altLang="en-US" i="1" dirty="0">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I</a:t>
            </a:r>
            <a:r>
              <a:rPr lang="en-US" altLang="zh-CN" i="1" baseline="-30000">
                <a:latin typeface="Times New Roman" panose="02020603050405020304" pitchFamily="18" charset="0"/>
                <a:ea typeface="宋体" panose="02010600030101010101" pitchFamily="2" charset="-122"/>
                <a:sym typeface="Symbol" panose="05050102010706020507" pitchFamily="18" charset="2"/>
              </a:rPr>
              <a:t>a</a:t>
            </a:r>
            <a:r>
              <a:rPr lang="en-US" altLang="zh-CN" i="1">
                <a:latin typeface="Times New Roman" panose="02020603050405020304" pitchFamily="18" charset="0"/>
                <a:ea typeface="宋体" panose="02010600030101010101" pitchFamily="2" charset="-122"/>
                <a:sym typeface="Symbol" panose="05050102010706020507" pitchFamily="18" charset="2"/>
              </a:rPr>
              <a:t>=158.7A</a:t>
            </a:r>
            <a:endParaRPr lang="en-US" altLang="zh-CN" sz="1500" b="0" i="1">
              <a:latin typeface="Times New Roman" panose="02020603050405020304" pitchFamily="18" charset="0"/>
              <a:ea typeface="宋体" panose="02010600030101010101" pitchFamily="2" charset="-122"/>
              <a:sym typeface="Symbol" panose="05050102010706020507" pitchFamily="18" charset="2"/>
            </a:endParaRPr>
          </a:p>
        </p:txBody>
      </p:sp>
      <p:sp>
        <p:nvSpPr>
          <p:cNvPr id="28677" name="矩形 71685"/>
          <p:cNvSpPr/>
          <p:nvPr/>
        </p:nvSpPr>
        <p:spPr>
          <a:xfrm>
            <a:off x="900113" y="4149725"/>
            <a:ext cx="6937375" cy="1187450"/>
          </a:xfrm>
          <a:prstGeom prst="rect">
            <a:avLst/>
          </a:prstGeom>
          <a:noFill/>
          <a:ln w="9525">
            <a:noFill/>
          </a:ln>
        </p:spPr>
        <p:txBody>
          <a:bodyPr anchor="ctr" anchorCtr="0">
            <a:spAutoFit/>
          </a:bodyPr>
          <a:p>
            <a:pPr>
              <a:lnSpc>
                <a:spcPct val="150000"/>
              </a:lnSpc>
            </a:pP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稳定后，负载额定不变，</a:t>
            </a:r>
            <a:r>
              <a:rPr lang="en-US" altLang="zh-CN" i="1">
                <a:latin typeface="Times New Roman" panose="02020603050405020304" pitchFamily="18" charset="0"/>
                <a:ea typeface="宋体" panose="02010600030101010101" pitchFamily="2" charset="-122"/>
              </a:rPr>
              <a:t>I</a:t>
            </a:r>
            <a:r>
              <a:rPr lang="en-US" altLang="zh-CN" i="1" baseline="-30000">
                <a:latin typeface="Times New Roman" panose="02020603050405020304" pitchFamily="18" charset="0"/>
                <a:ea typeface="宋体" panose="02010600030101010101" pitchFamily="2" charset="-122"/>
              </a:rPr>
              <a:t>a</a:t>
            </a:r>
            <a:r>
              <a:rPr lang="en-US" altLang="zh-CN" i="1">
                <a:latin typeface="Times New Roman" panose="02020603050405020304" pitchFamily="18" charset="0"/>
                <a:ea typeface="宋体" panose="02010600030101010101" pitchFamily="2" charset="-122"/>
              </a:rPr>
              <a:t>=57.2/0.85=67.3A</a:t>
            </a:r>
            <a:endParaRPr lang="en-US" altLang="zh-CN">
              <a:latin typeface="Times New Roman" panose="02020603050405020304" pitchFamily="18" charset="0"/>
              <a:ea typeface="宋体" panose="02010600030101010101" pitchFamily="2" charset="-122"/>
            </a:endParaRPr>
          </a:p>
          <a:p>
            <a:pPr eaLnBrk="0" hangingPunct="0">
              <a:lnSpc>
                <a:spcPct val="150000"/>
              </a:lnSpc>
            </a:pPr>
            <a:r>
              <a:rPr lang="zh-CN" altLang="en-US" dirty="0">
                <a:latin typeface="Times New Roman" panose="02020603050405020304" pitchFamily="18" charset="0"/>
                <a:ea typeface="宋体" panose="02010600030101010101" pitchFamily="2" charset="-122"/>
              </a:rPr>
              <a:t>此时电压方程为：</a:t>
            </a:r>
            <a:r>
              <a:rPr lang="en-US" altLang="zh-CN">
                <a:latin typeface="Times New Roman" panose="02020603050405020304" pitchFamily="18" charset="0"/>
                <a:ea typeface="宋体" panose="02010600030101010101" pitchFamily="2" charset="-122"/>
              </a:rPr>
              <a:t>110=E</a:t>
            </a:r>
            <a:r>
              <a:rPr lang="en-US" altLang="zh-CN" baseline="-30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 67.3</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0.15</a:t>
            </a:r>
            <a:r>
              <a:rPr lang="zh-CN" altLang="en-US" i="1" dirty="0">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i="1" baseline="-30000">
                <a:latin typeface="Times New Roman" panose="02020603050405020304" pitchFamily="18" charset="0"/>
                <a:ea typeface="宋体" panose="02010600030101010101" pitchFamily="2" charset="-122"/>
                <a:sym typeface="Symbol" panose="05050102010706020507" pitchFamily="18" charset="2"/>
              </a:rPr>
              <a:t>a</a:t>
            </a:r>
            <a:r>
              <a:rPr lang="en-US" altLang="zh-CN" i="1">
                <a:latin typeface="Times New Roman" panose="02020603050405020304" pitchFamily="18" charset="0"/>
                <a:ea typeface="宋体" panose="02010600030101010101" pitchFamily="2" charset="-122"/>
                <a:sym typeface="Symbol" panose="05050102010706020507" pitchFamily="18" charset="2"/>
              </a:rPr>
              <a:t>=99.9A</a:t>
            </a:r>
            <a:endParaRPr lang="en-US" altLang="zh-CN" i="1">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9697" name="对象 70658"/>
          <p:cNvGraphicFramePr/>
          <p:nvPr/>
        </p:nvGraphicFramePr>
        <p:xfrm>
          <a:off x="1116013" y="2852738"/>
          <a:ext cx="5761037" cy="749300"/>
        </p:xfrm>
        <a:graphic>
          <a:graphicData uri="http://schemas.openxmlformats.org/presentationml/2006/ole">
            <mc:AlternateContent xmlns:mc="http://schemas.openxmlformats.org/markup-compatibility/2006">
              <mc:Choice xmlns:v="urn:schemas-microsoft-com:vml" Requires="v">
                <p:oleObj spid="_x0000_s3116" name="" r:id="rId1" imgW="2997200" imgH="393700" progId="Equation.DSMT4">
                  <p:embed/>
                </p:oleObj>
              </mc:Choice>
              <mc:Fallback>
                <p:oleObj name="" r:id="rId1" imgW="2997200" imgH="393700" progId="Equation.DSMT4">
                  <p:embed/>
                  <p:pic>
                    <p:nvPicPr>
                      <p:cNvPr id="0" name="图片 3115"/>
                      <p:cNvPicPr/>
                      <p:nvPr/>
                    </p:nvPicPr>
                    <p:blipFill>
                      <a:blip r:embed="rId2"/>
                      <a:stretch>
                        <a:fillRect/>
                      </a:stretch>
                    </p:blipFill>
                    <p:spPr>
                      <a:xfrm>
                        <a:off x="1116013" y="2852738"/>
                        <a:ext cx="5761037" cy="749300"/>
                      </a:xfrm>
                      <a:prstGeom prst="rect">
                        <a:avLst/>
                      </a:prstGeom>
                      <a:noFill/>
                      <a:ln w="38100">
                        <a:noFill/>
                        <a:miter/>
                      </a:ln>
                    </p:spPr>
                  </p:pic>
                </p:oleObj>
              </mc:Fallback>
            </mc:AlternateContent>
          </a:graphicData>
        </a:graphic>
      </p:graphicFrame>
      <p:graphicFrame>
        <p:nvGraphicFramePr>
          <p:cNvPr id="29698" name="对象 70657"/>
          <p:cNvGraphicFramePr/>
          <p:nvPr/>
        </p:nvGraphicFramePr>
        <p:xfrm>
          <a:off x="2411413" y="5013325"/>
          <a:ext cx="3673475" cy="855663"/>
        </p:xfrm>
        <a:graphic>
          <a:graphicData uri="http://schemas.openxmlformats.org/presentationml/2006/ole">
            <mc:AlternateContent xmlns:mc="http://schemas.openxmlformats.org/markup-compatibility/2006">
              <mc:Choice xmlns:v="urn:schemas-microsoft-com:vml" Requires="v">
                <p:oleObj spid="_x0000_s3113" name="" r:id="rId3" imgW="1841500" imgH="431800" progId="Equation.DSMT4">
                  <p:embed/>
                </p:oleObj>
              </mc:Choice>
              <mc:Fallback>
                <p:oleObj name="" r:id="rId3" imgW="1841500" imgH="431800" progId="Equation.DSMT4">
                  <p:embed/>
                  <p:pic>
                    <p:nvPicPr>
                      <p:cNvPr id="0" name="图片 3112"/>
                      <p:cNvPicPr/>
                      <p:nvPr/>
                    </p:nvPicPr>
                    <p:blipFill>
                      <a:blip r:embed="rId4"/>
                      <a:stretch>
                        <a:fillRect/>
                      </a:stretch>
                    </p:blipFill>
                    <p:spPr>
                      <a:xfrm>
                        <a:off x="2411413" y="5013325"/>
                        <a:ext cx="3673475" cy="855663"/>
                      </a:xfrm>
                      <a:prstGeom prst="rect">
                        <a:avLst/>
                      </a:prstGeom>
                      <a:noFill/>
                      <a:ln w="38100">
                        <a:noFill/>
                        <a:miter/>
                      </a:ln>
                    </p:spPr>
                  </p:pic>
                </p:oleObj>
              </mc:Fallback>
            </mc:AlternateContent>
          </a:graphicData>
        </a:graphic>
      </p:graphicFrame>
      <p:sp>
        <p:nvSpPr>
          <p:cNvPr id="29699" name="矩形 70659"/>
          <p:cNvSpPr/>
          <p:nvPr/>
        </p:nvSpPr>
        <p:spPr>
          <a:xfrm>
            <a:off x="468313" y="476250"/>
            <a:ext cx="8135937" cy="2282825"/>
          </a:xfrm>
          <a:prstGeom prst="rect">
            <a:avLst/>
          </a:prstGeom>
          <a:noFill/>
          <a:ln w="9525">
            <a:noFill/>
          </a:ln>
        </p:spPr>
        <p:txBody>
          <a:bodyPr anchor="ctr" anchorCtr="0">
            <a:spAutoFit/>
          </a:bodyPr>
          <a:p>
            <a:pPr>
              <a:lnSpc>
                <a:spcPct val="150000"/>
              </a:lnSpc>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电压为</a:t>
            </a:r>
            <a:r>
              <a:rPr lang="en-US" altLang="zh-CN" dirty="0">
                <a:latin typeface="Times New Roman" panose="02020603050405020304" pitchFamily="18" charset="0"/>
                <a:ea typeface="宋体" panose="02010600030101010101" pitchFamily="2" charset="-122"/>
              </a:rPr>
              <a:t>80V</a:t>
            </a:r>
            <a:r>
              <a:rPr lang="zh-CN" altLang="en-US" dirty="0">
                <a:latin typeface="Times New Roman" panose="02020603050405020304" pitchFamily="18" charset="0"/>
                <a:ea typeface="宋体" panose="02010600030101010101" pitchFamily="2" charset="-122"/>
              </a:rPr>
              <a:t>时，励磁电压也为</a:t>
            </a:r>
            <a:r>
              <a:rPr lang="en-US" altLang="zh-CN" dirty="0">
                <a:latin typeface="Times New Roman" panose="02020603050405020304" pitchFamily="18" charset="0"/>
                <a:ea typeface="宋体" panose="02010600030101010101" pitchFamily="2" charset="-122"/>
              </a:rPr>
              <a:t>80V</a:t>
            </a:r>
            <a:r>
              <a:rPr lang="zh-CN" altLang="en-US" dirty="0">
                <a:latin typeface="Times New Roman" panose="02020603050405020304" pitchFamily="18" charset="0"/>
                <a:ea typeface="宋体" panose="02010600030101010101" pitchFamily="2" charset="-122"/>
              </a:rPr>
              <a:t>；因此磁路不饱和时，磁通变为额定的</a:t>
            </a:r>
            <a:r>
              <a:rPr lang="en-US" altLang="zh-CN" dirty="0">
                <a:latin typeface="Times New Roman" panose="02020603050405020304" pitchFamily="18" charset="0"/>
                <a:ea typeface="宋体" panose="02010600030101010101" pitchFamily="2" charset="-122"/>
              </a:rPr>
              <a:t>80/110=0.723</a:t>
            </a:r>
            <a:r>
              <a:rPr lang="zh-CN" altLang="en-US" dirty="0">
                <a:latin typeface="Times New Roman" panose="02020603050405020304" pitchFamily="18" charset="0"/>
                <a:ea typeface="宋体" panose="02010600030101010101" pitchFamily="2" charset="-122"/>
              </a:rPr>
              <a:t>时；</a:t>
            </a:r>
            <a:endParaRPr lang="zh-CN" altLang="en-US" dirty="0">
              <a:latin typeface="Times New Roman" panose="02020603050405020304" pitchFamily="18" charset="0"/>
              <a:ea typeface="宋体" panose="02010600030101010101" pitchFamily="2" charset="-122"/>
            </a:endParaRPr>
          </a:p>
          <a:p>
            <a:pPr eaLnBrk="0" hangingPunct="0">
              <a:lnSpc>
                <a:spcPct val="15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变化瞬间转速未变，</a:t>
            </a:r>
            <a:r>
              <a:rPr lang="en-US" altLang="zh-CN" i="1">
                <a:latin typeface="Times New Roman" panose="02020603050405020304" pitchFamily="18" charset="0"/>
                <a:ea typeface="宋体" panose="02010600030101010101" pitchFamily="2" charset="-122"/>
              </a:rPr>
              <a:t>E</a:t>
            </a:r>
            <a:r>
              <a:rPr lang="en-US" altLang="zh-CN" i="1" baseline="-30000">
                <a:latin typeface="Times New Roman" panose="02020603050405020304" pitchFamily="18" charset="0"/>
                <a:ea typeface="宋体" panose="02010600030101010101" pitchFamily="2" charset="-122"/>
              </a:rPr>
              <a:t>a</a:t>
            </a:r>
            <a:r>
              <a:rPr lang="en-US" altLang="zh-CN" i="1">
                <a:latin typeface="Times New Roman" panose="02020603050405020304" pitchFamily="18" charset="0"/>
                <a:ea typeface="宋体" panose="02010600030101010101" pitchFamily="2" charset="-122"/>
              </a:rPr>
              <a:t>=0.723</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101.4=73.3V</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50000"/>
              </a:lnSpc>
            </a:pPr>
            <a:r>
              <a:rPr lang="zh-CN" altLang="en-US" i="1" dirty="0">
                <a:latin typeface="Times New Roman" panose="02020603050405020304" pitchFamily="18" charset="0"/>
                <a:ea typeface="宋体" panose="02010600030101010101" pitchFamily="2" charset="-122"/>
                <a:sym typeface="Symbol" panose="05050102010706020507" pitchFamily="18" charset="2"/>
              </a:rPr>
              <a:t>此时电压方程为：</a:t>
            </a:r>
            <a:r>
              <a:rPr lang="en-US" altLang="zh-CN" i="1">
                <a:latin typeface="Times New Roman" panose="02020603050405020304" pitchFamily="18" charset="0"/>
                <a:ea typeface="宋体" panose="02010600030101010101" pitchFamily="2" charset="-122"/>
                <a:sym typeface="Symbol" panose="05050102010706020507" pitchFamily="18" charset="2"/>
              </a:rPr>
              <a:t>80=73.3+I</a:t>
            </a:r>
            <a:r>
              <a:rPr lang="en-US" altLang="zh-CN" i="1" baseline="-30000">
                <a:latin typeface="Times New Roman" panose="02020603050405020304" pitchFamily="18" charset="0"/>
                <a:ea typeface="宋体" panose="02010600030101010101" pitchFamily="2" charset="-122"/>
                <a:sym typeface="Symbol" panose="05050102010706020507" pitchFamily="18" charset="2"/>
              </a:rPr>
              <a:t>a</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0.15</a:t>
            </a:r>
            <a:r>
              <a:rPr lang="zh-CN" altLang="en-US" i="1" dirty="0">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I</a:t>
            </a:r>
            <a:r>
              <a:rPr lang="en-US" altLang="zh-CN" i="1" baseline="-30000">
                <a:latin typeface="Times New Roman" panose="02020603050405020304" pitchFamily="18" charset="0"/>
                <a:ea typeface="宋体" panose="02010600030101010101" pitchFamily="2" charset="-122"/>
                <a:sym typeface="Symbol" panose="05050102010706020507" pitchFamily="18" charset="2"/>
              </a:rPr>
              <a:t>a</a:t>
            </a:r>
            <a:r>
              <a:rPr lang="en-US" altLang="zh-CN" i="1">
                <a:latin typeface="Times New Roman" panose="02020603050405020304" pitchFamily="18" charset="0"/>
                <a:ea typeface="宋体" panose="02010600030101010101" pitchFamily="2" charset="-122"/>
                <a:sym typeface="Symbol" panose="05050102010706020507" pitchFamily="18" charset="2"/>
              </a:rPr>
              <a:t>=44.6A</a:t>
            </a:r>
            <a:endParaRPr lang="en-US" altLang="zh-CN" i="1">
              <a:latin typeface="Times New Roman" panose="02020603050405020304" pitchFamily="18" charset="0"/>
              <a:ea typeface="宋体" panose="02010600030101010101" pitchFamily="2" charset="-122"/>
              <a:sym typeface="Symbol" panose="05050102010706020507" pitchFamily="18" charset="2"/>
            </a:endParaRPr>
          </a:p>
        </p:txBody>
      </p:sp>
      <p:sp>
        <p:nvSpPr>
          <p:cNvPr id="29700" name="矩形 70660"/>
          <p:cNvSpPr/>
          <p:nvPr/>
        </p:nvSpPr>
        <p:spPr>
          <a:xfrm>
            <a:off x="971550" y="3573463"/>
            <a:ext cx="7345363" cy="1187450"/>
          </a:xfrm>
          <a:prstGeom prst="rect">
            <a:avLst/>
          </a:prstGeom>
          <a:noFill/>
          <a:ln w="9525">
            <a:noFill/>
          </a:ln>
        </p:spPr>
        <p:txBody>
          <a:bodyPr anchor="ctr" anchorCtr="0">
            <a:spAutoFit/>
          </a:bodyPr>
          <a:p>
            <a:pPr>
              <a:lnSpc>
                <a:spcPct val="150000"/>
              </a:lnSpc>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稳定后，负载额定不变，</a:t>
            </a:r>
            <a:r>
              <a:rPr lang="en-US" altLang="zh-CN" i="1">
                <a:latin typeface="Times New Roman" panose="02020603050405020304" pitchFamily="18" charset="0"/>
                <a:ea typeface="宋体" panose="02010600030101010101" pitchFamily="2" charset="-122"/>
              </a:rPr>
              <a:t>I</a:t>
            </a:r>
            <a:r>
              <a:rPr lang="en-US" altLang="zh-CN" i="1" baseline="-30000">
                <a:latin typeface="Times New Roman" panose="02020603050405020304" pitchFamily="18" charset="0"/>
                <a:ea typeface="宋体" panose="02010600030101010101" pitchFamily="2" charset="-122"/>
              </a:rPr>
              <a:t>a</a:t>
            </a:r>
            <a:r>
              <a:rPr lang="en-US" altLang="zh-CN" i="1">
                <a:latin typeface="Times New Roman" panose="02020603050405020304" pitchFamily="18" charset="0"/>
                <a:ea typeface="宋体" panose="02010600030101010101" pitchFamily="2" charset="-122"/>
              </a:rPr>
              <a:t>=57.2/0.723=79.1A</a:t>
            </a:r>
            <a:endParaRPr lang="en-US" altLang="zh-CN">
              <a:latin typeface="Times New Roman" panose="02020603050405020304" pitchFamily="18" charset="0"/>
              <a:ea typeface="宋体" panose="02010600030101010101" pitchFamily="2" charset="-122"/>
            </a:endParaRPr>
          </a:p>
          <a:p>
            <a:pPr eaLnBrk="0" hangingPunct="0">
              <a:lnSpc>
                <a:spcPct val="150000"/>
              </a:lnSpc>
            </a:pPr>
            <a:r>
              <a:rPr lang="zh-CN" altLang="en-US" dirty="0">
                <a:latin typeface="Times New Roman" panose="02020603050405020304" pitchFamily="18" charset="0"/>
                <a:ea typeface="宋体" panose="02010600030101010101" pitchFamily="2" charset="-122"/>
              </a:rPr>
              <a:t>此时电压方程为：</a:t>
            </a:r>
            <a:r>
              <a:rPr lang="en-US" altLang="zh-CN">
                <a:latin typeface="Times New Roman" panose="02020603050405020304" pitchFamily="18" charset="0"/>
                <a:ea typeface="宋体" panose="02010600030101010101" pitchFamily="2" charset="-122"/>
              </a:rPr>
              <a:t>80=E</a:t>
            </a:r>
            <a:r>
              <a:rPr lang="en-US" altLang="zh-CN" baseline="-30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 79.1</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0.15</a:t>
            </a:r>
            <a:r>
              <a:rPr lang="zh-CN" altLang="en-US" i="1" dirty="0">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i="1" baseline="-30000">
                <a:latin typeface="Times New Roman" panose="02020603050405020304" pitchFamily="18" charset="0"/>
                <a:ea typeface="宋体" panose="02010600030101010101" pitchFamily="2" charset="-122"/>
                <a:sym typeface="Symbol" panose="05050102010706020507" pitchFamily="18" charset="2"/>
              </a:rPr>
              <a:t>a</a:t>
            </a:r>
            <a:r>
              <a:rPr lang="en-US" altLang="zh-CN" i="1">
                <a:latin typeface="Times New Roman" panose="02020603050405020304" pitchFamily="18" charset="0"/>
                <a:ea typeface="宋体" panose="02010600030101010101" pitchFamily="2" charset="-122"/>
                <a:sym typeface="Symbol" panose="05050102010706020507" pitchFamily="18" charset="2"/>
              </a:rPr>
              <a:t>=68.13V</a:t>
            </a:r>
            <a:endParaRPr lang="en-US" altLang="zh-CN" i="1">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矩形 69633"/>
          <p:cNvSpPr/>
          <p:nvPr/>
        </p:nvSpPr>
        <p:spPr>
          <a:xfrm>
            <a:off x="250825" y="476250"/>
            <a:ext cx="8497888" cy="191770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4-19 </a:t>
            </a:r>
            <a:r>
              <a:rPr lang="zh-CN" altLang="en-US" dirty="0">
                <a:latin typeface="Times New Roman" panose="02020603050405020304" pitchFamily="18" charset="0"/>
                <a:ea typeface="宋体" panose="02010600030101010101" pitchFamily="2" charset="-122"/>
              </a:rPr>
              <a:t>他励直流机</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=13kW,</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=220V,</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=68.7A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=1500r/min,</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=0.224Ω</a:t>
            </a:r>
            <a:r>
              <a:rPr lang="zh-CN" altLang="en-US" dirty="0">
                <a:latin typeface="Times New Roman" panose="02020603050405020304" pitchFamily="18" charset="0"/>
                <a:ea typeface="宋体" panose="02010600030101010101" pitchFamily="2" charset="-122"/>
              </a:rPr>
              <a:t>。采用串电阻调速，使</a:t>
            </a:r>
            <a:r>
              <a:rPr lang="en-US" altLang="zh-CN" i="1">
                <a:latin typeface="Times New Roman" panose="02020603050405020304" pitchFamily="18" charset="0"/>
                <a:ea typeface="宋体" panose="02010600030101010101" pitchFamily="2" charset="-122"/>
              </a:rPr>
              <a:t>δ</a:t>
            </a:r>
            <a:r>
              <a:rPr lang="en-US" altLang="zh-CN" baseline="-25000">
                <a:latin typeface="Times New Roman" panose="02020603050405020304" pitchFamily="18" charset="0"/>
                <a:ea typeface="宋体" panose="02010600030101010101" pitchFamily="2" charset="-122"/>
              </a:rPr>
              <a:t>max</a:t>
            </a:r>
            <a:r>
              <a:rPr lang="en-US" altLang="zh-CN" dirty="0">
                <a:latin typeface="Times New Roman" panose="02020603050405020304" pitchFamily="18" charset="0"/>
                <a:ea typeface="宋体" panose="02010600030101010101" pitchFamily="2" charset="-122"/>
              </a:rPr>
              <a:t>=30%</a:t>
            </a:r>
            <a:r>
              <a:rPr lang="zh-CN" altLang="en-US" dirty="0">
                <a:latin typeface="Times New Roman" panose="02020603050405020304" pitchFamily="18" charset="0"/>
                <a:ea typeface="宋体" panose="02010600030101010101" pitchFamily="2" charset="-122"/>
              </a:rPr>
              <a:t>，求：</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额定负载时的最低转速。</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调速范围。</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电枢需串入的电阻值。</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额载下以最低速运行时电动机电枢回路的输入功率、输出功率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忽略</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及外串电阻上消耗的功率。</a:t>
            </a:r>
            <a:endParaRPr lang="zh-CN" altLang="en-US" dirty="0">
              <a:latin typeface="Times New Roman" panose="02020603050405020304" pitchFamily="18" charset="0"/>
              <a:ea typeface="宋体" panose="02010600030101010101" pitchFamily="2" charset="-122"/>
            </a:endParaRPr>
          </a:p>
        </p:txBody>
      </p:sp>
      <p:sp>
        <p:nvSpPr>
          <p:cNvPr id="30722" name="矩形 69634"/>
          <p:cNvSpPr/>
          <p:nvPr/>
        </p:nvSpPr>
        <p:spPr>
          <a:xfrm>
            <a:off x="250825" y="2417763"/>
            <a:ext cx="8240713" cy="4108450"/>
          </a:xfrm>
          <a:prstGeom prst="rect">
            <a:avLst/>
          </a:prstGeom>
          <a:noFill/>
          <a:ln w="9525">
            <a:noFill/>
          </a:ln>
        </p:spPr>
        <p:txBody>
          <a:bodyPr anchor="ctr" anchorCtr="0">
            <a:spAutoFit/>
          </a:bodyPr>
          <a:p>
            <a:pPr algn="ctr" defTabSz="914400">
              <a:lnSpc>
                <a:spcPct val="110000"/>
              </a:lnSpc>
              <a:tabLst>
                <a:tab pos="259080" algn="l"/>
              </a:tabLst>
            </a:pPr>
            <a:r>
              <a:rPr lang="zh-CN" altLang="en-US" dirty="0">
                <a:latin typeface="Times New Roman" panose="02020603050405020304" pitchFamily="18" charset="0"/>
                <a:ea typeface="宋体" panose="02010600030101010101" pitchFamily="2" charset="-122"/>
              </a:rPr>
              <a:t>解：额定时，电压方程为：</a:t>
            </a:r>
            <a:r>
              <a:rPr lang="en-US" altLang="zh-CN">
                <a:latin typeface="Times New Roman" panose="02020603050405020304" pitchFamily="18" charset="0"/>
                <a:ea typeface="宋体" panose="02010600030101010101" pitchFamily="2" charset="-122"/>
              </a:rPr>
              <a:t>220=</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 68.7</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0.224</a:t>
            </a:r>
            <a:r>
              <a:rPr lang="zh-CN" altLang="en-US" i="1" dirty="0">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Ea=204.6V</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defTabSz="914400">
              <a:lnSpc>
                <a:spcPct val="110000"/>
              </a:lnSpc>
              <a:tabLst>
                <a:tab pos="259080" algn="l"/>
              </a:tabLst>
            </a:pPr>
            <a:r>
              <a:rPr lang="en-US" altLang="zh-CN" i="1">
                <a:latin typeface="Times New Roman" panose="02020603050405020304" pitchFamily="18" charset="0"/>
                <a:ea typeface="宋体" panose="02010600030101010101" pitchFamily="2" charset="-122"/>
                <a:sym typeface="Symbol" panose="05050102010706020507" pitchFamily="18" charset="2"/>
              </a:rPr>
              <a:t>n</a:t>
            </a:r>
            <a:r>
              <a:rPr lang="en-US" altLang="zh-CN" i="1" baseline="-25000">
                <a:latin typeface="Times New Roman" panose="02020603050405020304" pitchFamily="18" charset="0"/>
                <a:ea typeface="宋体" panose="02010600030101010101" pitchFamily="2" charset="-122"/>
                <a:sym typeface="Symbol" panose="05050102010706020507" pitchFamily="18" charset="2"/>
              </a:rPr>
              <a:t>0</a:t>
            </a:r>
            <a:r>
              <a:rPr lang="en-US" altLang="zh-CN" i="1">
                <a:latin typeface="Times New Roman" panose="02020603050405020304" pitchFamily="18" charset="0"/>
                <a:ea typeface="宋体" panose="02010600030101010101" pitchFamily="2" charset="-122"/>
                <a:sym typeface="Symbol" panose="05050102010706020507" pitchFamily="18" charset="2"/>
              </a:rPr>
              <a:t>=1500</a:t>
            </a:r>
            <a:r>
              <a:rPr lang="en-US" altLang="zh-CN" i="1">
                <a:latin typeface="Times New Roman" panose="02020603050405020304" pitchFamily="18" charset="0"/>
                <a:ea typeface="宋体" panose="02010600030101010101" pitchFamily="2" charset="-122"/>
              </a:rPr>
              <a:t>220/204.6=1613rpm</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defTabSz="914400">
              <a:lnSpc>
                <a:spcPct val="110000"/>
              </a:lnSpc>
              <a:tabLst>
                <a:tab pos="259080" algn="l"/>
              </a:tabLst>
            </a:pPr>
            <a:r>
              <a:rPr lang="en-US" altLang="zh-CN">
                <a:latin typeface="Times New Roman" panose="02020603050405020304" pitchFamily="18" charset="0"/>
                <a:ea typeface="宋体" panose="02010600030101010101" pitchFamily="2" charset="-122"/>
                <a:sym typeface="Symbol" panose="05050102010706020507" pitchFamily="18" charset="2"/>
              </a:rPr>
              <a:t>       (1)</a:t>
            </a:r>
            <a:r>
              <a:rPr lang="en-US" altLang="zh-CN" i="1">
                <a:latin typeface="Times New Roman" panose="02020603050405020304" pitchFamily="18" charset="0"/>
                <a:ea typeface="宋体" panose="02010600030101010101" pitchFamily="2" charset="-122"/>
                <a:sym typeface="Symbol" panose="05050102010706020507" pitchFamily="18" charset="2"/>
              </a:rPr>
              <a:t>  0.3=(1613-nmin)/1613   nmin=1129rpm</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defTabSz="914400">
              <a:lnSpc>
                <a:spcPct val="110000"/>
              </a:lnSpc>
              <a:tabLst>
                <a:tab pos="259080" algn="l"/>
              </a:tabLst>
            </a:pPr>
            <a:r>
              <a:rPr lang="en-US" altLang="zh-CN">
                <a:latin typeface="Times New Roman" panose="02020603050405020304" pitchFamily="18" charset="0"/>
                <a:ea typeface="宋体" panose="02010600030101010101" pitchFamily="2" charset="-122"/>
                <a:sym typeface="Symbol" panose="05050102010706020507" pitchFamily="18" charset="2"/>
              </a:rPr>
              <a:t>       (2)</a:t>
            </a:r>
            <a:r>
              <a:rPr lang="en-US" altLang="zh-CN" i="1">
                <a:latin typeface="Times New Roman" panose="02020603050405020304" pitchFamily="18" charset="0"/>
                <a:ea typeface="宋体" panose="02010600030101010101" pitchFamily="2" charset="-122"/>
                <a:sym typeface="Symbol" panose="05050102010706020507" pitchFamily="18" charset="2"/>
              </a:rPr>
              <a:t>  D=1500/1129=1.33;</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algn="ctr" defTabSz="914400">
              <a:lnSpc>
                <a:spcPct val="110000"/>
              </a:lnSpc>
              <a:tabLst>
                <a:tab pos="259080" algn="l"/>
              </a:tabLst>
            </a:pPr>
            <a:r>
              <a:rPr lang="zh-CN" altLang="en-US" dirty="0">
                <a:latin typeface="Times New Roman" panose="02020603050405020304" pitchFamily="18" charset="0"/>
                <a:ea typeface="宋体" panose="02010600030101010101" pitchFamily="2" charset="-122"/>
                <a:sym typeface="Symbol" panose="05050102010706020507" pitchFamily="18" charset="2"/>
              </a:rPr>
              <a:t>最低转速时：</a:t>
            </a:r>
            <a:r>
              <a:rPr lang="en-US" altLang="zh-CN" i="1">
                <a:latin typeface="Times New Roman" panose="02020603050405020304" pitchFamily="18" charset="0"/>
                <a:ea typeface="宋体" panose="02010600030101010101" pitchFamily="2" charset="-122"/>
                <a:sym typeface="Symbol" panose="05050102010706020507" pitchFamily="18" charset="2"/>
              </a:rPr>
              <a:t>Ea=204.6</a:t>
            </a:r>
            <a:r>
              <a:rPr lang="en-US" altLang="zh-CN">
                <a:latin typeface="Times New Roman" panose="02020603050405020304" pitchFamily="18" charset="0"/>
                <a:ea typeface="宋体" panose="02010600030101010101" pitchFamily="2" charset="-122"/>
              </a:rPr>
              <a:t>1129/1500=154V;</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algn="ctr" defTabSz="914400">
              <a:lnSpc>
                <a:spcPct val="110000"/>
              </a:lnSpc>
              <a:tabLst>
                <a:tab pos="259080" algn="l"/>
              </a:tabLst>
            </a:pPr>
            <a:r>
              <a:rPr lang="zh-CN" altLang="en-US" dirty="0">
                <a:latin typeface="Times New Roman" panose="02020603050405020304" pitchFamily="18" charset="0"/>
                <a:ea typeface="宋体" panose="02010600030101010101" pitchFamily="2" charset="-122"/>
                <a:sym typeface="Symbol" panose="05050102010706020507" pitchFamily="18" charset="2"/>
              </a:rPr>
              <a:t>此时电压方程为：</a:t>
            </a:r>
            <a:r>
              <a:rPr lang="en-US" altLang="zh-CN" i="1">
                <a:latin typeface="Times New Roman" panose="02020603050405020304" pitchFamily="18" charset="0"/>
                <a:ea typeface="宋体" panose="02010600030101010101" pitchFamily="2" charset="-122"/>
                <a:sym typeface="Symbol" panose="05050102010706020507" pitchFamily="18" charset="2"/>
              </a:rPr>
              <a:t>220=154+68.7(0.224+Rc);  </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defTabSz="914400">
              <a:lnSpc>
                <a:spcPct val="110000"/>
              </a:lnSpc>
              <a:tabLst>
                <a:tab pos="259080" algn="l"/>
              </a:tabLst>
            </a:pPr>
            <a:r>
              <a:rPr lang="en-US" altLang="zh-CN" i="1">
                <a:latin typeface="Times New Roman" panose="02020603050405020304" pitchFamily="18" charset="0"/>
                <a:ea typeface="宋体" panose="02010600030101010101" pitchFamily="2" charset="-122"/>
                <a:sym typeface="Symbol" panose="05050102010706020507" pitchFamily="18" charset="2"/>
              </a:rPr>
              <a:t>       </a:t>
            </a:r>
            <a:r>
              <a:rPr lang="en-US" altLang="zh-CN">
                <a:latin typeface="Times New Roman" panose="02020603050405020304" pitchFamily="18" charset="0"/>
                <a:ea typeface="宋体" panose="02010600030101010101" pitchFamily="2" charset="-122"/>
                <a:sym typeface="Symbol" panose="05050102010706020507" pitchFamily="18" charset="2"/>
              </a:rPr>
              <a:t>(3)</a:t>
            </a:r>
            <a:r>
              <a:rPr lang="en-US" altLang="zh-CN" i="1">
                <a:latin typeface="Times New Roman" panose="02020603050405020304" pitchFamily="18" charset="0"/>
                <a:ea typeface="宋体" panose="02010600030101010101" pitchFamily="2" charset="-122"/>
                <a:sym typeface="Symbol" panose="05050102010706020507" pitchFamily="18" charset="2"/>
              </a:rPr>
              <a:t>  Rc=0.737Ω;</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defTabSz="914400">
              <a:lnSpc>
                <a:spcPct val="110000"/>
              </a:lnSpc>
              <a:tabLst>
                <a:tab pos="259080" algn="l"/>
              </a:tabLst>
            </a:pPr>
            <a:r>
              <a:rPr lang="en-US" altLang="zh-CN">
                <a:latin typeface="Times New Roman" panose="02020603050405020304" pitchFamily="18" charset="0"/>
                <a:ea typeface="宋体" panose="02010600030101010101" pitchFamily="2" charset="-122"/>
                <a:sym typeface="Symbol" panose="05050102010706020507" pitchFamily="18" charset="2"/>
              </a:rPr>
              <a:t>       (4)</a:t>
            </a:r>
            <a:r>
              <a:rPr lang="en-US" altLang="zh-CN" i="1">
                <a:latin typeface="Times New Roman" panose="02020603050405020304" pitchFamily="18" charset="0"/>
                <a:ea typeface="宋体" panose="02010600030101010101" pitchFamily="2" charset="-122"/>
                <a:sym typeface="Symbol" panose="05050102010706020507" pitchFamily="18" charset="2"/>
              </a:rPr>
              <a:t> P1=220</a:t>
            </a:r>
            <a:r>
              <a:rPr lang="en-US" altLang="zh-CN" i="1">
                <a:latin typeface="Times New Roman" panose="02020603050405020304" pitchFamily="18" charset="0"/>
                <a:ea typeface="宋体" panose="02010600030101010101" pitchFamily="2" charset="-122"/>
              </a:rPr>
              <a:t>68.7=15114W</a:t>
            </a:r>
            <a:r>
              <a:rPr lang="zh-CN" altLang="en-US" i="1" dirty="0">
                <a:latin typeface="Times New Roman" panose="02020603050405020304" pitchFamily="18" charset="0"/>
                <a:ea typeface="宋体" panose="02010600030101010101" pitchFamily="2" charset="-122"/>
                <a:sym typeface="Symbol" panose="05050102010706020507" pitchFamily="18" charset="2"/>
              </a:rPr>
              <a:t>；</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a:p>
            <a:pPr algn="ctr" defTabSz="914400">
              <a:lnSpc>
                <a:spcPct val="110000"/>
              </a:lnSpc>
              <a:tabLst>
                <a:tab pos="259080" algn="l"/>
              </a:tabLst>
            </a:pP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i="1" baseline="-25000">
                <a:latin typeface="Times New Roman" panose="02020603050405020304" pitchFamily="18" charset="0"/>
                <a:ea typeface="宋体" panose="02010600030101010101" pitchFamily="2" charset="-122"/>
                <a:sym typeface="Symbol" panose="05050102010706020507" pitchFamily="18" charset="2"/>
              </a:rPr>
              <a:t>2</a:t>
            </a:r>
            <a:r>
              <a:rPr lang="en-US" altLang="zh-CN" i="1">
                <a:latin typeface="Times New Roman" panose="02020603050405020304" pitchFamily="18" charset="0"/>
                <a:ea typeface="宋体" panose="02010600030101010101" pitchFamily="2" charset="-122"/>
                <a:sym typeface="Symbol" panose="05050102010706020507" pitchFamily="18" charset="2"/>
              </a:rPr>
              <a:t>=13000</a:t>
            </a:r>
            <a:r>
              <a:rPr lang="en-US" altLang="zh-CN" i="1">
                <a:latin typeface="Times New Roman" panose="02020603050405020304" pitchFamily="18" charset="0"/>
                <a:ea typeface="宋体" panose="02010600030101010101" pitchFamily="2" charset="-122"/>
              </a:rPr>
              <a:t>1129/1500=9785W;</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algn="ctr" defTabSz="914400">
              <a:lnSpc>
                <a:spcPct val="110000"/>
              </a:lnSpc>
              <a:tabLst>
                <a:tab pos="259080" algn="l"/>
              </a:tabLst>
            </a:pP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i="1" baseline="-25000">
                <a:latin typeface="Times New Roman" panose="02020603050405020304" pitchFamily="18" charset="0"/>
                <a:ea typeface="宋体" panose="02010600030101010101" pitchFamily="2" charset="-122"/>
                <a:sym typeface="Symbol" panose="05050102010706020507" pitchFamily="18" charset="2"/>
              </a:rPr>
              <a:t>Rc</a:t>
            </a:r>
            <a:r>
              <a:rPr lang="en-US" altLang="zh-CN" i="1">
                <a:latin typeface="Times New Roman" panose="02020603050405020304" pitchFamily="18" charset="0"/>
                <a:ea typeface="宋体" panose="02010600030101010101" pitchFamily="2" charset="-122"/>
                <a:sym typeface="Symbol" panose="05050102010706020507" pitchFamily="18" charset="2"/>
              </a:rPr>
              <a:t>=68.72</a:t>
            </a:r>
            <a:r>
              <a:rPr lang="en-US" altLang="zh-CN" i="1">
                <a:latin typeface="Times New Roman" panose="02020603050405020304" pitchFamily="18" charset="0"/>
                <a:ea typeface="宋体" panose="02010600030101010101" pitchFamily="2" charset="-122"/>
              </a:rPr>
              <a:t>0.737=3478W</a:t>
            </a:r>
            <a:r>
              <a:rPr lang="en-US" altLang="zh-CN">
                <a:latin typeface="Times New Roman" panose="02020603050405020304" pitchFamily="18" charset="0"/>
                <a:ea typeface="宋体" panose="02010600030101010101" pitchFamily="2" charset="-122"/>
                <a:sym typeface="Symbol" panose="05050102010706020507" pitchFamily="18" charset="2"/>
              </a:rPr>
              <a:t> </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文本框 68609"/>
          <p:cNvSpPr txBox="1"/>
          <p:nvPr/>
        </p:nvSpPr>
        <p:spPr>
          <a:xfrm>
            <a:off x="1476375" y="404813"/>
            <a:ext cx="5997575" cy="519112"/>
          </a:xfrm>
          <a:prstGeom prst="rect">
            <a:avLst/>
          </a:prstGeom>
          <a:noFill/>
          <a:ln w="9525">
            <a:noFill/>
          </a:ln>
        </p:spPr>
        <p:txBody>
          <a:bodyPr anchor="t" anchorCtr="0">
            <a:spAutoFit/>
          </a:bodyPr>
          <a:p>
            <a:pPr algn="ctr"/>
            <a:r>
              <a:rPr lang="zh-CN" altLang="en-US" sz="2800" dirty="0">
                <a:solidFill>
                  <a:srgbClr val="FF0000"/>
                </a:solidFill>
                <a:latin typeface="Times New Roman" panose="02020603050405020304" pitchFamily="18" charset="0"/>
                <a:ea typeface="宋体" panose="02010600030101010101" pitchFamily="2" charset="-122"/>
              </a:rPr>
              <a:t>第五章 变压器</a:t>
            </a:r>
            <a:endParaRPr lang="zh-CN" altLang="en-US" sz="2800" dirty="0">
              <a:solidFill>
                <a:srgbClr val="FF0000"/>
              </a:solidFill>
              <a:latin typeface="Times New Roman" panose="02020603050405020304" pitchFamily="18" charset="0"/>
              <a:ea typeface="宋体" panose="02010600030101010101" pitchFamily="2" charset="-122"/>
            </a:endParaRPr>
          </a:p>
        </p:txBody>
      </p:sp>
      <p:sp>
        <p:nvSpPr>
          <p:cNvPr id="31746" name="矩形 68610"/>
          <p:cNvSpPr/>
          <p:nvPr/>
        </p:nvSpPr>
        <p:spPr>
          <a:xfrm>
            <a:off x="395288" y="1163638"/>
            <a:ext cx="8353425" cy="118745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5-5</a:t>
            </a:r>
            <a:r>
              <a:rPr lang="zh-CN" altLang="en-US" dirty="0">
                <a:latin typeface="Times New Roman" panose="02020603050405020304" pitchFamily="18" charset="0"/>
                <a:ea typeface="宋体" panose="02010600030101010101" pitchFamily="2" charset="-122"/>
              </a:rPr>
              <a:t>：变压器原、副边电压、电势正方向如图</a:t>
            </a:r>
            <a:r>
              <a:rPr lang="en-US" altLang="zh-CN" dirty="0">
                <a:latin typeface="Times New Roman" panose="02020603050405020304" pitchFamily="18" charset="0"/>
                <a:ea typeface="宋体" panose="02010600030101010101" pitchFamily="2" charset="-122"/>
              </a:rPr>
              <a:t>5-45</a:t>
            </a:r>
            <a:r>
              <a:rPr lang="zh-CN" altLang="en-US" dirty="0">
                <a:latin typeface="Times New Roman" panose="02020603050405020304" pitchFamily="18" charset="0"/>
                <a:ea typeface="宋体" panose="02010600030101010101" pitchFamily="2" charset="-122"/>
              </a:rPr>
              <a:t>，变比</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，外加电压</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波形如</a:t>
            </a:r>
            <a:r>
              <a:rPr lang="en-US" altLang="zh-CN" dirty="0">
                <a:latin typeface="Times New Roman" panose="02020603050405020304" pitchFamily="18" charset="0"/>
                <a:ea typeface="宋体" panose="02010600030101010101" pitchFamily="2" charset="-122"/>
              </a:rPr>
              <a:t>5-45</a:t>
            </a:r>
            <a:r>
              <a:rPr lang="zh-CN" altLang="en-US" dirty="0">
                <a:latin typeface="Times New Roman" panose="02020603050405020304" pitchFamily="18" charset="0"/>
                <a:ea typeface="宋体" panose="02010600030101010101" pitchFamily="2" charset="-122"/>
              </a:rPr>
              <a:t>。画出</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Φ</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的时间波形图，并用相量表示                                的关系</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忽略漏阻抗压降</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pSp>
        <p:nvGrpSpPr>
          <p:cNvPr id="31747" name="组合 68611"/>
          <p:cNvGrpSpPr/>
          <p:nvPr/>
        </p:nvGrpSpPr>
        <p:grpSpPr>
          <a:xfrm>
            <a:off x="1331913" y="3284538"/>
            <a:ext cx="1627187" cy="2414587"/>
            <a:chOff x="2113" y="7680"/>
            <a:chExt cx="2564" cy="3802"/>
          </a:xfrm>
        </p:grpSpPr>
        <p:sp>
          <p:nvSpPr>
            <p:cNvPr id="31748" name="文本框 68612"/>
            <p:cNvSpPr txBox="1"/>
            <p:nvPr/>
          </p:nvSpPr>
          <p:spPr>
            <a:xfrm>
              <a:off x="2157" y="10800"/>
              <a:ext cx="739" cy="682"/>
            </a:xfrm>
            <a:prstGeom prst="rect">
              <a:avLst/>
            </a:prstGeom>
            <a:noFill/>
            <a:ln w="9525">
              <a:noFill/>
            </a:ln>
          </p:spPr>
          <p:txBody>
            <a:bodyPr anchor="t" anchorCtr="0"/>
            <a:p>
              <a:pPr algn="ctr"/>
              <a:endParaRPr lang="zh-CN" dirty="0">
                <a:latin typeface="Times New Roman" panose="02020603050405020304" pitchFamily="18" charset="0"/>
                <a:ea typeface="宋体" panose="02010600030101010101" pitchFamily="2" charset="-122"/>
              </a:endParaRPr>
            </a:p>
          </p:txBody>
        </p:sp>
        <p:sp>
          <p:nvSpPr>
            <p:cNvPr id="31749" name="文本框 68613"/>
            <p:cNvSpPr txBox="1"/>
            <p:nvPr/>
          </p:nvSpPr>
          <p:spPr>
            <a:xfrm>
              <a:off x="2113" y="9864"/>
              <a:ext cx="764" cy="682"/>
            </a:xfrm>
            <a:prstGeom prst="rect">
              <a:avLst/>
            </a:prstGeom>
            <a:noFill/>
            <a:ln w="9525">
              <a:noFill/>
            </a:ln>
          </p:spPr>
          <p:txBody>
            <a:bodyPr anchor="t" anchorCtr="0"/>
            <a:p>
              <a:pPr algn="ctr"/>
              <a:endParaRPr lang="zh-CN" dirty="0">
                <a:latin typeface="Times New Roman" panose="02020603050405020304" pitchFamily="18" charset="0"/>
                <a:ea typeface="宋体" panose="02010600030101010101" pitchFamily="2" charset="-122"/>
              </a:endParaRPr>
            </a:p>
          </p:txBody>
        </p:sp>
        <p:sp>
          <p:nvSpPr>
            <p:cNvPr id="31750" name="文本框 68614"/>
            <p:cNvSpPr txBox="1"/>
            <p:nvPr/>
          </p:nvSpPr>
          <p:spPr>
            <a:xfrm>
              <a:off x="2138" y="7680"/>
              <a:ext cx="739" cy="708"/>
            </a:xfrm>
            <a:prstGeom prst="rect">
              <a:avLst/>
            </a:prstGeom>
            <a:noFill/>
            <a:ln w="9525">
              <a:noFill/>
            </a:ln>
          </p:spPr>
          <p:txBody>
            <a:bodyPr anchor="t" anchorCtr="0"/>
            <a:p>
              <a:pPr algn="ctr"/>
              <a:endParaRPr lang="zh-CN" dirty="0">
                <a:latin typeface="Times New Roman" panose="02020603050405020304" pitchFamily="18" charset="0"/>
                <a:ea typeface="宋体" panose="02010600030101010101" pitchFamily="2" charset="-122"/>
              </a:endParaRPr>
            </a:p>
          </p:txBody>
        </p:sp>
        <p:sp>
          <p:nvSpPr>
            <p:cNvPr id="31751" name="文本框 68615"/>
            <p:cNvSpPr txBox="1"/>
            <p:nvPr/>
          </p:nvSpPr>
          <p:spPr>
            <a:xfrm>
              <a:off x="3777" y="8616"/>
              <a:ext cx="900" cy="1248"/>
            </a:xfrm>
            <a:prstGeom prst="rect">
              <a:avLst/>
            </a:prstGeom>
            <a:noFill/>
            <a:ln w="9525">
              <a:noFill/>
            </a:ln>
          </p:spPr>
          <p:txBody>
            <a:bodyPr anchor="t" anchorCtr="0"/>
            <a:p>
              <a:pPr algn="ctr"/>
              <a:endParaRPr lang="zh-CN" dirty="0">
                <a:latin typeface="Times New Roman" panose="02020603050405020304" pitchFamily="18" charset="0"/>
                <a:ea typeface="宋体" panose="02010600030101010101" pitchFamily="2" charset="-122"/>
              </a:endParaRPr>
            </a:p>
          </p:txBody>
        </p:sp>
        <p:sp>
          <p:nvSpPr>
            <p:cNvPr id="31752" name="直接连接符 68616"/>
            <p:cNvSpPr/>
            <p:nvPr/>
          </p:nvSpPr>
          <p:spPr>
            <a:xfrm>
              <a:off x="2157" y="9552"/>
              <a:ext cx="2340" cy="0"/>
            </a:xfrm>
            <a:prstGeom prst="line">
              <a:avLst/>
            </a:prstGeom>
            <a:ln w="12700" cap="flat" cmpd="sng">
              <a:solidFill>
                <a:srgbClr val="000000"/>
              </a:solidFill>
              <a:prstDash val="solid"/>
              <a:round/>
              <a:headEnd type="none" w="med" len="med"/>
              <a:tailEnd type="triangle" w="med" len="med"/>
            </a:ln>
          </p:spPr>
        </p:sp>
        <p:sp>
          <p:nvSpPr>
            <p:cNvPr id="31753" name="直接连接符 68617"/>
            <p:cNvSpPr/>
            <p:nvPr/>
          </p:nvSpPr>
          <p:spPr>
            <a:xfrm flipV="1">
              <a:off x="2154" y="7839"/>
              <a:ext cx="0" cy="1716"/>
            </a:xfrm>
            <a:prstGeom prst="line">
              <a:avLst/>
            </a:prstGeom>
            <a:ln w="12700" cap="flat" cmpd="sng">
              <a:solidFill>
                <a:srgbClr val="000000"/>
              </a:solidFill>
              <a:prstDash val="solid"/>
              <a:round/>
              <a:headEnd type="none" w="med" len="med"/>
              <a:tailEnd type="triangle" w="med" len="med"/>
            </a:ln>
          </p:spPr>
        </p:sp>
        <p:sp>
          <p:nvSpPr>
            <p:cNvPr id="31754" name="直接连接符 68618"/>
            <p:cNvSpPr/>
            <p:nvPr/>
          </p:nvSpPr>
          <p:spPr>
            <a:xfrm>
              <a:off x="2157" y="9552"/>
              <a:ext cx="0" cy="936"/>
            </a:xfrm>
            <a:prstGeom prst="line">
              <a:avLst/>
            </a:prstGeom>
            <a:ln w="12700" cap="flat" cmpd="sng">
              <a:solidFill>
                <a:srgbClr val="000000"/>
              </a:solidFill>
              <a:prstDash val="solid"/>
              <a:round/>
              <a:headEnd type="none" w="med" len="med"/>
              <a:tailEnd type="triangle" w="med" len="med"/>
            </a:ln>
          </p:spPr>
        </p:sp>
        <p:sp>
          <p:nvSpPr>
            <p:cNvPr id="31755" name="直接连接符 68619"/>
            <p:cNvSpPr/>
            <p:nvPr/>
          </p:nvSpPr>
          <p:spPr>
            <a:xfrm flipV="1">
              <a:off x="2157" y="9552"/>
              <a:ext cx="0" cy="1716"/>
            </a:xfrm>
            <a:prstGeom prst="line">
              <a:avLst/>
            </a:prstGeom>
            <a:ln w="12700" cap="flat" cmpd="sng">
              <a:solidFill>
                <a:srgbClr val="000000"/>
              </a:solidFill>
              <a:prstDash val="solid"/>
              <a:round/>
              <a:headEnd type="triangle" w="med" len="med"/>
              <a:tailEnd type="none" w="med" len="med"/>
            </a:ln>
          </p:spPr>
        </p:sp>
      </p:grpSp>
      <p:sp>
        <p:nvSpPr>
          <p:cNvPr id="31756" name="矩形 68621"/>
          <p:cNvSpPr/>
          <p:nvPr/>
        </p:nvSpPr>
        <p:spPr>
          <a:xfrm>
            <a:off x="1766888" y="333216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31757" name="对象 68620"/>
          <p:cNvGraphicFramePr/>
          <p:nvPr/>
        </p:nvGraphicFramePr>
        <p:xfrm>
          <a:off x="1403350" y="3357563"/>
          <a:ext cx="285750" cy="361950"/>
        </p:xfrm>
        <a:graphic>
          <a:graphicData uri="http://schemas.openxmlformats.org/presentationml/2006/ole">
            <mc:AlternateContent xmlns:mc="http://schemas.openxmlformats.org/markup-compatibility/2006">
              <mc:Choice xmlns:v="urn:schemas-microsoft-com:vml" Requires="v">
                <p:oleObj spid="_x0000_s3135" name="" r:id="rId1" imgW="228600" imgH="279400" progId="Equation.DSMT4">
                  <p:embed/>
                </p:oleObj>
              </mc:Choice>
              <mc:Fallback>
                <p:oleObj name="" r:id="rId1" imgW="228600" imgH="279400" progId="Equation.DSMT4">
                  <p:embed/>
                  <p:pic>
                    <p:nvPicPr>
                      <p:cNvPr id="0" name="图片 3134"/>
                      <p:cNvPicPr/>
                      <p:nvPr/>
                    </p:nvPicPr>
                    <p:blipFill>
                      <a:blip r:embed="rId2"/>
                      <a:stretch>
                        <a:fillRect/>
                      </a:stretch>
                    </p:blipFill>
                    <p:spPr>
                      <a:xfrm>
                        <a:off x="1403350" y="3357563"/>
                        <a:ext cx="285750" cy="361950"/>
                      </a:xfrm>
                      <a:prstGeom prst="rect">
                        <a:avLst/>
                      </a:prstGeom>
                      <a:noFill/>
                      <a:ln w="38100">
                        <a:noFill/>
                        <a:miter/>
                      </a:ln>
                    </p:spPr>
                  </p:pic>
                </p:oleObj>
              </mc:Fallback>
            </mc:AlternateContent>
          </a:graphicData>
        </a:graphic>
      </p:graphicFrame>
      <p:sp>
        <p:nvSpPr>
          <p:cNvPr id="31758" name="矩形 68623"/>
          <p:cNvSpPr/>
          <p:nvPr/>
        </p:nvSpPr>
        <p:spPr>
          <a:xfrm>
            <a:off x="2555875" y="400526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31759" name="对象 68622"/>
          <p:cNvGraphicFramePr/>
          <p:nvPr/>
        </p:nvGraphicFramePr>
        <p:xfrm>
          <a:off x="2555875" y="4005263"/>
          <a:ext cx="304800" cy="400050"/>
        </p:xfrm>
        <a:graphic>
          <a:graphicData uri="http://schemas.openxmlformats.org/presentationml/2006/ole">
            <mc:AlternateContent xmlns:mc="http://schemas.openxmlformats.org/markup-compatibility/2006">
              <mc:Choice xmlns:v="urn:schemas-microsoft-com:vml" Requires="v">
                <p:oleObj spid="_x0000_s3133" name="" r:id="rId3" imgW="228600" imgH="304800" progId="Equation.DSMT4">
                  <p:embed/>
                </p:oleObj>
              </mc:Choice>
              <mc:Fallback>
                <p:oleObj name="" r:id="rId3" imgW="228600" imgH="304800" progId="Equation.DSMT4">
                  <p:embed/>
                  <p:pic>
                    <p:nvPicPr>
                      <p:cNvPr id="0" name="图片 3132"/>
                      <p:cNvPicPr/>
                      <p:nvPr/>
                    </p:nvPicPr>
                    <p:blipFill>
                      <a:blip r:embed="rId4"/>
                      <a:stretch>
                        <a:fillRect/>
                      </a:stretch>
                    </p:blipFill>
                    <p:spPr>
                      <a:xfrm>
                        <a:off x="2555875" y="4005263"/>
                        <a:ext cx="304800" cy="400050"/>
                      </a:xfrm>
                      <a:prstGeom prst="rect">
                        <a:avLst/>
                      </a:prstGeom>
                      <a:noFill/>
                      <a:ln w="38100">
                        <a:noFill/>
                        <a:miter/>
                      </a:ln>
                    </p:spPr>
                  </p:pic>
                </p:oleObj>
              </mc:Fallback>
            </mc:AlternateContent>
          </a:graphicData>
        </a:graphic>
      </p:graphicFrame>
      <p:sp>
        <p:nvSpPr>
          <p:cNvPr id="31760" name="矩形 68625"/>
          <p:cNvSpPr/>
          <p:nvPr/>
        </p:nvSpPr>
        <p:spPr>
          <a:xfrm>
            <a:off x="1547813" y="479742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31761" name="对象 68624"/>
          <p:cNvGraphicFramePr/>
          <p:nvPr/>
        </p:nvGraphicFramePr>
        <p:xfrm>
          <a:off x="1403350" y="4724400"/>
          <a:ext cx="304800" cy="323850"/>
        </p:xfrm>
        <a:graphic>
          <a:graphicData uri="http://schemas.openxmlformats.org/presentationml/2006/ole">
            <mc:AlternateContent xmlns:mc="http://schemas.openxmlformats.org/markup-compatibility/2006">
              <mc:Choice xmlns:v="urn:schemas-microsoft-com:vml" Requires="v">
                <p:oleObj spid="_x0000_s3134" name="" r:id="rId5" imgW="241300" imgH="266700" progId="Equation.DSMT4">
                  <p:embed/>
                </p:oleObj>
              </mc:Choice>
              <mc:Fallback>
                <p:oleObj name="" r:id="rId5" imgW="241300" imgH="266700" progId="Equation.DSMT4">
                  <p:embed/>
                  <p:pic>
                    <p:nvPicPr>
                      <p:cNvPr id="0" name="图片 3133"/>
                      <p:cNvPicPr/>
                      <p:nvPr/>
                    </p:nvPicPr>
                    <p:blipFill>
                      <a:blip r:embed="rId6"/>
                      <a:stretch>
                        <a:fillRect/>
                      </a:stretch>
                    </p:blipFill>
                    <p:spPr>
                      <a:xfrm>
                        <a:off x="1403350" y="4724400"/>
                        <a:ext cx="304800" cy="323850"/>
                      </a:xfrm>
                      <a:prstGeom prst="rect">
                        <a:avLst/>
                      </a:prstGeom>
                      <a:noFill/>
                      <a:ln w="38100">
                        <a:noFill/>
                        <a:miter/>
                      </a:ln>
                    </p:spPr>
                  </p:pic>
                </p:oleObj>
              </mc:Fallback>
            </mc:AlternateContent>
          </a:graphicData>
        </a:graphic>
      </p:graphicFrame>
      <p:sp>
        <p:nvSpPr>
          <p:cNvPr id="31762" name="矩形 68627"/>
          <p:cNvSpPr/>
          <p:nvPr/>
        </p:nvSpPr>
        <p:spPr>
          <a:xfrm>
            <a:off x="1584325" y="531971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31763" name="对象 68626"/>
          <p:cNvGraphicFramePr/>
          <p:nvPr/>
        </p:nvGraphicFramePr>
        <p:xfrm>
          <a:off x="1476375" y="5300663"/>
          <a:ext cx="285750" cy="342900"/>
        </p:xfrm>
        <a:graphic>
          <a:graphicData uri="http://schemas.openxmlformats.org/presentationml/2006/ole">
            <mc:AlternateContent xmlns:mc="http://schemas.openxmlformats.org/markup-compatibility/2006">
              <mc:Choice xmlns:v="urn:schemas-microsoft-com:vml" Requires="v">
                <p:oleObj spid="_x0000_s3132" name="" r:id="rId7" imgW="228600" imgH="266700" progId="Equation.DSMT4">
                  <p:embed/>
                </p:oleObj>
              </mc:Choice>
              <mc:Fallback>
                <p:oleObj name="" r:id="rId7" imgW="228600" imgH="266700" progId="Equation.DSMT4">
                  <p:embed/>
                  <p:pic>
                    <p:nvPicPr>
                      <p:cNvPr id="0" name="图片 3131"/>
                      <p:cNvPicPr/>
                      <p:nvPr/>
                    </p:nvPicPr>
                    <p:blipFill>
                      <a:blip r:embed="rId8"/>
                      <a:stretch>
                        <a:fillRect/>
                      </a:stretch>
                    </p:blipFill>
                    <p:spPr>
                      <a:xfrm>
                        <a:off x="1476375" y="5300663"/>
                        <a:ext cx="285750" cy="342900"/>
                      </a:xfrm>
                      <a:prstGeom prst="rect">
                        <a:avLst/>
                      </a:prstGeom>
                      <a:noFill/>
                      <a:ln w="38100">
                        <a:noFill/>
                        <a:miter/>
                      </a:ln>
                    </p:spPr>
                  </p:pic>
                </p:oleObj>
              </mc:Fallback>
            </mc:AlternateContent>
          </a:graphicData>
        </a:graphic>
      </p:graphicFrame>
      <p:grpSp>
        <p:nvGrpSpPr>
          <p:cNvPr id="31764" name="组合 68628"/>
          <p:cNvGrpSpPr/>
          <p:nvPr/>
        </p:nvGrpSpPr>
        <p:grpSpPr>
          <a:xfrm>
            <a:off x="4643438" y="3068638"/>
            <a:ext cx="3024187" cy="2665412"/>
            <a:chOff x="5397" y="7836"/>
            <a:chExt cx="3960" cy="3432"/>
          </a:xfrm>
        </p:grpSpPr>
        <p:sp>
          <p:nvSpPr>
            <p:cNvPr id="31765" name="文本框 68629"/>
            <p:cNvSpPr txBox="1"/>
            <p:nvPr/>
          </p:nvSpPr>
          <p:spPr>
            <a:xfrm>
              <a:off x="7017" y="8148"/>
              <a:ext cx="360" cy="312"/>
            </a:xfrm>
            <a:prstGeom prst="rect">
              <a:avLst/>
            </a:prstGeom>
            <a:noFill/>
            <a:ln w="9525">
              <a:noFill/>
            </a:ln>
          </p:spPr>
          <p:txBody>
            <a:bodyPr lIns="0" tIns="0" rIns="0" bIns="0" anchor="t" anchorCtr="0"/>
            <a:p>
              <a:pPr algn="just"/>
              <a:r>
                <a:rPr lang="en-US" altLang="zh-CN" sz="1200"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1766" name="文本框 68630"/>
            <p:cNvSpPr txBox="1"/>
            <p:nvPr/>
          </p:nvSpPr>
          <p:spPr>
            <a:xfrm>
              <a:off x="7737" y="7836"/>
              <a:ext cx="360" cy="468"/>
            </a:xfrm>
            <a:prstGeom prst="rect">
              <a:avLst/>
            </a:prstGeom>
            <a:noFill/>
            <a:ln w="9525">
              <a:noFill/>
            </a:ln>
          </p:spPr>
          <p:txBody>
            <a:bodyPr lIns="0" tIns="0" rIns="0" bIns="0" anchor="t" anchorCtr="0"/>
            <a:p>
              <a:pPr algn="just"/>
              <a:r>
                <a:rPr lang="en-US" altLang="zh-CN" sz="1400">
                  <a:solidFill>
                    <a:srgbClr val="993300"/>
                  </a:solidFill>
                  <a:latin typeface="Times New Roman" panose="02020603050405020304" pitchFamily="18" charset="0"/>
                  <a:ea typeface="宋体" panose="02010600030101010101" pitchFamily="2" charset="-122"/>
                </a:rPr>
                <a:t>e</a:t>
              </a:r>
              <a:r>
                <a:rPr lang="en-US" altLang="zh-CN" sz="1400" baseline="-25000">
                  <a:solidFill>
                    <a:srgbClr val="993300"/>
                  </a:solidFill>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31767" name="文本框 68631"/>
            <p:cNvSpPr txBox="1"/>
            <p:nvPr/>
          </p:nvSpPr>
          <p:spPr>
            <a:xfrm>
              <a:off x="6117" y="9240"/>
              <a:ext cx="360" cy="312"/>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0</a:t>
              </a:r>
              <a:endParaRPr lang="en-US" altLang="zh-CN">
                <a:latin typeface="Times New Roman" panose="02020603050405020304" pitchFamily="18" charset="0"/>
                <a:ea typeface="宋体" panose="02010600030101010101" pitchFamily="2" charset="-122"/>
              </a:endParaRPr>
            </a:p>
          </p:txBody>
        </p:sp>
        <p:sp>
          <p:nvSpPr>
            <p:cNvPr id="31768" name="文本框 68632"/>
            <p:cNvSpPr txBox="1"/>
            <p:nvPr/>
          </p:nvSpPr>
          <p:spPr>
            <a:xfrm>
              <a:off x="8817" y="9084"/>
              <a:ext cx="360" cy="312"/>
            </a:xfrm>
            <a:prstGeom prst="rect">
              <a:avLst/>
            </a:prstGeom>
            <a:noFill/>
            <a:ln w="9525">
              <a:noFill/>
            </a:ln>
          </p:spPr>
          <p:txBody>
            <a:bodyPr lIns="0" tIns="0" rIns="0" bIns="0" anchor="t" anchorCtr="0"/>
            <a:p>
              <a:pPr algn="just"/>
              <a:r>
                <a:rPr lang="en-US" altLang="zh-CN" sz="1200" b="0" dirty="0">
                  <a:latin typeface="Times New Roman" panose="02020603050405020304" pitchFamily="18" charset="0"/>
                  <a:ea typeface="宋体" panose="02010600030101010101" pitchFamily="2" charset="-122"/>
                  <a:sym typeface="Symbol" panose="05050102010706020507" pitchFamily="18" charset="2"/>
                </a:rPr>
                <a:t></a:t>
              </a:r>
              <a:r>
                <a:rPr lang="en-US" altLang="zh-CN" sz="1200" b="0">
                  <a:latin typeface="Times New Roman" panose="02020603050405020304" pitchFamily="18" charset="0"/>
                  <a:ea typeface="宋体" panose="02010600030101010101" pitchFamily="2" charset="-122"/>
                </a:rPr>
                <a:t>t</a:t>
              </a:r>
              <a:endParaRPr lang="en-US" altLang="zh-CN" b="0">
                <a:latin typeface="Times New Roman" panose="02020603050405020304" pitchFamily="18" charset="0"/>
                <a:ea typeface="宋体" panose="02010600030101010101" pitchFamily="2" charset="-122"/>
              </a:endParaRPr>
            </a:p>
          </p:txBody>
        </p:sp>
        <p:sp>
          <p:nvSpPr>
            <p:cNvPr id="31769" name="直接连接符 68633"/>
            <p:cNvSpPr/>
            <p:nvPr/>
          </p:nvSpPr>
          <p:spPr>
            <a:xfrm>
              <a:off x="5397" y="9552"/>
              <a:ext cx="3960" cy="0"/>
            </a:xfrm>
            <a:prstGeom prst="line">
              <a:avLst/>
            </a:prstGeom>
            <a:ln w="12700" cap="flat" cmpd="sng">
              <a:solidFill>
                <a:srgbClr val="000000"/>
              </a:solidFill>
              <a:prstDash val="solid"/>
              <a:round/>
              <a:headEnd type="none" w="med" len="med"/>
              <a:tailEnd type="triangle" w="med" len="med"/>
            </a:ln>
          </p:spPr>
        </p:sp>
        <p:sp>
          <p:nvSpPr>
            <p:cNvPr id="31770" name="直接连接符 68634"/>
            <p:cNvSpPr/>
            <p:nvPr/>
          </p:nvSpPr>
          <p:spPr>
            <a:xfrm flipV="1">
              <a:off x="6117" y="7836"/>
              <a:ext cx="0" cy="3432"/>
            </a:xfrm>
            <a:prstGeom prst="line">
              <a:avLst/>
            </a:prstGeom>
            <a:ln w="12700" cap="flat" cmpd="sng">
              <a:solidFill>
                <a:srgbClr val="000000"/>
              </a:solidFill>
              <a:prstDash val="solid"/>
              <a:round/>
              <a:headEnd type="none" w="med" len="med"/>
              <a:tailEnd type="triangle" w="med" len="med"/>
            </a:ln>
          </p:spPr>
        </p:sp>
        <p:grpSp>
          <p:nvGrpSpPr>
            <p:cNvPr id="31771" name="组合 68635"/>
            <p:cNvGrpSpPr/>
            <p:nvPr/>
          </p:nvGrpSpPr>
          <p:grpSpPr>
            <a:xfrm>
              <a:off x="5577" y="8304"/>
              <a:ext cx="2880" cy="2496"/>
              <a:chOff x="4317" y="10644"/>
              <a:chExt cx="2880" cy="2496"/>
            </a:xfrm>
          </p:grpSpPr>
          <p:sp>
            <p:nvSpPr>
              <p:cNvPr id="31772" name="任意多边形 68636"/>
              <p:cNvSpPr/>
              <p:nvPr/>
            </p:nvSpPr>
            <p:spPr>
              <a:xfrm>
                <a:off x="4317" y="10644"/>
                <a:ext cx="1440" cy="1248"/>
              </a:xfrm>
              <a:custGeom>
                <a:avLst/>
                <a:gdLst/>
                <a:ahLst/>
                <a:cxnLst/>
                <a:pathLst>
                  <a:path w="1440" h="1248">
                    <a:moveTo>
                      <a:pt x="0" y="1248"/>
                    </a:moveTo>
                    <a:cubicBezTo>
                      <a:pt x="240" y="624"/>
                      <a:pt x="480" y="0"/>
                      <a:pt x="720" y="0"/>
                    </a:cubicBezTo>
                    <a:cubicBezTo>
                      <a:pt x="960" y="0"/>
                      <a:pt x="1200" y="624"/>
                      <a:pt x="1440" y="1248"/>
                    </a:cubicBezTo>
                  </a:path>
                </a:pathLst>
              </a:custGeom>
              <a:noFill/>
              <a:ln w="12700" cap="flat" cmpd="sng">
                <a:solidFill>
                  <a:srgbClr val="FF0000"/>
                </a:solidFill>
                <a:prstDash val="solid"/>
                <a:round/>
                <a:headEnd type="none" w="med" len="med"/>
                <a:tailEnd type="none" w="med" len="med"/>
              </a:ln>
            </p:spPr>
            <p:txBody>
              <a:bodyPr/>
              <a:p>
                <a:endParaRPr lang="zh-CN" altLang="en-US"/>
              </a:p>
            </p:txBody>
          </p:sp>
          <p:sp>
            <p:nvSpPr>
              <p:cNvPr id="31773" name="任意多边形 68637"/>
              <p:cNvSpPr/>
              <p:nvPr/>
            </p:nvSpPr>
            <p:spPr>
              <a:xfrm flipV="1">
                <a:off x="5757" y="11892"/>
                <a:ext cx="1440" cy="1248"/>
              </a:xfrm>
              <a:custGeom>
                <a:avLst/>
                <a:gdLst/>
                <a:ahLst/>
                <a:cxnLst/>
                <a:pathLst>
                  <a:path w="1440" h="1248">
                    <a:moveTo>
                      <a:pt x="0" y="1248"/>
                    </a:moveTo>
                    <a:cubicBezTo>
                      <a:pt x="240" y="624"/>
                      <a:pt x="480" y="0"/>
                      <a:pt x="720" y="0"/>
                    </a:cubicBezTo>
                    <a:cubicBezTo>
                      <a:pt x="960" y="0"/>
                      <a:pt x="1200" y="624"/>
                      <a:pt x="1440" y="1248"/>
                    </a:cubicBezTo>
                  </a:path>
                </a:pathLst>
              </a:custGeom>
              <a:noFill/>
              <a:ln w="12700" cap="flat" cmpd="sng">
                <a:solidFill>
                  <a:srgbClr val="FF0000"/>
                </a:solidFill>
                <a:prstDash val="solid"/>
                <a:round/>
                <a:headEnd type="none" w="med" len="med"/>
                <a:tailEnd type="none" w="med" len="med"/>
              </a:ln>
            </p:spPr>
            <p:txBody>
              <a:bodyPr/>
              <a:p>
                <a:endParaRPr lang="zh-CN" altLang="en-US"/>
              </a:p>
            </p:txBody>
          </p:sp>
        </p:grpSp>
        <p:grpSp>
          <p:nvGrpSpPr>
            <p:cNvPr id="31774" name="组合 68638"/>
            <p:cNvGrpSpPr/>
            <p:nvPr/>
          </p:nvGrpSpPr>
          <p:grpSpPr>
            <a:xfrm flipV="1">
              <a:off x="5577" y="8304"/>
              <a:ext cx="2880" cy="2496"/>
              <a:chOff x="4317" y="10644"/>
              <a:chExt cx="2880" cy="2496"/>
            </a:xfrm>
          </p:grpSpPr>
          <p:sp>
            <p:nvSpPr>
              <p:cNvPr id="31775" name="任意多边形 68639"/>
              <p:cNvSpPr/>
              <p:nvPr/>
            </p:nvSpPr>
            <p:spPr>
              <a:xfrm>
                <a:off x="4317" y="10644"/>
                <a:ext cx="1440" cy="1248"/>
              </a:xfrm>
              <a:custGeom>
                <a:avLst/>
                <a:gdLst/>
                <a:ahLst/>
                <a:cxnLst/>
                <a:pathLst>
                  <a:path w="1440" h="1248">
                    <a:moveTo>
                      <a:pt x="0" y="1248"/>
                    </a:moveTo>
                    <a:cubicBezTo>
                      <a:pt x="240" y="624"/>
                      <a:pt x="480" y="0"/>
                      <a:pt x="720" y="0"/>
                    </a:cubicBezTo>
                    <a:cubicBezTo>
                      <a:pt x="960" y="0"/>
                      <a:pt x="1200" y="624"/>
                      <a:pt x="1440" y="1248"/>
                    </a:cubicBezTo>
                  </a:path>
                </a:pathLst>
              </a:custGeom>
              <a:noFill/>
              <a:ln w="12700" cap="flat" cmpd="sng">
                <a:solidFill>
                  <a:srgbClr val="993300"/>
                </a:solidFill>
                <a:prstDash val="solid"/>
                <a:round/>
                <a:headEnd type="none" w="med" len="med"/>
                <a:tailEnd type="none" w="med" len="med"/>
              </a:ln>
            </p:spPr>
            <p:txBody>
              <a:bodyPr/>
              <a:p>
                <a:endParaRPr lang="zh-CN" altLang="en-US"/>
              </a:p>
            </p:txBody>
          </p:sp>
          <p:sp>
            <p:nvSpPr>
              <p:cNvPr id="31776" name="任意多边形 68640"/>
              <p:cNvSpPr/>
              <p:nvPr/>
            </p:nvSpPr>
            <p:spPr>
              <a:xfrm flipV="1">
                <a:off x="5757" y="11892"/>
                <a:ext cx="1440" cy="1248"/>
              </a:xfrm>
              <a:custGeom>
                <a:avLst/>
                <a:gdLst/>
                <a:ahLst/>
                <a:cxnLst/>
                <a:pathLst>
                  <a:path w="1440" h="1248">
                    <a:moveTo>
                      <a:pt x="0" y="1248"/>
                    </a:moveTo>
                    <a:cubicBezTo>
                      <a:pt x="240" y="624"/>
                      <a:pt x="480" y="0"/>
                      <a:pt x="720" y="0"/>
                    </a:cubicBezTo>
                    <a:cubicBezTo>
                      <a:pt x="960" y="0"/>
                      <a:pt x="1200" y="624"/>
                      <a:pt x="1440" y="1248"/>
                    </a:cubicBezTo>
                  </a:path>
                </a:pathLst>
              </a:custGeom>
              <a:noFill/>
              <a:ln w="12700" cap="flat" cmpd="sng">
                <a:solidFill>
                  <a:srgbClr val="993300"/>
                </a:solidFill>
                <a:prstDash val="solid"/>
                <a:round/>
                <a:headEnd type="none" w="med" len="med"/>
                <a:tailEnd type="none" w="med" len="med"/>
              </a:ln>
            </p:spPr>
            <p:txBody>
              <a:bodyPr/>
              <a:p>
                <a:endParaRPr lang="zh-CN" altLang="en-US"/>
              </a:p>
            </p:txBody>
          </p:sp>
        </p:grpSp>
        <p:sp>
          <p:nvSpPr>
            <p:cNvPr id="31777" name="文本框 68641"/>
            <p:cNvSpPr txBox="1"/>
            <p:nvPr/>
          </p:nvSpPr>
          <p:spPr>
            <a:xfrm>
              <a:off x="6297" y="7836"/>
              <a:ext cx="360" cy="468"/>
            </a:xfrm>
            <a:prstGeom prst="rect">
              <a:avLst/>
            </a:prstGeom>
            <a:noFill/>
            <a:ln w="9525">
              <a:noFill/>
            </a:ln>
          </p:spPr>
          <p:txBody>
            <a:bodyPr lIns="0" tIns="0" rIns="0" bIns="0" anchor="t" anchorCtr="0"/>
            <a:p>
              <a:pPr algn="just"/>
              <a:r>
                <a:rPr lang="en-US" altLang="zh-CN" sz="1400">
                  <a:solidFill>
                    <a:srgbClr val="FF0000"/>
                  </a:solidFill>
                  <a:latin typeface="Times New Roman" panose="02020603050405020304" pitchFamily="18" charset="0"/>
                  <a:ea typeface="宋体" panose="02010600030101010101" pitchFamily="2" charset="-122"/>
                </a:rPr>
                <a:t>u</a:t>
              </a:r>
              <a:r>
                <a:rPr lang="en-US" altLang="zh-CN" sz="1400" baseline="-25000">
                  <a:solidFill>
                    <a:srgbClr val="FF0000"/>
                  </a:solidFill>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grpSp>
          <p:nvGrpSpPr>
            <p:cNvPr id="31778" name="组合 68642"/>
            <p:cNvGrpSpPr/>
            <p:nvPr/>
          </p:nvGrpSpPr>
          <p:grpSpPr>
            <a:xfrm flipV="1">
              <a:off x="5577" y="8928"/>
              <a:ext cx="2880" cy="1247"/>
              <a:chOff x="4317" y="10644"/>
              <a:chExt cx="2880" cy="2496"/>
            </a:xfrm>
          </p:grpSpPr>
          <p:sp>
            <p:nvSpPr>
              <p:cNvPr id="31779" name="任意多边形 68643"/>
              <p:cNvSpPr/>
              <p:nvPr/>
            </p:nvSpPr>
            <p:spPr>
              <a:xfrm>
                <a:off x="4317" y="10644"/>
                <a:ext cx="1440" cy="1248"/>
              </a:xfrm>
              <a:custGeom>
                <a:avLst/>
                <a:gdLst/>
                <a:ahLst/>
                <a:cxnLst/>
                <a:pathLst>
                  <a:path w="1440" h="1248">
                    <a:moveTo>
                      <a:pt x="0" y="1248"/>
                    </a:moveTo>
                    <a:cubicBezTo>
                      <a:pt x="240" y="624"/>
                      <a:pt x="480" y="0"/>
                      <a:pt x="720" y="0"/>
                    </a:cubicBezTo>
                    <a:cubicBezTo>
                      <a:pt x="960" y="0"/>
                      <a:pt x="1200" y="624"/>
                      <a:pt x="1440" y="1248"/>
                    </a:cubicBez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31780" name="任意多边形 68644"/>
              <p:cNvSpPr/>
              <p:nvPr/>
            </p:nvSpPr>
            <p:spPr>
              <a:xfrm flipV="1">
                <a:off x="5757" y="11892"/>
                <a:ext cx="1440" cy="1248"/>
              </a:xfrm>
              <a:custGeom>
                <a:avLst/>
                <a:gdLst/>
                <a:ahLst/>
                <a:cxnLst/>
                <a:pathLst>
                  <a:path w="1440" h="1248">
                    <a:moveTo>
                      <a:pt x="0" y="1248"/>
                    </a:moveTo>
                    <a:cubicBezTo>
                      <a:pt x="240" y="624"/>
                      <a:pt x="480" y="0"/>
                      <a:pt x="720" y="0"/>
                    </a:cubicBezTo>
                    <a:cubicBezTo>
                      <a:pt x="960" y="0"/>
                      <a:pt x="1200" y="624"/>
                      <a:pt x="1440" y="1248"/>
                    </a:cubicBezTo>
                  </a:path>
                </a:pathLst>
              </a:custGeom>
              <a:noFill/>
              <a:ln w="12700" cap="flat" cmpd="sng">
                <a:solidFill>
                  <a:srgbClr val="0000FF"/>
                </a:solidFill>
                <a:prstDash val="solid"/>
                <a:round/>
                <a:headEnd type="none" w="med" len="med"/>
                <a:tailEnd type="none" w="med" len="med"/>
              </a:ln>
            </p:spPr>
            <p:txBody>
              <a:bodyPr/>
              <a:p>
                <a:endParaRPr lang="zh-CN" altLang="en-US"/>
              </a:p>
            </p:txBody>
          </p:sp>
        </p:grpSp>
        <p:sp>
          <p:nvSpPr>
            <p:cNvPr id="31781" name="文本框 68645"/>
            <p:cNvSpPr txBox="1"/>
            <p:nvPr/>
          </p:nvSpPr>
          <p:spPr>
            <a:xfrm>
              <a:off x="7557" y="8460"/>
              <a:ext cx="360" cy="468"/>
            </a:xfrm>
            <a:prstGeom prst="rect">
              <a:avLst/>
            </a:prstGeom>
            <a:noFill/>
            <a:ln w="9525">
              <a:noFill/>
            </a:ln>
          </p:spPr>
          <p:txBody>
            <a:bodyPr lIns="0" tIns="0" rIns="0" bIns="0" anchor="t" anchorCtr="0"/>
            <a:p>
              <a:pPr algn="just"/>
              <a:r>
                <a:rPr lang="en-US" altLang="zh-CN" sz="1400">
                  <a:solidFill>
                    <a:srgbClr val="0000FF"/>
                  </a:solidFill>
                  <a:latin typeface="Times New Roman" panose="02020603050405020304" pitchFamily="18" charset="0"/>
                  <a:ea typeface="宋体" panose="02010600030101010101" pitchFamily="2" charset="-122"/>
                </a:rPr>
                <a:t>e</a:t>
              </a:r>
              <a:r>
                <a:rPr lang="en-US" altLang="zh-CN" sz="1400" baseline="-25000">
                  <a:solidFill>
                    <a:srgbClr val="0000FF"/>
                  </a:solidFill>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grpSp>
          <p:nvGrpSpPr>
            <p:cNvPr id="31782" name="组合 68646"/>
            <p:cNvGrpSpPr/>
            <p:nvPr/>
          </p:nvGrpSpPr>
          <p:grpSpPr>
            <a:xfrm>
              <a:off x="6297" y="8560"/>
              <a:ext cx="2880" cy="1928"/>
              <a:chOff x="4317" y="10644"/>
              <a:chExt cx="2880" cy="2496"/>
            </a:xfrm>
          </p:grpSpPr>
          <p:sp>
            <p:nvSpPr>
              <p:cNvPr id="31783" name="任意多边形 68647"/>
              <p:cNvSpPr/>
              <p:nvPr/>
            </p:nvSpPr>
            <p:spPr>
              <a:xfrm>
                <a:off x="4317" y="10644"/>
                <a:ext cx="1440" cy="1248"/>
              </a:xfrm>
              <a:custGeom>
                <a:avLst/>
                <a:gdLst/>
                <a:ahLst/>
                <a:cxnLst/>
                <a:pathLst>
                  <a:path w="1440" h="1248">
                    <a:moveTo>
                      <a:pt x="0" y="1248"/>
                    </a:moveTo>
                    <a:cubicBezTo>
                      <a:pt x="240" y="624"/>
                      <a:pt x="480" y="0"/>
                      <a:pt x="720" y="0"/>
                    </a:cubicBezTo>
                    <a:cubicBezTo>
                      <a:pt x="960" y="0"/>
                      <a:pt x="1200" y="624"/>
                      <a:pt x="1440" y="1248"/>
                    </a:cubicBezTo>
                  </a:path>
                </a:pathLst>
              </a:custGeom>
              <a:noFill/>
              <a:ln w="12700" cap="flat" cmpd="sng">
                <a:solidFill>
                  <a:srgbClr val="000000"/>
                </a:solidFill>
                <a:prstDash val="solid"/>
                <a:round/>
                <a:headEnd type="none" w="med" len="med"/>
                <a:tailEnd type="none" w="med" len="med"/>
              </a:ln>
            </p:spPr>
            <p:txBody>
              <a:bodyPr/>
              <a:p>
                <a:endParaRPr lang="zh-CN" altLang="en-US"/>
              </a:p>
            </p:txBody>
          </p:sp>
          <p:sp>
            <p:nvSpPr>
              <p:cNvPr id="31784" name="任意多边形 68648"/>
              <p:cNvSpPr/>
              <p:nvPr/>
            </p:nvSpPr>
            <p:spPr>
              <a:xfrm flipV="1">
                <a:off x="5757" y="11892"/>
                <a:ext cx="1440" cy="1248"/>
              </a:xfrm>
              <a:custGeom>
                <a:avLst/>
                <a:gdLst/>
                <a:ahLst/>
                <a:cxnLst/>
                <a:pathLst>
                  <a:path w="1440" h="1248">
                    <a:moveTo>
                      <a:pt x="0" y="1248"/>
                    </a:moveTo>
                    <a:cubicBezTo>
                      <a:pt x="240" y="624"/>
                      <a:pt x="480" y="0"/>
                      <a:pt x="720" y="0"/>
                    </a:cubicBezTo>
                    <a:cubicBezTo>
                      <a:pt x="960" y="0"/>
                      <a:pt x="1200" y="624"/>
                      <a:pt x="1440" y="1248"/>
                    </a:cubicBezTo>
                  </a:path>
                </a:pathLst>
              </a:custGeom>
              <a:noFill/>
              <a:ln w="12700" cap="flat" cmpd="sng">
                <a:solidFill>
                  <a:srgbClr val="000000"/>
                </a:solidFill>
                <a:prstDash val="solid"/>
                <a:round/>
                <a:headEnd type="none" w="med" len="med"/>
                <a:tailEnd type="none" w="med" len="med"/>
              </a:ln>
            </p:spPr>
            <p:txBody>
              <a:bodyPr/>
              <a:p>
                <a:endParaRPr lang="zh-CN" altLang="en-US"/>
              </a:p>
            </p:txBody>
          </p:sp>
        </p:grpSp>
      </p:grpSp>
      <p:graphicFrame>
        <p:nvGraphicFramePr>
          <p:cNvPr id="31785" name="对象 68649"/>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3136" name="" r:id="rId9" imgW="114300" imgH="177800" progId="Equation.DSMT4">
                  <p:embed/>
                </p:oleObj>
              </mc:Choice>
              <mc:Fallback>
                <p:oleObj name="" r:id="rId9" imgW="114300" imgH="177800" progId="Equation.DSMT4">
                  <p:embed/>
                  <p:pic>
                    <p:nvPicPr>
                      <p:cNvPr id="0" name="图片 3135"/>
                      <p:cNvPicPr/>
                      <p:nvPr/>
                    </p:nvPicPr>
                    <p:blipFill>
                      <a:blip r:embed="rId10"/>
                      <a:stretch>
                        <a:fillRect/>
                      </a:stretch>
                    </p:blipFill>
                    <p:spPr>
                      <a:xfrm>
                        <a:off x="4514850" y="3340100"/>
                        <a:ext cx="114300" cy="177800"/>
                      </a:xfrm>
                      <a:prstGeom prst="rect">
                        <a:avLst/>
                      </a:prstGeom>
                      <a:noFill/>
                      <a:ln w="38100">
                        <a:noFill/>
                        <a:miter/>
                      </a:ln>
                    </p:spPr>
                  </p:pic>
                </p:oleObj>
              </mc:Fallback>
            </mc:AlternateContent>
          </a:graphicData>
        </a:graphic>
      </p:graphicFrame>
      <p:graphicFrame>
        <p:nvGraphicFramePr>
          <p:cNvPr id="31786" name="对象 68650"/>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3139" name="" r:id="rId11" imgW="114300" imgH="177800" progId="Equation.DSMT4">
                  <p:embed/>
                </p:oleObj>
              </mc:Choice>
              <mc:Fallback>
                <p:oleObj name="" r:id="rId11" imgW="114300" imgH="177800" progId="Equation.DSMT4">
                  <p:embed/>
                  <p:pic>
                    <p:nvPicPr>
                      <p:cNvPr id="0" name="图片 3138"/>
                      <p:cNvPicPr/>
                      <p:nvPr/>
                    </p:nvPicPr>
                    <p:blipFill>
                      <a:blip r:embed="rId10"/>
                      <a:stretch>
                        <a:fillRect/>
                      </a:stretch>
                    </p:blipFill>
                    <p:spPr>
                      <a:xfrm>
                        <a:off x="4514850" y="3340100"/>
                        <a:ext cx="114300" cy="177800"/>
                      </a:xfrm>
                      <a:prstGeom prst="rect">
                        <a:avLst/>
                      </a:prstGeom>
                      <a:noFill/>
                      <a:ln w="38100">
                        <a:noFill/>
                        <a:miter/>
                      </a:ln>
                    </p:spPr>
                  </p:pic>
                </p:oleObj>
              </mc:Fallback>
            </mc:AlternateContent>
          </a:graphicData>
        </a:graphic>
      </p:graphicFrame>
      <p:graphicFrame>
        <p:nvGraphicFramePr>
          <p:cNvPr id="31787" name="对象 68651"/>
          <p:cNvGraphicFramePr/>
          <p:nvPr/>
        </p:nvGraphicFramePr>
        <p:xfrm>
          <a:off x="2339975" y="1844675"/>
          <a:ext cx="2498725" cy="588963"/>
        </p:xfrm>
        <a:graphic>
          <a:graphicData uri="http://schemas.openxmlformats.org/presentationml/2006/ole">
            <mc:AlternateContent xmlns:mc="http://schemas.openxmlformats.org/markup-compatibility/2006">
              <mc:Choice xmlns:v="urn:schemas-microsoft-com:vml" Requires="v">
                <p:oleObj spid="_x0000_s3137" name="" r:id="rId12" imgW="1294130" imgH="304800" progId="Equation.DSMT4">
                  <p:embed/>
                </p:oleObj>
              </mc:Choice>
              <mc:Fallback>
                <p:oleObj name="" r:id="rId12" imgW="1294130" imgH="304800" progId="Equation.DSMT4">
                  <p:embed/>
                  <p:pic>
                    <p:nvPicPr>
                      <p:cNvPr id="0" name="图片 3136"/>
                      <p:cNvPicPr/>
                      <p:nvPr/>
                    </p:nvPicPr>
                    <p:blipFill>
                      <a:blip r:embed="rId13"/>
                      <a:stretch>
                        <a:fillRect/>
                      </a:stretch>
                    </p:blipFill>
                    <p:spPr>
                      <a:xfrm>
                        <a:off x="2339975" y="1844675"/>
                        <a:ext cx="2498725" cy="588963"/>
                      </a:xfrm>
                      <a:prstGeom prst="rect">
                        <a:avLst/>
                      </a:prstGeom>
                      <a:noFill/>
                      <a:ln w="38100">
                        <a:noFill/>
                        <a:miter/>
                      </a:ln>
                    </p:spPr>
                  </p:pic>
                </p:oleObj>
              </mc:Fallback>
            </mc:AlternateContent>
          </a:graphicData>
        </a:graphic>
      </p:graphicFrame>
      <p:sp>
        <p:nvSpPr>
          <p:cNvPr id="31788" name="文本框 68655"/>
          <p:cNvSpPr txBox="1"/>
          <p:nvPr/>
        </p:nvSpPr>
        <p:spPr>
          <a:xfrm>
            <a:off x="1258888" y="2420938"/>
            <a:ext cx="1292225" cy="457200"/>
          </a:xfrm>
          <a:prstGeom prst="rect">
            <a:avLst/>
          </a:prstGeom>
          <a:noFill/>
          <a:ln w="9525">
            <a:noFill/>
          </a:ln>
        </p:spPr>
        <p:txBody>
          <a:bodyPr anchor="t" anchorCtr="0">
            <a:spAutoFit/>
          </a:bodyPr>
          <a:p>
            <a:r>
              <a:rPr lang="zh-CN" altLang="en-US" dirty="0">
                <a:latin typeface="Times New Roman" panose="02020603050405020304" pitchFamily="18" charset="0"/>
                <a:ea typeface="宋体" panose="02010600030101010101" pitchFamily="2" charset="-122"/>
              </a:rPr>
              <a:t>解：</a:t>
            </a:r>
            <a:r>
              <a:rPr lang="en-US" altLang="zh-CN">
                <a:latin typeface="Times New Roman" panose="02020603050405020304" pitchFamily="18" charset="0"/>
                <a:ea typeface="宋体" panose="02010600030101010101" pitchFamily="2" charset="-122"/>
              </a:rPr>
              <a:t>k=2</a:t>
            </a:r>
            <a:endParaRPr lang="en-US" altLang="zh-CN">
              <a:latin typeface="Times New Roman" panose="02020603050405020304" pitchFamily="18" charset="0"/>
              <a:ea typeface="宋体" panose="02010600030101010101" pitchFamily="2" charset="-122"/>
            </a:endParaRPr>
          </a:p>
        </p:txBody>
      </p:sp>
      <p:graphicFrame>
        <p:nvGraphicFramePr>
          <p:cNvPr id="31789" name="对象 68656"/>
          <p:cNvGraphicFramePr/>
          <p:nvPr/>
        </p:nvGraphicFramePr>
        <p:xfrm>
          <a:off x="2843213" y="2492375"/>
          <a:ext cx="1152525" cy="1084263"/>
        </p:xfrm>
        <a:graphic>
          <a:graphicData uri="http://schemas.openxmlformats.org/presentationml/2006/ole">
            <mc:AlternateContent xmlns:mc="http://schemas.openxmlformats.org/markup-compatibility/2006">
              <mc:Choice xmlns:v="urn:schemas-microsoft-com:vml" Requires="v">
                <p:oleObj spid="_x0000_s3140" name="" r:id="rId14" imgW="647700" imgH="609600" progId="Equation.DSMT4">
                  <p:embed/>
                </p:oleObj>
              </mc:Choice>
              <mc:Fallback>
                <p:oleObj name="" r:id="rId14" imgW="647700" imgH="609600" progId="Equation.DSMT4">
                  <p:embed/>
                  <p:pic>
                    <p:nvPicPr>
                      <p:cNvPr id="0" name="图片 3139"/>
                      <p:cNvPicPr/>
                      <p:nvPr/>
                    </p:nvPicPr>
                    <p:blipFill>
                      <a:blip r:embed="rId15"/>
                      <a:stretch>
                        <a:fillRect/>
                      </a:stretch>
                    </p:blipFill>
                    <p:spPr>
                      <a:xfrm>
                        <a:off x="2843213" y="2492375"/>
                        <a:ext cx="1152525" cy="1084263"/>
                      </a:xfrm>
                      <a:prstGeom prst="rect">
                        <a:avLst/>
                      </a:prstGeom>
                      <a:noFill/>
                      <a:ln w="38100">
                        <a:noFill/>
                        <a:miter/>
                      </a:ln>
                    </p:spPr>
                  </p:pic>
                </p:oleObj>
              </mc:Fallback>
            </mc:AlternateContent>
          </a:graphicData>
        </a:graphic>
      </p:graphicFrame>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矩形 67585"/>
          <p:cNvSpPr/>
          <p:nvPr/>
        </p:nvSpPr>
        <p:spPr>
          <a:xfrm>
            <a:off x="395288" y="476250"/>
            <a:ext cx="8496300" cy="968375"/>
          </a:xfrm>
          <a:prstGeom prst="rect">
            <a:avLst/>
          </a:prstGeom>
          <a:noFill/>
          <a:ln w="9525">
            <a:noFill/>
          </a:ln>
        </p:spPr>
        <p:txBody>
          <a:bodyPr anchor="ctr" anchorCtr="0">
            <a:spAutoFit/>
          </a:bodyPr>
          <a:p>
            <a:pPr>
              <a:lnSpc>
                <a:spcPct val="120000"/>
              </a:lnSpc>
            </a:pPr>
            <a:r>
              <a:rPr lang="en-US" altLang="zh-CN" dirty="0">
                <a:latin typeface="Times New Roman" panose="02020603050405020304" pitchFamily="18" charset="0"/>
                <a:ea typeface="宋体" panose="02010600030101010101" pitchFamily="2" charset="-122"/>
              </a:rPr>
              <a:t>5-6 </a:t>
            </a:r>
            <a:r>
              <a:rPr lang="zh-CN" altLang="en-US" dirty="0">
                <a:latin typeface="Times New Roman" panose="02020603050405020304" pitchFamily="18" charset="0"/>
                <a:ea typeface="宋体" panose="02010600030101010101" pitchFamily="2" charset="-122"/>
              </a:rPr>
              <a:t>在题</a:t>
            </a:r>
            <a:r>
              <a:rPr lang="en-US" altLang="zh-CN" dirty="0">
                <a:latin typeface="Times New Roman" panose="02020603050405020304" pitchFamily="18" charset="0"/>
                <a:ea typeface="宋体" panose="02010600030101010101" pitchFamily="2" charset="-122"/>
              </a:rPr>
              <a:t>5-5</a:t>
            </a:r>
            <a:r>
              <a:rPr lang="zh-CN" altLang="en-US" dirty="0">
                <a:latin typeface="Times New Roman" panose="02020603050405020304" pitchFamily="18" charset="0"/>
                <a:ea typeface="宋体" panose="02010600030101010101" pitchFamily="2" charset="-122"/>
              </a:rPr>
              <a:t>中，如果      的正方向是由</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指向</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，试写出它的原边电压平衡式，并画出                                的相量图。</a:t>
            </a:r>
            <a:endParaRPr lang="zh-CN" altLang="en-US">
              <a:latin typeface="Times New Roman" panose="02020603050405020304" pitchFamily="18" charset="0"/>
              <a:ea typeface="宋体" panose="02010600030101010101" pitchFamily="2" charset="-122"/>
            </a:endParaRPr>
          </a:p>
        </p:txBody>
      </p:sp>
      <p:graphicFrame>
        <p:nvGraphicFramePr>
          <p:cNvPr id="32770" name="对象 67587"/>
          <p:cNvGraphicFramePr/>
          <p:nvPr/>
        </p:nvGraphicFramePr>
        <p:xfrm>
          <a:off x="3203575" y="404813"/>
          <a:ext cx="452438" cy="584200"/>
        </p:xfrm>
        <a:graphic>
          <a:graphicData uri="http://schemas.openxmlformats.org/presentationml/2006/ole">
            <mc:AlternateContent xmlns:mc="http://schemas.openxmlformats.org/markup-compatibility/2006">
              <mc:Choice xmlns:v="urn:schemas-microsoft-com:vml" Requires="v">
                <p:oleObj spid="_x0000_s3141" name="" r:id="rId1" imgW="215900" imgH="278765" progId="Equation.DSMT4">
                  <p:embed/>
                </p:oleObj>
              </mc:Choice>
              <mc:Fallback>
                <p:oleObj name="" r:id="rId1" imgW="215900" imgH="278765" progId="Equation.DSMT4">
                  <p:embed/>
                  <p:pic>
                    <p:nvPicPr>
                      <p:cNvPr id="0" name="图片 3140"/>
                      <p:cNvPicPr/>
                      <p:nvPr/>
                    </p:nvPicPr>
                    <p:blipFill>
                      <a:blip r:embed="rId2"/>
                      <a:stretch>
                        <a:fillRect/>
                      </a:stretch>
                    </p:blipFill>
                    <p:spPr>
                      <a:xfrm>
                        <a:off x="3203575" y="404813"/>
                        <a:ext cx="452438" cy="584200"/>
                      </a:xfrm>
                      <a:prstGeom prst="rect">
                        <a:avLst/>
                      </a:prstGeom>
                      <a:noFill/>
                      <a:ln w="38100">
                        <a:noFill/>
                        <a:miter/>
                      </a:ln>
                    </p:spPr>
                  </p:pic>
                </p:oleObj>
              </mc:Fallback>
            </mc:AlternateContent>
          </a:graphicData>
        </a:graphic>
      </p:graphicFrame>
      <p:graphicFrame>
        <p:nvGraphicFramePr>
          <p:cNvPr id="32771" name="对象 67588"/>
          <p:cNvGraphicFramePr/>
          <p:nvPr/>
        </p:nvGraphicFramePr>
        <p:xfrm>
          <a:off x="3924300" y="908050"/>
          <a:ext cx="2330450" cy="593725"/>
        </p:xfrm>
        <a:graphic>
          <a:graphicData uri="http://schemas.openxmlformats.org/presentationml/2006/ole">
            <mc:AlternateContent xmlns:mc="http://schemas.openxmlformats.org/markup-compatibility/2006">
              <mc:Choice xmlns:v="urn:schemas-microsoft-com:vml" Requires="v">
                <p:oleObj spid="_x0000_s3138" name="" r:id="rId3" imgW="1192530" imgH="304800" progId="Equation.DSMT4">
                  <p:embed/>
                </p:oleObj>
              </mc:Choice>
              <mc:Fallback>
                <p:oleObj name="" r:id="rId3" imgW="1192530" imgH="304800" progId="Equation.DSMT4">
                  <p:embed/>
                  <p:pic>
                    <p:nvPicPr>
                      <p:cNvPr id="0" name="图片 3137"/>
                      <p:cNvPicPr/>
                      <p:nvPr/>
                    </p:nvPicPr>
                    <p:blipFill>
                      <a:blip r:embed="rId4"/>
                      <a:stretch>
                        <a:fillRect/>
                      </a:stretch>
                    </p:blipFill>
                    <p:spPr>
                      <a:xfrm>
                        <a:off x="3924300" y="908050"/>
                        <a:ext cx="2330450" cy="593725"/>
                      </a:xfrm>
                      <a:prstGeom prst="rect">
                        <a:avLst/>
                      </a:prstGeom>
                      <a:noFill/>
                      <a:ln w="38100">
                        <a:noFill/>
                        <a:miter/>
                      </a:ln>
                    </p:spPr>
                  </p:pic>
                </p:oleObj>
              </mc:Fallback>
            </mc:AlternateContent>
          </a:graphicData>
        </a:graphic>
      </p:graphicFrame>
      <p:grpSp>
        <p:nvGrpSpPr>
          <p:cNvPr id="32772" name="组合 67589"/>
          <p:cNvGrpSpPr/>
          <p:nvPr/>
        </p:nvGrpSpPr>
        <p:grpSpPr>
          <a:xfrm>
            <a:off x="4643438" y="2420938"/>
            <a:ext cx="2376487" cy="2808287"/>
            <a:chOff x="4857" y="2376"/>
            <a:chExt cx="2564" cy="2866"/>
          </a:xfrm>
        </p:grpSpPr>
        <p:sp>
          <p:nvSpPr>
            <p:cNvPr id="32773" name="文本框 67590"/>
            <p:cNvSpPr txBox="1"/>
            <p:nvPr/>
          </p:nvSpPr>
          <p:spPr>
            <a:xfrm>
              <a:off x="5397" y="2376"/>
              <a:ext cx="739" cy="682"/>
            </a:xfrm>
            <a:prstGeom prst="rect">
              <a:avLst/>
            </a:prstGeom>
            <a:noFill/>
            <a:ln w="9525">
              <a:noFill/>
            </a:ln>
          </p:spPr>
          <p:txBody>
            <a:bodyPr anchor="t" anchorCtr="0"/>
            <a:p>
              <a:pPr algn="ctr"/>
              <a:endParaRPr lang="zh-CN" dirty="0">
                <a:latin typeface="Times New Roman" panose="02020603050405020304" pitchFamily="18" charset="0"/>
                <a:ea typeface="宋体" panose="02010600030101010101" pitchFamily="2" charset="-122"/>
              </a:endParaRPr>
            </a:p>
          </p:txBody>
        </p:sp>
        <p:sp>
          <p:nvSpPr>
            <p:cNvPr id="32774" name="文本框 67591"/>
            <p:cNvSpPr txBox="1"/>
            <p:nvPr/>
          </p:nvSpPr>
          <p:spPr>
            <a:xfrm>
              <a:off x="4857" y="4560"/>
              <a:ext cx="764" cy="682"/>
            </a:xfrm>
            <a:prstGeom prst="rect">
              <a:avLst/>
            </a:prstGeom>
            <a:noFill/>
            <a:ln w="9525">
              <a:noFill/>
            </a:ln>
          </p:spPr>
          <p:txBody>
            <a:bodyPr anchor="t" anchorCtr="0"/>
            <a:p>
              <a:pPr algn="ctr"/>
              <a:endParaRPr lang="zh-CN" dirty="0">
                <a:latin typeface="Times New Roman" panose="02020603050405020304" pitchFamily="18" charset="0"/>
                <a:ea typeface="宋体" panose="02010600030101010101" pitchFamily="2" charset="-122"/>
              </a:endParaRPr>
            </a:p>
          </p:txBody>
        </p:sp>
        <p:sp>
          <p:nvSpPr>
            <p:cNvPr id="32775" name="文本框 67592"/>
            <p:cNvSpPr txBox="1"/>
            <p:nvPr/>
          </p:nvSpPr>
          <p:spPr>
            <a:xfrm>
              <a:off x="4882" y="2376"/>
              <a:ext cx="739" cy="708"/>
            </a:xfrm>
            <a:prstGeom prst="rect">
              <a:avLst/>
            </a:prstGeom>
            <a:noFill/>
            <a:ln w="9525">
              <a:noFill/>
            </a:ln>
          </p:spPr>
          <p:txBody>
            <a:bodyPr anchor="t" anchorCtr="0"/>
            <a:p>
              <a:pPr algn="ctr"/>
              <a:endParaRPr lang="zh-CN" dirty="0">
                <a:latin typeface="Times New Roman" panose="02020603050405020304" pitchFamily="18" charset="0"/>
                <a:ea typeface="宋体" panose="02010600030101010101" pitchFamily="2" charset="-122"/>
              </a:endParaRPr>
            </a:p>
          </p:txBody>
        </p:sp>
        <p:sp>
          <p:nvSpPr>
            <p:cNvPr id="32776" name="文本框 67593"/>
            <p:cNvSpPr txBox="1"/>
            <p:nvPr/>
          </p:nvSpPr>
          <p:spPr>
            <a:xfrm>
              <a:off x="6521" y="3312"/>
              <a:ext cx="900" cy="1248"/>
            </a:xfrm>
            <a:prstGeom prst="rect">
              <a:avLst/>
            </a:prstGeom>
            <a:noFill/>
            <a:ln w="9525">
              <a:noFill/>
            </a:ln>
          </p:spPr>
          <p:txBody>
            <a:bodyPr anchor="t" anchorCtr="0"/>
            <a:p>
              <a:pPr algn="ctr"/>
              <a:endParaRPr lang="zh-CN" dirty="0">
                <a:latin typeface="Times New Roman" panose="02020603050405020304" pitchFamily="18" charset="0"/>
                <a:ea typeface="宋体" panose="02010600030101010101" pitchFamily="2" charset="-122"/>
              </a:endParaRPr>
            </a:p>
          </p:txBody>
        </p:sp>
        <p:sp>
          <p:nvSpPr>
            <p:cNvPr id="32777" name="直接连接符 67594"/>
            <p:cNvSpPr/>
            <p:nvPr/>
          </p:nvSpPr>
          <p:spPr>
            <a:xfrm>
              <a:off x="4901" y="4248"/>
              <a:ext cx="2340" cy="0"/>
            </a:xfrm>
            <a:prstGeom prst="line">
              <a:avLst/>
            </a:prstGeom>
            <a:ln w="12700" cap="flat" cmpd="sng">
              <a:solidFill>
                <a:srgbClr val="000000"/>
              </a:solidFill>
              <a:prstDash val="solid"/>
              <a:round/>
              <a:headEnd type="none" w="med" len="med"/>
              <a:tailEnd type="triangle" w="med" len="med"/>
            </a:ln>
          </p:spPr>
        </p:sp>
        <p:sp>
          <p:nvSpPr>
            <p:cNvPr id="32778" name="直接连接符 67595"/>
            <p:cNvSpPr/>
            <p:nvPr/>
          </p:nvSpPr>
          <p:spPr>
            <a:xfrm flipV="1">
              <a:off x="4898" y="2535"/>
              <a:ext cx="0" cy="1716"/>
            </a:xfrm>
            <a:prstGeom prst="line">
              <a:avLst/>
            </a:prstGeom>
            <a:ln w="12700" cap="flat" cmpd="sng">
              <a:solidFill>
                <a:srgbClr val="000000"/>
              </a:solidFill>
              <a:prstDash val="solid"/>
              <a:round/>
              <a:headEnd type="none" w="med" len="med"/>
              <a:tailEnd type="triangle" w="med" len="med"/>
            </a:ln>
          </p:spPr>
        </p:sp>
        <p:sp>
          <p:nvSpPr>
            <p:cNvPr id="32779" name="直接连接符 67596"/>
            <p:cNvSpPr/>
            <p:nvPr/>
          </p:nvSpPr>
          <p:spPr>
            <a:xfrm>
              <a:off x="4901" y="4248"/>
              <a:ext cx="0" cy="936"/>
            </a:xfrm>
            <a:prstGeom prst="line">
              <a:avLst/>
            </a:prstGeom>
            <a:ln w="12700" cap="flat" cmpd="sng">
              <a:solidFill>
                <a:srgbClr val="000000"/>
              </a:solidFill>
              <a:prstDash val="solid"/>
              <a:round/>
              <a:headEnd type="none" w="med" len="med"/>
              <a:tailEnd type="triangle" w="med" len="med"/>
            </a:ln>
          </p:spPr>
        </p:sp>
      </p:grpSp>
      <p:graphicFrame>
        <p:nvGraphicFramePr>
          <p:cNvPr id="32780" name="对象 67597"/>
          <p:cNvGraphicFramePr/>
          <p:nvPr/>
        </p:nvGraphicFramePr>
        <p:xfrm>
          <a:off x="4775200" y="2525713"/>
          <a:ext cx="423863" cy="582612"/>
        </p:xfrm>
        <a:graphic>
          <a:graphicData uri="http://schemas.openxmlformats.org/presentationml/2006/ole">
            <mc:AlternateContent xmlns:mc="http://schemas.openxmlformats.org/markup-compatibility/2006">
              <mc:Choice xmlns:v="urn:schemas-microsoft-com:vml" Requires="v">
                <p:oleObj spid="_x0000_s3125" name="" r:id="rId5" imgW="203200" imgH="279400" progId="Equation.DSMT4">
                  <p:embed/>
                </p:oleObj>
              </mc:Choice>
              <mc:Fallback>
                <p:oleObj name="" r:id="rId5" imgW="203200" imgH="279400" progId="Equation.DSMT4">
                  <p:embed/>
                  <p:pic>
                    <p:nvPicPr>
                      <p:cNvPr id="0" name="图片 3124"/>
                      <p:cNvPicPr/>
                      <p:nvPr/>
                    </p:nvPicPr>
                    <p:blipFill>
                      <a:blip r:embed="rId6"/>
                      <a:stretch>
                        <a:fillRect/>
                      </a:stretch>
                    </p:blipFill>
                    <p:spPr>
                      <a:xfrm>
                        <a:off x="4775200" y="2525713"/>
                        <a:ext cx="423863" cy="582612"/>
                      </a:xfrm>
                      <a:prstGeom prst="rect">
                        <a:avLst/>
                      </a:prstGeom>
                      <a:noFill/>
                      <a:ln w="38100">
                        <a:noFill/>
                        <a:miter/>
                      </a:ln>
                    </p:spPr>
                  </p:pic>
                </p:oleObj>
              </mc:Fallback>
            </mc:AlternateContent>
          </a:graphicData>
        </a:graphic>
      </p:graphicFrame>
      <p:graphicFrame>
        <p:nvGraphicFramePr>
          <p:cNvPr id="32781" name="对象 67598"/>
          <p:cNvGraphicFramePr/>
          <p:nvPr/>
        </p:nvGraphicFramePr>
        <p:xfrm>
          <a:off x="5280025" y="2525713"/>
          <a:ext cx="450850" cy="582612"/>
        </p:xfrm>
        <a:graphic>
          <a:graphicData uri="http://schemas.openxmlformats.org/presentationml/2006/ole">
            <mc:AlternateContent xmlns:mc="http://schemas.openxmlformats.org/markup-compatibility/2006">
              <mc:Choice xmlns:v="urn:schemas-microsoft-com:vml" Requires="v">
                <p:oleObj spid="_x0000_s3127" name="" r:id="rId7" imgW="215900" imgH="278765" progId="Equation.DSMT4">
                  <p:embed/>
                </p:oleObj>
              </mc:Choice>
              <mc:Fallback>
                <p:oleObj name="" r:id="rId7" imgW="215900" imgH="278765" progId="Equation.DSMT4">
                  <p:embed/>
                  <p:pic>
                    <p:nvPicPr>
                      <p:cNvPr id="0" name="图片 3126"/>
                      <p:cNvPicPr/>
                      <p:nvPr/>
                    </p:nvPicPr>
                    <p:blipFill>
                      <a:blip r:embed="rId8"/>
                      <a:stretch>
                        <a:fillRect/>
                      </a:stretch>
                    </p:blipFill>
                    <p:spPr>
                      <a:xfrm>
                        <a:off x="5280025" y="2525713"/>
                        <a:ext cx="450850" cy="582612"/>
                      </a:xfrm>
                      <a:prstGeom prst="rect">
                        <a:avLst/>
                      </a:prstGeom>
                      <a:noFill/>
                      <a:ln w="38100">
                        <a:noFill/>
                        <a:miter/>
                      </a:ln>
                    </p:spPr>
                  </p:pic>
                </p:oleObj>
              </mc:Fallback>
            </mc:AlternateContent>
          </a:graphicData>
        </a:graphic>
      </p:graphicFrame>
      <p:graphicFrame>
        <p:nvGraphicFramePr>
          <p:cNvPr id="32782" name="对象 67599"/>
          <p:cNvGraphicFramePr/>
          <p:nvPr/>
        </p:nvGraphicFramePr>
        <p:xfrm>
          <a:off x="4705350" y="4764088"/>
          <a:ext cx="385763" cy="500062"/>
        </p:xfrm>
        <a:graphic>
          <a:graphicData uri="http://schemas.openxmlformats.org/presentationml/2006/ole">
            <mc:AlternateContent xmlns:mc="http://schemas.openxmlformats.org/markup-compatibility/2006">
              <mc:Choice xmlns:v="urn:schemas-microsoft-com:vml" Requires="v">
                <p:oleObj spid="_x0000_s3120" name="" r:id="rId9" imgW="215900" imgH="278765" progId="Equation.DSMT4">
                  <p:embed/>
                </p:oleObj>
              </mc:Choice>
              <mc:Fallback>
                <p:oleObj name="" r:id="rId9" imgW="215900" imgH="278765" progId="Equation.DSMT4">
                  <p:embed/>
                  <p:pic>
                    <p:nvPicPr>
                      <p:cNvPr id="0" name="图片 3119"/>
                      <p:cNvPicPr/>
                      <p:nvPr/>
                    </p:nvPicPr>
                    <p:blipFill>
                      <a:blip r:embed="rId10"/>
                      <a:stretch>
                        <a:fillRect/>
                      </a:stretch>
                    </p:blipFill>
                    <p:spPr>
                      <a:xfrm>
                        <a:off x="4705350" y="4764088"/>
                        <a:ext cx="385763" cy="500062"/>
                      </a:xfrm>
                      <a:prstGeom prst="rect">
                        <a:avLst/>
                      </a:prstGeom>
                      <a:noFill/>
                      <a:ln w="38100">
                        <a:noFill/>
                        <a:miter/>
                      </a:ln>
                    </p:spPr>
                  </p:pic>
                </p:oleObj>
              </mc:Fallback>
            </mc:AlternateContent>
          </a:graphicData>
        </a:graphic>
      </p:graphicFrame>
      <p:graphicFrame>
        <p:nvGraphicFramePr>
          <p:cNvPr id="32783" name="对象 67601"/>
          <p:cNvGraphicFramePr/>
          <p:nvPr/>
        </p:nvGraphicFramePr>
        <p:xfrm>
          <a:off x="6372225" y="3644900"/>
          <a:ext cx="504825" cy="584200"/>
        </p:xfrm>
        <a:graphic>
          <a:graphicData uri="http://schemas.openxmlformats.org/presentationml/2006/ole">
            <mc:AlternateContent xmlns:mc="http://schemas.openxmlformats.org/markup-compatibility/2006">
              <mc:Choice xmlns:v="urn:schemas-microsoft-com:vml" Requires="v">
                <p:oleObj spid="_x0000_s3122" name="" r:id="rId11" imgW="241300" imgH="279400" progId="Equation.DSMT4">
                  <p:embed/>
                </p:oleObj>
              </mc:Choice>
              <mc:Fallback>
                <p:oleObj name="" r:id="rId11" imgW="241300" imgH="279400" progId="Equation.DSMT4">
                  <p:embed/>
                  <p:pic>
                    <p:nvPicPr>
                      <p:cNvPr id="0" name="图片 3121"/>
                      <p:cNvPicPr/>
                      <p:nvPr/>
                    </p:nvPicPr>
                    <p:blipFill>
                      <a:blip r:embed="rId12"/>
                      <a:stretch>
                        <a:fillRect/>
                      </a:stretch>
                    </p:blipFill>
                    <p:spPr>
                      <a:xfrm>
                        <a:off x="6372225" y="3644900"/>
                        <a:ext cx="504825" cy="584200"/>
                      </a:xfrm>
                      <a:prstGeom prst="rect">
                        <a:avLst/>
                      </a:prstGeom>
                      <a:noFill/>
                      <a:ln w="38100">
                        <a:noFill/>
                        <a:miter/>
                      </a:ln>
                    </p:spPr>
                  </p:pic>
                </p:oleObj>
              </mc:Fallback>
            </mc:AlternateContent>
          </a:graphicData>
        </a:graphic>
      </p:graphicFrame>
      <p:sp>
        <p:nvSpPr>
          <p:cNvPr id="32784" name="矩形 67603"/>
          <p:cNvSpPr/>
          <p:nvPr/>
        </p:nvSpPr>
        <p:spPr>
          <a:xfrm>
            <a:off x="1854200" y="415925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32785" name="对象 67602"/>
          <p:cNvGraphicFramePr/>
          <p:nvPr/>
        </p:nvGraphicFramePr>
        <p:xfrm>
          <a:off x="1258888" y="3213100"/>
          <a:ext cx="1120775" cy="1146175"/>
        </p:xfrm>
        <a:graphic>
          <a:graphicData uri="http://schemas.openxmlformats.org/presentationml/2006/ole">
            <mc:AlternateContent xmlns:mc="http://schemas.openxmlformats.org/markup-compatibility/2006">
              <mc:Choice xmlns:v="urn:schemas-microsoft-com:vml" Requires="v">
                <p:oleObj spid="_x0000_s3118" name="" r:id="rId13" imgW="571500" imgH="584200" progId="Equation.DSMT4">
                  <p:embed/>
                </p:oleObj>
              </mc:Choice>
              <mc:Fallback>
                <p:oleObj name="" r:id="rId13" imgW="571500" imgH="584200" progId="Equation.DSMT4">
                  <p:embed/>
                  <p:pic>
                    <p:nvPicPr>
                      <p:cNvPr id="0" name="图片 3117"/>
                      <p:cNvPicPr/>
                      <p:nvPr/>
                    </p:nvPicPr>
                    <p:blipFill>
                      <a:blip r:embed="rId14"/>
                      <a:stretch>
                        <a:fillRect/>
                      </a:stretch>
                    </p:blipFill>
                    <p:spPr>
                      <a:xfrm>
                        <a:off x="1258888" y="3213100"/>
                        <a:ext cx="1120775" cy="1146175"/>
                      </a:xfrm>
                      <a:prstGeom prst="rect">
                        <a:avLst/>
                      </a:prstGeom>
                      <a:noFill/>
                      <a:ln w="38100">
                        <a:noFill/>
                        <a:miter/>
                      </a:ln>
                    </p:spPr>
                  </p:pic>
                </p:oleObj>
              </mc:Fallback>
            </mc:AlternateContent>
          </a:graphicData>
        </a:graphic>
      </p:graphicFrame>
      <p:sp>
        <p:nvSpPr>
          <p:cNvPr id="32786" name="文本框 67604"/>
          <p:cNvSpPr txBox="1"/>
          <p:nvPr/>
        </p:nvSpPr>
        <p:spPr>
          <a:xfrm>
            <a:off x="468313" y="2060575"/>
            <a:ext cx="3311525" cy="822325"/>
          </a:xfrm>
          <a:prstGeom prst="rect">
            <a:avLst/>
          </a:prstGeom>
          <a:noFill/>
          <a:ln w="9525">
            <a:noFill/>
          </a:ln>
        </p:spPr>
        <p:txBody>
          <a:bodyPr anchor="t" anchorCtr="0">
            <a:spAutoFit/>
          </a:bodyPr>
          <a:p>
            <a:r>
              <a:rPr lang="zh-CN" altLang="en-US" dirty="0">
                <a:latin typeface="Times New Roman" panose="02020603050405020304" pitchFamily="18" charset="0"/>
                <a:ea typeface="宋体" panose="02010600030101010101" pitchFamily="2" charset="-122"/>
              </a:rPr>
              <a:t>解：此时</a:t>
            </a:r>
            <a:r>
              <a:rPr lang="en-US" altLang="zh-CN" dirty="0">
                <a:latin typeface="Times New Roman" panose="02020603050405020304" pitchFamily="18" charset="0"/>
                <a:ea typeface="宋体" panose="02010600030101010101" pitchFamily="2" charset="-122"/>
              </a:rPr>
              <a:t>E1</a:t>
            </a:r>
            <a:r>
              <a:rPr lang="zh-CN" altLang="en-US" dirty="0">
                <a:latin typeface="Times New Roman" panose="02020603050405020304" pitchFamily="18" charset="0"/>
                <a:ea typeface="宋体" panose="02010600030101010101" pitchFamily="2" charset="-122"/>
              </a:rPr>
              <a:t>与</a:t>
            </a:r>
            <a:r>
              <a:rPr lang="en-US" altLang="zh-CN" dirty="0">
                <a:latin typeface="Times New Roman" panose="02020603050405020304" pitchFamily="18" charset="0"/>
                <a:ea typeface="宋体" panose="02010600030101010101" pitchFamily="2" charset="-122"/>
              </a:rPr>
              <a:t>Φ</a:t>
            </a:r>
            <a:r>
              <a:rPr lang="zh-CN" altLang="en-US" dirty="0">
                <a:latin typeface="Times New Roman" panose="02020603050405020304" pitchFamily="18" charset="0"/>
                <a:ea typeface="宋体" panose="02010600030101010101" pitchFamily="2" charset="-122"/>
              </a:rPr>
              <a:t>不是右手关系，</a:t>
            </a:r>
            <a:r>
              <a:rPr lang="en-US" altLang="zh-CN" dirty="0">
                <a:latin typeface="Times New Roman" panose="02020603050405020304" pitchFamily="18" charset="0"/>
                <a:ea typeface="宋体" panose="02010600030101010101" pitchFamily="2" charset="-122"/>
              </a:rPr>
              <a:t>E1</a:t>
            </a:r>
            <a:r>
              <a:rPr lang="zh-CN" altLang="en-US" dirty="0">
                <a:latin typeface="Times New Roman" panose="02020603050405020304" pitchFamily="18" charset="0"/>
                <a:ea typeface="宋体" panose="02010600030101010101" pitchFamily="2" charset="-122"/>
              </a:rPr>
              <a:t>超前</a:t>
            </a:r>
            <a:r>
              <a:rPr lang="en-US" altLang="zh-CN">
                <a:latin typeface="Times New Roman" panose="02020603050405020304" pitchFamily="18" charset="0"/>
                <a:ea typeface="宋体" panose="02010600030101010101" pitchFamily="2" charset="-122"/>
              </a:rPr>
              <a:t>90°</a:t>
            </a:r>
            <a:endParaRPr lang="en-US" altLang="zh-CN">
              <a:latin typeface="Times New Roman" panose="02020603050405020304" pitchFamily="18" charset="0"/>
              <a:ea typeface="宋体" panose="02010600030101010101" pitchFamily="2" charset="-122"/>
            </a:endParaRPr>
          </a:p>
        </p:txBody>
      </p:sp>
      <p:graphicFrame>
        <p:nvGraphicFramePr>
          <p:cNvPr id="32787" name="对象 67605"/>
          <p:cNvGraphicFramePr/>
          <p:nvPr/>
        </p:nvGraphicFramePr>
        <p:xfrm>
          <a:off x="5137150" y="4764088"/>
          <a:ext cx="385763" cy="500062"/>
        </p:xfrm>
        <a:graphic>
          <a:graphicData uri="http://schemas.openxmlformats.org/presentationml/2006/ole">
            <mc:AlternateContent xmlns:mc="http://schemas.openxmlformats.org/markup-compatibility/2006">
              <mc:Choice xmlns:v="urn:schemas-microsoft-com:vml" Requires="v">
                <p:oleObj spid="_x0000_s3126" name="" r:id="rId15" imgW="215900" imgH="278765" progId="Equation.DSMT4">
                  <p:embed/>
                </p:oleObj>
              </mc:Choice>
              <mc:Fallback>
                <p:oleObj name="" r:id="rId15" imgW="215900" imgH="278765" progId="Equation.DSMT4">
                  <p:embed/>
                  <p:pic>
                    <p:nvPicPr>
                      <p:cNvPr id="0" name="图片 3125"/>
                      <p:cNvPicPr/>
                      <p:nvPr/>
                    </p:nvPicPr>
                    <p:blipFill>
                      <a:blip r:embed="rId16"/>
                      <a:stretch>
                        <a:fillRect/>
                      </a:stretch>
                    </p:blipFill>
                    <p:spPr>
                      <a:xfrm>
                        <a:off x="5137150" y="4764088"/>
                        <a:ext cx="385763" cy="500062"/>
                      </a:xfrm>
                      <a:prstGeom prst="rect">
                        <a:avLst/>
                      </a:prstGeom>
                      <a:noFill/>
                      <a:ln w="38100">
                        <a:noFill/>
                        <a:miter/>
                      </a:ln>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矩形 73731"/>
          <p:cNvSpPr/>
          <p:nvPr/>
        </p:nvSpPr>
        <p:spPr>
          <a:xfrm>
            <a:off x="250825" y="333375"/>
            <a:ext cx="8351838" cy="1079500"/>
          </a:xfrm>
          <a:prstGeom prst="rect">
            <a:avLst/>
          </a:prstGeom>
          <a:noFill/>
          <a:ln w="9525">
            <a:noFill/>
          </a:ln>
        </p:spPr>
        <p:txBody>
          <a:bodyPr anchor="ctr" anchorCtr="0">
            <a:spAutoFit/>
          </a:bodyPr>
          <a:p>
            <a:pPr>
              <a:lnSpc>
                <a:spcPct val="135000"/>
              </a:lnSpc>
            </a:pPr>
            <a:r>
              <a:rPr lang="en-US" altLang="zh-CN" dirty="0">
                <a:latin typeface="Times New Roman" panose="02020603050405020304" pitchFamily="18" charset="0"/>
                <a:ea typeface="宋体" panose="02010600030101010101" pitchFamily="2" charset="-122"/>
              </a:rPr>
              <a:t>5-7 </a:t>
            </a:r>
            <a:r>
              <a:rPr lang="zh-CN" altLang="en-US" dirty="0">
                <a:latin typeface="Times New Roman" panose="02020603050405020304" pitchFamily="18" charset="0"/>
                <a:ea typeface="宋体" panose="02010600030101010101" pitchFamily="2" charset="-122"/>
              </a:rPr>
              <a:t>在题</a:t>
            </a:r>
            <a:r>
              <a:rPr lang="en-US" altLang="zh-CN" dirty="0">
                <a:latin typeface="Times New Roman" panose="02020603050405020304" pitchFamily="18" charset="0"/>
                <a:ea typeface="宋体" panose="02010600030101010101" pitchFamily="2" charset="-122"/>
              </a:rPr>
              <a:t>5-5</a:t>
            </a:r>
            <a:r>
              <a:rPr lang="zh-CN" altLang="en-US" dirty="0">
                <a:latin typeface="Times New Roman" panose="02020603050405020304" pitchFamily="18" charset="0"/>
                <a:ea typeface="宋体" panose="02010600030101010101" pitchFamily="2" charset="-122"/>
              </a:rPr>
              <a:t>中的变压器，如果在高压边两端</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加</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的电压，电流为      ，磁通幅值</a:t>
            </a:r>
            <a:r>
              <a:rPr lang="en-US" altLang="zh-CN" dirty="0">
                <a:latin typeface="Times New Roman" panose="02020603050405020304" pitchFamily="18" charset="0"/>
                <a:ea typeface="宋体" panose="02010600030101010101" pitchFamily="2" charset="-122"/>
              </a:rPr>
              <a:t>Φm</a:t>
            </a:r>
            <a:r>
              <a:rPr lang="zh-CN" altLang="en-US" dirty="0">
                <a:latin typeface="Times New Roman" panose="02020603050405020304" pitchFamily="18" charset="0"/>
                <a:ea typeface="宋体" panose="02010600030101010101" pitchFamily="2" charset="-122"/>
              </a:rPr>
              <a:t>，此时                各为多少</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aphicFrame>
        <p:nvGraphicFramePr>
          <p:cNvPr id="33794" name="对象 73732"/>
          <p:cNvGraphicFramePr/>
          <p:nvPr/>
        </p:nvGraphicFramePr>
        <p:xfrm>
          <a:off x="2195513" y="765175"/>
          <a:ext cx="431800" cy="576263"/>
        </p:xfrm>
        <a:graphic>
          <a:graphicData uri="http://schemas.openxmlformats.org/presentationml/2006/ole">
            <mc:AlternateContent xmlns:mc="http://schemas.openxmlformats.org/markup-compatibility/2006">
              <mc:Choice xmlns:v="urn:schemas-microsoft-com:vml" Requires="v">
                <p:oleObj spid="_x0000_s3121" name="" r:id="rId1" imgW="127000" imgH="266065" progId="Equation.DSMT4">
                  <p:embed/>
                </p:oleObj>
              </mc:Choice>
              <mc:Fallback>
                <p:oleObj name="" r:id="rId1" imgW="127000" imgH="266065" progId="Equation.DSMT4">
                  <p:embed/>
                  <p:pic>
                    <p:nvPicPr>
                      <p:cNvPr id="0" name="图片 3120"/>
                      <p:cNvPicPr/>
                      <p:nvPr/>
                    </p:nvPicPr>
                    <p:blipFill>
                      <a:blip r:embed="rId2"/>
                      <a:stretch>
                        <a:fillRect/>
                      </a:stretch>
                    </p:blipFill>
                    <p:spPr>
                      <a:xfrm>
                        <a:off x="2195513" y="765175"/>
                        <a:ext cx="431800" cy="576263"/>
                      </a:xfrm>
                      <a:prstGeom prst="rect">
                        <a:avLst/>
                      </a:prstGeom>
                      <a:noFill/>
                      <a:ln w="38100">
                        <a:noFill/>
                        <a:miter/>
                      </a:ln>
                    </p:spPr>
                  </p:pic>
                </p:oleObj>
              </mc:Fallback>
            </mc:AlternateContent>
          </a:graphicData>
        </a:graphic>
      </p:graphicFrame>
      <p:graphicFrame>
        <p:nvGraphicFramePr>
          <p:cNvPr id="33795" name="对象 73733"/>
          <p:cNvGraphicFramePr/>
          <p:nvPr/>
        </p:nvGraphicFramePr>
        <p:xfrm>
          <a:off x="5651500" y="765175"/>
          <a:ext cx="1152525" cy="590550"/>
        </p:xfrm>
        <a:graphic>
          <a:graphicData uri="http://schemas.openxmlformats.org/presentationml/2006/ole">
            <mc:AlternateContent xmlns:mc="http://schemas.openxmlformats.org/markup-compatibility/2006">
              <mc:Choice xmlns:v="urn:schemas-microsoft-com:vml" Requires="v">
                <p:oleObj spid="_x0000_s3128" name="" r:id="rId3" imgW="571500" imgH="292100" progId="Equation.DSMT4">
                  <p:embed/>
                </p:oleObj>
              </mc:Choice>
              <mc:Fallback>
                <p:oleObj name="" r:id="rId3" imgW="571500" imgH="292100" progId="Equation.DSMT4">
                  <p:embed/>
                  <p:pic>
                    <p:nvPicPr>
                      <p:cNvPr id="0" name="图片 3127"/>
                      <p:cNvPicPr/>
                      <p:nvPr/>
                    </p:nvPicPr>
                    <p:blipFill>
                      <a:blip r:embed="rId4"/>
                      <a:stretch>
                        <a:fillRect/>
                      </a:stretch>
                    </p:blipFill>
                    <p:spPr>
                      <a:xfrm>
                        <a:off x="5651500" y="765175"/>
                        <a:ext cx="1152525" cy="590550"/>
                      </a:xfrm>
                      <a:prstGeom prst="rect">
                        <a:avLst/>
                      </a:prstGeom>
                      <a:noFill/>
                      <a:ln w="38100">
                        <a:noFill/>
                        <a:miter/>
                      </a:ln>
                    </p:spPr>
                  </p:pic>
                </p:oleObj>
              </mc:Fallback>
            </mc:AlternateContent>
          </a:graphicData>
        </a:graphic>
      </p:graphicFrame>
      <p:sp>
        <p:nvSpPr>
          <p:cNvPr id="33796" name="矩形 73734"/>
          <p:cNvSpPr/>
          <p:nvPr/>
        </p:nvSpPr>
        <p:spPr>
          <a:xfrm>
            <a:off x="179388" y="1341438"/>
            <a:ext cx="8712200" cy="1187450"/>
          </a:xfrm>
          <a:prstGeom prst="rect">
            <a:avLst/>
          </a:prstGeom>
          <a:noFill/>
          <a:ln w="9525">
            <a:noFill/>
          </a:ln>
        </p:spPr>
        <p:txBody>
          <a:bodyPr anchor="t" anchorCtr="0">
            <a:spAutoFit/>
          </a:bodyPr>
          <a:p>
            <a:r>
              <a:rPr lang="zh-CN" altLang="en-US" dirty="0">
                <a:latin typeface="Times New Roman" panose="02020603050405020304" pitchFamily="18" charset="0"/>
                <a:ea typeface="宋体" panose="02010600030101010101" pitchFamily="2" charset="-122"/>
              </a:rPr>
              <a:t>如果用导线将</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连在一起，在</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端加</a:t>
            </a:r>
            <a:r>
              <a:rPr lang="en-US" altLang="zh-CN" dirty="0">
                <a:latin typeface="Times New Roman" panose="02020603050405020304" pitchFamily="18" charset="0"/>
                <a:ea typeface="宋体" panose="02010600030101010101" pitchFamily="2" charset="-122"/>
              </a:rPr>
              <a:t>330V </a:t>
            </a:r>
            <a:r>
              <a:rPr lang="zh-CN" altLang="en-US" dirty="0">
                <a:latin typeface="Times New Roman" panose="02020603050405020304" pitchFamily="18" charset="0"/>
                <a:ea typeface="宋体" panose="02010600030101010101" pitchFamily="2" charset="-122"/>
              </a:rPr>
              <a:t>的电压，此时主磁通和励磁电流有否改变？如将</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连在一起，在</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端加</a:t>
            </a:r>
            <a:r>
              <a:rPr lang="en-US" altLang="zh-CN" dirty="0">
                <a:latin typeface="Times New Roman" panose="02020603050405020304" pitchFamily="18" charset="0"/>
                <a:ea typeface="宋体" panose="02010600030101010101" pitchFamily="2" charset="-122"/>
              </a:rPr>
              <a:t>110V</a:t>
            </a:r>
            <a:r>
              <a:rPr lang="zh-CN" altLang="en-US" dirty="0">
                <a:latin typeface="Times New Roman" panose="02020603050405020304" pitchFamily="18" charset="0"/>
                <a:ea typeface="宋体" panose="02010600030101010101" pitchFamily="2" charset="-122"/>
              </a:rPr>
              <a:t>电压，问励磁电流和主磁通又有什么变化？</a:t>
            </a:r>
            <a:endParaRPr lang="zh-CN" altLang="en-US" dirty="0">
              <a:latin typeface="Times New Roman" panose="02020603050405020304" pitchFamily="18" charset="0"/>
              <a:ea typeface="宋体" panose="02010600030101010101" pitchFamily="2" charset="-122"/>
            </a:endParaRPr>
          </a:p>
        </p:txBody>
      </p:sp>
      <p:graphicFrame>
        <p:nvGraphicFramePr>
          <p:cNvPr id="33797" name="对象 73764"/>
          <p:cNvGraphicFramePr/>
          <p:nvPr/>
        </p:nvGraphicFramePr>
        <p:xfrm>
          <a:off x="395288" y="3789363"/>
          <a:ext cx="4619625" cy="519112"/>
        </p:xfrm>
        <a:graphic>
          <a:graphicData uri="http://schemas.openxmlformats.org/presentationml/2006/ole">
            <mc:AlternateContent xmlns:mc="http://schemas.openxmlformats.org/markup-compatibility/2006">
              <mc:Choice xmlns:v="urn:schemas-microsoft-com:vml" Requires="v">
                <p:oleObj spid="_x0000_s3123" name="" r:id="rId5" imgW="2677160" imgH="304800" progId="Equation.DSMT4">
                  <p:embed/>
                </p:oleObj>
              </mc:Choice>
              <mc:Fallback>
                <p:oleObj name="" r:id="rId5" imgW="2677160" imgH="304800" progId="Equation.DSMT4">
                  <p:embed/>
                  <p:pic>
                    <p:nvPicPr>
                      <p:cNvPr id="0" name="图片 3122"/>
                      <p:cNvPicPr/>
                      <p:nvPr/>
                    </p:nvPicPr>
                    <p:blipFill>
                      <a:blip r:embed="rId6"/>
                      <a:stretch>
                        <a:fillRect/>
                      </a:stretch>
                    </p:blipFill>
                    <p:spPr>
                      <a:xfrm>
                        <a:off x="395288" y="3789363"/>
                        <a:ext cx="4619625" cy="519112"/>
                      </a:xfrm>
                      <a:prstGeom prst="rect">
                        <a:avLst/>
                      </a:prstGeom>
                      <a:noFill/>
                      <a:ln w="38100">
                        <a:noFill/>
                        <a:miter/>
                      </a:ln>
                    </p:spPr>
                  </p:pic>
                </p:oleObj>
              </mc:Fallback>
            </mc:AlternateContent>
          </a:graphicData>
        </a:graphic>
      </p:graphicFrame>
      <p:graphicFrame>
        <p:nvGraphicFramePr>
          <p:cNvPr id="33798" name="对象 73763"/>
          <p:cNvGraphicFramePr/>
          <p:nvPr/>
        </p:nvGraphicFramePr>
        <p:xfrm>
          <a:off x="658813" y="4437063"/>
          <a:ext cx="2859087" cy="401637"/>
        </p:xfrm>
        <a:graphic>
          <a:graphicData uri="http://schemas.openxmlformats.org/presentationml/2006/ole">
            <mc:AlternateContent xmlns:mc="http://schemas.openxmlformats.org/markup-compatibility/2006">
              <mc:Choice xmlns:v="urn:schemas-microsoft-com:vml" Requires="v">
                <p:oleObj spid="_x0000_s3119" name="" r:id="rId7" imgW="1421130" imgH="203200" progId="Equation.DSMT4">
                  <p:embed/>
                </p:oleObj>
              </mc:Choice>
              <mc:Fallback>
                <p:oleObj name="" r:id="rId7" imgW="1421130" imgH="203200" progId="Equation.DSMT4">
                  <p:embed/>
                  <p:pic>
                    <p:nvPicPr>
                      <p:cNvPr id="0" name="图片 3118"/>
                      <p:cNvPicPr/>
                      <p:nvPr/>
                    </p:nvPicPr>
                    <p:blipFill>
                      <a:blip r:embed="rId8"/>
                      <a:stretch>
                        <a:fillRect/>
                      </a:stretch>
                    </p:blipFill>
                    <p:spPr>
                      <a:xfrm>
                        <a:off x="658813" y="4437063"/>
                        <a:ext cx="2859087" cy="401637"/>
                      </a:xfrm>
                      <a:prstGeom prst="rect">
                        <a:avLst/>
                      </a:prstGeom>
                      <a:noFill/>
                      <a:ln w="38100">
                        <a:noFill/>
                        <a:miter/>
                      </a:ln>
                    </p:spPr>
                  </p:pic>
                </p:oleObj>
              </mc:Fallback>
            </mc:AlternateContent>
          </a:graphicData>
        </a:graphic>
      </p:graphicFrame>
      <p:graphicFrame>
        <p:nvGraphicFramePr>
          <p:cNvPr id="33799" name="对象 73735"/>
          <p:cNvGraphicFramePr/>
          <p:nvPr/>
        </p:nvGraphicFramePr>
        <p:xfrm>
          <a:off x="611188" y="5734050"/>
          <a:ext cx="3571875" cy="558800"/>
        </p:xfrm>
        <a:graphic>
          <a:graphicData uri="http://schemas.openxmlformats.org/presentationml/2006/ole">
            <mc:AlternateContent xmlns:mc="http://schemas.openxmlformats.org/markup-compatibility/2006">
              <mc:Choice xmlns:v="urn:schemas-microsoft-com:vml" Requires="v">
                <p:oleObj spid="_x0000_s3124" name="" r:id="rId9" imgW="1915795" imgH="304800" progId="Equation.DSMT4">
                  <p:embed/>
                </p:oleObj>
              </mc:Choice>
              <mc:Fallback>
                <p:oleObj name="" r:id="rId9" imgW="1915795" imgH="304800" progId="Equation.DSMT4">
                  <p:embed/>
                  <p:pic>
                    <p:nvPicPr>
                      <p:cNvPr id="0" name="图片 3123"/>
                      <p:cNvPicPr/>
                      <p:nvPr/>
                    </p:nvPicPr>
                    <p:blipFill>
                      <a:blip r:embed="rId10"/>
                      <a:stretch>
                        <a:fillRect/>
                      </a:stretch>
                    </p:blipFill>
                    <p:spPr>
                      <a:xfrm>
                        <a:off x="611188" y="5734050"/>
                        <a:ext cx="3571875" cy="558800"/>
                      </a:xfrm>
                      <a:prstGeom prst="rect">
                        <a:avLst/>
                      </a:prstGeom>
                      <a:noFill/>
                      <a:ln w="38100">
                        <a:noFill/>
                        <a:miter/>
                      </a:ln>
                    </p:spPr>
                  </p:pic>
                </p:oleObj>
              </mc:Fallback>
            </mc:AlternateContent>
          </a:graphicData>
        </a:graphic>
      </p:graphicFrame>
      <p:grpSp>
        <p:nvGrpSpPr>
          <p:cNvPr id="33800" name="组合 73765"/>
          <p:cNvGrpSpPr/>
          <p:nvPr/>
        </p:nvGrpSpPr>
        <p:grpSpPr>
          <a:xfrm>
            <a:off x="6084888" y="2924175"/>
            <a:ext cx="1727200" cy="2736850"/>
            <a:chOff x="2157" y="6603"/>
            <a:chExt cx="1260" cy="2697"/>
          </a:xfrm>
        </p:grpSpPr>
        <p:grpSp>
          <p:nvGrpSpPr>
            <p:cNvPr id="33801" name="组合 73785"/>
            <p:cNvGrpSpPr/>
            <p:nvPr/>
          </p:nvGrpSpPr>
          <p:grpSpPr>
            <a:xfrm>
              <a:off x="3057" y="7056"/>
              <a:ext cx="180" cy="1404"/>
              <a:chOff x="3237" y="6744"/>
              <a:chExt cx="348" cy="2879"/>
            </a:xfrm>
          </p:grpSpPr>
          <p:sp>
            <p:nvSpPr>
              <p:cNvPr id="33802" name="任意多边形 73791"/>
              <p:cNvSpPr/>
              <p:nvPr/>
            </p:nvSpPr>
            <p:spPr>
              <a:xfrm>
                <a:off x="3237" y="7364"/>
                <a:ext cx="348" cy="415"/>
              </a:xfrm>
              <a:custGeom>
                <a:avLst/>
                <a:gdLst/>
                <a:ahLst/>
                <a:cxnLst>
                  <a:cxn ang="270">
                    <a:pos x="757" y="0"/>
                  </a:cxn>
                  <a:cxn ang="90">
                    <a:pos x="0" y="43186"/>
                  </a:cxn>
                  <a:cxn ang="90">
                    <a:pos x="757" y="21600"/>
                  </a:cxn>
                </a:cxnLst>
                <a:pathLst>
                  <a:path w="22357" h="43200" fill="none">
                    <a:moveTo>
                      <a:pt x="757" y="0"/>
                    </a:moveTo>
                    <a:cubicBezTo>
                      <a:pt x="12686" y="0"/>
                      <a:pt x="22357" y="9671"/>
                      <a:pt x="22357" y="21600"/>
                    </a:cubicBezTo>
                    <a:cubicBezTo>
                      <a:pt x="22357" y="33529"/>
                      <a:pt x="12686" y="43200"/>
                      <a:pt x="757" y="43200"/>
                    </a:cubicBezTo>
                    <a:cubicBezTo>
                      <a:pt x="502" y="43200"/>
                      <a:pt x="249" y="43196"/>
                      <a:pt x="0" y="43187"/>
                    </a:cubicBezTo>
                  </a:path>
                  <a:path w="22357" h="43200" stroke="0">
                    <a:moveTo>
                      <a:pt x="757" y="0"/>
                    </a:moveTo>
                    <a:cubicBezTo>
                      <a:pt x="12686" y="0"/>
                      <a:pt x="22357" y="9671"/>
                      <a:pt x="22357" y="21600"/>
                    </a:cubicBezTo>
                    <a:cubicBezTo>
                      <a:pt x="22357" y="33529"/>
                      <a:pt x="12686" y="43200"/>
                      <a:pt x="757" y="43200"/>
                    </a:cubicBezTo>
                    <a:cubicBezTo>
                      <a:pt x="502" y="43200"/>
                      <a:pt x="249" y="43196"/>
                      <a:pt x="0" y="43187"/>
                    </a:cubicBezTo>
                    <a:lnTo>
                      <a:pt x="75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3803" name="任意多边形 73790"/>
              <p:cNvSpPr/>
              <p:nvPr/>
            </p:nvSpPr>
            <p:spPr>
              <a:xfrm>
                <a:off x="3237" y="7777"/>
                <a:ext cx="348" cy="416"/>
              </a:xfrm>
              <a:custGeom>
                <a:avLst/>
                <a:gdLst/>
                <a:ahLst/>
                <a:cxnLst>
                  <a:cxn ang="270">
                    <a:pos x="757" y="0"/>
                  </a:cxn>
                  <a:cxn ang="90">
                    <a:pos x="0" y="43186"/>
                  </a:cxn>
                  <a:cxn ang="90">
                    <a:pos x="757" y="21600"/>
                  </a:cxn>
                </a:cxnLst>
                <a:pathLst>
                  <a:path w="22357" h="43200" fill="none">
                    <a:moveTo>
                      <a:pt x="757" y="0"/>
                    </a:moveTo>
                    <a:cubicBezTo>
                      <a:pt x="12686" y="0"/>
                      <a:pt x="22357" y="9671"/>
                      <a:pt x="22357" y="21600"/>
                    </a:cubicBezTo>
                    <a:cubicBezTo>
                      <a:pt x="22357" y="33529"/>
                      <a:pt x="12686" y="43200"/>
                      <a:pt x="757" y="43200"/>
                    </a:cubicBezTo>
                    <a:cubicBezTo>
                      <a:pt x="502" y="43200"/>
                      <a:pt x="249" y="43196"/>
                      <a:pt x="0" y="43187"/>
                    </a:cubicBezTo>
                  </a:path>
                  <a:path w="22357" h="43200" stroke="0">
                    <a:moveTo>
                      <a:pt x="757" y="0"/>
                    </a:moveTo>
                    <a:cubicBezTo>
                      <a:pt x="12686" y="0"/>
                      <a:pt x="22357" y="9671"/>
                      <a:pt x="22357" y="21600"/>
                    </a:cubicBezTo>
                    <a:cubicBezTo>
                      <a:pt x="22357" y="33529"/>
                      <a:pt x="12686" y="43200"/>
                      <a:pt x="757" y="43200"/>
                    </a:cubicBezTo>
                    <a:cubicBezTo>
                      <a:pt x="502" y="43200"/>
                      <a:pt x="249" y="43196"/>
                      <a:pt x="0" y="43187"/>
                    </a:cubicBezTo>
                    <a:lnTo>
                      <a:pt x="75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3804" name="任意多边形 73789"/>
              <p:cNvSpPr/>
              <p:nvPr/>
            </p:nvSpPr>
            <p:spPr>
              <a:xfrm>
                <a:off x="3237" y="8191"/>
                <a:ext cx="348" cy="415"/>
              </a:xfrm>
              <a:custGeom>
                <a:avLst/>
                <a:gdLst/>
                <a:ahLst/>
                <a:cxnLst>
                  <a:cxn ang="270">
                    <a:pos x="757" y="0"/>
                  </a:cxn>
                  <a:cxn ang="90">
                    <a:pos x="0" y="43186"/>
                  </a:cxn>
                  <a:cxn ang="90">
                    <a:pos x="757" y="21600"/>
                  </a:cxn>
                </a:cxnLst>
                <a:pathLst>
                  <a:path w="22357" h="43200" fill="none">
                    <a:moveTo>
                      <a:pt x="757" y="0"/>
                    </a:moveTo>
                    <a:cubicBezTo>
                      <a:pt x="12686" y="0"/>
                      <a:pt x="22357" y="9671"/>
                      <a:pt x="22357" y="21600"/>
                    </a:cubicBezTo>
                    <a:cubicBezTo>
                      <a:pt x="22357" y="33529"/>
                      <a:pt x="12686" y="43200"/>
                      <a:pt x="757" y="43200"/>
                    </a:cubicBezTo>
                    <a:cubicBezTo>
                      <a:pt x="502" y="43200"/>
                      <a:pt x="249" y="43196"/>
                      <a:pt x="0" y="43187"/>
                    </a:cubicBezTo>
                  </a:path>
                  <a:path w="22357" h="43200" stroke="0">
                    <a:moveTo>
                      <a:pt x="757" y="0"/>
                    </a:moveTo>
                    <a:cubicBezTo>
                      <a:pt x="12686" y="0"/>
                      <a:pt x="22357" y="9671"/>
                      <a:pt x="22357" y="21600"/>
                    </a:cubicBezTo>
                    <a:cubicBezTo>
                      <a:pt x="22357" y="33529"/>
                      <a:pt x="12686" y="43200"/>
                      <a:pt x="757" y="43200"/>
                    </a:cubicBezTo>
                    <a:cubicBezTo>
                      <a:pt x="502" y="43200"/>
                      <a:pt x="249" y="43196"/>
                      <a:pt x="0" y="43187"/>
                    </a:cubicBezTo>
                    <a:lnTo>
                      <a:pt x="75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3805" name="直接连接符 73788"/>
              <p:cNvSpPr/>
              <p:nvPr/>
            </p:nvSpPr>
            <p:spPr>
              <a:xfrm>
                <a:off x="3237" y="6744"/>
                <a:ext cx="0" cy="620"/>
              </a:xfrm>
              <a:prstGeom prst="line">
                <a:avLst/>
              </a:prstGeom>
              <a:ln w="19050" cap="flat" cmpd="sng">
                <a:solidFill>
                  <a:srgbClr val="000000"/>
                </a:solidFill>
                <a:prstDash val="solid"/>
                <a:round/>
                <a:headEnd type="none" w="med" len="med"/>
                <a:tailEnd type="none" w="med" len="med"/>
              </a:ln>
            </p:spPr>
          </p:sp>
          <p:sp>
            <p:nvSpPr>
              <p:cNvPr id="33806" name="任意多边形 73787"/>
              <p:cNvSpPr/>
              <p:nvPr/>
            </p:nvSpPr>
            <p:spPr>
              <a:xfrm>
                <a:off x="3240" y="8605"/>
                <a:ext cx="345" cy="415"/>
              </a:xfrm>
              <a:custGeom>
                <a:avLst/>
                <a:gdLst/>
                <a:ahLst/>
                <a:cxnLst>
                  <a:cxn ang="270">
                    <a:pos x="587" y="0"/>
                  </a:cxn>
                  <a:cxn ang="90">
                    <a:pos x="0" y="43192"/>
                  </a:cxn>
                  <a:cxn ang="90">
                    <a:pos x="587" y="21600"/>
                  </a:cxn>
                </a:cxnLst>
                <a:pathLst>
                  <a:path w="22187" h="43200" fill="none">
                    <a:moveTo>
                      <a:pt x="587" y="0"/>
                    </a:moveTo>
                    <a:cubicBezTo>
                      <a:pt x="12516" y="0"/>
                      <a:pt x="22187" y="9671"/>
                      <a:pt x="22187" y="21600"/>
                    </a:cubicBezTo>
                    <a:cubicBezTo>
                      <a:pt x="22187" y="33529"/>
                      <a:pt x="12516" y="43200"/>
                      <a:pt x="587" y="43200"/>
                    </a:cubicBezTo>
                    <a:cubicBezTo>
                      <a:pt x="390" y="43200"/>
                      <a:pt x="193" y="43197"/>
                      <a:pt x="0" y="43192"/>
                    </a:cubicBezTo>
                  </a:path>
                  <a:path w="22187" h="43200" stroke="0">
                    <a:moveTo>
                      <a:pt x="587" y="0"/>
                    </a:moveTo>
                    <a:cubicBezTo>
                      <a:pt x="12516" y="0"/>
                      <a:pt x="22187" y="9671"/>
                      <a:pt x="22187" y="21600"/>
                    </a:cubicBezTo>
                    <a:cubicBezTo>
                      <a:pt x="22187" y="33529"/>
                      <a:pt x="12516" y="43200"/>
                      <a:pt x="587" y="43200"/>
                    </a:cubicBezTo>
                    <a:cubicBezTo>
                      <a:pt x="390" y="43200"/>
                      <a:pt x="193" y="43197"/>
                      <a:pt x="0" y="43192"/>
                    </a:cubicBezTo>
                    <a:lnTo>
                      <a:pt x="58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3807" name="直接连接符 73786"/>
              <p:cNvSpPr/>
              <p:nvPr/>
            </p:nvSpPr>
            <p:spPr>
              <a:xfrm>
                <a:off x="3237" y="9003"/>
                <a:ext cx="0" cy="620"/>
              </a:xfrm>
              <a:prstGeom prst="line">
                <a:avLst/>
              </a:prstGeom>
              <a:ln w="19050" cap="flat" cmpd="sng">
                <a:solidFill>
                  <a:srgbClr val="000000"/>
                </a:solidFill>
                <a:prstDash val="solid"/>
                <a:round/>
                <a:headEnd type="none" w="med" len="med"/>
                <a:tailEnd type="none" w="med" len="med"/>
              </a:ln>
            </p:spPr>
          </p:sp>
        </p:grpSp>
        <p:grpSp>
          <p:nvGrpSpPr>
            <p:cNvPr id="33808" name="组合 73780"/>
            <p:cNvGrpSpPr/>
            <p:nvPr/>
          </p:nvGrpSpPr>
          <p:grpSpPr>
            <a:xfrm>
              <a:off x="3057" y="8460"/>
              <a:ext cx="180" cy="840"/>
              <a:chOff x="4677" y="9024"/>
              <a:chExt cx="348" cy="1716"/>
            </a:xfrm>
          </p:grpSpPr>
          <p:sp>
            <p:nvSpPr>
              <p:cNvPr id="33809" name="任意多边形 73784"/>
              <p:cNvSpPr/>
              <p:nvPr/>
            </p:nvSpPr>
            <p:spPr>
              <a:xfrm>
                <a:off x="4677" y="9450"/>
                <a:ext cx="348" cy="416"/>
              </a:xfrm>
              <a:custGeom>
                <a:avLst/>
                <a:gdLst/>
                <a:ahLst/>
                <a:cxnLst>
                  <a:cxn ang="270">
                    <a:pos x="757" y="0"/>
                  </a:cxn>
                  <a:cxn ang="90">
                    <a:pos x="0" y="43186"/>
                  </a:cxn>
                  <a:cxn ang="90">
                    <a:pos x="757" y="21600"/>
                  </a:cxn>
                </a:cxnLst>
                <a:pathLst>
                  <a:path w="22357" h="43200" fill="none">
                    <a:moveTo>
                      <a:pt x="757" y="0"/>
                    </a:moveTo>
                    <a:cubicBezTo>
                      <a:pt x="12686" y="0"/>
                      <a:pt x="22357" y="9671"/>
                      <a:pt x="22357" y="21600"/>
                    </a:cubicBezTo>
                    <a:cubicBezTo>
                      <a:pt x="22357" y="33529"/>
                      <a:pt x="12686" y="43200"/>
                      <a:pt x="757" y="43200"/>
                    </a:cubicBezTo>
                    <a:cubicBezTo>
                      <a:pt x="502" y="43200"/>
                      <a:pt x="249" y="43196"/>
                      <a:pt x="0" y="43187"/>
                    </a:cubicBezTo>
                  </a:path>
                  <a:path w="22357" h="43200" stroke="0">
                    <a:moveTo>
                      <a:pt x="757" y="0"/>
                    </a:moveTo>
                    <a:cubicBezTo>
                      <a:pt x="12686" y="0"/>
                      <a:pt x="22357" y="9671"/>
                      <a:pt x="22357" y="21600"/>
                    </a:cubicBezTo>
                    <a:cubicBezTo>
                      <a:pt x="22357" y="33529"/>
                      <a:pt x="12686" y="43200"/>
                      <a:pt x="757" y="43200"/>
                    </a:cubicBezTo>
                    <a:cubicBezTo>
                      <a:pt x="502" y="43200"/>
                      <a:pt x="249" y="43196"/>
                      <a:pt x="0" y="43187"/>
                    </a:cubicBezTo>
                    <a:lnTo>
                      <a:pt x="75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3810" name="任意多边形 73783"/>
              <p:cNvSpPr/>
              <p:nvPr/>
            </p:nvSpPr>
            <p:spPr>
              <a:xfrm>
                <a:off x="4677" y="9864"/>
                <a:ext cx="348" cy="415"/>
              </a:xfrm>
              <a:custGeom>
                <a:avLst/>
                <a:gdLst/>
                <a:ahLst/>
                <a:cxnLst>
                  <a:cxn ang="270">
                    <a:pos x="757" y="0"/>
                  </a:cxn>
                  <a:cxn ang="90">
                    <a:pos x="0" y="43186"/>
                  </a:cxn>
                  <a:cxn ang="90">
                    <a:pos x="757" y="21600"/>
                  </a:cxn>
                </a:cxnLst>
                <a:pathLst>
                  <a:path w="22357" h="43200" fill="none">
                    <a:moveTo>
                      <a:pt x="757" y="0"/>
                    </a:moveTo>
                    <a:cubicBezTo>
                      <a:pt x="12686" y="0"/>
                      <a:pt x="22357" y="9671"/>
                      <a:pt x="22357" y="21600"/>
                    </a:cubicBezTo>
                    <a:cubicBezTo>
                      <a:pt x="22357" y="33529"/>
                      <a:pt x="12686" y="43200"/>
                      <a:pt x="757" y="43200"/>
                    </a:cubicBezTo>
                    <a:cubicBezTo>
                      <a:pt x="502" y="43200"/>
                      <a:pt x="249" y="43196"/>
                      <a:pt x="0" y="43187"/>
                    </a:cubicBezTo>
                  </a:path>
                  <a:path w="22357" h="43200" stroke="0">
                    <a:moveTo>
                      <a:pt x="757" y="0"/>
                    </a:moveTo>
                    <a:cubicBezTo>
                      <a:pt x="12686" y="0"/>
                      <a:pt x="22357" y="9671"/>
                      <a:pt x="22357" y="21600"/>
                    </a:cubicBezTo>
                    <a:cubicBezTo>
                      <a:pt x="22357" y="33529"/>
                      <a:pt x="12686" y="43200"/>
                      <a:pt x="757" y="43200"/>
                    </a:cubicBezTo>
                    <a:cubicBezTo>
                      <a:pt x="502" y="43200"/>
                      <a:pt x="249" y="43196"/>
                      <a:pt x="0" y="43187"/>
                    </a:cubicBezTo>
                    <a:lnTo>
                      <a:pt x="75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3811" name="直接连接符 73782"/>
              <p:cNvSpPr/>
              <p:nvPr/>
            </p:nvSpPr>
            <p:spPr>
              <a:xfrm>
                <a:off x="4677" y="10272"/>
                <a:ext cx="0" cy="468"/>
              </a:xfrm>
              <a:prstGeom prst="line">
                <a:avLst/>
              </a:prstGeom>
              <a:ln w="19050" cap="flat" cmpd="sng">
                <a:solidFill>
                  <a:srgbClr val="000000"/>
                </a:solidFill>
                <a:prstDash val="solid"/>
                <a:round/>
                <a:headEnd type="none" w="med" len="med"/>
                <a:tailEnd type="none" w="med" len="med"/>
              </a:ln>
            </p:spPr>
          </p:sp>
          <p:sp>
            <p:nvSpPr>
              <p:cNvPr id="33812" name="直接连接符 73781"/>
              <p:cNvSpPr/>
              <p:nvPr/>
            </p:nvSpPr>
            <p:spPr>
              <a:xfrm flipV="1">
                <a:off x="4677" y="9024"/>
                <a:ext cx="0" cy="468"/>
              </a:xfrm>
              <a:prstGeom prst="line">
                <a:avLst/>
              </a:prstGeom>
              <a:ln w="19050" cap="flat" cmpd="sng">
                <a:solidFill>
                  <a:srgbClr val="000000"/>
                </a:solidFill>
                <a:prstDash val="solid"/>
                <a:round/>
                <a:headEnd type="none" w="med" len="med"/>
                <a:tailEnd type="none" w="med" len="med"/>
              </a:ln>
            </p:spPr>
          </p:sp>
        </p:grpSp>
        <p:sp>
          <p:nvSpPr>
            <p:cNvPr id="33813" name="直接连接符 73779"/>
            <p:cNvSpPr/>
            <p:nvPr/>
          </p:nvSpPr>
          <p:spPr>
            <a:xfrm flipH="1">
              <a:off x="2157" y="9285"/>
              <a:ext cx="900" cy="0"/>
            </a:xfrm>
            <a:prstGeom prst="line">
              <a:avLst/>
            </a:prstGeom>
            <a:ln w="19050" cap="flat" cmpd="sng">
              <a:solidFill>
                <a:srgbClr val="000000"/>
              </a:solidFill>
              <a:prstDash val="solid"/>
              <a:round/>
              <a:headEnd type="none" w="med" len="med"/>
              <a:tailEnd type="none" w="med" len="med"/>
            </a:ln>
          </p:spPr>
        </p:sp>
        <p:sp>
          <p:nvSpPr>
            <p:cNvPr id="33814" name="椭圆 73778"/>
            <p:cNvSpPr/>
            <p:nvPr/>
          </p:nvSpPr>
          <p:spPr>
            <a:xfrm>
              <a:off x="3124" y="7212"/>
              <a:ext cx="113" cy="113"/>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3815" name="椭圆 73777"/>
            <p:cNvSpPr/>
            <p:nvPr/>
          </p:nvSpPr>
          <p:spPr>
            <a:xfrm>
              <a:off x="3057" y="8460"/>
              <a:ext cx="113" cy="113"/>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3816" name="直接连接符 73776"/>
            <p:cNvSpPr/>
            <p:nvPr/>
          </p:nvSpPr>
          <p:spPr>
            <a:xfrm>
              <a:off x="3417" y="7368"/>
              <a:ext cx="0" cy="780"/>
            </a:xfrm>
            <a:prstGeom prst="line">
              <a:avLst/>
            </a:prstGeom>
            <a:ln w="19050" cap="flat" cmpd="sng">
              <a:solidFill>
                <a:srgbClr val="000000"/>
              </a:solidFill>
              <a:prstDash val="solid"/>
              <a:round/>
              <a:headEnd type="none" w="med" len="med"/>
              <a:tailEnd type="triangle" w="med" len="med"/>
            </a:ln>
          </p:spPr>
        </p:sp>
        <p:sp>
          <p:nvSpPr>
            <p:cNvPr id="33817" name="直接连接符 73775"/>
            <p:cNvSpPr/>
            <p:nvPr/>
          </p:nvSpPr>
          <p:spPr>
            <a:xfrm>
              <a:off x="3417" y="8460"/>
              <a:ext cx="0" cy="780"/>
            </a:xfrm>
            <a:prstGeom prst="line">
              <a:avLst/>
            </a:prstGeom>
            <a:ln w="19050" cap="flat" cmpd="sng">
              <a:solidFill>
                <a:srgbClr val="000000"/>
              </a:solidFill>
              <a:prstDash val="solid"/>
              <a:round/>
              <a:headEnd type="none" w="med" len="med"/>
              <a:tailEnd type="triangle" w="med" len="med"/>
            </a:ln>
          </p:spPr>
        </p:sp>
        <p:sp>
          <p:nvSpPr>
            <p:cNvPr id="33818" name="文本框 73774"/>
            <p:cNvSpPr txBox="1"/>
            <p:nvPr/>
          </p:nvSpPr>
          <p:spPr>
            <a:xfrm>
              <a:off x="2157" y="7992"/>
              <a:ext cx="543" cy="309"/>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330V</a:t>
              </a:r>
              <a:endParaRPr lang="en-US" altLang="zh-CN" b="0">
                <a:latin typeface="Times New Roman" panose="02020603050405020304" pitchFamily="18" charset="0"/>
                <a:ea typeface="宋体" panose="02010600030101010101" pitchFamily="2" charset="-122"/>
              </a:endParaRPr>
            </a:p>
          </p:txBody>
        </p:sp>
        <p:sp>
          <p:nvSpPr>
            <p:cNvPr id="33819" name="文本框 73773"/>
            <p:cNvSpPr txBox="1"/>
            <p:nvPr/>
          </p:nvSpPr>
          <p:spPr>
            <a:xfrm>
              <a:off x="2697" y="7524"/>
              <a:ext cx="363" cy="465"/>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  E</a:t>
              </a:r>
              <a:r>
                <a:rPr lang="en-US" altLang="zh-CN" sz="1200" baseline="-30000">
                  <a:latin typeface="Times New Roman" panose="02020603050405020304" pitchFamily="18" charset="0"/>
                  <a:ea typeface="宋体" panose="02010600030101010101" pitchFamily="2" charset="-122"/>
                </a:rPr>
                <a:t>1</a:t>
              </a:r>
              <a:endParaRPr lang="en-US" altLang="zh-CN" b="0">
                <a:latin typeface="Times New Roman" panose="02020603050405020304" pitchFamily="18" charset="0"/>
                <a:ea typeface="宋体" panose="02010600030101010101" pitchFamily="2" charset="-122"/>
              </a:endParaRPr>
            </a:p>
          </p:txBody>
        </p:sp>
        <p:sp>
          <p:nvSpPr>
            <p:cNvPr id="33820" name="椭圆 73772"/>
            <p:cNvSpPr/>
            <p:nvPr/>
          </p:nvSpPr>
          <p:spPr>
            <a:xfrm>
              <a:off x="2745" y="7476"/>
              <a:ext cx="68" cy="68"/>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3821" name="文本框 73771"/>
            <p:cNvSpPr txBox="1"/>
            <p:nvPr/>
          </p:nvSpPr>
          <p:spPr>
            <a:xfrm>
              <a:off x="2697" y="8616"/>
              <a:ext cx="363" cy="465"/>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E</a:t>
              </a:r>
              <a:r>
                <a:rPr lang="en-US" altLang="zh-CN" sz="1200" baseline="-30000">
                  <a:latin typeface="Times New Roman" panose="02020603050405020304" pitchFamily="18" charset="0"/>
                  <a:ea typeface="宋体" panose="02010600030101010101" pitchFamily="2" charset="-122"/>
                </a:rPr>
                <a:t>2</a:t>
              </a:r>
              <a:endParaRPr lang="en-US" altLang="zh-CN" b="0">
                <a:latin typeface="Times New Roman" panose="02020603050405020304" pitchFamily="18" charset="0"/>
                <a:ea typeface="宋体" panose="02010600030101010101" pitchFamily="2" charset="-122"/>
              </a:endParaRPr>
            </a:p>
          </p:txBody>
        </p:sp>
        <p:sp>
          <p:nvSpPr>
            <p:cNvPr id="33822" name="椭圆 73770"/>
            <p:cNvSpPr/>
            <p:nvPr/>
          </p:nvSpPr>
          <p:spPr>
            <a:xfrm>
              <a:off x="2745" y="8568"/>
              <a:ext cx="68" cy="68"/>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3823" name="文本框 73769"/>
            <p:cNvSpPr txBox="1"/>
            <p:nvPr/>
          </p:nvSpPr>
          <p:spPr>
            <a:xfrm>
              <a:off x="2337" y="6666"/>
              <a:ext cx="363" cy="465"/>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I</a:t>
              </a:r>
              <a:r>
                <a:rPr lang="en-US" altLang="zh-CN" sz="1200" baseline="-30000">
                  <a:latin typeface="Times New Roman" panose="02020603050405020304" pitchFamily="18" charset="0"/>
                  <a:ea typeface="宋体" panose="02010600030101010101" pitchFamily="2" charset="-122"/>
                </a:rPr>
                <a:t>1</a:t>
              </a:r>
              <a:endParaRPr lang="en-US" altLang="zh-CN" b="0">
                <a:latin typeface="Times New Roman" panose="02020603050405020304" pitchFamily="18" charset="0"/>
                <a:ea typeface="宋体" panose="02010600030101010101" pitchFamily="2" charset="-122"/>
              </a:endParaRPr>
            </a:p>
          </p:txBody>
        </p:sp>
        <p:sp>
          <p:nvSpPr>
            <p:cNvPr id="33824" name="椭圆 73768"/>
            <p:cNvSpPr/>
            <p:nvPr/>
          </p:nvSpPr>
          <p:spPr>
            <a:xfrm>
              <a:off x="2355" y="6603"/>
              <a:ext cx="68" cy="68"/>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3825" name="直接连接符 73767"/>
            <p:cNvSpPr/>
            <p:nvPr/>
          </p:nvSpPr>
          <p:spPr>
            <a:xfrm flipH="1">
              <a:off x="2157" y="7056"/>
              <a:ext cx="900" cy="0"/>
            </a:xfrm>
            <a:prstGeom prst="line">
              <a:avLst/>
            </a:prstGeom>
            <a:ln w="19050" cap="flat" cmpd="sng">
              <a:solidFill>
                <a:srgbClr val="000000"/>
              </a:solidFill>
              <a:prstDash val="solid"/>
              <a:round/>
              <a:headEnd type="triangle" w="med" len="med"/>
              <a:tailEnd type="none" w="med" len="med"/>
            </a:ln>
          </p:spPr>
        </p:sp>
        <p:sp>
          <p:nvSpPr>
            <p:cNvPr id="33826" name="直接连接符 73766"/>
            <p:cNvSpPr/>
            <p:nvPr/>
          </p:nvSpPr>
          <p:spPr>
            <a:xfrm>
              <a:off x="2157" y="7368"/>
              <a:ext cx="0" cy="1560"/>
            </a:xfrm>
            <a:prstGeom prst="line">
              <a:avLst/>
            </a:prstGeom>
            <a:ln w="9525" cap="flat" cmpd="sng">
              <a:solidFill>
                <a:srgbClr val="000000"/>
              </a:solidFill>
              <a:prstDash val="solid"/>
              <a:round/>
              <a:headEnd type="none" w="med" len="med"/>
              <a:tailEnd type="triangle" w="med" len="med"/>
            </a:ln>
          </p:spPr>
        </p:sp>
      </p:grpSp>
      <p:sp>
        <p:nvSpPr>
          <p:cNvPr id="33827" name="矩形 73792"/>
          <p:cNvSpPr/>
          <p:nvPr/>
        </p:nvSpPr>
        <p:spPr>
          <a:xfrm>
            <a:off x="468313" y="2565400"/>
            <a:ext cx="3384550"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解</a:t>
            </a:r>
            <a:r>
              <a:rPr lang="en-US" altLang="zh-CN">
                <a:latin typeface="Times New Roman" panose="02020603050405020304" pitchFamily="18" charset="0"/>
                <a:ea typeface="宋体" panose="02010600030101010101" pitchFamily="2" charset="-122"/>
              </a:rPr>
              <a:t>:1) </a:t>
            </a:r>
            <a:r>
              <a:rPr lang="en-US" altLang="zh-CN" i="1">
                <a:latin typeface="Times New Roman" panose="02020603050405020304" pitchFamily="18" charset="0"/>
                <a:ea typeface="宋体" panose="02010600030101010101" pitchFamily="2" charset="-122"/>
              </a:rPr>
              <a:t>E</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=110V;</a:t>
            </a:r>
            <a:endParaRPr lang="en-US" altLang="zh-CN">
              <a:latin typeface="Times New Roman" panose="02020603050405020304" pitchFamily="18" charset="0"/>
              <a:ea typeface="宋体" panose="02010600030101010101" pitchFamily="2" charset="-122"/>
            </a:endParaRPr>
          </a:p>
        </p:txBody>
      </p:sp>
      <p:sp>
        <p:nvSpPr>
          <p:cNvPr id="33828" name="矩形 73797"/>
          <p:cNvSpPr/>
          <p:nvPr/>
        </p:nvSpPr>
        <p:spPr>
          <a:xfrm>
            <a:off x="468313" y="2974975"/>
            <a:ext cx="4803775" cy="822325"/>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此时相当于两个绕组顺极性连接</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如右图示</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。电压方程为</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33829" name="矩形 73798"/>
          <p:cNvSpPr/>
          <p:nvPr/>
        </p:nvSpPr>
        <p:spPr>
          <a:xfrm>
            <a:off x="1331913" y="465296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3830" name="矩形 73799"/>
          <p:cNvSpPr/>
          <p:nvPr/>
        </p:nvSpPr>
        <p:spPr>
          <a:xfrm>
            <a:off x="323850" y="4868863"/>
            <a:ext cx="5086350" cy="822325"/>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可见此时主磁通未变，磁动势也未变</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磁动势方程为</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33831" name="矩形 73804"/>
          <p:cNvSpPr/>
          <p:nvPr/>
        </p:nvSpPr>
        <p:spPr>
          <a:xfrm>
            <a:off x="1603375" y="671512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3832" name="矩形 73805"/>
          <p:cNvSpPr/>
          <p:nvPr/>
        </p:nvSpPr>
        <p:spPr>
          <a:xfrm>
            <a:off x="1619250" y="7105650"/>
            <a:ext cx="184150" cy="457200"/>
          </a:xfrm>
          <a:prstGeom prst="rect">
            <a:avLst/>
          </a:prstGeom>
          <a:noFill/>
          <a:ln w="9525">
            <a:noFill/>
          </a:ln>
        </p:spPr>
        <p:txBody>
          <a:bodyPr wrap="none" anchor="ctr" anchorCtr="0">
            <a:spAutoFit/>
          </a:bodyPr>
          <a:p>
            <a:endParaRPr lang="zh-CN" b="0" dirty="0">
              <a:latin typeface="Times New Roman" panose="02020603050405020304" pitchFamily="18" charset="0"/>
              <a:ea typeface="宋体" panose="02010600030101010101" pitchFamily="2" charset="-122"/>
            </a:endParaRPr>
          </a:p>
        </p:txBody>
      </p:sp>
      <p:sp>
        <p:nvSpPr>
          <p:cNvPr id="33833" name="矩形 73806"/>
          <p:cNvSpPr/>
          <p:nvPr/>
        </p:nvSpPr>
        <p:spPr>
          <a:xfrm>
            <a:off x="4427538" y="6092825"/>
            <a:ext cx="3406775"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所以空载电流变为</a:t>
            </a:r>
            <a:r>
              <a:rPr lang="en-US" altLang="zh-CN" dirty="0">
                <a:latin typeface="Times New Roman" panose="02020603050405020304" pitchFamily="18" charset="0"/>
                <a:ea typeface="宋体" panose="02010600030101010101" pitchFamily="2" charset="-122"/>
              </a:rPr>
              <a:t>2/3</a:t>
            </a:r>
            <a:r>
              <a:rPr lang="zh-CN" altLang="en-US" dirty="0">
                <a:latin typeface="Times New Roman" panose="02020603050405020304" pitchFamily="18" charset="0"/>
                <a:ea typeface="宋体" panose="02010600030101010101" pitchFamily="2" charset="-122"/>
              </a:rPr>
              <a:t>倍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4817" name="对象 66563"/>
          <p:cNvGraphicFramePr/>
          <p:nvPr/>
        </p:nvGraphicFramePr>
        <p:xfrm>
          <a:off x="684213" y="1628775"/>
          <a:ext cx="5256212" cy="614363"/>
        </p:xfrm>
        <a:graphic>
          <a:graphicData uri="http://schemas.openxmlformats.org/presentationml/2006/ole">
            <mc:AlternateContent xmlns:mc="http://schemas.openxmlformats.org/markup-compatibility/2006">
              <mc:Choice xmlns:v="urn:schemas-microsoft-com:vml" Requires="v">
                <p:oleObj spid="_x0000_s3130" name="" r:id="rId1" imgW="2575560" imgH="304800" progId="Equation.DSMT4">
                  <p:embed/>
                </p:oleObj>
              </mc:Choice>
              <mc:Fallback>
                <p:oleObj name="" r:id="rId1" imgW="2575560" imgH="304800" progId="Equation.DSMT4">
                  <p:embed/>
                  <p:pic>
                    <p:nvPicPr>
                      <p:cNvPr id="0" name="图片 3129"/>
                      <p:cNvPicPr/>
                      <p:nvPr/>
                    </p:nvPicPr>
                    <p:blipFill>
                      <a:blip r:embed="rId2"/>
                      <a:stretch>
                        <a:fillRect/>
                      </a:stretch>
                    </p:blipFill>
                    <p:spPr>
                      <a:xfrm>
                        <a:off x="684213" y="1628775"/>
                        <a:ext cx="5256212" cy="614363"/>
                      </a:xfrm>
                      <a:prstGeom prst="rect">
                        <a:avLst/>
                      </a:prstGeom>
                      <a:noFill/>
                      <a:ln w="38100">
                        <a:noFill/>
                        <a:miter/>
                      </a:ln>
                    </p:spPr>
                  </p:pic>
                </p:oleObj>
              </mc:Fallback>
            </mc:AlternateContent>
          </a:graphicData>
        </a:graphic>
      </p:graphicFrame>
      <p:graphicFrame>
        <p:nvGraphicFramePr>
          <p:cNvPr id="34818" name="对象 66562"/>
          <p:cNvGraphicFramePr/>
          <p:nvPr/>
        </p:nvGraphicFramePr>
        <p:xfrm>
          <a:off x="1331913" y="2420938"/>
          <a:ext cx="3225800" cy="452437"/>
        </p:xfrm>
        <a:graphic>
          <a:graphicData uri="http://schemas.openxmlformats.org/presentationml/2006/ole">
            <mc:AlternateContent xmlns:mc="http://schemas.openxmlformats.org/markup-compatibility/2006">
              <mc:Choice xmlns:v="urn:schemas-microsoft-com:vml" Requires="v">
                <p:oleObj spid="_x0000_s3131" name="" r:id="rId3" imgW="1421130" imgH="203200" progId="Equation.DSMT4">
                  <p:embed/>
                </p:oleObj>
              </mc:Choice>
              <mc:Fallback>
                <p:oleObj name="" r:id="rId3" imgW="1421130" imgH="203200" progId="Equation.DSMT4">
                  <p:embed/>
                  <p:pic>
                    <p:nvPicPr>
                      <p:cNvPr id="0" name="图片 3130"/>
                      <p:cNvPicPr/>
                      <p:nvPr/>
                    </p:nvPicPr>
                    <p:blipFill>
                      <a:blip r:embed="rId4"/>
                      <a:stretch>
                        <a:fillRect/>
                      </a:stretch>
                    </p:blipFill>
                    <p:spPr>
                      <a:xfrm>
                        <a:off x="1331913" y="2420938"/>
                        <a:ext cx="3225800" cy="452437"/>
                      </a:xfrm>
                      <a:prstGeom prst="rect">
                        <a:avLst/>
                      </a:prstGeom>
                      <a:noFill/>
                      <a:ln w="38100">
                        <a:noFill/>
                        <a:miter/>
                      </a:ln>
                    </p:spPr>
                  </p:pic>
                </p:oleObj>
              </mc:Fallback>
            </mc:AlternateContent>
          </a:graphicData>
        </a:graphic>
      </p:graphicFrame>
      <p:graphicFrame>
        <p:nvGraphicFramePr>
          <p:cNvPr id="34819" name="对象 66561"/>
          <p:cNvGraphicFramePr/>
          <p:nvPr/>
        </p:nvGraphicFramePr>
        <p:xfrm>
          <a:off x="971550" y="3933825"/>
          <a:ext cx="3816350" cy="600075"/>
        </p:xfrm>
        <a:graphic>
          <a:graphicData uri="http://schemas.openxmlformats.org/presentationml/2006/ole">
            <mc:AlternateContent xmlns:mc="http://schemas.openxmlformats.org/markup-compatibility/2006">
              <mc:Choice xmlns:v="urn:schemas-microsoft-com:vml" Requires="v">
                <p:oleObj spid="_x0000_s3129" name="" r:id="rId5" imgW="1915795" imgH="304800" progId="Equation.DSMT4">
                  <p:embed/>
                </p:oleObj>
              </mc:Choice>
              <mc:Fallback>
                <p:oleObj name="" r:id="rId5" imgW="1915795" imgH="304800" progId="Equation.DSMT4">
                  <p:embed/>
                  <p:pic>
                    <p:nvPicPr>
                      <p:cNvPr id="0" name="图片 3128"/>
                      <p:cNvPicPr/>
                      <p:nvPr/>
                    </p:nvPicPr>
                    <p:blipFill>
                      <a:blip r:embed="rId6"/>
                      <a:stretch>
                        <a:fillRect/>
                      </a:stretch>
                    </p:blipFill>
                    <p:spPr>
                      <a:xfrm>
                        <a:off x="971550" y="3933825"/>
                        <a:ext cx="3816350" cy="600075"/>
                      </a:xfrm>
                      <a:prstGeom prst="rect">
                        <a:avLst/>
                      </a:prstGeom>
                      <a:noFill/>
                      <a:ln w="38100">
                        <a:noFill/>
                        <a:miter/>
                      </a:ln>
                    </p:spPr>
                  </p:pic>
                </p:oleObj>
              </mc:Fallback>
            </mc:AlternateContent>
          </a:graphicData>
        </a:graphic>
      </p:graphicFrame>
      <p:sp>
        <p:nvSpPr>
          <p:cNvPr id="34820" name="矩形 66564"/>
          <p:cNvSpPr/>
          <p:nvPr/>
        </p:nvSpPr>
        <p:spPr>
          <a:xfrm>
            <a:off x="611188" y="666750"/>
            <a:ext cx="7416800" cy="82232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此时相当于两个绕组反极性连接，如右图示。电压方程为</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34821" name="矩形 66565"/>
          <p:cNvSpPr/>
          <p:nvPr/>
        </p:nvSpPr>
        <p:spPr>
          <a:xfrm>
            <a:off x="1741488" y="5237163"/>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4822" name="矩形 66566"/>
          <p:cNvSpPr/>
          <p:nvPr/>
        </p:nvSpPr>
        <p:spPr>
          <a:xfrm>
            <a:off x="611188" y="2997200"/>
            <a:ext cx="5086350" cy="822325"/>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可见此时主磁通未变，磁动势也未变</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磁动势方程为</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34823" name="矩形 66567"/>
          <p:cNvSpPr/>
          <p:nvPr/>
        </p:nvSpPr>
        <p:spPr>
          <a:xfrm>
            <a:off x="1042988" y="4724400"/>
            <a:ext cx="3400425"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所以空载电流变为</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倍。</a:t>
            </a:r>
            <a:endParaRPr lang="zh-CN" altLang="en-US" dirty="0">
              <a:latin typeface="Times New Roman" panose="02020603050405020304" pitchFamily="18" charset="0"/>
              <a:ea typeface="宋体" panose="02010600030101010101" pitchFamily="2" charset="-122"/>
            </a:endParaRPr>
          </a:p>
        </p:txBody>
      </p:sp>
      <p:grpSp>
        <p:nvGrpSpPr>
          <p:cNvPr id="34824" name="组合 66568"/>
          <p:cNvGrpSpPr/>
          <p:nvPr/>
        </p:nvGrpSpPr>
        <p:grpSpPr>
          <a:xfrm>
            <a:off x="6732588" y="1916113"/>
            <a:ext cx="1511300" cy="2665412"/>
            <a:chOff x="6657" y="10332"/>
            <a:chExt cx="1260" cy="2697"/>
          </a:xfrm>
        </p:grpSpPr>
        <p:grpSp>
          <p:nvGrpSpPr>
            <p:cNvPr id="34825" name="组合 66569"/>
            <p:cNvGrpSpPr/>
            <p:nvPr/>
          </p:nvGrpSpPr>
          <p:grpSpPr>
            <a:xfrm>
              <a:off x="7557" y="10785"/>
              <a:ext cx="180" cy="1404"/>
              <a:chOff x="3237" y="6744"/>
              <a:chExt cx="348" cy="2879"/>
            </a:xfrm>
          </p:grpSpPr>
          <p:sp>
            <p:nvSpPr>
              <p:cNvPr id="34826" name="任意多边形 66570"/>
              <p:cNvSpPr/>
              <p:nvPr/>
            </p:nvSpPr>
            <p:spPr>
              <a:xfrm>
                <a:off x="3237" y="7364"/>
                <a:ext cx="348" cy="415"/>
              </a:xfrm>
              <a:custGeom>
                <a:avLst/>
                <a:gdLst/>
                <a:ahLst/>
                <a:cxnLst>
                  <a:cxn ang="270">
                    <a:pos x="757" y="0"/>
                  </a:cxn>
                  <a:cxn ang="90">
                    <a:pos x="0" y="43186"/>
                  </a:cxn>
                  <a:cxn ang="90">
                    <a:pos x="757" y="21600"/>
                  </a:cxn>
                </a:cxnLst>
                <a:pathLst>
                  <a:path w="22357" h="43200" fill="none">
                    <a:moveTo>
                      <a:pt x="757" y="0"/>
                    </a:moveTo>
                    <a:cubicBezTo>
                      <a:pt x="12686" y="0"/>
                      <a:pt x="22357" y="9671"/>
                      <a:pt x="22357" y="21600"/>
                    </a:cubicBezTo>
                    <a:cubicBezTo>
                      <a:pt x="22357" y="33529"/>
                      <a:pt x="12686" y="43200"/>
                      <a:pt x="757" y="43200"/>
                    </a:cubicBezTo>
                    <a:cubicBezTo>
                      <a:pt x="502" y="43200"/>
                      <a:pt x="249" y="43196"/>
                      <a:pt x="0" y="43187"/>
                    </a:cubicBezTo>
                  </a:path>
                  <a:path w="22357" h="43200" stroke="0">
                    <a:moveTo>
                      <a:pt x="757" y="0"/>
                    </a:moveTo>
                    <a:cubicBezTo>
                      <a:pt x="12686" y="0"/>
                      <a:pt x="22357" y="9671"/>
                      <a:pt x="22357" y="21600"/>
                    </a:cubicBezTo>
                    <a:cubicBezTo>
                      <a:pt x="22357" y="33529"/>
                      <a:pt x="12686" y="43200"/>
                      <a:pt x="757" y="43200"/>
                    </a:cubicBezTo>
                    <a:cubicBezTo>
                      <a:pt x="502" y="43200"/>
                      <a:pt x="249" y="43196"/>
                      <a:pt x="0" y="43187"/>
                    </a:cubicBezTo>
                    <a:lnTo>
                      <a:pt x="75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4827" name="任意多边形 66571"/>
              <p:cNvSpPr/>
              <p:nvPr/>
            </p:nvSpPr>
            <p:spPr>
              <a:xfrm>
                <a:off x="3237" y="7777"/>
                <a:ext cx="348" cy="416"/>
              </a:xfrm>
              <a:custGeom>
                <a:avLst/>
                <a:gdLst/>
                <a:ahLst/>
                <a:cxnLst>
                  <a:cxn ang="270">
                    <a:pos x="757" y="0"/>
                  </a:cxn>
                  <a:cxn ang="90">
                    <a:pos x="0" y="43186"/>
                  </a:cxn>
                  <a:cxn ang="90">
                    <a:pos x="757" y="21600"/>
                  </a:cxn>
                </a:cxnLst>
                <a:pathLst>
                  <a:path w="22357" h="43200" fill="none">
                    <a:moveTo>
                      <a:pt x="757" y="0"/>
                    </a:moveTo>
                    <a:cubicBezTo>
                      <a:pt x="12686" y="0"/>
                      <a:pt x="22357" y="9671"/>
                      <a:pt x="22357" y="21600"/>
                    </a:cubicBezTo>
                    <a:cubicBezTo>
                      <a:pt x="22357" y="33529"/>
                      <a:pt x="12686" y="43200"/>
                      <a:pt x="757" y="43200"/>
                    </a:cubicBezTo>
                    <a:cubicBezTo>
                      <a:pt x="502" y="43200"/>
                      <a:pt x="249" y="43196"/>
                      <a:pt x="0" y="43187"/>
                    </a:cubicBezTo>
                  </a:path>
                  <a:path w="22357" h="43200" stroke="0">
                    <a:moveTo>
                      <a:pt x="757" y="0"/>
                    </a:moveTo>
                    <a:cubicBezTo>
                      <a:pt x="12686" y="0"/>
                      <a:pt x="22357" y="9671"/>
                      <a:pt x="22357" y="21600"/>
                    </a:cubicBezTo>
                    <a:cubicBezTo>
                      <a:pt x="22357" y="33529"/>
                      <a:pt x="12686" y="43200"/>
                      <a:pt x="757" y="43200"/>
                    </a:cubicBezTo>
                    <a:cubicBezTo>
                      <a:pt x="502" y="43200"/>
                      <a:pt x="249" y="43196"/>
                      <a:pt x="0" y="43187"/>
                    </a:cubicBezTo>
                    <a:lnTo>
                      <a:pt x="75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4828" name="任意多边形 66572"/>
              <p:cNvSpPr/>
              <p:nvPr/>
            </p:nvSpPr>
            <p:spPr>
              <a:xfrm>
                <a:off x="3237" y="8191"/>
                <a:ext cx="348" cy="415"/>
              </a:xfrm>
              <a:custGeom>
                <a:avLst/>
                <a:gdLst/>
                <a:ahLst/>
                <a:cxnLst>
                  <a:cxn ang="270">
                    <a:pos x="757" y="0"/>
                  </a:cxn>
                  <a:cxn ang="90">
                    <a:pos x="0" y="43186"/>
                  </a:cxn>
                  <a:cxn ang="90">
                    <a:pos x="757" y="21600"/>
                  </a:cxn>
                </a:cxnLst>
                <a:pathLst>
                  <a:path w="22357" h="43200" fill="none">
                    <a:moveTo>
                      <a:pt x="757" y="0"/>
                    </a:moveTo>
                    <a:cubicBezTo>
                      <a:pt x="12686" y="0"/>
                      <a:pt x="22357" y="9671"/>
                      <a:pt x="22357" y="21600"/>
                    </a:cubicBezTo>
                    <a:cubicBezTo>
                      <a:pt x="22357" y="33529"/>
                      <a:pt x="12686" y="43200"/>
                      <a:pt x="757" y="43200"/>
                    </a:cubicBezTo>
                    <a:cubicBezTo>
                      <a:pt x="502" y="43200"/>
                      <a:pt x="249" y="43196"/>
                      <a:pt x="0" y="43187"/>
                    </a:cubicBezTo>
                  </a:path>
                  <a:path w="22357" h="43200" stroke="0">
                    <a:moveTo>
                      <a:pt x="757" y="0"/>
                    </a:moveTo>
                    <a:cubicBezTo>
                      <a:pt x="12686" y="0"/>
                      <a:pt x="22357" y="9671"/>
                      <a:pt x="22357" y="21600"/>
                    </a:cubicBezTo>
                    <a:cubicBezTo>
                      <a:pt x="22357" y="33529"/>
                      <a:pt x="12686" y="43200"/>
                      <a:pt x="757" y="43200"/>
                    </a:cubicBezTo>
                    <a:cubicBezTo>
                      <a:pt x="502" y="43200"/>
                      <a:pt x="249" y="43196"/>
                      <a:pt x="0" y="43187"/>
                    </a:cubicBezTo>
                    <a:lnTo>
                      <a:pt x="75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4829" name="直接连接符 66573"/>
              <p:cNvSpPr/>
              <p:nvPr/>
            </p:nvSpPr>
            <p:spPr>
              <a:xfrm>
                <a:off x="3237" y="6744"/>
                <a:ext cx="0" cy="620"/>
              </a:xfrm>
              <a:prstGeom prst="line">
                <a:avLst/>
              </a:prstGeom>
              <a:ln w="19050" cap="flat" cmpd="sng">
                <a:solidFill>
                  <a:srgbClr val="000000"/>
                </a:solidFill>
                <a:prstDash val="solid"/>
                <a:round/>
                <a:headEnd type="none" w="med" len="med"/>
                <a:tailEnd type="none" w="med" len="med"/>
              </a:ln>
            </p:spPr>
          </p:sp>
          <p:sp>
            <p:nvSpPr>
              <p:cNvPr id="34830" name="任意多边形 66574"/>
              <p:cNvSpPr/>
              <p:nvPr/>
            </p:nvSpPr>
            <p:spPr>
              <a:xfrm>
                <a:off x="3240" y="8605"/>
                <a:ext cx="345" cy="415"/>
              </a:xfrm>
              <a:custGeom>
                <a:avLst/>
                <a:gdLst/>
                <a:ahLst/>
                <a:cxnLst>
                  <a:cxn ang="270">
                    <a:pos x="587" y="0"/>
                  </a:cxn>
                  <a:cxn ang="90">
                    <a:pos x="0" y="43192"/>
                  </a:cxn>
                  <a:cxn ang="90">
                    <a:pos x="587" y="21600"/>
                  </a:cxn>
                </a:cxnLst>
                <a:pathLst>
                  <a:path w="22187" h="43200" fill="none">
                    <a:moveTo>
                      <a:pt x="587" y="0"/>
                    </a:moveTo>
                    <a:cubicBezTo>
                      <a:pt x="12516" y="0"/>
                      <a:pt x="22187" y="9671"/>
                      <a:pt x="22187" y="21600"/>
                    </a:cubicBezTo>
                    <a:cubicBezTo>
                      <a:pt x="22187" y="33529"/>
                      <a:pt x="12516" y="43200"/>
                      <a:pt x="587" y="43200"/>
                    </a:cubicBezTo>
                    <a:cubicBezTo>
                      <a:pt x="390" y="43200"/>
                      <a:pt x="193" y="43197"/>
                      <a:pt x="0" y="43192"/>
                    </a:cubicBezTo>
                  </a:path>
                  <a:path w="22187" h="43200" stroke="0">
                    <a:moveTo>
                      <a:pt x="587" y="0"/>
                    </a:moveTo>
                    <a:cubicBezTo>
                      <a:pt x="12516" y="0"/>
                      <a:pt x="22187" y="9671"/>
                      <a:pt x="22187" y="21600"/>
                    </a:cubicBezTo>
                    <a:cubicBezTo>
                      <a:pt x="22187" y="33529"/>
                      <a:pt x="12516" y="43200"/>
                      <a:pt x="587" y="43200"/>
                    </a:cubicBezTo>
                    <a:cubicBezTo>
                      <a:pt x="390" y="43200"/>
                      <a:pt x="193" y="43197"/>
                      <a:pt x="0" y="43192"/>
                    </a:cubicBezTo>
                    <a:lnTo>
                      <a:pt x="58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4831" name="直接连接符 66575"/>
              <p:cNvSpPr/>
              <p:nvPr/>
            </p:nvSpPr>
            <p:spPr>
              <a:xfrm>
                <a:off x="3237" y="9003"/>
                <a:ext cx="0" cy="620"/>
              </a:xfrm>
              <a:prstGeom prst="line">
                <a:avLst/>
              </a:prstGeom>
              <a:ln w="19050" cap="flat" cmpd="sng">
                <a:solidFill>
                  <a:srgbClr val="000000"/>
                </a:solidFill>
                <a:prstDash val="solid"/>
                <a:round/>
                <a:headEnd type="none" w="med" len="med"/>
                <a:tailEnd type="none" w="med" len="med"/>
              </a:ln>
            </p:spPr>
          </p:sp>
        </p:grpSp>
        <p:grpSp>
          <p:nvGrpSpPr>
            <p:cNvPr id="34832" name="组合 66576"/>
            <p:cNvGrpSpPr/>
            <p:nvPr/>
          </p:nvGrpSpPr>
          <p:grpSpPr>
            <a:xfrm>
              <a:off x="7557" y="12189"/>
              <a:ext cx="180" cy="840"/>
              <a:chOff x="4677" y="9024"/>
              <a:chExt cx="348" cy="1716"/>
            </a:xfrm>
          </p:grpSpPr>
          <p:sp>
            <p:nvSpPr>
              <p:cNvPr id="34833" name="任意多边形 66577"/>
              <p:cNvSpPr/>
              <p:nvPr/>
            </p:nvSpPr>
            <p:spPr>
              <a:xfrm>
                <a:off x="4677" y="9450"/>
                <a:ext cx="348" cy="416"/>
              </a:xfrm>
              <a:custGeom>
                <a:avLst/>
                <a:gdLst/>
                <a:ahLst/>
                <a:cxnLst>
                  <a:cxn ang="270">
                    <a:pos x="757" y="0"/>
                  </a:cxn>
                  <a:cxn ang="90">
                    <a:pos x="0" y="43186"/>
                  </a:cxn>
                  <a:cxn ang="90">
                    <a:pos x="757" y="21600"/>
                  </a:cxn>
                </a:cxnLst>
                <a:pathLst>
                  <a:path w="22357" h="43200" fill="none">
                    <a:moveTo>
                      <a:pt x="757" y="0"/>
                    </a:moveTo>
                    <a:cubicBezTo>
                      <a:pt x="12686" y="0"/>
                      <a:pt x="22357" y="9671"/>
                      <a:pt x="22357" y="21600"/>
                    </a:cubicBezTo>
                    <a:cubicBezTo>
                      <a:pt x="22357" y="33529"/>
                      <a:pt x="12686" y="43200"/>
                      <a:pt x="757" y="43200"/>
                    </a:cubicBezTo>
                    <a:cubicBezTo>
                      <a:pt x="502" y="43200"/>
                      <a:pt x="249" y="43196"/>
                      <a:pt x="0" y="43187"/>
                    </a:cubicBezTo>
                  </a:path>
                  <a:path w="22357" h="43200" stroke="0">
                    <a:moveTo>
                      <a:pt x="757" y="0"/>
                    </a:moveTo>
                    <a:cubicBezTo>
                      <a:pt x="12686" y="0"/>
                      <a:pt x="22357" y="9671"/>
                      <a:pt x="22357" y="21600"/>
                    </a:cubicBezTo>
                    <a:cubicBezTo>
                      <a:pt x="22357" y="33529"/>
                      <a:pt x="12686" y="43200"/>
                      <a:pt x="757" y="43200"/>
                    </a:cubicBezTo>
                    <a:cubicBezTo>
                      <a:pt x="502" y="43200"/>
                      <a:pt x="249" y="43196"/>
                      <a:pt x="0" y="43187"/>
                    </a:cubicBezTo>
                    <a:lnTo>
                      <a:pt x="75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4834" name="任意多边形 66578"/>
              <p:cNvSpPr/>
              <p:nvPr/>
            </p:nvSpPr>
            <p:spPr>
              <a:xfrm>
                <a:off x="4677" y="9864"/>
                <a:ext cx="348" cy="415"/>
              </a:xfrm>
              <a:custGeom>
                <a:avLst/>
                <a:gdLst/>
                <a:ahLst/>
                <a:cxnLst>
                  <a:cxn ang="270">
                    <a:pos x="757" y="0"/>
                  </a:cxn>
                  <a:cxn ang="90">
                    <a:pos x="0" y="43186"/>
                  </a:cxn>
                  <a:cxn ang="90">
                    <a:pos x="757" y="21600"/>
                  </a:cxn>
                </a:cxnLst>
                <a:pathLst>
                  <a:path w="22357" h="43200" fill="none">
                    <a:moveTo>
                      <a:pt x="757" y="0"/>
                    </a:moveTo>
                    <a:cubicBezTo>
                      <a:pt x="12686" y="0"/>
                      <a:pt x="22357" y="9671"/>
                      <a:pt x="22357" y="21600"/>
                    </a:cubicBezTo>
                    <a:cubicBezTo>
                      <a:pt x="22357" y="33529"/>
                      <a:pt x="12686" y="43200"/>
                      <a:pt x="757" y="43200"/>
                    </a:cubicBezTo>
                    <a:cubicBezTo>
                      <a:pt x="502" y="43200"/>
                      <a:pt x="249" y="43196"/>
                      <a:pt x="0" y="43187"/>
                    </a:cubicBezTo>
                  </a:path>
                  <a:path w="22357" h="43200" stroke="0">
                    <a:moveTo>
                      <a:pt x="757" y="0"/>
                    </a:moveTo>
                    <a:cubicBezTo>
                      <a:pt x="12686" y="0"/>
                      <a:pt x="22357" y="9671"/>
                      <a:pt x="22357" y="21600"/>
                    </a:cubicBezTo>
                    <a:cubicBezTo>
                      <a:pt x="22357" y="33529"/>
                      <a:pt x="12686" y="43200"/>
                      <a:pt x="757" y="43200"/>
                    </a:cubicBezTo>
                    <a:cubicBezTo>
                      <a:pt x="502" y="43200"/>
                      <a:pt x="249" y="43196"/>
                      <a:pt x="0" y="43187"/>
                    </a:cubicBezTo>
                    <a:lnTo>
                      <a:pt x="757" y="21600"/>
                    </a:lnTo>
                    <a:close/>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4835" name="直接连接符 66579"/>
              <p:cNvSpPr/>
              <p:nvPr/>
            </p:nvSpPr>
            <p:spPr>
              <a:xfrm>
                <a:off x="4677" y="10272"/>
                <a:ext cx="0" cy="468"/>
              </a:xfrm>
              <a:prstGeom prst="line">
                <a:avLst/>
              </a:prstGeom>
              <a:ln w="19050" cap="flat" cmpd="sng">
                <a:solidFill>
                  <a:srgbClr val="000000"/>
                </a:solidFill>
                <a:prstDash val="solid"/>
                <a:round/>
                <a:headEnd type="none" w="med" len="med"/>
                <a:tailEnd type="none" w="med" len="med"/>
              </a:ln>
            </p:spPr>
          </p:sp>
          <p:sp>
            <p:nvSpPr>
              <p:cNvPr id="34836" name="直接连接符 66580"/>
              <p:cNvSpPr/>
              <p:nvPr/>
            </p:nvSpPr>
            <p:spPr>
              <a:xfrm flipV="1">
                <a:off x="4677" y="9024"/>
                <a:ext cx="0" cy="468"/>
              </a:xfrm>
              <a:prstGeom prst="line">
                <a:avLst/>
              </a:prstGeom>
              <a:ln w="19050" cap="flat" cmpd="sng">
                <a:solidFill>
                  <a:srgbClr val="000000"/>
                </a:solidFill>
                <a:prstDash val="solid"/>
                <a:round/>
                <a:headEnd type="none" w="med" len="med"/>
                <a:tailEnd type="none" w="med" len="med"/>
              </a:ln>
            </p:spPr>
          </p:sp>
        </p:grpSp>
        <p:sp>
          <p:nvSpPr>
            <p:cNvPr id="34837" name="直接连接符 66581"/>
            <p:cNvSpPr/>
            <p:nvPr/>
          </p:nvSpPr>
          <p:spPr>
            <a:xfrm flipH="1">
              <a:off x="6657" y="13014"/>
              <a:ext cx="900" cy="0"/>
            </a:xfrm>
            <a:prstGeom prst="line">
              <a:avLst/>
            </a:prstGeom>
            <a:ln w="19050" cap="flat" cmpd="sng">
              <a:solidFill>
                <a:srgbClr val="000000"/>
              </a:solidFill>
              <a:prstDash val="solid"/>
              <a:round/>
              <a:headEnd type="none" w="med" len="med"/>
              <a:tailEnd type="none" w="med" len="med"/>
            </a:ln>
          </p:spPr>
        </p:sp>
        <p:sp>
          <p:nvSpPr>
            <p:cNvPr id="34838" name="椭圆 66582"/>
            <p:cNvSpPr/>
            <p:nvPr/>
          </p:nvSpPr>
          <p:spPr>
            <a:xfrm>
              <a:off x="7624" y="10941"/>
              <a:ext cx="113" cy="113"/>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4839" name="椭圆 66583"/>
            <p:cNvSpPr/>
            <p:nvPr/>
          </p:nvSpPr>
          <p:spPr>
            <a:xfrm>
              <a:off x="7557" y="12871"/>
              <a:ext cx="113" cy="113"/>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4840" name="直接连接符 66584"/>
            <p:cNvSpPr/>
            <p:nvPr/>
          </p:nvSpPr>
          <p:spPr>
            <a:xfrm>
              <a:off x="7917" y="11097"/>
              <a:ext cx="0" cy="780"/>
            </a:xfrm>
            <a:prstGeom prst="line">
              <a:avLst/>
            </a:prstGeom>
            <a:ln w="19050" cap="flat" cmpd="sng">
              <a:solidFill>
                <a:srgbClr val="000000"/>
              </a:solidFill>
              <a:prstDash val="solid"/>
              <a:round/>
              <a:headEnd type="none" w="med" len="med"/>
              <a:tailEnd type="triangle" w="med" len="med"/>
            </a:ln>
          </p:spPr>
        </p:sp>
        <p:sp>
          <p:nvSpPr>
            <p:cNvPr id="34841" name="直接连接符 66585"/>
            <p:cNvSpPr/>
            <p:nvPr/>
          </p:nvSpPr>
          <p:spPr>
            <a:xfrm>
              <a:off x="7917" y="12189"/>
              <a:ext cx="0" cy="780"/>
            </a:xfrm>
            <a:prstGeom prst="line">
              <a:avLst/>
            </a:prstGeom>
            <a:ln w="19050" cap="flat" cmpd="sng">
              <a:solidFill>
                <a:srgbClr val="000000"/>
              </a:solidFill>
              <a:prstDash val="solid"/>
              <a:round/>
              <a:headEnd type="triangle" w="med" len="med"/>
              <a:tailEnd type="none" w="med" len="med"/>
            </a:ln>
          </p:spPr>
        </p:sp>
        <p:sp>
          <p:nvSpPr>
            <p:cNvPr id="34842" name="文本框 66586"/>
            <p:cNvSpPr txBox="1"/>
            <p:nvPr/>
          </p:nvSpPr>
          <p:spPr>
            <a:xfrm>
              <a:off x="6657" y="11721"/>
              <a:ext cx="543" cy="309"/>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110V</a:t>
              </a:r>
              <a:endParaRPr lang="en-US" altLang="zh-CN">
                <a:latin typeface="Times New Roman" panose="02020603050405020304" pitchFamily="18" charset="0"/>
                <a:ea typeface="宋体" panose="02010600030101010101" pitchFamily="2" charset="-122"/>
              </a:endParaRPr>
            </a:p>
          </p:txBody>
        </p:sp>
        <p:sp>
          <p:nvSpPr>
            <p:cNvPr id="34843" name="文本框 66587"/>
            <p:cNvSpPr txBox="1"/>
            <p:nvPr/>
          </p:nvSpPr>
          <p:spPr>
            <a:xfrm>
              <a:off x="7197" y="11253"/>
              <a:ext cx="363" cy="465"/>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E</a:t>
              </a:r>
              <a:r>
                <a:rPr lang="en-US" altLang="zh-CN" sz="120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34844" name="椭圆 66588"/>
            <p:cNvSpPr/>
            <p:nvPr/>
          </p:nvSpPr>
          <p:spPr>
            <a:xfrm>
              <a:off x="7245" y="11205"/>
              <a:ext cx="68" cy="68"/>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4845" name="文本框 66589"/>
            <p:cNvSpPr txBox="1"/>
            <p:nvPr/>
          </p:nvSpPr>
          <p:spPr>
            <a:xfrm>
              <a:off x="7197" y="12345"/>
              <a:ext cx="363" cy="465"/>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E</a:t>
              </a:r>
              <a:r>
                <a:rPr lang="en-US" altLang="zh-CN" sz="1200" baseline="-25000">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34846" name="椭圆 66590"/>
            <p:cNvSpPr/>
            <p:nvPr/>
          </p:nvSpPr>
          <p:spPr>
            <a:xfrm>
              <a:off x="7245" y="12297"/>
              <a:ext cx="68" cy="68"/>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4847" name="文本框 66591"/>
            <p:cNvSpPr txBox="1"/>
            <p:nvPr/>
          </p:nvSpPr>
          <p:spPr>
            <a:xfrm>
              <a:off x="6837" y="10395"/>
              <a:ext cx="363" cy="465"/>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I</a:t>
              </a:r>
              <a:r>
                <a:rPr lang="en-US" altLang="zh-CN" sz="120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34848" name="椭圆 66592"/>
            <p:cNvSpPr/>
            <p:nvPr/>
          </p:nvSpPr>
          <p:spPr>
            <a:xfrm>
              <a:off x="6855" y="10332"/>
              <a:ext cx="68" cy="68"/>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4849" name="直接连接符 66593"/>
            <p:cNvSpPr/>
            <p:nvPr/>
          </p:nvSpPr>
          <p:spPr>
            <a:xfrm flipH="1">
              <a:off x="6657" y="10785"/>
              <a:ext cx="900" cy="0"/>
            </a:xfrm>
            <a:prstGeom prst="line">
              <a:avLst/>
            </a:prstGeom>
            <a:ln w="19050" cap="flat" cmpd="sng">
              <a:solidFill>
                <a:srgbClr val="000000"/>
              </a:solidFill>
              <a:prstDash val="solid"/>
              <a:round/>
              <a:headEnd type="triangle" w="med" len="med"/>
              <a:tailEnd type="none" w="med" len="med"/>
            </a:ln>
          </p:spPr>
        </p:sp>
        <p:sp>
          <p:nvSpPr>
            <p:cNvPr id="34850" name="直接连接符 66594"/>
            <p:cNvSpPr/>
            <p:nvPr/>
          </p:nvSpPr>
          <p:spPr>
            <a:xfrm>
              <a:off x="6657" y="11097"/>
              <a:ext cx="0" cy="1560"/>
            </a:xfrm>
            <a:prstGeom prst="line">
              <a:avLst/>
            </a:prstGeom>
            <a:ln w="9525" cap="flat" cmpd="sng">
              <a:solidFill>
                <a:srgbClr val="000000"/>
              </a:solidFill>
              <a:prstDash val="solid"/>
              <a:round/>
              <a:headEnd type="none" w="med" len="med"/>
              <a:tailEnd type="triangle" w="med" len="med"/>
            </a:ln>
          </p:spPr>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矩形 65537"/>
          <p:cNvSpPr/>
          <p:nvPr/>
        </p:nvSpPr>
        <p:spPr>
          <a:xfrm>
            <a:off x="179388" y="404813"/>
            <a:ext cx="8462962" cy="155257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5-12</a:t>
            </a:r>
            <a:r>
              <a:rPr lang="zh-CN" altLang="en-US" dirty="0">
                <a:latin typeface="Times New Roman" panose="02020603050405020304" pitchFamily="18" charset="0"/>
                <a:ea typeface="宋体" panose="02010600030101010101" pitchFamily="2" charset="-122"/>
              </a:rPr>
              <a:t>：第</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台：</a:t>
            </a:r>
            <a:r>
              <a:rPr lang="en-US" altLang="zh-CN" dirty="0">
                <a:latin typeface="Times New Roman" panose="02020603050405020304" pitchFamily="18" charset="0"/>
                <a:ea typeface="宋体" panose="02010600030101010101" pitchFamily="2" charset="-122"/>
              </a:rPr>
              <a:t>1kVA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220/110V</a:t>
            </a:r>
            <a:r>
              <a:rPr lang="zh-CN" altLang="en-US" dirty="0">
                <a:latin typeface="Times New Roman" panose="02020603050405020304" pitchFamily="18" charset="0"/>
                <a:ea typeface="宋体" panose="02010600030101010101" pitchFamily="2" charset="-122"/>
              </a:rPr>
              <a:t>，短路阻抗</a:t>
            </a:r>
            <a:r>
              <a:rPr lang="en-US" altLang="zh-CN">
                <a:latin typeface="Times New Roman" panose="02020603050405020304" pitchFamily="18" charset="0"/>
                <a:ea typeface="宋体" panose="02010600030101010101" pitchFamily="2" charset="-122"/>
              </a:rPr>
              <a:t>Z*</a:t>
            </a:r>
            <a:r>
              <a:rPr lang="en-US" altLang="zh-CN" baseline="-25000">
                <a:latin typeface="Times New Roman" panose="02020603050405020304" pitchFamily="18" charset="0"/>
                <a:ea typeface="宋体" panose="02010600030101010101" pitchFamily="2" charset="-122"/>
              </a:rPr>
              <a:t>kⅠ</a:t>
            </a:r>
            <a:r>
              <a:rPr lang="en-US" altLang="zh-CN">
                <a:latin typeface="Times New Roman" panose="02020603050405020304" pitchFamily="18" charset="0"/>
                <a:ea typeface="宋体" panose="02010600030101010101" pitchFamily="2" charset="-122"/>
              </a:rPr>
              <a:t>=0.05∠60°</a:t>
            </a:r>
            <a:endParaRPr lang="en-US" altLang="zh-CN">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第</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台：</a:t>
            </a:r>
            <a:r>
              <a:rPr lang="en-US" altLang="zh-CN" dirty="0">
                <a:latin typeface="Times New Roman" panose="02020603050405020304" pitchFamily="18" charset="0"/>
                <a:ea typeface="宋体" panose="02010600030101010101" pitchFamily="2" charset="-122"/>
              </a:rPr>
              <a:t>500VA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110/36V</a:t>
            </a:r>
            <a:r>
              <a:rPr lang="zh-CN" altLang="en-US" dirty="0">
                <a:latin typeface="Times New Roman" panose="02020603050405020304" pitchFamily="18" charset="0"/>
                <a:ea typeface="宋体" panose="02010600030101010101" pitchFamily="2" charset="-122"/>
              </a:rPr>
              <a:t>，短路阻抗</a:t>
            </a:r>
            <a:r>
              <a:rPr lang="en-US" altLang="zh-CN">
                <a:latin typeface="Times New Roman" panose="02020603050405020304" pitchFamily="18" charset="0"/>
                <a:ea typeface="宋体" panose="02010600030101010101" pitchFamily="2" charset="-122"/>
              </a:rPr>
              <a:t>Z*</a:t>
            </a:r>
            <a:r>
              <a:rPr lang="en-US" altLang="zh-CN" baseline="-25000">
                <a:latin typeface="Times New Roman" panose="02020603050405020304" pitchFamily="18" charset="0"/>
                <a:ea typeface="宋体" panose="02010600030101010101" pitchFamily="2" charset="-122"/>
              </a:rPr>
              <a:t>kⅡ</a:t>
            </a:r>
            <a:r>
              <a:rPr lang="en-US" altLang="zh-CN">
                <a:latin typeface="Times New Roman" panose="02020603050405020304" pitchFamily="18" charset="0"/>
                <a:ea typeface="宋体" panose="02010600030101010101" pitchFamily="2" charset="-122"/>
              </a:rPr>
              <a:t>=0.08∠60°</a:t>
            </a:r>
            <a:endParaRPr lang="en-US" altLang="zh-CN">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电源电压</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，负载</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=36V</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60W</a:t>
            </a:r>
            <a:r>
              <a:rPr lang="zh-CN" altLang="en-US" dirty="0">
                <a:latin typeface="Times New Roman" panose="02020603050405020304" pitchFamily="18" charset="0"/>
                <a:ea typeface="宋体" panose="02010600030101010101" pitchFamily="2" charset="-122"/>
              </a:rPr>
              <a:t>的白炽灯泡</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只，线路如何接？电源吸收多大的电流？灯泡两端实际电压？</a:t>
            </a:r>
            <a:endParaRPr lang="zh-CN" altLang="en-US" dirty="0">
              <a:latin typeface="Times New Roman" panose="02020603050405020304" pitchFamily="18" charset="0"/>
              <a:ea typeface="宋体" panose="02010600030101010101" pitchFamily="2" charset="-122"/>
            </a:endParaRPr>
          </a:p>
        </p:txBody>
      </p:sp>
      <p:sp>
        <p:nvSpPr>
          <p:cNvPr id="35842" name="矩形 65538"/>
          <p:cNvSpPr/>
          <p:nvPr/>
        </p:nvSpPr>
        <p:spPr>
          <a:xfrm>
            <a:off x="395288" y="2082800"/>
            <a:ext cx="5616575" cy="2282825"/>
          </a:xfrm>
          <a:prstGeom prst="rect">
            <a:avLst/>
          </a:prstGeom>
          <a:noFill/>
          <a:ln w="9525">
            <a:noFill/>
          </a:ln>
        </p:spPr>
        <p:txBody>
          <a:bodyPr anchor="ctr" anchorCtr="0">
            <a:spAutoFit/>
          </a:bodyPr>
          <a:p>
            <a:pPr>
              <a:lnSpc>
                <a:spcPct val="120000"/>
              </a:lnSpc>
            </a:pPr>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变压器串联，将变压器</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的副边作为变压器</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的原边输入，则变压器</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的副边就是所需的</a:t>
            </a:r>
            <a:r>
              <a:rPr lang="en-US" altLang="zh-CN" dirty="0">
                <a:latin typeface="Times New Roman" panose="02020603050405020304" pitchFamily="18" charset="0"/>
                <a:ea typeface="宋体" panose="02010600030101010101" pitchFamily="2" charset="-122"/>
              </a:rPr>
              <a:t>36V</a:t>
            </a:r>
            <a:r>
              <a:rPr lang="zh-CN" altLang="en-US" dirty="0">
                <a:latin typeface="Times New Roman" panose="02020603050405020304" pitchFamily="18" charset="0"/>
                <a:ea typeface="宋体" panose="02010600030101010101" pitchFamily="2" charset="-122"/>
              </a:rPr>
              <a:t>电压。</a:t>
            </a:r>
            <a:endParaRPr lang="zh-CN" altLang="en-US" dirty="0">
              <a:latin typeface="Times New Roman" panose="02020603050405020304" pitchFamily="18" charset="0"/>
              <a:ea typeface="宋体" panose="02010600030101010101" pitchFamily="2" charset="-122"/>
            </a:endParaRPr>
          </a:p>
          <a:p>
            <a:pPr>
              <a:lnSpc>
                <a:spcPct val="120000"/>
              </a:lnSpc>
            </a:pPr>
            <a:r>
              <a:rPr lang="zh-CN" altLang="en-US" dirty="0">
                <a:solidFill>
                  <a:srgbClr val="FF0000"/>
                </a:solidFill>
                <a:latin typeface="Times New Roman" panose="02020603050405020304" pitchFamily="18" charset="0"/>
                <a:ea typeface="宋体" panose="02010600030101010101" pitchFamily="2" charset="-122"/>
              </a:rPr>
              <a:t>变压器</a:t>
            </a:r>
            <a:r>
              <a:rPr lang="en-US" altLang="zh-CN">
                <a:solidFill>
                  <a:srgbClr val="FF0000"/>
                </a:solidFill>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的原边阻抗基值为</a:t>
            </a:r>
            <a:r>
              <a:rPr lang="en-US" altLang="zh-CN">
                <a:latin typeface="Times New Roman" panose="02020603050405020304" pitchFamily="18" charset="0"/>
                <a:ea typeface="宋体" panose="02010600030101010101" pitchFamily="2" charset="-122"/>
              </a:rPr>
              <a:t>:48.4Ω; </a:t>
            </a:r>
            <a:endParaRPr lang="en-US" altLang="zh-CN">
              <a:latin typeface="Times New Roman" panose="02020603050405020304" pitchFamily="18" charset="0"/>
              <a:ea typeface="宋体" panose="02010600030101010101" pitchFamily="2" charset="-122"/>
            </a:endParaRPr>
          </a:p>
          <a:p>
            <a:pPr>
              <a:lnSpc>
                <a:spcPct val="120000"/>
              </a:lnSpc>
            </a:pPr>
            <a:r>
              <a:rPr lang="zh-CN" altLang="en-US" dirty="0">
                <a:latin typeface="Times New Roman" panose="02020603050405020304" pitchFamily="18" charset="0"/>
                <a:ea typeface="宋体" panose="02010600030101010101" pitchFamily="2" charset="-122"/>
              </a:rPr>
              <a:t>原边短路阻抗为</a:t>
            </a:r>
            <a:r>
              <a:rPr lang="en-US" altLang="zh-CN" dirty="0">
                <a:latin typeface="Times New Roman" panose="02020603050405020304" pitchFamily="18" charset="0"/>
                <a:ea typeface="宋体" panose="02010600030101010101" pitchFamily="2" charset="-122"/>
              </a:rPr>
              <a:t>:1.21+j2.096Ω;</a:t>
            </a:r>
            <a:r>
              <a:rPr lang="zh-CN" altLang="en-US" dirty="0">
                <a:latin typeface="Times New Roman" panose="02020603050405020304" pitchFamily="18" charset="0"/>
                <a:ea typeface="宋体" panose="02010600030101010101" pitchFamily="2" charset="-122"/>
              </a:rPr>
              <a:t>变比为</a:t>
            </a:r>
            <a:r>
              <a:rPr lang="en-US" altLang="zh-CN">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35843" name="矩形 65555"/>
          <p:cNvSpPr/>
          <p:nvPr/>
        </p:nvSpPr>
        <p:spPr>
          <a:xfrm>
            <a:off x="395288" y="4403725"/>
            <a:ext cx="5616575" cy="1041400"/>
          </a:xfrm>
          <a:prstGeom prst="rect">
            <a:avLst/>
          </a:prstGeom>
          <a:noFill/>
          <a:ln w="9525">
            <a:noFill/>
          </a:ln>
        </p:spPr>
        <p:txBody>
          <a:bodyPr anchor="ctr" anchorCtr="0">
            <a:spAutoFit/>
          </a:bodyPr>
          <a:p>
            <a:pPr eaLnBrk="0" hangingPunct="0">
              <a:lnSpc>
                <a:spcPct val="130000"/>
              </a:lnSpc>
            </a:pPr>
            <a:r>
              <a:rPr lang="zh-CN" altLang="en-US" dirty="0">
                <a:solidFill>
                  <a:srgbClr val="FF0000"/>
                </a:solidFill>
                <a:latin typeface="Times New Roman" panose="02020603050405020304" pitchFamily="18" charset="0"/>
                <a:ea typeface="宋体" panose="02010600030101010101" pitchFamily="2" charset="-122"/>
              </a:rPr>
              <a:t>变压器</a:t>
            </a:r>
            <a:r>
              <a:rPr lang="en-US" altLang="zh-CN">
                <a:solidFill>
                  <a:srgbClr val="FF0000"/>
                </a:solidFill>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的原边阻抗基值为</a:t>
            </a:r>
            <a:r>
              <a:rPr lang="en-US" altLang="zh-CN" dirty="0">
                <a:latin typeface="Times New Roman" panose="02020603050405020304" pitchFamily="18" charset="0"/>
                <a:ea typeface="宋体" panose="02010600030101010101" pitchFamily="2" charset="-122"/>
              </a:rPr>
              <a:t>:24.2Ω;</a:t>
            </a:r>
            <a:r>
              <a:rPr lang="zh-CN" altLang="en-US" dirty="0">
                <a:latin typeface="Times New Roman" panose="02020603050405020304" pitchFamily="18" charset="0"/>
                <a:ea typeface="宋体" panose="02010600030101010101" pitchFamily="2" charset="-122"/>
              </a:rPr>
              <a:t>原边短路阻抗为</a:t>
            </a:r>
            <a:r>
              <a:rPr lang="en-US" altLang="zh-CN" dirty="0">
                <a:latin typeface="Times New Roman" panose="02020603050405020304" pitchFamily="18" charset="0"/>
                <a:ea typeface="宋体" panose="02010600030101010101" pitchFamily="2" charset="-122"/>
              </a:rPr>
              <a:t>:0.968+j1.677Ω;</a:t>
            </a:r>
            <a:r>
              <a:rPr lang="zh-CN" altLang="en-US" dirty="0">
                <a:latin typeface="Times New Roman" panose="02020603050405020304" pitchFamily="18" charset="0"/>
                <a:ea typeface="宋体" panose="02010600030101010101" pitchFamily="2" charset="-122"/>
              </a:rPr>
              <a:t>变比为</a:t>
            </a:r>
            <a:r>
              <a:rPr lang="en-US" altLang="zh-CN">
                <a:latin typeface="Times New Roman" panose="02020603050405020304" pitchFamily="18" charset="0"/>
                <a:ea typeface="宋体" panose="02010600030101010101" pitchFamily="2" charset="-122"/>
              </a:rPr>
              <a:t>3.06;</a:t>
            </a:r>
            <a:endParaRPr lang="en-US" altLang="zh-CN">
              <a:latin typeface="Times New Roman" panose="02020603050405020304" pitchFamily="18" charset="0"/>
              <a:ea typeface="宋体" panose="02010600030101010101" pitchFamily="2" charset="-122"/>
            </a:endParaRPr>
          </a:p>
        </p:txBody>
      </p:sp>
      <p:grpSp>
        <p:nvGrpSpPr>
          <p:cNvPr id="35844" name="组合 65539"/>
          <p:cNvGrpSpPr/>
          <p:nvPr/>
        </p:nvGrpSpPr>
        <p:grpSpPr>
          <a:xfrm>
            <a:off x="5975350" y="2636838"/>
            <a:ext cx="3168650" cy="1512887"/>
            <a:chOff x="1977" y="10644"/>
            <a:chExt cx="4680" cy="2118"/>
          </a:xfrm>
        </p:grpSpPr>
        <p:sp>
          <p:nvSpPr>
            <p:cNvPr id="35845" name="文本框 65554"/>
            <p:cNvSpPr txBox="1"/>
            <p:nvPr/>
          </p:nvSpPr>
          <p:spPr>
            <a:xfrm>
              <a:off x="2337" y="10644"/>
              <a:ext cx="540" cy="468"/>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I</a:t>
              </a:r>
              <a:r>
                <a:rPr lang="en-US" altLang="zh-CN" sz="1200" baseline="-30000">
                  <a:latin typeface="Times New Roman" panose="02020603050405020304" pitchFamily="18" charset="0"/>
                  <a:ea typeface="宋体" panose="02010600030101010101" pitchFamily="2" charset="-122"/>
                </a:rPr>
                <a:t>1</a:t>
              </a:r>
              <a:endParaRPr lang="en-US" altLang="zh-CN" b="0">
                <a:latin typeface="Times New Roman" panose="02020603050405020304" pitchFamily="18" charset="0"/>
                <a:ea typeface="宋体" panose="02010600030101010101" pitchFamily="2" charset="-122"/>
              </a:endParaRPr>
            </a:p>
          </p:txBody>
        </p:sp>
        <p:sp>
          <p:nvSpPr>
            <p:cNvPr id="35846" name="文本框 65553"/>
            <p:cNvSpPr txBox="1"/>
            <p:nvPr/>
          </p:nvSpPr>
          <p:spPr>
            <a:xfrm>
              <a:off x="2517" y="11670"/>
              <a:ext cx="540" cy="468"/>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U</a:t>
              </a:r>
              <a:r>
                <a:rPr lang="en-US" altLang="zh-CN" sz="1200" baseline="-30000">
                  <a:latin typeface="Times New Roman" panose="02020603050405020304" pitchFamily="18" charset="0"/>
                  <a:ea typeface="宋体" panose="02010600030101010101" pitchFamily="2" charset="-122"/>
                </a:rPr>
                <a:t>1</a:t>
              </a:r>
              <a:endParaRPr lang="en-US" altLang="zh-CN" b="0">
                <a:latin typeface="Times New Roman" panose="02020603050405020304" pitchFamily="18" charset="0"/>
                <a:ea typeface="宋体" panose="02010600030101010101" pitchFamily="2" charset="-122"/>
              </a:endParaRPr>
            </a:p>
          </p:txBody>
        </p:sp>
        <p:sp>
          <p:nvSpPr>
            <p:cNvPr id="35847" name="文本框 65552"/>
            <p:cNvSpPr txBox="1"/>
            <p:nvPr/>
          </p:nvSpPr>
          <p:spPr>
            <a:xfrm>
              <a:off x="6117" y="11514"/>
              <a:ext cx="540" cy="468"/>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U</a:t>
              </a:r>
              <a:r>
                <a:rPr lang="en-US" altLang="zh-CN" sz="1200" baseline="30000">
                  <a:latin typeface="Times New Roman" panose="02020603050405020304" pitchFamily="18" charset="0"/>
                  <a:ea typeface="宋体" panose="02010600030101010101" pitchFamily="2" charset="-122"/>
                </a:rPr>
                <a:t>’</a:t>
              </a:r>
              <a:r>
                <a:rPr lang="en-US" altLang="zh-CN" sz="1200" baseline="-30000">
                  <a:latin typeface="Times New Roman" panose="02020603050405020304" pitchFamily="18" charset="0"/>
                  <a:ea typeface="宋体" panose="02010600030101010101" pitchFamily="2" charset="-122"/>
                </a:rPr>
                <a:t>2</a:t>
              </a:r>
              <a:endParaRPr lang="en-US" altLang="zh-CN" b="0">
                <a:latin typeface="Times New Roman" panose="02020603050405020304" pitchFamily="18" charset="0"/>
                <a:ea typeface="宋体" panose="02010600030101010101" pitchFamily="2" charset="-122"/>
              </a:endParaRPr>
            </a:p>
          </p:txBody>
        </p:sp>
        <p:sp>
          <p:nvSpPr>
            <p:cNvPr id="35848" name="文本框 65551"/>
            <p:cNvSpPr txBox="1"/>
            <p:nvPr/>
          </p:nvSpPr>
          <p:spPr>
            <a:xfrm>
              <a:off x="5037" y="11670"/>
              <a:ext cx="540" cy="468"/>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R</a:t>
              </a:r>
              <a:r>
                <a:rPr lang="en-US" altLang="zh-CN" sz="1200" baseline="30000">
                  <a:latin typeface="Times New Roman" panose="02020603050405020304" pitchFamily="18" charset="0"/>
                  <a:ea typeface="宋体" panose="02010600030101010101" pitchFamily="2" charset="-122"/>
                </a:rPr>
                <a:t>’</a:t>
              </a:r>
              <a:r>
                <a:rPr lang="en-US" altLang="zh-CN" sz="1200" baseline="-30000">
                  <a:latin typeface="Times New Roman" panose="02020603050405020304" pitchFamily="18" charset="0"/>
                  <a:ea typeface="宋体" panose="02010600030101010101" pitchFamily="2" charset="-122"/>
                </a:rPr>
                <a:t>L</a:t>
              </a:r>
              <a:endParaRPr lang="en-US" altLang="zh-CN" b="0">
                <a:latin typeface="Times New Roman" panose="02020603050405020304" pitchFamily="18" charset="0"/>
                <a:ea typeface="宋体" panose="02010600030101010101" pitchFamily="2" charset="-122"/>
              </a:endParaRPr>
            </a:p>
          </p:txBody>
        </p:sp>
        <p:sp>
          <p:nvSpPr>
            <p:cNvPr id="35849" name="直接连接符 65550"/>
            <p:cNvSpPr/>
            <p:nvPr/>
          </p:nvSpPr>
          <p:spPr>
            <a:xfrm>
              <a:off x="5577" y="11046"/>
              <a:ext cx="0" cy="1716"/>
            </a:xfrm>
            <a:prstGeom prst="line">
              <a:avLst/>
            </a:prstGeom>
            <a:ln w="19050" cap="flat" cmpd="sng">
              <a:solidFill>
                <a:srgbClr val="000000"/>
              </a:solidFill>
              <a:prstDash val="solid"/>
              <a:round/>
              <a:headEnd type="none" w="med" len="med"/>
              <a:tailEnd type="none" w="med" len="med"/>
            </a:ln>
          </p:spPr>
        </p:sp>
        <p:sp>
          <p:nvSpPr>
            <p:cNvPr id="35850" name="直接连接符 65549"/>
            <p:cNvSpPr/>
            <p:nvPr/>
          </p:nvSpPr>
          <p:spPr>
            <a:xfrm>
              <a:off x="1977" y="11046"/>
              <a:ext cx="3600" cy="0"/>
            </a:xfrm>
            <a:prstGeom prst="line">
              <a:avLst/>
            </a:prstGeom>
            <a:ln w="19050" cap="flat" cmpd="sng">
              <a:solidFill>
                <a:srgbClr val="000000"/>
              </a:solidFill>
              <a:prstDash val="solid"/>
              <a:round/>
              <a:headEnd type="none" w="med" len="med"/>
              <a:tailEnd type="none" w="med" len="med"/>
            </a:ln>
          </p:spPr>
        </p:sp>
        <p:sp>
          <p:nvSpPr>
            <p:cNvPr id="35851" name="矩形 65548"/>
            <p:cNvSpPr/>
            <p:nvPr/>
          </p:nvSpPr>
          <p:spPr>
            <a:xfrm>
              <a:off x="2877" y="10956"/>
              <a:ext cx="540" cy="156"/>
            </a:xfrm>
            <a:prstGeom prst="rect">
              <a:avLst/>
            </a:prstGeom>
            <a:noFill/>
            <a:ln w="9525" cap="flat" cmpd="sng">
              <a:solidFill>
                <a:srgbClr val="000000"/>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5852" name="矩形 65547"/>
            <p:cNvSpPr/>
            <p:nvPr/>
          </p:nvSpPr>
          <p:spPr>
            <a:xfrm>
              <a:off x="4317" y="10956"/>
              <a:ext cx="540" cy="156"/>
            </a:xfrm>
            <a:prstGeom prst="rect">
              <a:avLst/>
            </a:prstGeom>
            <a:noFill/>
            <a:ln w="9525" cap="flat" cmpd="sng">
              <a:solidFill>
                <a:srgbClr val="000000"/>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5853" name="矩形 65546"/>
            <p:cNvSpPr/>
            <p:nvPr/>
          </p:nvSpPr>
          <p:spPr>
            <a:xfrm>
              <a:off x="5487" y="11514"/>
              <a:ext cx="180" cy="624"/>
            </a:xfrm>
            <a:prstGeom prst="rect">
              <a:avLst/>
            </a:prstGeom>
            <a:noFill/>
            <a:ln w="9525" cap="flat" cmpd="sng">
              <a:solidFill>
                <a:srgbClr val="000000"/>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5854" name="直接连接符 65545"/>
            <p:cNvSpPr/>
            <p:nvPr/>
          </p:nvSpPr>
          <p:spPr>
            <a:xfrm flipH="1">
              <a:off x="1977" y="12762"/>
              <a:ext cx="3600" cy="0"/>
            </a:xfrm>
            <a:prstGeom prst="line">
              <a:avLst/>
            </a:prstGeom>
            <a:ln w="19050" cap="flat" cmpd="sng">
              <a:solidFill>
                <a:srgbClr val="000000"/>
              </a:solidFill>
              <a:prstDash val="solid"/>
              <a:round/>
              <a:headEnd type="none" w="med" len="med"/>
              <a:tailEnd type="none" w="med" len="med"/>
            </a:ln>
          </p:spPr>
        </p:sp>
        <p:sp>
          <p:nvSpPr>
            <p:cNvPr id="35855" name="直接连接符 65544"/>
            <p:cNvSpPr/>
            <p:nvPr/>
          </p:nvSpPr>
          <p:spPr>
            <a:xfrm>
              <a:off x="2337" y="11202"/>
              <a:ext cx="0" cy="1092"/>
            </a:xfrm>
            <a:prstGeom prst="line">
              <a:avLst/>
            </a:prstGeom>
            <a:ln w="9525" cap="flat" cmpd="sng">
              <a:solidFill>
                <a:srgbClr val="000000"/>
              </a:solidFill>
              <a:prstDash val="solid"/>
              <a:round/>
              <a:headEnd type="none" w="med" len="med"/>
              <a:tailEnd type="triangle" w="med" len="med"/>
            </a:ln>
          </p:spPr>
        </p:sp>
        <p:sp>
          <p:nvSpPr>
            <p:cNvPr id="35856" name="文本框 65543"/>
            <p:cNvSpPr txBox="1"/>
            <p:nvPr/>
          </p:nvSpPr>
          <p:spPr>
            <a:xfrm>
              <a:off x="4497" y="11202"/>
              <a:ext cx="540" cy="468"/>
            </a:xfrm>
            <a:prstGeom prst="rect">
              <a:avLst/>
            </a:prstGeom>
            <a:noFill/>
            <a:ln w="9525">
              <a:noFill/>
            </a:ln>
          </p:spPr>
          <p:txBody>
            <a:bodyPr lIns="0" tIns="0" rIns="0" bIns="0" anchor="t" anchorCtr="0"/>
            <a:p>
              <a:r>
                <a:rPr lang="en-US" altLang="zh-CN" sz="1400">
                  <a:latin typeface="Times New Roman" panose="02020603050405020304" pitchFamily="18" charset="0"/>
                  <a:ea typeface="宋体" panose="02010600030101010101" pitchFamily="2" charset="-122"/>
                </a:rPr>
                <a:t>Z</a:t>
              </a:r>
              <a:r>
                <a:rPr lang="en-US" altLang="zh-CN" sz="1400" baseline="30000">
                  <a:latin typeface="Times New Roman" panose="02020603050405020304" pitchFamily="18" charset="0"/>
                  <a:ea typeface="宋体" panose="02010600030101010101" pitchFamily="2" charset="-122"/>
                </a:rPr>
                <a:t>’</a:t>
              </a:r>
              <a:r>
                <a:rPr lang="en-US" altLang="zh-CN" sz="1400" baseline="-30000">
                  <a:latin typeface="Times New Roman" panose="02020603050405020304" pitchFamily="18" charset="0"/>
                  <a:ea typeface="宋体" panose="02010600030101010101" pitchFamily="2" charset="-122"/>
                </a:rPr>
                <a:t>KII</a:t>
              </a:r>
              <a:endParaRPr lang="en-US" altLang="zh-CN" sz="1400" b="0">
                <a:latin typeface="Times New Roman" panose="02020603050405020304" pitchFamily="18" charset="0"/>
                <a:ea typeface="宋体" panose="02010600030101010101" pitchFamily="2" charset="-122"/>
              </a:endParaRPr>
            </a:p>
          </p:txBody>
        </p:sp>
        <p:sp>
          <p:nvSpPr>
            <p:cNvPr id="35857" name="文本框 65542"/>
            <p:cNvSpPr txBox="1"/>
            <p:nvPr/>
          </p:nvSpPr>
          <p:spPr>
            <a:xfrm>
              <a:off x="3057" y="11202"/>
              <a:ext cx="540" cy="468"/>
            </a:xfrm>
            <a:prstGeom prst="rect">
              <a:avLst/>
            </a:prstGeom>
            <a:noFill/>
            <a:ln w="9525">
              <a:noFill/>
            </a:ln>
          </p:spPr>
          <p:txBody>
            <a:bodyPr lIns="0" tIns="0" rIns="0" bIns="0" anchor="t" anchorCtr="0"/>
            <a:p>
              <a:r>
                <a:rPr lang="en-US" altLang="zh-CN" sz="1400">
                  <a:latin typeface="Times New Roman" panose="02020603050405020304" pitchFamily="18" charset="0"/>
                  <a:ea typeface="宋体" panose="02010600030101010101" pitchFamily="2" charset="-122"/>
                </a:rPr>
                <a:t>Z</a:t>
              </a:r>
              <a:r>
                <a:rPr lang="en-US" altLang="zh-CN" sz="1400" baseline="-30000">
                  <a:latin typeface="Times New Roman" panose="02020603050405020304" pitchFamily="18" charset="0"/>
                  <a:ea typeface="宋体" panose="02010600030101010101" pitchFamily="2" charset="-122"/>
                </a:rPr>
                <a:t>KI</a:t>
              </a:r>
              <a:endParaRPr lang="en-US" altLang="zh-CN" sz="1400" b="0">
                <a:latin typeface="Times New Roman" panose="02020603050405020304" pitchFamily="18" charset="0"/>
                <a:ea typeface="宋体" panose="02010600030101010101" pitchFamily="2" charset="-122"/>
              </a:endParaRPr>
            </a:p>
          </p:txBody>
        </p:sp>
        <p:sp>
          <p:nvSpPr>
            <p:cNvPr id="35858" name="直接连接符 65541"/>
            <p:cNvSpPr/>
            <p:nvPr/>
          </p:nvSpPr>
          <p:spPr>
            <a:xfrm>
              <a:off x="5937" y="11358"/>
              <a:ext cx="0" cy="936"/>
            </a:xfrm>
            <a:prstGeom prst="line">
              <a:avLst/>
            </a:prstGeom>
            <a:ln w="9525" cap="flat" cmpd="sng">
              <a:solidFill>
                <a:srgbClr val="000000"/>
              </a:solidFill>
              <a:prstDash val="solid"/>
              <a:round/>
              <a:headEnd type="none" w="med" len="med"/>
              <a:tailEnd type="triangle" w="med" len="med"/>
            </a:ln>
          </p:spPr>
        </p:sp>
        <p:sp>
          <p:nvSpPr>
            <p:cNvPr id="35859" name="直接连接符 65540"/>
            <p:cNvSpPr/>
            <p:nvPr/>
          </p:nvSpPr>
          <p:spPr>
            <a:xfrm>
              <a:off x="2157" y="11031"/>
              <a:ext cx="540" cy="0"/>
            </a:xfrm>
            <a:prstGeom prst="line">
              <a:avLst/>
            </a:prstGeom>
            <a:ln w="9525" cap="flat" cmpd="sng">
              <a:solidFill>
                <a:srgbClr val="000000"/>
              </a:solidFill>
              <a:prstDash val="solid"/>
              <a:round/>
              <a:headEnd type="none" w="med" len="med"/>
              <a:tailEnd type="triangle" w="med" len="med"/>
            </a:ln>
          </p:spPr>
        </p:sp>
      </p:grpSp>
      <p:sp>
        <p:nvSpPr>
          <p:cNvPr id="35860" name="矩形 65562"/>
          <p:cNvSpPr/>
          <p:nvPr/>
        </p:nvSpPr>
        <p:spPr>
          <a:xfrm>
            <a:off x="395288" y="4292600"/>
            <a:ext cx="184150" cy="457200"/>
          </a:xfrm>
          <a:prstGeom prst="rect">
            <a:avLst/>
          </a:prstGeom>
          <a:noFill/>
          <a:ln w="9525">
            <a:noFill/>
          </a:ln>
        </p:spPr>
        <p:txBody>
          <a:bodyPr wrap="none" anchor="ctr" anchorCtr="0">
            <a:spAutoFit/>
          </a:bodyPr>
          <a:p>
            <a:endParaRPr lang="zh-CN" dirty="0">
              <a:latin typeface="Times New Roman" panose="02020603050405020304" pitchFamily="18" charset="0"/>
              <a:ea typeface="宋体" panose="02010600030101010101" pitchFamily="2" charset="-122"/>
            </a:endParaRPr>
          </a:p>
        </p:txBody>
      </p:sp>
      <p:sp>
        <p:nvSpPr>
          <p:cNvPr id="35861" name="矩形 65564"/>
          <p:cNvSpPr/>
          <p:nvPr/>
        </p:nvSpPr>
        <p:spPr>
          <a:xfrm>
            <a:off x="395288" y="5492750"/>
            <a:ext cx="7400925" cy="457200"/>
          </a:xfrm>
          <a:prstGeom prst="rect">
            <a:avLst/>
          </a:prstGeom>
          <a:noFill/>
          <a:ln w="9525">
            <a:noFill/>
          </a:ln>
        </p:spPr>
        <p:txBody>
          <a:bodyPr wrap="none" anchor="t" anchorCtr="0">
            <a:spAutoFit/>
          </a:bodyPr>
          <a:p>
            <a:pPr algn="ctr" eaLnBrk="0" hangingPunct="0"/>
            <a:r>
              <a:rPr lang="zh-CN" altLang="en-US" dirty="0">
                <a:latin typeface="Times New Roman" panose="02020603050405020304" pitchFamily="18" charset="0"/>
                <a:ea typeface="宋体" panose="02010600030101010101" pitchFamily="2" charset="-122"/>
              </a:rPr>
              <a:t>每只灯泡电阻为</a:t>
            </a:r>
            <a:r>
              <a:rPr lang="en-US" altLang="zh-CN" dirty="0">
                <a:latin typeface="Times New Roman" panose="02020603050405020304" pitchFamily="18" charset="0"/>
                <a:ea typeface="宋体" panose="02010600030101010101" pitchFamily="2" charset="-122"/>
              </a:rPr>
              <a:t>:21.6Ω; 5</a:t>
            </a:r>
            <a:r>
              <a:rPr lang="zh-CN" altLang="en-US" dirty="0">
                <a:latin typeface="Times New Roman" panose="02020603050405020304" pitchFamily="18" charset="0"/>
                <a:ea typeface="宋体" panose="02010600030101010101" pitchFamily="2" charset="-122"/>
              </a:rPr>
              <a:t>只灯泡并联后电阻为</a:t>
            </a:r>
            <a:r>
              <a:rPr lang="en-US" altLang="zh-CN">
                <a:latin typeface="Times New Roman" panose="02020603050405020304" pitchFamily="18" charset="0"/>
                <a:ea typeface="宋体" panose="02010600030101010101" pitchFamily="2" charset="-122"/>
              </a:rPr>
              <a:t>:4.32Ω;</a:t>
            </a:r>
            <a:endParaRPr lang="en-US" altLang="zh-CN">
              <a:latin typeface="Times New Roman" panose="02020603050405020304" pitchFamily="18" charset="0"/>
              <a:ea typeface="宋体" panose="02010600030101010101" pitchFamily="2" charset="-122"/>
            </a:endParaRPr>
          </a:p>
        </p:txBody>
      </p:sp>
      <p:graphicFrame>
        <p:nvGraphicFramePr>
          <p:cNvPr id="35862" name="对象 65565"/>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3147" name="" r:id="rId1" imgW="114300" imgH="177800" progId="Equation.DSMT4">
                  <p:embed/>
                </p:oleObj>
              </mc:Choice>
              <mc:Fallback>
                <p:oleObj name="" r:id="rId1" imgW="114300" imgH="177800" progId="Equation.DSMT4">
                  <p:embed/>
                  <p:pic>
                    <p:nvPicPr>
                      <p:cNvPr id="0" name="图片 3146"/>
                      <p:cNvPicPr/>
                      <p:nvPr/>
                    </p:nvPicPr>
                    <p:blipFill>
                      <a:blip r:embed="rId2"/>
                      <a:stretch>
                        <a:fillRect/>
                      </a:stretch>
                    </p:blipFill>
                    <p:spPr>
                      <a:xfrm>
                        <a:off x="4514850" y="3340100"/>
                        <a:ext cx="114300" cy="177800"/>
                      </a:xfrm>
                      <a:prstGeom prst="rect">
                        <a:avLst/>
                      </a:prstGeom>
                      <a:noFill/>
                      <a:ln w="38100">
                        <a:noFill/>
                        <a:miter/>
                      </a:ln>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矩形 64513"/>
          <p:cNvSpPr/>
          <p:nvPr/>
        </p:nvSpPr>
        <p:spPr>
          <a:xfrm>
            <a:off x="468313" y="3789363"/>
            <a:ext cx="7505700"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5-13</a:t>
            </a:r>
            <a:r>
              <a:rPr lang="zh-CN" altLang="en-US" dirty="0">
                <a:latin typeface="Times New Roman" panose="02020603050405020304" pitchFamily="18" charset="0"/>
                <a:ea typeface="宋体" panose="02010600030101010101" pitchFamily="2" charset="-122"/>
              </a:rPr>
              <a:t>：题</a:t>
            </a:r>
            <a:r>
              <a:rPr lang="en-US" altLang="zh-CN" dirty="0">
                <a:latin typeface="Times New Roman" panose="02020603050405020304" pitchFamily="18" charset="0"/>
                <a:ea typeface="宋体" panose="02010600030101010101" pitchFamily="2" charset="-122"/>
              </a:rPr>
              <a:t>5-12</a:t>
            </a:r>
            <a:r>
              <a:rPr lang="zh-CN" altLang="en-US" dirty="0">
                <a:latin typeface="Times New Roman" panose="02020603050405020304" pitchFamily="18" charset="0"/>
                <a:ea typeface="宋体" panose="02010600030101010101" pitchFamily="2" charset="-122"/>
              </a:rPr>
              <a:t>中，如果负载发生短路，计算短路电流？ </a:t>
            </a:r>
            <a:endParaRPr lang="zh-CN" altLang="en-US" dirty="0">
              <a:latin typeface="Times New Roman" panose="02020603050405020304" pitchFamily="18" charset="0"/>
              <a:ea typeface="宋体" panose="02010600030101010101" pitchFamily="2" charset="-122"/>
            </a:endParaRPr>
          </a:p>
        </p:txBody>
      </p:sp>
      <p:sp>
        <p:nvSpPr>
          <p:cNvPr id="36866" name="矩形 64514"/>
          <p:cNvSpPr/>
          <p:nvPr/>
        </p:nvSpPr>
        <p:spPr>
          <a:xfrm>
            <a:off x="539750" y="4365625"/>
            <a:ext cx="7632700"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若负载短路，则折算到变压器</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原边的短路电流为</a:t>
            </a:r>
            <a:endParaRPr lang="zh-CN" altLang="en-US">
              <a:latin typeface="Times New Roman" panose="02020603050405020304" pitchFamily="18" charset="0"/>
              <a:ea typeface="宋体" panose="02010600030101010101" pitchFamily="2" charset="-122"/>
            </a:endParaRPr>
          </a:p>
        </p:txBody>
      </p:sp>
      <p:sp>
        <p:nvSpPr>
          <p:cNvPr id="36867" name="矩形 64515"/>
          <p:cNvSpPr/>
          <p:nvPr/>
        </p:nvSpPr>
        <p:spPr>
          <a:xfrm>
            <a:off x="900113" y="333375"/>
            <a:ext cx="5822950"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将所有阻抗都折算到变压器</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的原边再计算</a:t>
            </a:r>
            <a:endParaRPr lang="zh-CN" altLang="en-US" dirty="0">
              <a:latin typeface="Times New Roman" panose="02020603050405020304" pitchFamily="18" charset="0"/>
              <a:ea typeface="宋体" panose="02010600030101010101" pitchFamily="2" charset="-122"/>
            </a:endParaRPr>
          </a:p>
        </p:txBody>
      </p:sp>
      <p:graphicFrame>
        <p:nvGraphicFramePr>
          <p:cNvPr id="36868" name="对象 64516"/>
          <p:cNvGraphicFramePr/>
          <p:nvPr/>
        </p:nvGraphicFramePr>
        <p:xfrm>
          <a:off x="1736725" y="796925"/>
          <a:ext cx="6075363" cy="3141663"/>
        </p:xfrm>
        <a:graphic>
          <a:graphicData uri="http://schemas.openxmlformats.org/presentationml/2006/ole">
            <mc:AlternateContent xmlns:mc="http://schemas.openxmlformats.org/markup-compatibility/2006">
              <mc:Choice xmlns:v="urn:schemas-microsoft-com:vml" Requires="v">
                <p:oleObj spid="_x0000_s3145" name="" r:id="rId1" imgW="2908300" imgH="1549400" progId="Equation.DSMT4">
                  <p:embed/>
                </p:oleObj>
              </mc:Choice>
              <mc:Fallback>
                <p:oleObj name="" r:id="rId1" imgW="2908300" imgH="1549400" progId="Equation.DSMT4">
                  <p:embed/>
                  <p:pic>
                    <p:nvPicPr>
                      <p:cNvPr id="0" name="图片 3144"/>
                      <p:cNvPicPr/>
                      <p:nvPr/>
                    </p:nvPicPr>
                    <p:blipFill>
                      <a:blip r:embed="rId2"/>
                      <a:stretch>
                        <a:fillRect/>
                      </a:stretch>
                    </p:blipFill>
                    <p:spPr>
                      <a:xfrm>
                        <a:off x="1736725" y="796925"/>
                        <a:ext cx="6075363" cy="3141663"/>
                      </a:xfrm>
                      <a:prstGeom prst="rect">
                        <a:avLst/>
                      </a:prstGeom>
                      <a:noFill/>
                      <a:ln w="38100">
                        <a:noFill/>
                        <a:miter/>
                      </a:ln>
                    </p:spPr>
                  </p:pic>
                </p:oleObj>
              </mc:Fallback>
            </mc:AlternateContent>
          </a:graphicData>
        </a:graphic>
      </p:graphicFrame>
      <p:sp>
        <p:nvSpPr>
          <p:cNvPr id="36869" name="文本框 64517"/>
          <p:cNvSpPr txBox="1"/>
          <p:nvPr/>
        </p:nvSpPr>
        <p:spPr>
          <a:xfrm>
            <a:off x="684213" y="1125538"/>
            <a:ext cx="1103312"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其中：</a:t>
            </a:r>
            <a:endParaRPr lang="zh-CN" altLang="en-US" dirty="0">
              <a:latin typeface="Times New Roman" panose="02020603050405020304" pitchFamily="18" charset="0"/>
              <a:ea typeface="宋体" panose="02010600030101010101" pitchFamily="2" charset="-122"/>
            </a:endParaRPr>
          </a:p>
        </p:txBody>
      </p:sp>
      <p:graphicFrame>
        <p:nvGraphicFramePr>
          <p:cNvPr id="36870" name="对象 64519"/>
          <p:cNvGraphicFramePr/>
          <p:nvPr/>
        </p:nvGraphicFramePr>
        <p:xfrm>
          <a:off x="331788" y="5013325"/>
          <a:ext cx="8488362" cy="1223963"/>
        </p:xfrm>
        <a:graphic>
          <a:graphicData uri="http://schemas.openxmlformats.org/presentationml/2006/ole">
            <mc:AlternateContent xmlns:mc="http://schemas.openxmlformats.org/markup-compatibility/2006">
              <mc:Choice xmlns:v="urn:schemas-microsoft-com:vml" Requires="v">
                <p:oleObj spid="_x0000_s3142" name="" r:id="rId3" imgW="3782695" imgH="546100" progId="Equation.DSMT4">
                  <p:embed/>
                </p:oleObj>
              </mc:Choice>
              <mc:Fallback>
                <p:oleObj name="" r:id="rId3" imgW="3782695" imgH="546100" progId="Equation.DSMT4">
                  <p:embed/>
                  <p:pic>
                    <p:nvPicPr>
                      <p:cNvPr id="0" name="图片 3141"/>
                      <p:cNvPicPr/>
                      <p:nvPr/>
                    </p:nvPicPr>
                    <p:blipFill>
                      <a:blip r:embed="rId4"/>
                      <a:stretch>
                        <a:fillRect/>
                      </a:stretch>
                    </p:blipFill>
                    <p:spPr>
                      <a:xfrm>
                        <a:off x="331788" y="5013325"/>
                        <a:ext cx="8488362" cy="1223963"/>
                      </a:xfrm>
                      <a:prstGeom prst="rect">
                        <a:avLst/>
                      </a:prstGeom>
                      <a:noFill/>
                      <a:ln w="38100">
                        <a:noFill/>
                        <a:miter/>
                      </a:ln>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矩形 63489"/>
          <p:cNvSpPr/>
          <p:nvPr/>
        </p:nvSpPr>
        <p:spPr>
          <a:xfrm>
            <a:off x="395288" y="404813"/>
            <a:ext cx="8748712" cy="118745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5-14 </a:t>
            </a:r>
            <a:r>
              <a:rPr lang="zh-CN" altLang="en-US" dirty="0">
                <a:latin typeface="Times New Roman" panose="02020603050405020304" pitchFamily="18" charset="0"/>
                <a:ea typeface="宋体" panose="02010600030101010101" pitchFamily="2" charset="-122"/>
              </a:rPr>
              <a:t>一旧变压器铁心截面</a:t>
            </a:r>
            <a:r>
              <a:rPr lang="en-US" altLang="zh-CN" dirty="0">
                <a:latin typeface="Times New Roman" panose="02020603050405020304" pitchFamily="18" charset="0"/>
                <a:ea typeface="宋体" panose="02010600030101010101" pitchFamily="2" charset="-122"/>
              </a:rPr>
              <a:t>2cm×2.4cm</a:t>
            </a:r>
            <a:r>
              <a:rPr lang="zh-CN" altLang="en-US" dirty="0">
                <a:latin typeface="Times New Roman" panose="02020603050405020304" pitchFamily="18" charset="0"/>
                <a:ea typeface="宋体" panose="02010600030101010101" pitchFamily="2" charset="-122"/>
              </a:rPr>
              <a:t>，绕成副边有两个</a:t>
            </a:r>
            <a:r>
              <a:rPr lang="en-US" altLang="zh-CN" dirty="0">
                <a:latin typeface="Times New Roman" panose="02020603050405020304" pitchFamily="18" charset="0"/>
                <a:ea typeface="宋体" panose="02010600030101010101" pitchFamily="2" charset="-122"/>
              </a:rPr>
              <a:t>50V</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0.1A</a:t>
            </a:r>
            <a:r>
              <a:rPr lang="zh-CN" altLang="en-US" dirty="0">
                <a:latin typeface="Times New Roman" panose="02020603050405020304" pitchFamily="18" charset="0"/>
                <a:ea typeface="宋体" panose="02010600030101010101" pitchFamily="2" charset="-122"/>
              </a:rPr>
              <a:t>的绕组，接到</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50Hz</a:t>
            </a:r>
            <a:r>
              <a:rPr lang="zh-CN" altLang="en-US" dirty="0">
                <a:latin typeface="Times New Roman" panose="02020603050405020304" pitchFamily="18" charset="0"/>
                <a:ea typeface="宋体" panose="02010600030101010101" pitchFamily="2" charset="-122"/>
              </a:rPr>
              <a:t>的电源上使用。若</a:t>
            </a:r>
            <a:r>
              <a:rPr lang="en-US" altLang="zh-CN" i="1">
                <a:latin typeface="Times New Roman" panose="02020603050405020304" pitchFamily="18" charset="0"/>
                <a:ea typeface="宋体" panose="02010600030101010101" pitchFamily="2" charset="-122"/>
              </a:rPr>
              <a:t>B</a:t>
            </a:r>
            <a:r>
              <a:rPr lang="en-US" altLang="zh-CN" baseline="-2500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=0.8T</a:t>
            </a:r>
            <a:r>
              <a:rPr lang="zh-CN" altLang="en-US" dirty="0">
                <a:latin typeface="Times New Roman" panose="02020603050405020304" pitchFamily="18" charset="0"/>
                <a:ea typeface="宋体" panose="02010600030101010101" pitchFamily="2" charset="-122"/>
              </a:rPr>
              <a:t>，电流密度</a:t>
            </a:r>
            <a:r>
              <a:rPr lang="en-US" altLang="zh-CN">
                <a:latin typeface="Times New Roman" panose="02020603050405020304" pitchFamily="18" charset="0"/>
                <a:ea typeface="宋体" panose="02010600030101010101" pitchFamily="2" charset="-122"/>
              </a:rPr>
              <a:t>2.5A/mm²</a:t>
            </a:r>
            <a:r>
              <a:rPr lang="zh-CN" altLang="en-US" dirty="0">
                <a:latin typeface="Times New Roman" panose="02020603050405020304" pitchFamily="18" charset="0"/>
                <a:ea typeface="宋体" panose="02010600030101010101" pitchFamily="2" charset="-122"/>
              </a:rPr>
              <a:t>。估算原、副绕组的匝数和导线的截面积。</a:t>
            </a:r>
            <a:endParaRPr lang="zh-CN" altLang="en-US" dirty="0">
              <a:latin typeface="Times New Roman" panose="02020603050405020304" pitchFamily="18" charset="0"/>
              <a:ea typeface="宋体" panose="02010600030101010101" pitchFamily="2" charset="-122"/>
            </a:endParaRPr>
          </a:p>
        </p:txBody>
      </p:sp>
      <p:sp>
        <p:nvSpPr>
          <p:cNvPr id="37890" name="矩形 63491"/>
          <p:cNvSpPr/>
          <p:nvPr/>
        </p:nvSpPr>
        <p:spPr>
          <a:xfrm>
            <a:off x="755650" y="1700213"/>
            <a:ext cx="3049588"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变比</a:t>
            </a:r>
            <a:r>
              <a:rPr lang="en-US" altLang="zh-CN">
                <a:latin typeface="Times New Roman" panose="02020603050405020304" pitchFamily="18" charset="0"/>
                <a:ea typeface="宋体" panose="02010600030101010101" pitchFamily="2" charset="-122"/>
              </a:rPr>
              <a:t>k=220/50=4.4;</a:t>
            </a:r>
            <a:endParaRPr lang="en-US" altLang="zh-CN">
              <a:latin typeface="Times New Roman" panose="02020603050405020304" pitchFamily="18" charset="0"/>
              <a:ea typeface="宋体" panose="02010600030101010101" pitchFamily="2" charset="-122"/>
            </a:endParaRPr>
          </a:p>
        </p:txBody>
      </p:sp>
      <p:graphicFrame>
        <p:nvGraphicFramePr>
          <p:cNvPr id="37891" name="对象 63490"/>
          <p:cNvGraphicFramePr/>
          <p:nvPr/>
        </p:nvGraphicFramePr>
        <p:xfrm>
          <a:off x="1331913" y="2205038"/>
          <a:ext cx="3960812" cy="457200"/>
        </p:xfrm>
        <a:graphic>
          <a:graphicData uri="http://schemas.openxmlformats.org/presentationml/2006/ole">
            <mc:AlternateContent xmlns:mc="http://schemas.openxmlformats.org/markup-compatibility/2006">
              <mc:Choice xmlns:v="urn:schemas-microsoft-com:vml" Requires="v">
                <p:oleObj spid="_x0000_s3144" name="" r:id="rId1" imgW="1955800" imgH="228600" progId="Equation.DSMT4">
                  <p:embed/>
                </p:oleObj>
              </mc:Choice>
              <mc:Fallback>
                <p:oleObj name="" r:id="rId1" imgW="1955800" imgH="228600" progId="Equation.DSMT4">
                  <p:embed/>
                  <p:pic>
                    <p:nvPicPr>
                      <p:cNvPr id="0" name="图片 3143"/>
                      <p:cNvPicPr/>
                      <p:nvPr/>
                    </p:nvPicPr>
                    <p:blipFill>
                      <a:blip r:embed="rId2"/>
                      <a:stretch>
                        <a:fillRect/>
                      </a:stretch>
                    </p:blipFill>
                    <p:spPr>
                      <a:xfrm>
                        <a:off x="1331913" y="2205038"/>
                        <a:ext cx="3960812" cy="457200"/>
                      </a:xfrm>
                      <a:prstGeom prst="rect">
                        <a:avLst/>
                      </a:prstGeom>
                      <a:noFill/>
                      <a:ln w="38100">
                        <a:noFill/>
                        <a:miter/>
                      </a:ln>
                    </p:spPr>
                  </p:pic>
                </p:oleObj>
              </mc:Fallback>
            </mc:AlternateContent>
          </a:graphicData>
        </a:graphic>
      </p:graphicFrame>
      <p:sp>
        <p:nvSpPr>
          <p:cNvPr id="37892" name="矩形 63492"/>
          <p:cNvSpPr/>
          <p:nvPr/>
        </p:nvSpPr>
        <p:spPr>
          <a:xfrm>
            <a:off x="1187450" y="2636838"/>
            <a:ext cx="5648325" cy="3889375"/>
          </a:xfrm>
          <a:prstGeom prst="rect">
            <a:avLst/>
          </a:prstGeom>
          <a:noFill/>
          <a:ln w="9525">
            <a:noFill/>
          </a:ln>
        </p:spPr>
        <p:txBody>
          <a:bodyPr wrap="none" anchor="ctr" anchorCtr="0">
            <a:spAutoFit/>
          </a:bodyPr>
          <a:p>
            <a:pPr>
              <a:lnSpc>
                <a:spcPct val="130000"/>
              </a:lnSpc>
            </a:pPr>
            <a:r>
              <a:rPr lang="zh-CN" altLang="en-US" dirty="0">
                <a:latin typeface="Times New Roman" panose="02020603050405020304" pitchFamily="18" charset="0"/>
                <a:ea typeface="宋体" panose="02010600030101010101" pitchFamily="2" charset="-122"/>
              </a:rPr>
              <a:t>电势</a:t>
            </a:r>
            <a:r>
              <a:rPr lang="en-US" altLang="zh-CN">
                <a:latin typeface="Times New Roman" panose="02020603050405020304" pitchFamily="18" charset="0"/>
                <a:ea typeface="宋体" panose="02010600030101010101" pitchFamily="2" charset="-122"/>
              </a:rPr>
              <a:t>:50=4.44</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50</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0.000384</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30000"/>
              </a:lnSpc>
            </a:pPr>
            <a:r>
              <a:rPr lang="en-US" altLang="zh-CN">
                <a:latin typeface="Times New Roman" panose="02020603050405020304" pitchFamily="18" charset="0"/>
                <a:ea typeface="宋体" panose="02010600030101010101" pitchFamily="2" charset="-122"/>
                <a:sym typeface="Symbol" panose="05050102010706020507" pitchFamily="18" charset="2"/>
              </a:rPr>
              <a:t>N</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=586;  N</a:t>
            </a:r>
            <a:r>
              <a:rPr lang="en-US" altLang="zh-CN" baseline="-30000">
                <a:latin typeface="Times New Roman" panose="02020603050405020304" pitchFamily="18" charset="0"/>
                <a:ea typeface="宋体" panose="02010600030101010101" pitchFamily="2" charset="-122"/>
                <a:sym typeface="Symbol" panose="05050102010706020507" pitchFamily="18" charset="2"/>
              </a:rPr>
              <a:t>1</a:t>
            </a:r>
            <a:r>
              <a:rPr lang="en-US" altLang="zh-CN">
                <a:latin typeface="Times New Roman" panose="02020603050405020304" pitchFamily="18" charset="0"/>
                <a:ea typeface="宋体" panose="02010600030101010101" pitchFamily="2" charset="-122"/>
                <a:sym typeface="Symbol" panose="05050102010706020507" pitchFamily="18" charset="2"/>
              </a:rPr>
              <a:t>= N</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k=2580.6;</a:t>
            </a:r>
            <a:r>
              <a:rPr lang="en-US" altLang="zh-CN">
                <a:latin typeface="Times New Roman" panose="02020603050405020304" pitchFamily="18" charset="0"/>
                <a:ea typeface="宋体" panose="02010600030101010101" pitchFamily="2" charset="-122"/>
                <a:sym typeface="Symbol" panose="05050102010706020507" pitchFamily="18" charset="2"/>
              </a:rPr>
              <a:t>  </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3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取整</a:t>
            </a:r>
            <a:r>
              <a:rPr lang="en-US" altLang="zh-CN">
                <a:latin typeface="Times New Roman" panose="02020603050405020304" pitchFamily="18" charset="0"/>
                <a:ea typeface="宋体" panose="02010600030101010101" pitchFamily="2" charset="-122"/>
                <a:sym typeface="Symbol" panose="05050102010706020507" pitchFamily="18" charset="2"/>
              </a:rPr>
              <a:t>: N</a:t>
            </a:r>
            <a:r>
              <a:rPr lang="en-US" altLang="zh-CN" baseline="-30000">
                <a:latin typeface="Times New Roman" panose="02020603050405020304" pitchFamily="18" charset="0"/>
                <a:ea typeface="宋体" panose="02010600030101010101" pitchFamily="2" charset="-122"/>
                <a:sym typeface="Symbol" panose="05050102010706020507" pitchFamily="18" charset="2"/>
              </a:rPr>
              <a:t>1</a:t>
            </a:r>
            <a:r>
              <a:rPr lang="en-US" altLang="zh-CN" baseline="30000">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sym typeface="Symbol" panose="05050102010706020507" pitchFamily="18" charset="2"/>
              </a:rPr>
              <a:t>=2580</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3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再算</a:t>
            </a:r>
            <a:r>
              <a:rPr lang="en-US" altLang="zh-CN">
                <a:latin typeface="Times New Roman" panose="02020603050405020304" pitchFamily="18" charset="0"/>
                <a:ea typeface="宋体" panose="02010600030101010101" pitchFamily="2" charset="-122"/>
                <a:sym typeface="Symbol" panose="05050102010706020507" pitchFamily="18" charset="2"/>
              </a:rPr>
              <a:t>: N</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baseline="30000">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sym typeface="Symbol" panose="05050102010706020507" pitchFamily="18" charset="2"/>
              </a:rPr>
              <a:t>=2580/4.4=586</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3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变压器容量</a:t>
            </a:r>
            <a:r>
              <a:rPr lang="en-US" altLang="zh-CN">
                <a:latin typeface="Times New Roman" panose="02020603050405020304" pitchFamily="18" charset="0"/>
                <a:ea typeface="宋体" panose="02010600030101010101" pitchFamily="2" charset="-122"/>
                <a:sym typeface="Symbol" panose="05050102010706020507" pitchFamily="18" charset="2"/>
              </a:rPr>
              <a:t>S=2UI=2</a:t>
            </a:r>
            <a:r>
              <a:rPr lang="en-US" altLang="zh-CN">
                <a:latin typeface="Times New Roman" panose="02020603050405020304" pitchFamily="18" charset="0"/>
                <a:ea typeface="宋体" panose="02010600030101010101" pitchFamily="2" charset="-122"/>
              </a:rPr>
              <a:t>50</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0.1=10VA;</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3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原边额定电流为</a:t>
            </a:r>
            <a:r>
              <a:rPr lang="en-US" altLang="zh-CN">
                <a:latin typeface="Times New Roman" panose="02020603050405020304" pitchFamily="18" charset="0"/>
                <a:ea typeface="宋体" panose="02010600030101010101" pitchFamily="2" charset="-122"/>
                <a:sym typeface="Symbol" panose="05050102010706020507" pitchFamily="18" charset="2"/>
              </a:rPr>
              <a:t>:10/220=0.04545A</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3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原边导线截面积为</a:t>
            </a:r>
            <a:r>
              <a:rPr lang="en-US" altLang="zh-CN">
                <a:latin typeface="Times New Roman" panose="02020603050405020304" pitchFamily="18" charset="0"/>
                <a:ea typeface="宋体" panose="02010600030101010101" pitchFamily="2" charset="-122"/>
                <a:sym typeface="Symbol" panose="05050102010706020507" pitchFamily="18" charset="2"/>
              </a:rPr>
              <a:t>:0.04545/2.5=0.018mm</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3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副边导线截面积为</a:t>
            </a:r>
            <a:r>
              <a:rPr lang="en-US" altLang="zh-CN">
                <a:latin typeface="Times New Roman" panose="02020603050405020304" pitchFamily="18" charset="0"/>
                <a:ea typeface="宋体" panose="02010600030101010101" pitchFamily="2" charset="-122"/>
                <a:sym typeface="Symbol" panose="05050102010706020507" pitchFamily="18" charset="2"/>
              </a:rPr>
              <a:t>:0.1/2.5=0.04mm</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矩形 86017"/>
          <p:cNvSpPr/>
          <p:nvPr/>
        </p:nvSpPr>
        <p:spPr>
          <a:xfrm>
            <a:off x="395288" y="333375"/>
            <a:ext cx="8353425" cy="191770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5-15 </a:t>
            </a:r>
            <a:r>
              <a:rPr lang="zh-CN" altLang="en-US" dirty="0">
                <a:latin typeface="Times New Roman" panose="02020603050405020304" pitchFamily="18" charset="0"/>
                <a:ea typeface="宋体" panose="02010600030101010101" pitchFamily="2" charset="-122"/>
              </a:rPr>
              <a:t>一台</a:t>
            </a:r>
            <a:r>
              <a:rPr lang="en-US" altLang="zh-CN" dirty="0">
                <a:latin typeface="Times New Roman" panose="02020603050405020304" pitchFamily="18" charset="0"/>
                <a:ea typeface="宋体" panose="02010600030101010101" pitchFamily="2" charset="-122"/>
              </a:rPr>
              <a:t>750kVA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10000/400V</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连接的三相变压器，空载试验，加电压</a:t>
            </a:r>
            <a:r>
              <a:rPr lang="en-US" altLang="zh-CN" dirty="0">
                <a:latin typeface="Times New Roman" panose="02020603050405020304" pitchFamily="18" charset="0"/>
                <a:ea typeface="宋体" panose="02010600030101010101" pitchFamily="2" charset="-122"/>
              </a:rPr>
              <a:t>400V</a:t>
            </a:r>
            <a:r>
              <a:rPr lang="zh-CN" altLang="en-US" dirty="0">
                <a:latin typeface="Times New Roman" panose="02020603050405020304" pitchFamily="18" charset="0"/>
                <a:ea typeface="宋体" panose="02010600030101010101" pitchFamily="2" charset="-122"/>
              </a:rPr>
              <a:t>，电流</a:t>
            </a:r>
            <a:r>
              <a:rPr lang="en-US" altLang="zh-CN" dirty="0">
                <a:latin typeface="Times New Roman" panose="02020603050405020304" pitchFamily="18" charset="0"/>
                <a:ea typeface="宋体" panose="02010600030101010101" pitchFamily="2" charset="-122"/>
              </a:rPr>
              <a:t>65A</a:t>
            </a:r>
            <a:r>
              <a:rPr lang="zh-CN" altLang="en-US" dirty="0">
                <a:latin typeface="Times New Roman" panose="02020603050405020304" pitchFamily="18" charset="0"/>
                <a:ea typeface="宋体" panose="02010600030101010101" pitchFamily="2" charset="-122"/>
              </a:rPr>
              <a:t>，得空载损耗</a:t>
            </a:r>
            <a:r>
              <a:rPr lang="en-US" altLang="zh-CN" dirty="0">
                <a:latin typeface="Times New Roman" panose="02020603050405020304" pitchFamily="18" charset="0"/>
                <a:ea typeface="宋体" panose="02010600030101010101" pitchFamily="2" charset="-122"/>
              </a:rPr>
              <a:t>3800W</a:t>
            </a:r>
            <a:r>
              <a:rPr lang="zh-CN" altLang="en-US" dirty="0">
                <a:latin typeface="Times New Roman" panose="02020603050405020304" pitchFamily="18" charset="0"/>
                <a:ea typeface="宋体" panose="02010600030101010101" pitchFamily="2" charset="-122"/>
              </a:rPr>
              <a:t>。短路试验，得</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=440V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=43.3A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=10.9kW</a:t>
            </a:r>
            <a:r>
              <a:rPr lang="zh-CN" altLang="en-US" dirty="0">
                <a:latin typeface="Times New Roman" panose="02020603050405020304" pitchFamily="18" charset="0"/>
                <a:ea typeface="宋体" panose="02010600030101010101" pitchFamily="2" charset="-122"/>
              </a:rPr>
              <a:t>，温度</a:t>
            </a:r>
            <a:r>
              <a:rPr lang="en-US" altLang="zh-CN" dirty="0">
                <a:latin typeface="Times New Roman" panose="02020603050405020304" pitchFamily="18" charset="0"/>
                <a:ea typeface="宋体" panose="02010600030101010101" pitchFamily="2" charset="-122"/>
              </a:rPr>
              <a:t>25℃</a:t>
            </a:r>
            <a:r>
              <a:rPr lang="zh-CN" altLang="en-US" dirty="0">
                <a:latin typeface="Times New Roman" panose="02020603050405020304" pitchFamily="18" charset="0"/>
                <a:ea typeface="宋体" panose="02010600030101010101" pitchFamily="2" charset="-122"/>
              </a:rPr>
              <a:t>，求变压器参数</a:t>
            </a:r>
            <a:r>
              <a:rPr lang="en-US" altLang="zh-CN" dirty="0">
                <a:latin typeface="Times New Roman" panose="02020603050405020304" pitchFamily="18" charset="0"/>
                <a:ea typeface="宋体" panose="02010600030101010101" pitchFamily="2" charset="-122"/>
              </a:rPr>
              <a:t>,Γ</a:t>
            </a:r>
            <a:r>
              <a:rPr lang="zh-CN" altLang="en-US" dirty="0">
                <a:latin typeface="Times New Roman" panose="02020603050405020304" pitchFamily="18" charset="0"/>
                <a:ea typeface="宋体" panose="02010600030101010101" pitchFamily="2" charset="-122"/>
              </a:rPr>
              <a:t>型电路。额定负载时</a:t>
            </a:r>
            <a:r>
              <a:rPr lang="en-US" altLang="zh-CN">
                <a:latin typeface="Times New Roman" panose="02020603050405020304" pitchFamily="18" charset="0"/>
                <a:ea typeface="宋体" panose="02010600030101010101" pitchFamily="2" charset="-122"/>
              </a:rPr>
              <a:t>(cos</a:t>
            </a:r>
            <a:r>
              <a:rPr lang="en-US" altLang="zh-CN" i="1">
                <a:latin typeface="Times New Roman" panose="02020603050405020304" pitchFamily="18" charset="0"/>
                <a:ea typeface="宋体" panose="02010600030101010101" pitchFamily="2" charset="-122"/>
              </a:rPr>
              <a:t>φ</a:t>
            </a:r>
            <a:r>
              <a:rPr lang="en-US" altLang="zh-CN" dirty="0">
                <a:latin typeface="Times New Roman" panose="02020603050405020304" pitchFamily="18" charset="0"/>
                <a:ea typeface="宋体" panose="02010600030101010101" pitchFamily="2" charset="-122"/>
              </a:rPr>
              <a:t>2=0.8</a:t>
            </a:r>
            <a:r>
              <a:rPr lang="zh-CN" altLang="en-US" dirty="0">
                <a:latin typeface="Times New Roman" panose="02020603050405020304" pitchFamily="18" charset="0"/>
                <a:ea typeface="宋体" panose="02010600030101010101" pitchFamily="2" charset="-122"/>
              </a:rPr>
              <a:t>，感性</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变压器副边电压变化率、副边电压及效率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效率最高的负载系数。</a:t>
            </a:r>
            <a:endParaRPr lang="zh-CN" altLang="en-US" dirty="0">
              <a:latin typeface="Times New Roman" panose="02020603050405020304" pitchFamily="18" charset="0"/>
              <a:ea typeface="宋体" panose="02010600030101010101" pitchFamily="2" charset="-122"/>
            </a:endParaRPr>
          </a:p>
        </p:txBody>
      </p:sp>
      <p:sp>
        <p:nvSpPr>
          <p:cNvPr id="38914" name="矩形 86019"/>
          <p:cNvSpPr/>
          <p:nvPr/>
        </p:nvSpPr>
        <p:spPr>
          <a:xfrm>
            <a:off x="468313" y="2276475"/>
            <a:ext cx="6110287" cy="264795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变比</a:t>
            </a:r>
            <a:r>
              <a:rPr lang="en-US" altLang="zh-CN">
                <a:latin typeface="Times New Roman" panose="02020603050405020304" pitchFamily="18" charset="0"/>
                <a:ea typeface="宋体" panose="02010600030101010101" pitchFamily="2" charset="-122"/>
              </a:rPr>
              <a:t>k=U</a:t>
            </a:r>
            <a:r>
              <a:rPr lang="en-US" altLang="zh-CN" baseline="-30000">
                <a:latin typeface="Times New Roman" panose="02020603050405020304" pitchFamily="18" charset="0"/>
                <a:ea typeface="宋体" panose="02010600030101010101" pitchFamily="2" charset="-122"/>
              </a:rPr>
              <a:t>1ph</a:t>
            </a:r>
            <a:r>
              <a:rPr lang="en-US" altLang="zh-CN">
                <a:latin typeface="Times New Roman" panose="02020603050405020304" pitchFamily="18" charset="0"/>
                <a:ea typeface="宋体" panose="02010600030101010101" pitchFamily="2" charset="-122"/>
              </a:rPr>
              <a:t>/ U</a:t>
            </a:r>
            <a:r>
              <a:rPr lang="en-US" altLang="zh-CN" baseline="-30000">
                <a:latin typeface="Times New Roman" panose="02020603050405020304" pitchFamily="18" charset="0"/>
                <a:ea typeface="宋体" panose="02010600030101010101" pitchFamily="2" charset="-122"/>
              </a:rPr>
              <a:t>2ph</a:t>
            </a:r>
            <a:r>
              <a:rPr lang="en-US" altLang="zh-CN">
                <a:latin typeface="Times New Roman" panose="02020603050405020304" pitchFamily="18" charset="0"/>
                <a:ea typeface="宋体" panose="02010600030101010101" pitchFamily="2" charset="-122"/>
              </a:rPr>
              <a:t> =14.43;</a:t>
            </a:r>
            <a:endParaRPr lang="en-US" altLang="zh-CN">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原边阻抗基值为</a:t>
            </a:r>
            <a:r>
              <a:rPr lang="en-US" altLang="zh-CN">
                <a:latin typeface="Times New Roman" panose="02020603050405020304" pitchFamily="18" charset="0"/>
                <a:ea typeface="宋体" panose="02010600030101010101" pitchFamily="2" charset="-122"/>
              </a:rPr>
              <a:t>: Z</a:t>
            </a:r>
            <a:r>
              <a:rPr lang="en-US" altLang="zh-CN" baseline="-30000">
                <a:latin typeface="Times New Roman" panose="02020603050405020304" pitchFamily="18" charset="0"/>
                <a:ea typeface="宋体" panose="02010600030101010101" pitchFamily="2" charset="-122"/>
              </a:rPr>
              <a:t>1N</a:t>
            </a:r>
            <a:r>
              <a:rPr lang="en-US" altLang="zh-CN">
                <a:latin typeface="Times New Roman" panose="02020603050405020304" pitchFamily="18" charset="0"/>
                <a:ea typeface="宋体" panose="02010600030101010101" pitchFamily="2" charset="-122"/>
              </a:rPr>
              <a:t> = U</a:t>
            </a:r>
            <a:r>
              <a:rPr lang="en-US" altLang="zh-CN" baseline="-30000">
                <a:latin typeface="Times New Roman" panose="02020603050405020304" pitchFamily="18" charset="0"/>
                <a:ea typeface="宋体" panose="02010600030101010101" pitchFamily="2" charset="-122"/>
              </a:rPr>
              <a:t>1phN</a:t>
            </a:r>
            <a:r>
              <a:rPr lang="en-US" altLang="zh-CN">
                <a:latin typeface="Times New Roman" panose="02020603050405020304" pitchFamily="18" charset="0"/>
                <a:ea typeface="宋体" panose="02010600030101010101" pitchFamily="2" charset="-122"/>
              </a:rPr>
              <a:t>/ I</a:t>
            </a:r>
            <a:r>
              <a:rPr lang="en-US" altLang="zh-CN" baseline="-30000">
                <a:latin typeface="Times New Roman" panose="02020603050405020304" pitchFamily="18" charset="0"/>
                <a:ea typeface="宋体" panose="02010600030101010101" pitchFamily="2" charset="-122"/>
              </a:rPr>
              <a:t>1phN</a:t>
            </a:r>
            <a:r>
              <a:rPr lang="en-US" altLang="zh-CN" dirty="0">
                <a:latin typeface="Times New Roman" panose="02020603050405020304" pitchFamily="18" charset="0"/>
                <a:ea typeface="宋体" panose="02010600030101010101" pitchFamily="2" charset="-122"/>
              </a:rPr>
              <a:t> =133.34</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付边阻抗基值为</a:t>
            </a:r>
            <a:r>
              <a:rPr lang="en-US" altLang="zh-CN">
                <a:latin typeface="Times New Roman" panose="02020603050405020304" pitchFamily="18" charset="0"/>
                <a:ea typeface="宋体" panose="02010600030101010101" pitchFamily="2" charset="-122"/>
              </a:rPr>
              <a:t>: Z</a:t>
            </a:r>
            <a:r>
              <a:rPr lang="en-US" altLang="zh-CN" baseline="-30000">
                <a:latin typeface="Times New Roman" panose="02020603050405020304" pitchFamily="18" charset="0"/>
                <a:ea typeface="宋体" panose="02010600030101010101" pitchFamily="2" charset="-122"/>
              </a:rPr>
              <a:t>2N</a:t>
            </a:r>
            <a:r>
              <a:rPr lang="en-US" altLang="zh-CN">
                <a:latin typeface="Times New Roman" panose="02020603050405020304" pitchFamily="18" charset="0"/>
                <a:ea typeface="宋体" panose="02010600030101010101" pitchFamily="2" charset="-122"/>
              </a:rPr>
              <a:t> = U</a:t>
            </a:r>
            <a:r>
              <a:rPr lang="en-US" altLang="zh-CN" baseline="-30000">
                <a:latin typeface="Times New Roman" panose="02020603050405020304" pitchFamily="18" charset="0"/>
                <a:ea typeface="宋体" panose="02010600030101010101" pitchFamily="2" charset="-122"/>
              </a:rPr>
              <a:t>2phN</a:t>
            </a:r>
            <a:r>
              <a:rPr lang="en-US" altLang="zh-CN">
                <a:latin typeface="Times New Roman" panose="02020603050405020304" pitchFamily="18" charset="0"/>
                <a:ea typeface="宋体" panose="02010600030101010101" pitchFamily="2" charset="-122"/>
              </a:rPr>
              <a:t>/ I</a:t>
            </a:r>
            <a:r>
              <a:rPr lang="en-US" altLang="zh-CN" baseline="-30000">
                <a:latin typeface="Times New Roman" panose="02020603050405020304" pitchFamily="18" charset="0"/>
                <a:ea typeface="宋体" panose="02010600030101010101" pitchFamily="2" charset="-122"/>
              </a:rPr>
              <a:t>2phN</a:t>
            </a:r>
            <a:r>
              <a:rPr lang="en-US" altLang="zh-CN" dirty="0">
                <a:latin typeface="Times New Roman" panose="02020603050405020304" pitchFamily="18" charset="0"/>
                <a:ea typeface="宋体" panose="02010600030101010101" pitchFamily="2" charset="-122"/>
              </a:rPr>
              <a:t> =0.64</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a:p>
            <a:pPr eaLnBrk="0" hangingPunct="0"/>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空载试验时</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eaLnBrk="0" hangingPunct="0"/>
            <a:r>
              <a:rPr lang="en-US" altLang="zh-CN">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rPr>
              <a:t>0ph</a:t>
            </a:r>
            <a:r>
              <a:rPr lang="en-US" altLang="zh-CN">
                <a:latin typeface="Times New Roman" panose="02020603050405020304" pitchFamily="18" charset="0"/>
                <a:ea typeface="宋体" panose="02010600030101010101" pitchFamily="2" charset="-122"/>
              </a:rPr>
              <a:t> =400V; I</a:t>
            </a:r>
            <a:r>
              <a:rPr lang="en-US" altLang="zh-CN" baseline="-30000">
                <a:latin typeface="Times New Roman" panose="02020603050405020304" pitchFamily="18" charset="0"/>
                <a:ea typeface="宋体" panose="02010600030101010101" pitchFamily="2" charset="-122"/>
              </a:rPr>
              <a:t>0ph</a:t>
            </a:r>
            <a:r>
              <a:rPr lang="en-US" altLang="zh-CN">
                <a:latin typeface="Times New Roman" panose="02020603050405020304" pitchFamily="18" charset="0"/>
                <a:ea typeface="宋体" panose="02010600030101010101" pitchFamily="2" charset="-122"/>
              </a:rPr>
              <a:t> =65/1.732=37.53A;</a:t>
            </a:r>
            <a:endParaRPr lang="en-US" altLang="zh-CN">
              <a:latin typeface="Times New Roman" panose="02020603050405020304" pitchFamily="18" charset="0"/>
              <a:ea typeface="宋体" panose="02010600030101010101" pitchFamily="2" charset="-122"/>
            </a:endParaRPr>
          </a:p>
          <a:p>
            <a:pPr eaLnBrk="0" hangingPunct="0"/>
            <a:r>
              <a:rPr lang="en-US" altLang="zh-CN">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 = U</a:t>
            </a:r>
            <a:r>
              <a:rPr lang="en-US" altLang="zh-CN" baseline="-30000">
                <a:latin typeface="Times New Roman" panose="02020603050405020304" pitchFamily="18" charset="0"/>
                <a:ea typeface="宋体" panose="02010600030101010101" pitchFamily="2" charset="-122"/>
              </a:rPr>
              <a:t>0ph</a:t>
            </a:r>
            <a:r>
              <a:rPr lang="en-US" altLang="zh-CN">
                <a:latin typeface="Times New Roman" panose="02020603050405020304" pitchFamily="18" charset="0"/>
                <a:ea typeface="宋体" panose="02010600030101010101" pitchFamily="2" charset="-122"/>
              </a:rPr>
              <a:t>/ I</a:t>
            </a:r>
            <a:r>
              <a:rPr lang="en-US" altLang="zh-CN" baseline="-30000">
                <a:latin typeface="Times New Roman" panose="02020603050405020304" pitchFamily="18" charset="0"/>
                <a:ea typeface="宋体" panose="02010600030101010101" pitchFamily="2" charset="-122"/>
              </a:rPr>
              <a:t>0ph</a:t>
            </a:r>
            <a:r>
              <a:rPr lang="en-US" altLang="zh-CN" dirty="0">
                <a:latin typeface="Times New Roman" panose="02020603050405020304" pitchFamily="18" charset="0"/>
                <a:ea typeface="宋体" panose="02010600030101010101" pitchFamily="2" charset="-122"/>
              </a:rPr>
              <a:t> =400/37.53=10.66</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a:p>
            <a:pPr eaLnBrk="0" hangingPunct="0"/>
            <a:r>
              <a:rPr lang="en-US" altLang="zh-CN">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 =p</a:t>
            </a:r>
            <a:r>
              <a:rPr lang="en-US" altLang="zh-CN" baseline="-30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I</a:t>
            </a:r>
            <a:r>
              <a:rPr lang="en-US" altLang="zh-CN" baseline="-30000">
                <a:latin typeface="Times New Roman" panose="02020603050405020304" pitchFamily="18" charset="0"/>
                <a:ea typeface="宋体" panose="02010600030101010101" pitchFamily="2" charset="-122"/>
                <a:sym typeface="Symbol" panose="05050102010706020507" pitchFamily="18" charset="2"/>
              </a:rPr>
              <a:t>0ph</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)=3800/(3</a:t>
            </a:r>
            <a:r>
              <a:rPr lang="en-US" altLang="zh-CN">
                <a:latin typeface="Times New Roman" panose="02020603050405020304" pitchFamily="18" charset="0"/>
                <a:ea typeface="宋体" panose="02010600030101010101" pitchFamily="2" charset="-122"/>
              </a:rPr>
              <a:t> 37.53</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dirty="0">
                <a:latin typeface="Times New Roman" panose="02020603050405020304" pitchFamily="18" charset="0"/>
                <a:ea typeface="宋体" panose="02010600030101010101" pitchFamily="2" charset="-122"/>
                <a:sym typeface="Symbol" panose="05050102010706020507" pitchFamily="18" charset="2"/>
              </a:rPr>
              <a:t>)=0.899</a:t>
            </a:r>
            <a:r>
              <a:rPr lang="zh-CN" altLang="en-US" dirty="0">
                <a:latin typeface="Times New Roman" panose="02020603050405020304" pitchFamily="18" charset="0"/>
                <a:ea typeface="宋体" panose="02010600030101010101" pitchFamily="2" charset="-122"/>
                <a:sym typeface="Symbol" panose="05050102010706020507" pitchFamily="18" charset="2"/>
              </a:rPr>
              <a:t>欧</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38915" name="对象 86018"/>
          <p:cNvGraphicFramePr/>
          <p:nvPr/>
        </p:nvGraphicFramePr>
        <p:xfrm>
          <a:off x="1331913" y="5013325"/>
          <a:ext cx="3168650" cy="568325"/>
        </p:xfrm>
        <a:graphic>
          <a:graphicData uri="http://schemas.openxmlformats.org/presentationml/2006/ole">
            <mc:AlternateContent xmlns:mc="http://schemas.openxmlformats.org/markup-compatibility/2006">
              <mc:Choice xmlns:v="urn:schemas-microsoft-com:vml" Requires="v">
                <p:oleObj spid="_x0000_s3143" name="" r:id="rId1" imgW="1651000" imgH="292100" progId="Equation.DSMT4">
                  <p:embed/>
                </p:oleObj>
              </mc:Choice>
              <mc:Fallback>
                <p:oleObj name="" r:id="rId1" imgW="1651000" imgH="292100" progId="Equation.DSMT4">
                  <p:embed/>
                  <p:pic>
                    <p:nvPicPr>
                      <p:cNvPr id="0" name="图片 3142"/>
                      <p:cNvPicPr/>
                      <p:nvPr/>
                    </p:nvPicPr>
                    <p:blipFill>
                      <a:blip r:embed="rId2"/>
                      <a:stretch>
                        <a:fillRect/>
                      </a:stretch>
                    </p:blipFill>
                    <p:spPr>
                      <a:xfrm>
                        <a:off x="1331913" y="5013325"/>
                        <a:ext cx="3168650" cy="568325"/>
                      </a:xfrm>
                      <a:prstGeom prst="rect">
                        <a:avLst/>
                      </a:prstGeom>
                      <a:noFill/>
                      <a:ln w="38100">
                        <a:noFill/>
                        <a:miter/>
                      </a:ln>
                    </p:spPr>
                  </p:pic>
                </p:oleObj>
              </mc:Fallback>
            </mc:AlternateContent>
          </a:graphicData>
        </a:graphic>
      </p:graphicFrame>
      <p:sp>
        <p:nvSpPr>
          <p:cNvPr id="38916" name="矩形 86020"/>
          <p:cNvSpPr/>
          <p:nvPr/>
        </p:nvSpPr>
        <p:spPr>
          <a:xfrm>
            <a:off x="1258888" y="5589588"/>
            <a:ext cx="4354512" cy="822325"/>
          </a:xfrm>
          <a:prstGeom prst="rect">
            <a:avLst/>
          </a:prstGeom>
          <a:noFill/>
          <a:ln w="9525">
            <a:noFill/>
          </a:ln>
        </p:spPr>
        <p:txBody>
          <a:bodyPr wrap="none" anchor="ctr" anchorCtr="0">
            <a:spAutoFit/>
          </a:bodyPr>
          <a:p>
            <a:r>
              <a:rPr lang="en-US" altLang="zh-CN">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 </a:t>
            </a:r>
            <a:r>
              <a:rPr lang="en-US" altLang="zh-CN" baseline="3000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r</a:t>
            </a:r>
            <a:r>
              <a:rPr lang="en-US" altLang="zh-CN" baseline="-30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2N</a:t>
            </a:r>
            <a:r>
              <a:rPr lang="en-US" altLang="zh-CN">
                <a:latin typeface="Times New Roman" panose="02020603050405020304" pitchFamily="18" charset="0"/>
                <a:ea typeface="宋体" panose="02010600030101010101" pitchFamily="2" charset="-122"/>
              </a:rPr>
              <a:t> =0.899/0.64=1.405</a:t>
            </a:r>
            <a:endParaRPr lang="en-US" altLang="zh-CN">
              <a:latin typeface="Times New Roman" panose="02020603050405020304" pitchFamily="18" charset="0"/>
              <a:ea typeface="宋体" panose="02010600030101010101" pitchFamily="2" charset="-122"/>
            </a:endParaRPr>
          </a:p>
          <a:p>
            <a:pPr eaLnBrk="0" hangingPunct="0"/>
            <a:r>
              <a:rPr lang="en-US" altLang="zh-CN">
                <a:latin typeface="Times New Roman" panose="02020603050405020304" pitchFamily="18" charset="0"/>
                <a:ea typeface="宋体" panose="02010600030101010101" pitchFamily="2" charset="-122"/>
              </a:rPr>
              <a:t>x</a:t>
            </a:r>
            <a:r>
              <a:rPr lang="en-US" altLang="zh-CN" baseline="-30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 </a:t>
            </a:r>
            <a:r>
              <a:rPr lang="en-US" altLang="zh-CN" baseline="3000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x</a:t>
            </a:r>
            <a:r>
              <a:rPr lang="en-US" altLang="zh-CN" baseline="-30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2N</a:t>
            </a:r>
            <a:r>
              <a:rPr lang="en-US" altLang="zh-CN">
                <a:latin typeface="Times New Roman" panose="02020603050405020304" pitchFamily="18" charset="0"/>
                <a:ea typeface="宋体" panose="02010600030101010101" pitchFamily="2" charset="-122"/>
              </a:rPr>
              <a:t> =10.62/0.64=16.594</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9937" name="对象 84996"/>
          <p:cNvGraphicFramePr/>
          <p:nvPr/>
        </p:nvGraphicFramePr>
        <p:xfrm>
          <a:off x="684213" y="1844675"/>
          <a:ext cx="3097212" cy="571500"/>
        </p:xfrm>
        <a:graphic>
          <a:graphicData uri="http://schemas.openxmlformats.org/presentationml/2006/ole">
            <mc:AlternateContent xmlns:mc="http://schemas.openxmlformats.org/markup-compatibility/2006">
              <mc:Choice xmlns:v="urn:schemas-microsoft-com:vml" Requires="v">
                <p:oleObj spid="_x0000_s3146" name="" r:id="rId1" imgW="1600200" imgH="292100" progId="Equation.DSMT4">
                  <p:embed/>
                </p:oleObj>
              </mc:Choice>
              <mc:Fallback>
                <p:oleObj name="" r:id="rId1" imgW="1600200" imgH="292100" progId="Equation.DSMT4">
                  <p:embed/>
                  <p:pic>
                    <p:nvPicPr>
                      <p:cNvPr id="0" name="图片 3145"/>
                      <p:cNvPicPr/>
                      <p:nvPr/>
                    </p:nvPicPr>
                    <p:blipFill>
                      <a:blip r:embed="rId2"/>
                      <a:stretch>
                        <a:fillRect/>
                      </a:stretch>
                    </p:blipFill>
                    <p:spPr>
                      <a:xfrm>
                        <a:off x="684213" y="1844675"/>
                        <a:ext cx="3097212" cy="571500"/>
                      </a:xfrm>
                      <a:prstGeom prst="rect">
                        <a:avLst/>
                      </a:prstGeom>
                      <a:noFill/>
                      <a:ln w="38100">
                        <a:noFill/>
                        <a:miter/>
                      </a:ln>
                    </p:spPr>
                  </p:pic>
                </p:oleObj>
              </mc:Fallback>
            </mc:AlternateContent>
          </a:graphicData>
        </a:graphic>
      </p:graphicFrame>
      <p:graphicFrame>
        <p:nvGraphicFramePr>
          <p:cNvPr id="39938" name="对象 84995"/>
          <p:cNvGraphicFramePr/>
          <p:nvPr/>
        </p:nvGraphicFramePr>
        <p:xfrm>
          <a:off x="684213" y="2349500"/>
          <a:ext cx="4175125" cy="773113"/>
        </p:xfrm>
        <a:graphic>
          <a:graphicData uri="http://schemas.openxmlformats.org/presentationml/2006/ole">
            <mc:AlternateContent xmlns:mc="http://schemas.openxmlformats.org/markup-compatibility/2006">
              <mc:Choice xmlns:v="urn:schemas-microsoft-com:vml" Requires="v">
                <p:oleObj spid="_x0000_s3149" name="" r:id="rId3" imgW="2222500" imgH="406400" progId="Equation.DSMT4">
                  <p:embed/>
                </p:oleObj>
              </mc:Choice>
              <mc:Fallback>
                <p:oleObj name="" r:id="rId3" imgW="2222500" imgH="406400" progId="Equation.DSMT4">
                  <p:embed/>
                  <p:pic>
                    <p:nvPicPr>
                      <p:cNvPr id="0" name="图片 3148"/>
                      <p:cNvPicPr/>
                      <p:nvPr/>
                    </p:nvPicPr>
                    <p:blipFill>
                      <a:blip r:embed="rId4"/>
                      <a:stretch>
                        <a:fillRect/>
                      </a:stretch>
                    </p:blipFill>
                    <p:spPr>
                      <a:xfrm>
                        <a:off x="684213" y="2349500"/>
                        <a:ext cx="4175125" cy="773113"/>
                      </a:xfrm>
                      <a:prstGeom prst="rect">
                        <a:avLst/>
                      </a:prstGeom>
                      <a:noFill/>
                      <a:ln w="38100">
                        <a:noFill/>
                        <a:miter/>
                      </a:ln>
                    </p:spPr>
                  </p:pic>
                </p:oleObj>
              </mc:Fallback>
            </mc:AlternateContent>
          </a:graphicData>
        </a:graphic>
      </p:graphicFrame>
      <p:graphicFrame>
        <p:nvGraphicFramePr>
          <p:cNvPr id="39939" name="对象 84994"/>
          <p:cNvGraphicFramePr/>
          <p:nvPr/>
        </p:nvGraphicFramePr>
        <p:xfrm>
          <a:off x="3563938" y="5876925"/>
          <a:ext cx="1368425" cy="512763"/>
        </p:xfrm>
        <a:graphic>
          <a:graphicData uri="http://schemas.openxmlformats.org/presentationml/2006/ole">
            <mc:AlternateContent xmlns:mc="http://schemas.openxmlformats.org/markup-compatibility/2006">
              <mc:Choice xmlns:v="urn:schemas-microsoft-com:vml" Requires="v">
                <p:oleObj spid="_x0000_s3148" name="" r:id="rId5" imgW="685800" imgH="254000" progId="Equation.DSMT4">
                  <p:embed/>
                </p:oleObj>
              </mc:Choice>
              <mc:Fallback>
                <p:oleObj name="" r:id="rId5" imgW="685800" imgH="254000" progId="Equation.DSMT4">
                  <p:embed/>
                  <p:pic>
                    <p:nvPicPr>
                      <p:cNvPr id="0" name="图片 3147"/>
                      <p:cNvPicPr/>
                      <p:nvPr/>
                    </p:nvPicPr>
                    <p:blipFill>
                      <a:blip r:embed="rId6"/>
                      <a:stretch>
                        <a:fillRect/>
                      </a:stretch>
                    </p:blipFill>
                    <p:spPr>
                      <a:xfrm>
                        <a:off x="3563938" y="5876925"/>
                        <a:ext cx="1368425" cy="512763"/>
                      </a:xfrm>
                      <a:prstGeom prst="rect">
                        <a:avLst/>
                      </a:prstGeom>
                      <a:noFill/>
                      <a:ln w="38100">
                        <a:noFill/>
                        <a:miter/>
                      </a:ln>
                    </p:spPr>
                  </p:pic>
                </p:oleObj>
              </mc:Fallback>
            </mc:AlternateContent>
          </a:graphicData>
        </a:graphic>
      </p:graphicFrame>
      <p:graphicFrame>
        <p:nvGraphicFramePr>
          <p:cNvPr id="39940" name="对象 84993"/>
          <p:cNvGraphicFramePr/>
          <p:nvPr/>
        </p:nvGraphicFramePr>
        <p:xfrm>
          <a:off x="5364163" y="5876925"/>
          <a:ext cx="2952750" cy="508000"/>
        </p:xfrm>
        <a:graphic>
          <a:graphicData uri="http://schemas.openxmlformats.org/presentationml/2006/ole">
            <mc:AlternateContent xmlns:mc="http://schemas.openxmlformats.org/markup-compatibility/2006">
              <mc:Choice xmlns:v="urn:schemas-microsoft-com:vml" Requires="v">
                <p:oleObj spid="_x0000_s3150" name="" r:id="rId7" imgW="1384300" imgH="241300" progId="Equation.DSMT4">
                  <p:embed/>
                </p:oleObj>
              </mc:Choice>
              <mc:Fallback>
                <p:oleObj name="" r:id="rId7" imgW="1384300" imgH="241300" progId="Equation.DSMT4">
                  <p:embed/>
                  <p:pic>
                    <p:nvPicPr>
                      <p:cNvPr id="0" name="图片 3149"/>
                      <p:cNvPicPr/>
                      <p:nvPr/>
                    </p:nvPicPr>
                    <p:blipFill>
                      <a:blip r:embed="rId8"/>
                      <a:stretch>
                        <a:fillRect/>
                      </a:stretch>
                    </p:blipFill>
                    <p:spPr>
                      <a:xfrm>
                        <a:off x="5364163" y="5876925"/>
                        <a:ext cx="2952750" cy="508000"/>
                      </a:xfrm>
                      <a:prstGeom prst="rect">
                        <a:avLst/>
                      </a:prstGeom>
                      <a:noFill/>
                      <a:ln w="38100">
                        <a:noFill/>
                        <a:miter/>
                      </a:ln>
                    </p:spPr>
                  </p:pic>
                </p:oleObj>
              </mc:Fallback>
            </mc:AlternateContent>
          </a:graphicData>
        </a:graphic>
      </p:graphicFrame>
      <p:sp>
        <p:nvSpPr>
          <p:cNvPr id="39941" name="矩形 84997"/>
          <p:cNvSpPr/>
          <p:nvPr/>
        </p:nvSpPr>
        <p:spPr>
          <a:xfrm>
            <a:off x="539750" y="260350"/>
            <a:ext cx="5699125" cy="1552575"/>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短路试验时</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eaLnBrk="0" hangingPunct="0"/>
            <a:r>
              <a:rPr lang="en-US" altLang="zh-CN">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rPr>
              <a:t>kph</a:t>
            </a:r>
            <a:r>
              <a:rPr lang="en-US" altLang="zh-CN">
                <a:latin typeface="Times New Roman" panose="02020603050405020304" pitchFamily="18" charset="0"/>
                <a:ea typeface="宋体" panose="02010600030101010101" pitchFamily="2" charset="-122"/>
              </a:rPr>
              <a:t> =440/1.732=254.04V; I</a:t>
            </a:r>
            <a:r>
              <a:rPr lang="en-US" altLang="zh-CN" baseline="-30000">
                <a:latin typeface="Times New Roman" panose="02020603050405020304" pitchFamily="18" charset="0"/>
                <a:ea typeface="宋体" panose="02010600030101010101" pitchFamily="2" charset="-122"/>
              </a:rPr>
              <a:t>kph</a:t>
            </a:r>
            <a:r>
              <a:rPr lang="en-US" altLang="zh-CN">
                <a:latin typeface="Times New Roman" panose="02020603050405020304" pitchFamily="18" charset="0"/>
                <a:ea typeface="宋体" panose="02010600030101010101" pitchFamily="2" charset="-122"/>
              </a:rPr>
              <a:t> =43.3A;</a:t>
            </a:r>
            <a:endParaRPr lang="en-US" altLang="zh-CN">
              <a:latin typeface="Times New Roman" panose="02020603050405020304" pitchFamily="18" charset="0"/>
              <a:ea typeface="宋体" panose="02010600030101010101" pitchFamily="2" charset="-122"/>
            </a:endParaRPr>
          </a:p>
          <a:p>
            <a:pPr eaLnBrk="0" hangingPunct="0"/>
            <a:r>
              <a:rPr lang="en-US" altLang="zh-CN">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 U</a:t>
            </a:r>
            <a:r>
              <a:rPr lang="en-US" altLang="zh-CN" baseline="-30000">
                <a:latin typeface="Times New Roman" panose="02020603050405020304" pitchFamily="18" charset="0"/>
                <a:ea typeface="宋体" panose="02010600030101010101" pitchFamily="2" charset="-122"/>
              </a:rPr>
              <a:t>kph</a:t>
            </a:r>
            <a:r>
              <a:rPr lang="en-US" altLang="zh-CN">
                <a:latin typeface="Times New Roman" panose="02020603050405020304" pitchFamily="18" charset="0"/>
                <a:ea typeface="宋体" panose="02010600030101010101" pitchFamily="2" charset="-122"/>
              </a:rPr>
              <a:t>/ I</a:t>
            </a:r>
            <a:r>
              <a:rPr lang="en-US" altLang="zh-CN" baseline="-30000">
                <a:latin typeface="Times New Roman" panose="02020603050405020304" pitchFamily="18" charset="0"/>
                <a:ea typeface="宋体" panose="02010600030101010101" pitchFamily="2" charset="-122"/>
              </a:rPr>
              <a:t>kph</a:t>
            </a:r>
            <a:r>
              <a:rPr lang="en-US" altLang="zh-CN" dirty="0">
                <a:latin typeface="Times New Roman" panose="02020603050405020304" pitchFamily="18" charset="0"/>
                <a:ea typeface="宋体" panose="02010600030101010101" pitchFamily="2" charset="-122"/>
              </a:rPr>
              <a:t> =254.04/43.3=5.867</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a:p>
            <a:pPr eaLnBrk="0" hangingPunct="0"/>
            <a:r>
              <a:rPr lang="en-US" altLang="zh-CN">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=p</a:t>
            </a:r>
            <a:r>
              <a:rPr lang="en-US" altLang="zh-CN"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I</a:t>
            </a:r>
            <a:r>
              <a:rPr lang="en-US" altLang="zh-CN" baseline="-30000">
                <a:latin typeface="Times New Roman" panose="02020603050405020304" pitchFamily="18" charset="0"/>
                <a:ea typeface="宋体" panose="02010600030101010101" pitchFamily="2" charset="-122"/>
                <a:sym typeface="Symbol" panose="05050102010706020507" pitchFamily="18" charset="2"/>
              </a:rPr>
              <a:t>kph</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)=10900/(3</a:t>
            </a:r>
            <a:r>
              <a:rPr lang="en-US" altLang="zh-CN">
                <a:latin typeface="Times New Roman" panose="02020603050405020304" pitchFamily="18" charset="0"/>
                <a:ea typeface="宋体" panose="02010600030101010101" pitchFamily="2" charset="-122"/>
              </a:rPr>
              <a:t> 43.3</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dirty="0">
                <a:latin typeface="Times New Roman" panose="02020603050405020304" pitchFamily="18" charset="0"/>
                <a:ea typeface="宋体" panose="02010600030101010101" pitchFamily="2" charset="-122"/>
                <a:sym typeface="Symbol" panose="05050102010706020507" pitchFamily="18" charset="2"/>
              </a:rPr>
              <a:t>)=1.938</a:t>
            </a:r>
            <a:r>
              <a:rPr lang="zh-CN" altLang="en-US" dirty="0">
                <a:latin typeface="Times New Roman" panose="02020603050405020304" pitchFamily="18" charset="0"/>
                <a:ea typeface="宋体" panose="02010600030101010101" pitchFamily="2" charset="-122"/>
                <a:sym typeface="Symbol" panose="05050102010706020507" pitchFamily="18" charset="2"/>
              </a:rPr>
              <a:t>欧</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p:txBody>
      </p:sp>
      <p:sp>
        <p:nvSpPr>
          <p:cNvPr id="39942" name="矩形 84998"/>
          <p:cNvSpPr/>
          <p:nvPr/>
        </p:nvSpPr>
        <p:spPr>
          <a:xfrm>
            <a:off x="661988" y="367665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39943" name="矩形 84999"/>
          <p:cNvSpPr/>
          <p:nvPr/>
        </p:nvSpPr>
        <p:spPr>
          <a:xfrm>
            <a:off x="684213" y="2997200"/>
            <a:ext cx="6608762" cy="3305175"/>
          </a:xfrm>
          <a:prstGeom prst="rect">
            <a:avLst/>
          </a:prstGeom>
          <a:noFill/>
          <a:ln w="9525">
            <a:noFill/>
          </a:ln>
        </p:spPr>
        <p:txBody>
          <a:bodyPr wrap="none" anchor="ctr" anchorCtr="0">
            <a:spAutoFit/>
          </a:bodyPr>
          <a:p>
            <a:pPr>
              <a:lnSpc>
                <a:spcPct val="110000"/>
              </a:lnSpc>
            </a:pPr>
            <a:r>
              <a:rPr lang="en-US" altLang="zh-CN">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k75</a:t>
            </a:r>
            <a:r>
              <a:rPr lang="en-US" altLang="zh-CN">
                <a:latin typeface="Times New Roman" panose="02020603050405020304" pitchFamily="18" charset="0"/>
                <a:ea typeface="宋体" panose="02010600030101010101" pitchFamily="2" charset="-122"/>
              </a:rPr>
              <a:t> </a:t>
            </a:r>
            <a:r>
              <a:rPr lang="en-US" altLang="zh-CN" baseline="3000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r</a:t>
            </a:r>
            <a:r>
              <a:rPr lang="en-US" altLang="zh-CN" baseline="-30000">
                <a:latin typeface="Times New Roman" panose="02020603050405020304" pitchFamily="18" charset="0"/>
                <a:ea typeface="宋体" panose="02010600030101010101" pitchFamily="2" charset="-122"/>
              </a:rPr>
              <a:t>k75</a:t>
            </a:r>
            <a:r>
              <a:rPr lang="en-US" altLang="zh-CN">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1N</a:t>
            </a:r>
            <a:r>
              <a:rPr lang="en-US" altLang="zh-CN">
                <a:latin typeface="Times New Roman" panose="02020603050405020304" pitchFamily="18" charset="0"/>
                <a:ea typeface="宋体" panose="02010600030101010101" pitchFamily="2" charset="-122"/>
              </a:rPr>
              <a:t> =2.311/133.34=0.0173</a:t>
            </a:r>
            <a:endParaRPr lang="en-US" altLang="zh-CN">
              <a:latin typeface="Times New Roman" panose="02020603050405020304" pitchFamily="18" charset="0"/>
              <a:ea typeface="宋体" panose="02010600030101010101" pitchFamily="2" charset="-122"/>
            </a:endParaRPr>
          </a:p>
          <a:p>
            <a:pPr eaLnBrk="0" hangingPunct="0">
              <a:lnSpc>
                <a:spcPct val="110000"/>
              </a:lnSpc>
            </a:pPr>
            <a:r>
              <a:rPr lang="en-US" altLang="zh-CN">
                <a:latin typeface="Times New Roman" panose="02020603050405020304" pitchFamily="18" charset="0"/>
                <a:ea typeface="宋体" panose="02010600030101010101" pitchFamily="2" charset="-122"/>
              </a:rPr>
              <a:t>x</a:t>
            </a:r>
            <a:r>
              <a:rPr lang="en-US" altLang="zh-CN"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a:t>
            </a:r>
            <a:r>
              <a:rPr lang="en-US" altLang="zh-CN" baseline="3000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x</a:t>
            </a:r>
            <a:r>
              <a:rPr lang="en-US" altLang="zh-CN"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1N</a:t>
            </a:r>
            <a:r>
              <a:rPr lang="en-US" altLang="zh-CN">
                <a:latin typeface="Times New Roman" panose="02020603050405020304" pitchFamily="18" charset="0"/>
                <a:ea typeface="宋体" panose="02010600030101010101" pitchFamily="2" charset="-122"/>
              </a:rPr>
              <a:t> =5.538/133.34=0.0415</a:t>
            </a:r>
            <a:endParaRPr lang="en-US" altLang="zh-CN">
              <a:latin typeface="Times New Roman" panose="02020603050405020304" pitchFamily="18" charset="0"/>
              <a:ea typeface="宋体" panose="02010600030101010101" pitchFamily="2" charset="-122"/>
            </a:endParaRPr>
          </a:p>
          <a:p>
            <a:pPr eaLnBrk="0" hangingPunct="0">
              <a:lnSpc>
                <a:spcPct val="110000"/>
              </a:lnSpc>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额定负载时</a:t>
            </a:r>
            <a:r>
              <a:rPr lang="en-US" altLang="zh-CN">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U=0.0173</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0.8+0.0415</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0.6=0.0387</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10000"/>
              </a:lnSpc>
            </a:pPr>
            <a:r>
              <a:rPr lang="en-US" altLang="zh-CN">
                <a:latin typeface="Times New Roman" panose="02020603050405020304" pitchFamily="18" charset="0"/>
                <a:ea typeface="宋体" panose="02010600030101010101" pitchFamily="2" charset="-122"/>
                <a:sym typeface="Symbol" panose="05050102010706020507" pitchFamily="18" charset="2"/>
              </a:rPr>
              <a:t>U</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=(1-</a:t>
            </a:r>
            <a:r>
              <a:rPr lang="en-US" altLang="zh-CN">
                <a:latin typeface="Times New Roman" panose="02020603050405020304" pitchFamily="18" charset="0"/>
                <a:ea typeface="宋体" panose="02010600030101010101" pitchFamily="2" charset="-122"/>
              </a:rPr>
              <a:t>U) </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sym typeface="Symbol" panose="05050102010706020507" pitchFamily="18" charset="2"/>
              </a:rPr>
              <a:t>2N</a:t>
            </a:r>
            <a:r>
              <a:rPr lang="en-US" altLang="zh-CN">
                <a:latin typeface="Times New Roman" panose="02020603050405020304" pitchFamily="18" charset="0"/>
                <a:ea typeface="宋体" panose="02010600030101010101" pitchFamily="2" charset="-122"/>
                <a:sym typeface="Symbol" panose="05050102010706020507" pitchFamily="18" charset="2"/>
              </a:rPr>
              <a:t>=(1-0.0387) </a:t>
            </a:r>
            <a:r>
              <a:rPr lang="en-US" altLang="zh-CN">
                <a:latin typeface="Times New Roman" panose="02020603050405020304" pitchFamily="18" charset="0"/>
                <a:ea typeface="宋体" panose="02010600030101010101" pitchFamily="2" charset="-122"/>
              </a:rPr>
              <a:t>400=384.52V</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10000"/>
              </a:lnSpc>
            </a:pPr>
            <a:r>
              <a:rPr lang="en-US" altLang="zh-CN">
                <a:latin typeface="Times New Roman" panose="02020603050405020304" pitchFamily="18" charset="0"/>
                <a:ea typeface="宋体" panose="02010600030101010101" pitchFamily="2" charset="-122"/>
                <a:sym typeface="Symbol" panose="05050102010706020507" pitchFamily="18" charset="2"/>
              </a:rPr>
              <a:t>P</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=Scos</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sym typeface="Symbol" panose="05050102010706020507" pitchFamily="18" charset="2"/>
              </a:rPr>
              <a:t>=750KVA </a:t>
            </a:r>
            <a:r>
              <a:rPr lang="en-US" altLang="zh-CN">
                <a:latin typeface="Times New Roman" panose="02020603050405020304" pitchFamily="18" charset="0"/>
                <a:ea typeface="宋体" panose="02010600030101010101" pitchFamily="2" charset="-122"/>
              </a:rPr>
              <a:t>0.8=600KW;</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10000"/>
              </a:lnSpc>
            </a:pPr>
            <a:r>
              <a:rPr lang="en-US" altLang="zh-CN">
                <a:latin typeface="Times New Roman" panose="02020603050405020304" pitchFamily="18" charset="0"/>
                <a:ea typeface="宋体" panose="02010600030101010101" pitchFamily="2" charset="-122"/>
                <a:sym typeface="Symbol" panose="05050102010706020507" pitchFamily="18" charset="2"/>
              </a:rPr>
              <a:t>P</a:t>
            </a:r>
            <a:r>
              <a:rPr lang="en-US" altLang="zh-CN" baseline="-30000">
                <a:latin typeface="Times New Roman" panose="02020603050405020304" pitchFamily="18" charset="0"/>
                <a:ea typeface="宋体" panose="02010600030101010101" pitchFamily="2" charset="-122"/>
                <a:sym typeface="Symbol" panose="05050102010706020507" pitchFamily="18" charset="2"/>
              </a:rPr>
              <a:t>1</a:t>
            </a:r>
            <a:r>
              <a:rPr lang="en-US" altLang="zh-CN">
                <a:latin typeface="Times New Roman" panose="02020603050405020304" pitchFamily="18" charset="0"/>
                <a:ea typeface="宋体" panose="02010600030101010101" pitchFamily="2" charset="-122"/>
                <a:sym typeface="Symbol" panose="05050102010706020507" pitchFamily="18" charset="2"/>
              </a:rPr>
              <a:t>= P</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+p</a:t>
            </a:r>
            <a:r>
              <a:rPr lang="en-US" altLang="zh-CN" baseline="-30000">
                <a:latin typeface="Times New Roman" panose="02020603050405020304" pitchFamily="18" charset="0"/>
                <a:ea typeface="宋体" panose="02010600030101010101" pitchFamily="2" charset="-122"/>
                <a:sym typeface="Symbol" panose="05050102010706020507" pitchFamily="18" charset="2"/>
              </a:rPr>
              <a:t>0</a:t>
            </a:r>
            <a:r>
              <a:rPr lang="en-US" altLang="zh-CN">
                <a:latin typeface="Times New Roman" panose="02020603050405020304" pitchFamily="18" charset="0"/>
                <a:ea typeface="宋体" panose="02010600030101010101" pitchFamily="2" charset="-122"/>
                <a:sym typeface="Symbol" panose="05050102010706020507" pitchFamily="18" charset="2"/>
              </a:rPr>
              <a:t>+p</a:t>
            </a:r>
            <a:r>
              <a:rPr lang="en-US" altLang="zh-CN" baseline="-30000">
                <a:latin typeface="Times New Roman" panose="02020603050405020304" pitchFamily="18" charset="0"/>
                <a:ea typeface="宋体" panose="02010600030101010101" pitchFamily="2" charset="-122"/>
                <a:sym typeface="Symbol" panose="05050102010706020507" pitchFamily="18" charset="2"/>
              </a:rPr>
              <a:t>k</a:t>
            </a:r>
            <a:r>
              <a:rPr lang="en-US" altLang="zh-CN">
                <a:latin typeface="Times New Roman" panose="02020603050405020304" pitchFamily="18" charset="0"/>
                <a:ea typeface="宋体" panose="02010600030101010101" pitchFamily="2" charset="-122"/>
                <a:sym typeface="Symbol" panose="05050102010706020507" pitchFamily="18" charset="2"/>
              </a:rPr>
              <a:t>=600+3.8+10.9=614.7(KW)</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10000"/>
              </a:lnSpc>
            </a:pP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P</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 P</a:t>
            </a:r>
            <a:r>
              <a:rPr lang="en-US" altLang="zh-CN" baseline="-30000">
                <a:latin typeface="Times New Roman" panose="02020603050405020304" pitchFamily="18" charset="0"/>
                <a:ea typeface="宋体" panose="02010600030101010101" pitchFamily="2" charset="-122"/>
                <a:sym typeface="Symbol" panose="05050102010706020507" pitchFamily="18" charset="2"/>
              </a:rPr>
              <a:t>1</a:t>
            </a:r>
            <a:r>
              <a:rPr lang="en-US" altLang="zh-CN">
                <a:latin typeface="Times New Roman" panose="02020603050405020304" pitchFamily="18" charset="0"/>
                <a:ea typeface="宋体" panose="02010600030101010101" pitchFamily="2" charset="-122"/>
                <a:sym typeface="Symbol" panose="05050102010706020507" pitchFamily="18" charset="2"/>
              </a:rPr>
              <a:t>=600/614.7=97.6%;</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1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当效率最高时满足</a:t>
            </a:r>
            <a:r>
              <a:rPr lang="en-US" altLang="zh-CN">
                <a:latin typeface="Times New Roman" panose="02020603050405020304" pitchFamily="18" charset="0"/>
                <a:ea typeface="宋体" panose="02010600030101010101" pitchFamily="2" charset="-122"/>
                <a:sym typeface="Symbol" panose="05050102010706020507" pitchFamily="18" charset="2"/>
              </a:rPr>
              <a:t>:</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sp>
        <p:nvSpPr>
          <p:cNvPr id="39944" name="矩形 85000"/>
          <p:cNvSpPr/>
          <p:nvPr/>
        </p:nvSpPr>
        <p:spPr>
          <a:xfrm>
            <a:off x="179388" y="685800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矩形 83969"/>
          <p:cNvSpPr/>
          <p:nvPr/>
        </p:nvSpPr>
        <p:spPr>
          <a:xfrm>
            <a:off x="468313" y="404813"/>
            <a:ext cx="8353425" cy="82232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5-19</a:t>
            </a:r>
            <a:r>
              <a:rPr lang="zh-CN" altLang="en-US" dirty="0">
                <a:latin typeface="Times New Roman" panose="02020603050405020304" pitchFamily="18" charset="0"/>
                <a:ea typeface="宋体" panose="02010600030101010101" pitchFamily="2" charset="-122"/>
              </a:rPr>
              <a:t>：一台三相变压器检修后需重新按减极原则确定其原、副边的端子标志，怎么完成？</a:t>
            </a:r>
            <a:endParaRPr lang="zh-CN" altLang="en-US" dirty="0">
              <a:latin typeface="Times New Roman" panose="02020603050405020304" pitchFamily="18" charset="0"/>
              <a:ea typeface="宋体" panose="02010600030101010101" pitchFamily="2" charset="-122"/>
            </a:endParaRPr>
          </a:p>
        </p:txBody>
      </p:sp>
      <p:sp>
        <p:nvSpPr>
          <p:cNvPr id="40962" name="文本框 83970"/>
          <p:cNvSpPr txBox="1"/>
          <p:nvPr/>
        </p:nvSpPr>
        <p:spPr>
          <a:xfrm>
            <a:off x="592138" y="1339850"/>
            <a:ext cx="8012112" cy="1552575"/>
          </a:xfrm>
          <a:prstGeom prst="rect">
            <a:avLst/>
          </a:prstGeom>
          <a:noFill/>
          <a:ln w="9525">
            <a:noFill/>
          </a:ln>
        </p:spPr>
        <p:txBody>
          <a:bodyPr anchor="t" anchorCtr="0">
            <a:spAutoFit/>
          </a:bodyPr>
          <a:p>
            <a:r>
              <a:rPr lang="zh-CN" altLang="en-US" dirty="0">
                <a:latin typeface="Times New Roman" panose="02020603050405020304" pitchFamily="18" charset="0"/>
                <a:ea typeface="宋体" panose="02010600030101010101" pitchFamily="2" charset="-122"/>
              </a:rPr>
              <a:t>解：先查出其高低压绕组，利用万用表电阻档，测量变压器的</a:t>
            </a:r>
            <a:r>
              <a:rPr lang="en-US" altLang="zh-CN" dirty="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个出线端子间通断情况及电阻大小，找出原副绕组中那些端子为同一个绕组，相通的为同一绕组。对于降压变压器阻值大的为高压绕组，阻值小的为低压绕组。</a:t>
            </a:r>
            <a:endParaRPr lang="zh-CN" altLang="en-US" dirty="0">
              <a:latin typeface="Times New Roman" panose="02020603050405020304" pitchFamily="18" charset="0"/>
              <a:ea typeface="宋体" panose="02010600030101010101" pitchFamily="2" charset="-122"/>
            </a:endParaRPr>
          </a:p>
        </p:txBody>
      </p:sp>
      <p:sp>
        <p:nvSpPr>
          <p:cNvPr id="40963" name="文本框 83971"/>
          <p:cNvSpPr txBox="1"/>
          <p:nvPr/>
        </p:nvSpPr>
        <p:spPr>
          <a:xfrm>
            <a:off x="684213" y="2997200"/>
            <a:ext cx="7991475" cy="1187450"/>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再将阻值大的三个高压绕组的</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个首末端假设为</a:t>
            </a:r>
            <a:r>
              <a:rPr lang="en-US" altLang="zh-CN">
                <a:latin typeface="Times New Roman" panose="02020603050405020304" pitchFamily="18" charset="0"/>
                <a:ea typeface="宋体" panose="02010600030101010101" pitchFamily="2" charset="-122"/>
              </a:rPr>
              <a:t>A,X,B,</a:t>
            </a:r>
            <a:endParaRPr lang="en-US" altLang="zh-CN">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Y,C,Z</a:t>
            </a:r>
            <a:r>
              <a:rPr lang="zh-CN" altLang="en-US" dirty="0">
                <a:latin typeface="Times New Roman" panose="02020603050405020304" pitchFamily="18" charset="0"/>
                <a:ea typeface="宋体" panose="02010600030101010101" pitchFamily="2" charset="-122"/>
              </a:rPr>
              <a:t>进行极性的判断。具体见实验指导书三相变压器极性测定及连接组别校验。</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矩形 82945"/>
          <p:cNvSpPr/>
          <p:nvPr/>
        </p:nvSpPr>
        <p:spPr>
          <a:xfrm>
            <a:off x="395288" y="260350"/>
            <a:ext cx="5619750"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5-20</a:t>
            </a:r>
            <a:r>
              <a:rPr lang="zh-CN" altLang="en-US" dirty="0">
                <a:latin typeface="Times New Roman" panose="02020603050405020304" pitchFamily="18" charset="0"/>
                <a:ea typeface="宋体" panose="02010600030101010101" pitchFamily="2" charset="-122"/>
              </a:rPr>
              <a:t>：判断连接组别？并画相量图说明。</a:t>
            </a:r>
            <a:endParaRPr lang="zh-CN" altLang="en-US" dirty="0">
              <a:latin typeface="Times New Roman" panose="02020603050405020304" pitchFamily="18" charset="0"/>
              <a:ea typeface="宋体" panose="02010600030101010101" pitchFamily="2" charset="-122"/>
            </a:endParaRPr>
          </a:p>
        </p:txBody>
      </p:sp>
      <p:sp>
        <p:nvSpPr>
          <p:cNvPr id="41986" name="矩形 82946"/>
          <p:cNvSpPr/>
          <p:nvPr/>
        </p:nvSpPr>
        <p:spPr>
          <a:xfrm>
            <a:off x="6372225" y="6092825"/>
            <a:ext cx="1377950" cy="457200"/>
          </a:xfrm>
          <a:prstGeom prst="rect">
            <a:avLst/>
          </a:prstGeom>
          <a:noFill/>
          <a:ln w="9525">
            <a:noFill/>
          </a:ln>
        </p:spPr>
        <p:txBody>
          <a:bodyPr wrap="none" anchor="ctr" anchorCtr="0">
            <a:spAutoFit/>
          </a:bodyPr>
          <a:p>
            <a:r>
              <a:rPr lang="en-US" altLang="zh-CN">
                <a:latin typeface="Times New Roman" panose="02020603050405020304" pitchFamily="18" charset="0"/>
                <a:ea typeface="宋体" panose="02010600030101010101" pitchFamily="2" charset="-122"/>
              </a:rPr>
              <a:t>(c) D,y-7 </a:t>
            </a:r>
            <a:endParaRPr lang="en-US" altLang="zh-CN">
              <a:latin typeface="Times New Roman" panose="02020603050405020304" pitchFamily="18" charset="0"/>
              <a:ea typeface="宋体" panose="02010600030101010101" pitchFamily="2" charset="-122"/>
            </a:endParaRPr>
          </a:p>
        </p:txBody>
      </p:sp>
      <p:grpSp>
        <p:nvGrpSpPr>
          <p:cNvPr id="41987" name="组合 82947"/>
          <p:cNvGrpSpPr>
            <a:grpSpLocks noChangeAspect="1"/>
          </p:cNvGrpSpPr>
          <p:nvPr/>
        </p:nvGrpSpPr>
        <p:grpSpPr>
          <a:xfrm>
            <a:off x="468313" y="692150"/>
            <a:ext cx="3240087" cy="2857500"/>
            <a:chOff x="3240" y="1596"/>
            <a:chExt cx="5220" cy="4602"/>
          </a:xfrm>
        </p:grpSpPr>
        <p:sp>
          <p:nvSpPr>
            <p:cNvPr id="41988" name="矩形 82948"/>
            <p:cNvSpPr>
              <a:spLocks noChangeAspect="1"/>
            </p:cNvSpPr>
            <p:nvPr/>
          </p:nvSpPr>
          <p:spPr>
            <a:xfrm>
              <a:off x="3240" y="1596"/>
              <a:ext cx="5220" cy="4602"/>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1989" name="文本框 82949"/>
            <p:cNvSpPr txBox="1"/>
            <p:nvPr/>
          </p:nvSpPr>
          <p:spPr>
            <a:xfrm>
              <a:off x="3420" y="5418"/>
              <a:ext cx="720" cy="624"/>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W</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1990" name="文本框 82950"/>
            <p:cNvSpPr txBox="1"/>
            <p:nvPr/>
          </p:nvSpPr>
          <p:spPr>
            <a:xfrm>
              <a:off x="3240" y="4794"/>
              <a:ext cx="900" cy="624"/>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v</a:t>
              </a:r>
              <a:r>
                <a:rPr lang="en-US" altLang="zh-CN" sz="1400" b="0" baseline="-25000">
                  <a:latin typeface="Times New Roman" panose="02020603050405020304" pitchFamily="18" charset="0"/>
                  <a:ea typeface="宋体" panose="02010600030101010101" pitchFamily="2" charset="-122"/>
                </a:rPr>
                <a:t>1</a:t>
              </a:r>
              <a:r>
                <a:rPr lang="en-US" altLang="zh-CN" sz="1400" b="0">
                  <a:latin typeface="Times New Roman" panose="02020603050405020304" pitchFamily="18" charset="0"/>
                  <a:ea typeface="宋体" panose="02010600030101010101" pitchFamily="2" charset="-122"/>
                </a:rPr>
                <a:t>,</a:t>
              </a:r>
              <a:r>
                <a:rPr lang="en-US" altLang="zh-CN" sz="1400" b="0" i="1">
                  <a:latin typeface="Times New Roman" panose="02020603050405020304" pitchFamily="18" charset="0"/>
                  <a:ea typeface="宋体" panose="02010600030101010101" pitchFamily="2" charset="-122"/>
                </a:rPr>
                <a:t>w</a:t>
              </a:r>
              <a:r>
                <a:rPr lang="en-US" altLang="zh-CN" sz="1400" b="0" baseline="-25000">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41991" name="文本框 82951"/>
            <p:cNvSpPr txBox="1"/>
            <p:nvPr/>
          </p:nvSpPr>
          <p:spPr>
            <a:xfrm>
              <a:off x="4320" y="4248"/>
              <a:ext cx="1080" cy="596"/>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w</a:t>
              </a:r>
              <a:r>
                <a:rPr lang="en-US" altLang="zh-CN" sz="1400" b="0" baseline="-25000">
                  <a:latin typeface="Times New Roman" panose="02020603050405020304" pitchFamily="18" charset="0"/>
                  <a:ea typeface="宋体" panose="02010600030101010101" pitchFamily="2" charset="-122"/>
                </a:rPr>
                <a:t>1</a:t>
              </a:r>
              <a:r>
                <a:rPr lang="en-US" altLang="zh-CN" sz="1400" b="0">
                  <a:latin typeface="Times New Roman" panose="02020603050405020304" pitchFamily="18" charset="0"/>
                  <a:ea typeface="宋体" panose="02010600030101010101" pitchFamily="2" charset="-122"/>
                </a:rPr>
                <a:t>,</a:t>
              </a:r>
              <a:r>
                <a:rPr lang="en-US" altLang="zh-CN" sz="1400" b="0" i="1">
                  <a:latin typeface="Times New Roman" panose="02020603050405020304" pitchFamily="18" charset="0"/>
                  <a:ea typeface="宋体" panose="02010600030101010101" pitchFamily="2" charset="-122"/>
                </a:rPr>
                <a:t>u</a:t>
              </a:r>
              <a:r>
                <a:rPr lang="en-US" altLang="zh-CN" sz="1400" b="0" baseline="-25000">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41992" name="直接连接符 82952"/>
            <p:cNvSpPr/>
            <p:nvPr/>
          </p:nvSpPr>
          <p:spPr>
            <a:xfrm>
              <a:off x="5940" y="2065"/>
              <a:ext cx="0" cy="2189"/>
            </a:xfrm>
            <a:prstGeom prst="line">
              <a:avLst/>
            </a:prstGeom>
            <a:ln w="9525" cap="flat" cmpd="sng">
              <a:solidFill>
                <a:srgbClr val="000000"/>
              </a:solidFill>
              <a:prstDash val="solid"/>
              <a:round/>
              <a:headEnd type="none" w="med" len="med"/>
              <a:tailEnd type="triangle" w="med" len="med"/>
            </a:ln>
          </p:spPr>
        </p:sp>
        <p:sp>
          <p:nvSpPr>
            <p:cNvPr id="41993" name="直接连接符 82953"/>
            <p:cNvSpPr/>
            <p:nvPr/>
          </p:nvSpPr>
          <p:spPr>
            <a:xfrm flipV="1">
              <a:off x="3960" y="4248"/>
              <a:ext cx="1980" cy="1248"/>
            </a:xfrm>
            <a:prstGeom prst="line">
              <a:avLst/>
            </a:prstGeom>
            <a:ln w="9525" cap="flat" cmpd="sng">
              <a:solidFill>
                <a:srgbClr val="000000"/>
              </a:solidFill>
              <a:prstDash val="solid"/>
              <a:round/>
              <a:headEnd type="none" w="med" len="med"/>
              <a:tailEnd type="triangle" w="med" len="med"/>
            </a:ln>
          </p:spPr>
        </p:sp>
        <p:sp>
          <p:nvSpPr>
            <p:cNvPr id="41994" name="直接连接符 82954"/>
            <p:cNvSpPr/>
            <p:nvPr/>
          </p:nvSpPr>
          <p:spPr>
            <a:xfrm flipH="1" flipV="1">
              <a:off x="5940" y="4248"/>
              <a:ext cx="1800" cy="1086"/>
            </a:xfrm>
            <a:prstGeom prst="line">
              <a:avLst/>
            </a:prstGeom>
            <a:ln w="9525" cap="flat" cmpd="sng">
              <a:solidFill>
                <a:srgbClr val="000000"/>
              </a:solidFill>
              <a:prstDash val="solid"/>
              <a:round/>
              <a:headEnd type="none" w="med" len="med"/>
              <a:tailEnd type="triangle" w="med" len="med"/>
            </a:ln>
          </p:spPr>
        </p:sp>
        <p:sp>
          <p:nvSpPr>
            <p:cNvPr id="41995" name="直接连接符 82955"/>
            <p:cNvSpPr/>
            <p:nvPr/>
          </p:nvSpPr>
          <p:spPr>
            <a:xfrm flipH="1">
              <a:off x="3960" y="4917"/>
              <a:ext cx="900" cy="563"/>
            </a:xfrm>
            <a:prstGeom prst="line">
              <a:avLst/>
            </a:prstGeom>
            <a:ln w="9525" cap="flat" cmpd="sng">
              <a:solidFill>
                <a:srgbClr val="000000"/>
              </a:solidFill>
              <a:prstDash val="solid"/>
              <a:round/>
              <a:headEnd type="none" w="med" len="med"/>
              <a:tailEnd type="triangle" w="med" len="med"/>
            </a:ln>
          </p:spPr>
        </p:sp>
        <p:sp>
          <p:nvSpPr>
            <p:cNvPr id="41996" name="直接连接符 82956"/>
            <p:cNvSpPr/>
            <p:nvPr/>
          </p:nvSpPr>
          <p:spPr>
            <a:xfrm flipV="1">
              <a:off x="4860" y="4872"/>
              <a:ext cx="0" cy="1092"/>
            </a:xfrm>
            <a:prstGeom prst="line">
              <a:avLst/>
            </a:prstGeom>
            <a:ln w="9525" cap="flat" cmpd="sng">
              <a:solidFill>
                <a:schemeClr val="accent2"/>
              </a:solidFill>
              <a:prstDash val="solid"/>
              <a:round/>
              <a:headEnd type="none" w="med" len="med"/>
              <a:tailEnd type="triangle" w="med" len="med"/>
            </a:ln>
          </p:spPr>
        </p:sp>
        <p:sp>
          <p:nvSpPr>
            <p:cNvPr id="41997" name="直接连接符 82957"/>
            <p:cNvSpPr/>
            <p:nvPr/>
          </p:nvSpPr>
          <p:spPr>
            <a:xfrm>
              <a:off x="3960" y="5496"/>
              <a:ext cx="900" cy="468"/>
            </a:xfrm>
            <a:prstGeom prst="line">
              <a:avLst/>
            </a:prstGeom>
            <a:ln w="9525" cap="flat" cmpd="sng">
              <a:solidFill>
                <a:schemeClr val="accent2"/>
              </a:solidFill>
              <a:prstDash val="solid"/>
              <a:round/>
              <a:headEnd type="none" w="med" len="med"/>
              <a:tailEnd type="triangle" w="med" len="med"/>
            </a:ln>
          </p:spPr>
        </p:sp>
        <p:sp>
          <p:nvSpPr>
            <p:cNvPr id="41998" name="直接连接符 82958"/>
            <p:cNvSpPr/>
            <p:nvPr/>
          </p:nvSpPr>
          <p:spPr>
            <a:xfrm flipH="1" flipV="1">
              <a:off x="3960" y="5652"/>
              <a:ext cx="900" cy="468"/>
            </a:xfrm>
            <a:prstGeom prst="line">
              <a:avLst/>
            </a:prstGeom>
            <a:ln w="9525" cap="flat" cmpd="sng">
              <a:solidFill>
                <a:srgbClr val="FF0000"/>
              </a:solidFill>
              <a:prstDash val="solid"/>
              <a:round/>
              <a:headEnd type="none" w="med" len="med"/>
              <a:tailEnd type="triangle" w="med" len="med"/>
            </a:ln>
          </p:spPr>
        </p:sp>
        <p:sp>
          <p:nvSpPr>
            <p:cNvPr id="41999" name="文本框 82959"/>
            <p:cNvSpPr txBox="1"/>
            <p:nvPr/>
          </p:nvSpPr>
          <p:spPr>
            <a:xfrm>
              <a:off x="5940" y="1596"/>
              <a:ext cx="900" cy="596"/>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U</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00" name="文本框 82960"/>
            <p:cNvSpPr txBox="1"/>
            <p:nvPr/>
          </p:nvSpPr>
          <p:spPr>
            <a:xfrm>
              <a:off x="7740" y="5106"/>
              <a:ext cx="720" cy="752"/>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V</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01" name="文本框 82961"/>
            <p:cNvSpPr txBox="1"/>
            <p:nvPr/>
          </p:nvSpPr>
          <p:spPr>
            <a:xfrm>
              <a:off x="5040" y="5418"/>
              <a:ext cx="900" cy="780"/>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u</a:t>
              </a:r>
              <a:r>
                <a:rPr lang="en-US" altLang="zh-CN" sz="1400" b="0" baseline="-25000">
                  <a:latin typeface="Times New Roman" panose="02020603050405020304" pitchFamily="18" charset="0"/>
                  <a:ea typeface="宋体" panose="02010600030101010101" pitchFamily="2" charset="-122"/>
                </a:rPr>
                <a:t>1</a:t>
              </a:r>
              <a:r>
                <a:rPr lang="en-US" altLang="zh-CN" sz="1400" b="0">
                  <a:latin typeface="Times New Roman" panose="02020603050405020304" pitchFamily="18" charset="0"/>
                  <a:ea typeface="宋体" panose="02010600030101010101" pitchFamily="2" charset="-122"/>
                </a:rPr>
                <a:t>.</a:t>
              </a:r>
              <a:r>
                <a:rPr lang="en-US" altLang="zh-CN" sz="1400" b="0" i="1">
                  <a:latin typeface="Times New Roman" panose="02020603050405020304" pitchFamily="18" charset="0"/>
                  <a:ea typeface="宋体" panose="02010600030101010101" pitchFamily="2" charset="-122"/>
                </a:rPr>
                <a:t>v</a:t>
              </a:r>
              <a:r>
                <a:rPr lang="en-US" altLang="zh-CN" sz="1400" b="0" baseline="-25000">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42002" name="直接连接符 82962"/>
            <p:cNvSpPr/>
            <p:nvPr/>
          </p:nvSpPr>
          <p:spPr>
            <a:xfrm>
              <a:off x="5910" y="2091"/>
              <a:ext cx="1800" cy="3276"/>
            </a:xfrm>
            <a:prstGeom prst="line">
              <a:avLst/>
            </a:prstGeom>
            <a:ln w="9525" cap="flat" cmpd="sng">
              <a:solidFill>
                <a:srgbClr val="FF0000"/>
              </a:solidFill>
              <a:prstDash val="solid"/>
              <a:round/>
              <a:headEnd type="none" w="med" len="med"/>
              <a:tailEnd type="triangle" w="med" len="med"/>
            </a:ln>
          </p:spPr>
        </p:sp>
      </p:grpSp>
      <p:grpSp>
        <p:nvGrpSpPr>
          <p:cNvPr id="42003" name="组合 82963"/>
          <p:cNvGrpSpPr>
            <a:grpSpLocks noChangeAspect="1"/>
          </p:cNvGrpSpPr>
          <p:nvPr/>
        </p:nvGrpSpPr>
        <p:grpSpPr>
          <a:xfrm>
            <a:off x="4716463" y="836613"/>
            <a:ext cx="3314700" cy="2686050"/>
            <a:chOff x="2910" y="6430"/>
            <a:chExt cx="5220" cy="4231"/>
          </a:xfrm>
        </p:grpSpPr>
        <p:sp>
          <p:nvSpPr>
            <p:cNvPr id="42004" name="矩形 82964"/>
            <p:cNvSpPr>
              <a:spLocks noChangeAspect="1"/>
            </p:cNvSpPr>
            <p:nvPr/>
          </p:nvSpPr>
          <p:spPr>
            <a:xfrm>
              <a:off x="2910" y="6430"/>
              <a:ext cx="5220" cy="4231"/>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2005" name="文本框 82965"/>
            <p:cNvSpPr txBox="1"/>
            <p:nvPr/>
          </p:nvSpPr>
          <p:spPr>
            <a:xfrm>
              <a:off x="4170" y="8546"/>
              <a:ext cx="1080" cy="624"/>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u</a:t>
              </a:r>
              <a:r>
                <a:rPr lang="en-US" altLang="zh-CN" sz="1400" b="0" baseline="-25000">
                  <a:latin typeface="Times New Roman" panose="02020603050405020304" pitchFamily="18" charset="0"/>
                  <a:ea typeface="宋体" panose="02010600030101010101" pitchFamily="2" charset="-122"/>
                </a:rPr>
                <a:t>2</a:t>
              </a:r>
              <a:r>
                <a:rPr lang="en-US" altLang="zh-CN" sz="1400" b="0" i="1">
                  <a:latin typeface="Times New Roman" panose="02020603050405020304" pitchFamily="18" charset="0"/>
                  <a:ea typeface="宋体" panose="02010600030101010101" pitchFamily="2" charset="-122"/>
                </a:rPr>
                <a:t>,v</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06" name="文本框 82966"/>
            <p:cNvSpPr txBox="1"/>
            <p:nvPr/>
          </p:nvSpPr>
          <p:spPr>
            <a:xfrm>
              <a:off x="3990" y="9950"/>
              <a:ext cx="930" cy="711"/>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u</a:t>
              </a:r>
              <a:r>
                <a:rPr lang="en-US" altLang="zh-CN" sz="1400" b="0" baseline="-25000">
                  <a:latin typeface="Times New Roman" panose="02020603050405020304" pitchFamily="18" charset="0"/>
                  <a:ea typeface="宋体" panose="02010600030101010101" pitchFamily="2" charset="-122"/>
                </a:rPr>
                <a:t>1</a:t>
              </a:r>
              <a:r>
                <a:rPr lang="en-US" altLang="zh-CN" sz="1400" b="0">
                  <a:latin typeface="Times New Roman" panose="02020603050405020304" pitchFamily="18" charset="0"/>
                  <a:ea typeface="宋体" panose="02010600030101010101" pitchFamily="2" charset="-122"/>
                </a:rPr>
                <a:t>,</a:t>
              </a:r>
              <a:r>
                <a:rPr lang="en-US" altLang="zh-CN" sz="1400" b="0" i="1">
                  <a:latin typeface="Times New Roman" panose="02020603050405020304" pitchFamily="18" charset="0"/>
                  <a:ea typeface="宋体" panose="02010600030101010101" pitchFamily="2" charset="-122"/>
                </a:rPr>
                <a:t>w</a:t>
              </a:r>
              <a:r>
                <a:rPr lang="en-US" altLang="zh-CN" sz="1400" b="0" baseline="-25000">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42007" name="直接连接符 82967"/>
            <p:cNvSpPr/>
            <p:nvPr/>
          </p:nvSpPr>
          <p:spPr>
            <a:xfrm>
              <a:off x="5610" y="6518"/>
              <a:ext cx="1" cy="2184"/>
            </a:xfrm>
            <a:prstGeom prst="line">
              <a:avLst/>
            </a:prstGeom>
            <a:ln w="9525" cap="flat" cmpd="sng">
              <a:solidFill>
                <a:srgbClr val="000000"/>
              </a:solidFill>
              <a:prstDash val="solid"/>
              <a:round/>
              <a:headEnd type="none" w="med" len="med"/>
              <a:tailEnd type="triangle" w="med" len="med"/>
            </a:ln>
          </p:spPr>
        </p:sp>
        <p:sp>
          <p:nvSpPr>
            <p:cNvPr id="42008" name="直接连接符 82968"/>
            <p:cNvSpPr/>
            <p:nvPr/>
          </p:nvSpPr>
          <p:spPr>
            <a:xfrm flipV="1">
              <a:off x="3630" y="8702"/>
              <a:ext cx="1980" cy="936"/>
            </a:xfrm>
            <a:prstGeom prst="line">
              <a:avLst/>
            </a:prstGeom>
            <a:ln w="9525" cap="flat" cmpd="sng">
              <a:solidFill>
                <a:srgbClr val="000000"/>
              </a:solidFill>
              <a:prstDash val="solid"/>
              <a:round/>
              <a:headEnd type="none" w="med" len="med"/>
              <a:tailEnd type="triangle" w="med" len="med"/>
            </a:ln>
          </p:spPr>
        </p:sp>
        <p:sp>
          <p:nvSpPr>
            <p:cNvPr id="42009" name="直接连接符 82969"/>
            <p:cNvSpPr/>
            <p:nvPr/>
          </p:nvSpPr>
          <p:spPr>
            <a:xfrm flipH="1" flipV="1">
              <a:off x="5610" y="8702"/>
              <a:ext cx="1620" cy="1092"/>
            </a:xfrm>
            <a:prstGeom prst="line">
              <a:avLst/>
            </a:prstGeom>
            <a:ln w="9525" cap="flat" cmpd="sng">
              <a:solidFill>
                <a:srgbClr val="000000"/>
              </a:solidFill>
              <a:prstDash val="solid"/>
              <a:round/>
              <a:headEnd type="none" w="med" len="med"/>
              <a:tailEnd type="triangle" w="med" len="med"/>
            </a:ln>
          </p:spPr>
        </p:sp>
        <p:sp>
          <p:nvSpPr>
            <p:cNvPr id="42010" name="直接连接符 82970"/>
            <p:cNvSpPr/>
            <p:nvPr/>
          </p:nvSpPr>
          <p:spPr>
            <a:xfrm flipH="1">
              <a:off x="3630" y="9186"/>
              <a:ext cx="900" cy="467"/>
            </a:xfrm>
            <a:prstGeom prst="line">
              <a:avLst/>
            </a:prstGeom>
            <a:ln w="9525" cap="flat" cmpd="sng">
              <a:solidFill>
                <a:srgbClr val="0000FF"/>
              </a:solidFill>
              <a:prstDash val="solid"/>
              <a:round/>
              <a:headEnd type="none" w="med" len="med"/>
              <a:tailEnd type="triangle" w="med" len="med"/>
            </a:ln>
          </p:spPr>
        </p:sp>
        <p:sp>
          <p:nvSpPr>
            <p:cNvPr id="42011" name="直接连接符 82971"/>
            <p:cNvSpPr/>
            <p:nvPr/>
          </p:nvSpPr>
          <p:spPr>
            <a:xfrm flipV="1">
              <a:off x="4530" y="9170"/>
              <a:ext cx="1" cy="936"/>
            </a:xfrm>
            <a:prstGeom prst="line">
              <a:avLst/>
            </a:prstGeom>
            <a:ln w="9525" cap="flat" cmpd="sng">
              <a:solidFill>
                <a:srgbClr val="0000FF"/>
              </a:solidFill>
              <a:prstDash val="solid"/>
              <a:round/>
              <a:headEnd type="none" w="med" len="med"/>
              <a:tailEnd type="triangle" w="med" len="med"/>
            </a:ln>
          </p:spPr>
        </p:sp>
        <p:sp>
          <p:nvSpPr>
            <p:cNvPr id="42012" name="直接连接符 82972"/>
            <p:cNvSpPr/>
            <p:nvPr/>
          </p:nvSpPr>
          <p:spPr>
            <a:xfrm>
              <a:off x="3630" y="9638"/>
              <a:ext cx="900" cy="468"/>
            </a:xfrm>
            <a:prstGeom prst="line">
              <a:avLst/>
            </a:prstGeom>
            <a:ln w="9525" cap="flat" cmpd="sng">
              <a:solidFill>
                <a:srgbClr val="0000FF"/>
              </a:solidFill>
              <a:prstDash val="solid"/>
              <a:round/>
              <a:headEnd type="none" w="med" len="med"/>
              <a:tailEnd type="triangle" w="med" len="med"/>
            </a:ln>
          </p:spPr>
        </p:sp>
        <p:sp>
          <p:nvSpPr>
            <p:cNvPr id="42013" name="直接连接符 82973"/>
            <p:cNvSpPr/>
            <p:nvPr/>
          </p:nvSpPr>
          <p:spPr>
            <a:xfrm>
              <a:off x="5610" y="6518"/>
              <a:ext cx="1620" cy="3276"/>
            </a:xfrm>
            <a:prstGeom prst="line">
              <a:avLst/>
            </a:prstGeom>
            <a:ln w="9525" cap="flat" cmpd="sng">
              <a:solidFill>
                <a:srgbClr val="FF0000"/>
              </a:solidFill>
              <a:prstDash val="solid"/>
              <a:round/>
              <a:headEnd type="none" w="med" len="med"/>
              <a:tailEnd type="triangle" w="med" len="med"/>
            </a:ln>
          </p:spPr>
        </p:sp>
        <p:sp>
          <p:nvSpPr>
            <p:cNvPr id="42014" name="直接连接符 82974"/>
            <p:cNvSpPr/>
            <p:nvPr/>
          </p:nvSpPr>
          <p:spPr>
            <a:xfrm flipV="1">
              <a:off x="4710" y="9326"/>
              <a:ext cx="0" cy="780"/>
            </a:xfrm>
            <a:prstGeom prst="line">
              <a:avLst/>
            </a:prstGeom>
            <a:ln w="9525" cap="flat" cmpd="sng">
              <a:solidFill>
                <a:srgbClr val="FF0000"/>
              </a:solidFill>
              <a:prstDash val="solid"/>
              <a:round/>
              <a:headEnd type="none" w="med" len="med"/>
              <a:tailEnd type="triangle" w="med" len="med"/>
            </a:ln>
          </p:spPr>
        </p:sp>
        <p:sp>
          <p:nvSpPr>
            <p:cNvPr id="42015" name="文本框 82975"/>
            <p:cNvSpPr txBox="1"/>
            <p:nvPr/>
          </p:nvSpPr>
          <p:spPr>
            <a:xfrm>
              <a:off x="4860" y="6430"/>
              <a:ext cx="720" cy="624"/>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U</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16" name="文本框 82976"/>
            <p:cNvSpPr txBox="1"/>
            <p:nvPr/>
          </p:nvSpPr>
          <p:spPr>
            <a:xfrm>
              <a:off x="7230" y="9326"/>
              <a:ext cx="900" cy="780"/>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V</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17" name="文本框 82977"/>
            <p:cNvSpPr txBox="1"/>
            <p:nvPr/>
          </p:nvSpPr>
          <p:spPr>
            <a:xfrm>
              <a:off x="2910" y="9326"/>
              <a:ext cx="720" cy="624"/>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W</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18" name="文本框 82978"/>
            <p:cNvSpPr txBox="1"/>
            <p:nvPr/>
          </p:nvSpPr>
          <p:spPr>
            <a:xfrm>
              <a:off x="3090" y="8858"/>
              <a:ext cx="900" cy="624"/>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v</a:t>
              </a:r>
              <a:r>
                <a:rPr lang="en-US" altLang="zh-CN" sz="1400" b="0" baseline="-25000">
                  <a:latin typeface="Times New Roman" panose="02020603050405020304" pitchFamily="18" charset="0"/>
                  <a:ea typeface="宋体" panose="02010600030101010101" pitchFamily="2" charset="-122"/>
                </a:rPr>
                <a:t>2</a:t>
              </a:r>
              <a:r>
                <a:rPr lang="en-US" altLang="zh-CN" sz="1400" b="0">
                  <a:latin typeface="Times New Roman" panose="02020603050405020304" pitchFamily="18" charset="0"/>
                  <a:ea typeface="宋体" panose="02010600030101010101" pitchFamily="2" charset="-122"/>
                </a:rPr>
                <a:t>,</a:t>
              </a:r>
              <a:r>
                <a:rPr lang="en-US" altLang="zh-CN" sz="1400" b="0" i="1">
                  <a:latin typeface="Times New Roman" panose="02020603050405020304" pitchFamily="18" charset="0"/>
                  <a:ea typeface="宋体" panose="02010600030101010101" pitchFamily="2" charset="-122"/>
                </a:rPr>
                <a:t>w</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grpSp>
      <p:sp>
        <p:nvSpPr>
          <p:cNvPr id="42019" name="矩形 82982"/>
          <p:cNvSpPr/>
          <p:nvPr/>
        </p:nvSpPr>
        <p:spPr>
          <a:xfrm>
            <a:off x="684213" y="3789363"/>
            <a:ext cx="1438275" cy="457200"/>
          </a:xfrm>
          <a:prstGeom prst="rect">
            <a:avLst/>
          </a:prstGeom>
          <a:noFill/>
          <a:ln w="9525">
            <a:noFill/>
          </a:ln>
        </p:spPr>
        <p:txBody>
          <a:bodyPr wrap="none" anchor="t" anchorCtr="0">
            <a:spAutoFit/>
          </a:bodyPr>
          <a:p>
            <a:r>
              <a:rPr lang="en-US" altLang="zh-CN">
                <a:latin typeface="Times New Roman" panose="02020603050405020304" pitchFamily="18" charset="0"/>
                <a:ea typeface="宋体" panose="02010600030101010101" pitchFamily="2" charset="-122"/>
              </a:rPr>
              <a:t>(a) Y,d-5;</a:t>
            </a:r>
            <a:endParaRPr lang="en-US" altLang="zh-CN">
              <a:latin typeface="Times New Roman" panose="02020603050405020304" pitchFamily="18" charset="0"/>
              <a:ea typeface="宋体" panose="02010600030101010101" pitchFamily="2" charset="-122"/>
            </a:endParaRPr>
          </a:p>
        </p:txBody>
      </p:sp>
      <p:sp>
        <p:nvSpPr>
          <p:cNvPr id="42020" name="矩形 82999"/>
          <p:cNvSpPr/>
          <p:nvPr/>
        </p:nvSpPr>
        <p:spPr>
          <a:xfrm>
            <a:off x="6300788" y="3357563"/>
            <a:ext cx="1455737" cy="457200"/>
          </a:xfrm>
          <a:prstGeom prst="rect">
            <a:avLst/>
          </a:prstGeom>
          <a:noFill/>
          <a:ln w="9525">
            <a:noFill/>
          </a:ln>
        </p:spPr>
        <p:txBody>
          <a:bodyPr wrap="none" anchor="t" anchorCtr="0">
            <a:spAutoFit/>
          </a:bodyPr>
          <a:p>
            <a:r>
              <a:rPr lang="en-US" altLang="zh-CN">
                <a:latin typeface="Times New Roman" panose="02020603050405020304" pitchFamily="18" charset="0"/>
                <a:ea typeface="宋体" panose="02010600030101010101" pitchFamily="2" charset="-122"/>
              </a:rPr>
              <a:t>(b) Y,d-7;</a:t>
            </a:r>
            <a:endParaRPr lang="en-US" altLang="zh-CN">
              <a:latin typeface="Times New Roman" panose="02020603050405020304" pitchFamily="18" charset="0"/>
              <a:ea typeface="宋体" panose="02010600030101010101" pitchFamily="2" charset="-122"/>
            </a:endParaRPr>
          </a:p>
        </p:txBody>
      </p:sp>
      <p:grpSp>
        <p:nvGrpSpPr>
          <p:cNvPr id="42021" name="组合 83000"/>
          <p:cNvGrpSpPr>
            <a:grpSpLocks noChangeAspect="1"/>
          </p:cNvGrpSpPr>
          <p:nvPr/>
        </p:nvGrpSpPr>
        <p:grpSpPr>
          <a:xfrm>
            <a:off x="2916238" y="3573463"/>
            <a:ext cx="2879725" cy="2747962"/>
            <a:chOff x="5032" y="2610"/>
            <a:chExt cx="3968" cy="3786"/>
          </a:xfrm>
        </p:grpSpPr>
        <p:sp>
          <p:nvSpPr>
            <p:cNvPr id="42022" name="矩形 83001"/>
            <p:cNvSpPr>
              <a:spLocks noChangeAspect="1"/>
            </p:cNvSpPr>
            <p:nvPr/>
          </p:nvSpPr>
          <p:spPr>
            <a:xfrm>
              <a:off x="5032" y="2610"/>
              <a:ext cx="3968" cy="3786"/>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2023" name="文本框 83002"/>
            <p:cNvSpPr txBox="1"/>
            <p:nvPr/>
          </p:nvSpPr>
          <p:spPr>
            <a:xfrm>
              <a:off x="5580" y="4326"/>
              <a:ext cx="1080" cy="624"/>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U</a:t>
              </a:r>
              <a:r>
                <a:rPr lang="en-US" altLang="zh-CN" sz="1400" b="0" baseline="-25000">
                  <a:latin typeface="Times New Roman" panose="02020603050405020304" pitchFamily="18" charset="0"/>
                  <a:ea typeface="宋体" panose="02010600030101010101" pitchFamily="2" charset="-122"/>
                </a:rPr>
                <a:t>1</a:t>
              </a:r>
              <a:r>
                <a:rPr lang="en-US" altLang="zh-CN" sz="1400" b="0">
                  <a:latin typeface="Times New Roman" panose="02020603050405020304" pitchFamily="18" charset="0"/>
                  <a:ea typeface="宋体" panose="02010600030101010101" pitchFamily="2" charset="-122"/>
                </a:rPr>
                <a:t>,V</a:t>
              </a:r>
              <a:r>
                <a:rPr lang="en-US" altLang="zh-CN" sz="1400" b="0" baseline="-25000">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42024" name="文本框 83003"/>
            <p:cNvSpPr txBox="1"/>
            <p:nvPr/>
          </p:nvSpPr>
          <p:spPr>
            <a:xfrm>
              <a:off x="6300" y="2610"/>
              <a:ext cx="1080" cy="624"/>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W</a:t>
              </a:r>
              <a:r>
                <a:rPr lang="en-US" altLang="zh-CN" sz="1400" b="0" baseline="-25000">
                  <a:latin typeface="Times New Roman" panose="02020603050405020304" pitchFamily="18" charset="0"/>
                  <a:ea typeface="宋体" panose="02010600030101010101" pitchFamily="2" charset="-122"/>
                </a:rPr>
                <a:t>2</a:t>
              </a:r>
              <a:r>
                <a:rPr lang="en-US" altLang="zh-CN" sz="1400" b="0">
                  <a:latin typeface="Times New Roman" panose="02020603050405020304" pitchFamily="18" charset="0"/>
                  <a:ea typeface="宋体" panose="02010600030101010101" pitchFamily="2" charset="-122"/>
                </a:rPr>
                <a:t>,V</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25" name="文本框 83004"/>
            <p:cNvSpPr txBox="1"/>
            <p:nvPr/>
          </p:nvSpPr>
          <p:spPr>
            <a:xfrm>
              <a:off x="5040" y="5730"/>
              <a:ext cx="720" cy="624"/>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v</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26" name="文本框 83005"/>
            <p:cNvSpPr txBox="1"/>
            <p:nvPr/>
          </p:nvSpPr>
          <p:spPr>
            <a:xfrm>
              <a:off x="5040" y="4638"/>
              <a:ext cx="720" cy="624"/>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w</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27" name="文本框 83006"/>
            <p:cNvSpPr txBox="1"/>
            <p:nvPr/>
          </p:nvSpPr>
          <p:spPr>
            <a:xfrm>
              <a:off x="6480" y="4950"/>
              <a:ext cx="720" cy="624"/>
            </a:xfrm>
            <a:prstGeom prst="rect">
              <a:avLst/>
            </a:prstGeom>
            <a:noFill/>
            <a:ln w="9525">
              <a:noFill/>
            </a:ln>
          </p:spPr>
          <p:txBody>
            <a:bodyPr anchor="t" anchorCtr="0"/>
            <a:p>
              <a:pPr algn="just"/>
              <a:r>
                <a:rPr lang="en-US" altLang="zh-CN" sz="1500" b="0" i="1">
                  <a:latin typeface="Times New Roman" panose="02020603050405020304" pitchFamily="18" charset="0"/>
                  <a:ea typeface="宋体" panose="02010600030101010101" pitchFamily="2" charset="-122"/>
                </a:rPr>
                <a:t>u</a:t>
              </a:r>
              <a:r>
                <a:rPr lang="en-US" altLang="zh-CN" sz="15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28" name="文本框 83007"/>
            <p:cNvSpPr txBox="1"/>
            <p:nvPr/>
          </p:nvSpPr>
          <p:spPr>
            <a:xfrm>
              <a:off x="7920" y="3858"/>
              <a:ext cx="1080" cy="624"/>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U</a:t>
              </a:r>
              <a:r>
                <a:rPr lang="en-US" altLang="zh-CN" sz="1400" b="0" baseline="-25000">
                  <a:latin typeface="Times New Roman" panose="02020603050405020304" pitchFamily="18" charset="0"/>
                  <a:ea typeface="宋体" panose="02010600030101010101" pitchFamily="2" charset="-122"/>
                </a:rPr>
                <a:t>2</a:t>
              </a:r>
              <a:r>
                <a:rPr lang="en-US" altLang="zh-CN" sz="1400" b="0">
                  <a:latin typeface="Times New Roman" panose="02020603050405020304" pitchFamily="18" charset="0"/>
                  <a:ea typeface="宋体" panose="02010600030101010101" pitchFamily="2" charset="-122"/>
                </a:rPr>
                <a:t>,W</a:t>
              </a:r>
              <a:r>
                <a:rPr lang="en-US" altLang="zh-CN" sz="1400" b="0"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2029" name="直接连接符 83008"/>
            <p:cNvSpPr/>
            <p:nvPr/>
          </p:nvSpPr>
          <p:spPr>
            <a:xfrm flipH="1" flipV="1">
              <a:off x="6480" y="3234"/>
              <a:ext cx="1620" cy="936"/>
            </a:xfrm>
            <a:prstGeom prst="line">
              <a:avLst/>
            </a:prstGeom>
            <a:ln w="9525" cap="flat" cmpd="sng">
              <a:solidFill>
                <a:srgbClr val="000000"/>
              </a:solidFill>
              <a:prstDash val="solid"/>
              <a:round/>
              <a:headEnd type="none" w="med" len="med"/>
              <a:tailEnd type="triangle" w="med" len="med"/>
            </a:ln>
          </p:spPr>
        </p:sp>
        <p:sp>
          <p:nvSpPr>
            <p:cNvPr id="42030" name="直接连接符 83009"/>
            <p:cNvSpPr/>
            <p:nvPr/>
          </p:nvSpPr>
          <p:spPr>
            <a:xfrm>
              <a:off x="6480" y="3234"/>
              <a:ext cx="1" cy="1872"/>
            </a:xfrm>
            <a:prstGeom prst="line">
              <a:avLst/>
            </a:prstGeom>
            <a:ln w="9525" cap="flat" cmpd="sng">
              <a:solidFill>
                <a:srgbClr val="000000"/>
              </a:solidFill>
              <a:prstDash val="solid"/>
              <a:round/>
              <a:headEnd type="none" w="med" len="med"/>
              <a:tailEnd type="triangle" w="med" len="med"/>
            </a:ln>
          </p:spPr>
        </p:sp>
        <p:sp>
          <p:nvSpPr>
            <p:cNvPr id="42031" name="直接连接符 83010"/>
            <p:cNvSpPr/>
            <p:nvPr/>
          </p:nvSpPr>
          <p:spPr>
            <a:xfrm flipV="1">
              <a:off x="6480" y="4170"/>
              <a:ext cx="1620" cy="936"/>
            </a:xfrm>
            <a:prstGeom prst="line">
              <a:avLst/>
            </a:prstGeom>
            <a:ln w="9525" cap="flat" cmpd="sng">
              <a:solidFill>
                <a:srgbClr val="000000"/>
              </a:solidFill>
              <a:prstDash val="solid"/>
              <a:round/>
              <a:headEnd type="none" w="med" len="med"/>
              <a:tailEnd type="triangle" w="med" len="med"/>
            </a:ln>
          </p:spPr>
        </p:sp>
        <p:sp>
          <p:nvSpPr>
            <p:cNvPr id="42032" name="直接连接符 83011"/>
            <p:cNvSpPr/>
            <p:nvPr/>
          </p:nvSpPr>
          <p:spPr>
            <a:xfrm flipH="1">
              <a:off x="5760" y="5106"/>
              <a:ext cx="720" cy="468"/>
            </a:xfrm>
            <a:prstGeom prst="line">
              <a:avLst/>
            </a:prstGeom>
            <a:ln w="9525" cap="flat" cmpd="sng">
              <a:solidFill>
                <a:srgbClr val="0000FF"/>
              </a:solidFill>
              <a:prstDash val="solid"/>
              <a:round/>
              <a:headEnd type="none" w="med" len="med"/>
              <a:tailEnd type="triangle" w="med" len="med"/>
            </a:ln>
          </p:spPr>
        </p:sp>
        <p:sp>
          <p:nvSpPr>
            <p:cNvPr id="42033" name="直接连接符 83012"/>
            <p:cNvSpPr/>
            <p:nvPr/>
          </p:nvSpPr>
          <p:spPr>
            <a:xfrm>
              <a:off x="5040" y="5106"/>
              <a:ext cx="720" cy="469"/>
            </a:xfrm>
            <a:prstGeom prst="line">
              <a:avLst/>
            </a:prstGeom>
            <a:ln w="9525" cap="flat" cmpd="sng">
              <a:solidFill>
                <a:srgbClr val="0000FF"/>
              </a:solidFill>
              <a:prstDash val="solid"/>
              <a:round/>
              <a:headEnd type="none" w="med" len="med"/>
              <a:tailEnd type="triangle" w="med" len="med"/>
            </a:ln>
          </p:spPr>
        </p:sp>
        <p:sp>
          <p:nvSpPr>
            <p:cNvPr id="42034" name="直接连接符 83013"/>
            <p:cNvSpPr/>
            <p:nvPr/>
          </p:nvSpPr>
          <p:spPr>
            <a:xfrm flipH="1" flipV="1">
              <a:off x="5760" y="5574"/>
              <a:ext cx="1" cy="780"/>
            </a:xfrm>
            <a:prstGeom prst="line">
              <a:avLst/>
            </a:prstGeom>
            <a:ln w="9525" cap="flat" cmpd="sng">
              <a:solidFill>
                <a:srgbClr val="0000FF"/>
              </a:solidFill>
              <a:prstDash val="solid"/>
              <a:round/>
              <a:headEnd type="none" w="med" len="med"/>
              <a:tailEnd type="triangle" w="med" len="med"/>
            </a:ln>
          </p:spPr>
        </p:sp>
        <p:sp>
          <p:nvSpPr>
            <p:cNvPr id="42035" name="直接连接符 83014"/>
            <p:cNvSpPr/>
            <p:nvPr/>
          </p:nvSpPr>
          <p:spPr>
            <a:xfrm flipV="1">
              <a:off x="6300" y="3234"/>
              <a:ext cx="1" cy="1248"/>
            </a:xfrm>
            <a:prstGeom prst="line">
              <a:avLst/>
            </a:prstGeom>
            <a:ln w="9525" cap="flat" cmpd="sng">
              <a:solidFill>
                <a:srgbClr val="FF0000"/>
              </a:solidFill>
              <a:prstDash val="solid"/>
              <a:round/>
              <a:headEnd type="none" w="med" len="med"/>
              <a:tailEnd type="triangle" w="med" len="med"/>
            </a:ln>
          </p:spPr>
        </p:sp>
        <p:sp>
          <p:nvSpPr>
            <p:cNvPr id="42036" name="直接连接符 83015"/>
            <p:cNvSpPr/>
            <p:nvPr/>
          </p:nvSpPr>
          <p:spPr>
            <a:xfrm flipH="1">
              <a:off x="5760" y="5262"/>
              <a:ext cx="720" cy="1092"/>
            </a:xfrm>
            <a:prstGeom prst="line">
              <a:avLst/>
            </a:prstGeom>
            <a:ln w="9525" cap="flat" cmpd="sng">
              <a:solidFill>
                <a:srgbClr val="FF0000"/>
              </a:solidFill>
              <a:prstDash val="solid"/>
              <a:round/>
              <a:headEnd type="none" w="med" len="med"/>
              <a:tailEnd type="triangle" w="med" len="med"/>
            </a:ln>
          </p:spPr>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矩形 81921"/>
          <p:cNvSpPr/>
          <p:nvPr/>
        </p:nvSpPr>
        <p:spPr>
          <a:xfrm>
            <a:off x="323850" y="404813"/>
            <a:ext cx="8820150" cy="82232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5-22 </a:t>
            </a:r>
            <a:r>
              <a:rPr lang="zh-CN" altLang="en-US" dirty="0">
                <a:latin typeface="Times New Roman" panose="02020603050405020304" pitchFamily="18" charset="0"/>
                <a:ea typeface="宋体" panose="02010600030101010101" pitchFamily="2" charset="-122"/>
              </a:rPr>
              <a:t>一台</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d11</a:t>
            </a:r>
            <a:r>
              <a:rPr lang="zh-CN" altLang="en-US" dirty="0">
                <a:latin typeface="Times New Roman" panose="02020603050405020304" pitchFamily="18" charset="0"/>
                <a:ea typeface="宋体" panose="02010600030101010101" pitchFamily="2" charset="-122"/>
              </a:rPr>
              <a:t>连接的三相变压器，如果绕组有一相接反了，会出现什么问题？如何防止？</a:t>
            </a:r>
            <a:endParaRPr lang="zh-CN" altLang="en-US" dirty="0">
              <a:latin typeface="Times New Roman" panose="02020603050405020304" pitchFamily="18" charset="0"/>
              <a:ea typeface="宋体" panose="02010600030101010101" pitchFamily="2" charset="-122"/>
            </a:endParaRPr>
          </a:p>
        </p:txBody>
      </p:sp>
      <p:sp>
        <p:nvSpPr>
          <p:cNvPr id="43010" name="矩形 81922"/>
          <p:cNvSpPr/>
          <p:nvPr/>
        </p:nvSpPr>
        <p:spPr>
          <a:xfrm>
            <a:off x="323850" y="1268413"/>
            <a:ext cx="7131050"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:Y,d11</a:t>
            </a:r>
            <a:r>
              <a:rPr lang="zh-CN" altLang="en-US" dirty="0">
                <a:latin typeface="Times New Roman" panose="02020603050405020304" pitchFamily="18" charset="0"/>
                <a:ea typeface="宋体" panose="02010600030101010101" pitchFamily="2" charset="-122"/>
              </a:rPr>
              <a:t>接时</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设副边</a:t>
            </a:r>
            <a:r>
              <a:rPr lang="en-US" altLang="zh-CN" dirty="0">
                <a:latin typeface="Times New Roman" panose="02020603050405020304" pitchFamily="18" charset="0"/>
                <a:ea typeface="宋体" panose="02010600030101010101" pitchFamily="2" charset="-122"/>
              </a:rPr>
              <a:t>W</a:t>
            </a:r>
            <a:r>
              <a:rPr lang="zh-CN" altLang="en-US" dirty="0">
                <a:latin typeface="Times New Roman" panose="02020603050405020304" pitchFamily="18" charset="0"/>
                <a:ea typeface="宋体" panose="02010600030101010101" pitchFamily="2" charset="-122"/>
              </a:rPr>
              <a:t>相反接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其相电势相量图如下</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43011" name="矩形 81930"/>
          <p:cNvSpPr/>
          <p:nvPr/>
        </p:nvSpPr>
        <p:spPr>
          <a:xfrm>
            <a:off x="468313" y="1844675"/>
            <a:ext cx="4681537" cy="1844675"/>
          </a:xfrm>
          <a:prstGeom prst="rect">
            <a:avLst/>
          </a:prstGeom>
          <a:noFill/>
          <a:ln w="9525">
            <a:noFill/>
          </a:ln>
        </p:spPr>
        <p:txBody>
          <a:bodyPr anchor="t" anchorCtr="0">
            <a:spAutoFit/>
          </a:bodyPr>
          <a:p>
            <a:pPr>
              <a:lnSpc>
                <a:spcPct val="120000"/>
              </a:lnSpc>
            </a:pPr>
            <a:r>
              <a:rPr lang="zh-CN" altLang="en-US" dirty="0">
                <a:latin typeface="Times New Roman" panose="02020603050405020304" pitchFamily="18" charset="0"/>
                <a:ea typeface="宋体" panose="02010600030101010101" pitchFamily="2" charset="-122"/>
              </a:rPr>
              <a:t>则测得</a:t>
            </a:r>
            <a:r>
              <a:rPr lang="en-US" altLang="zh-CN">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u2w1</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倍的额定相电压</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a:lnSpc>
                <a:spcPct val="120000"/>
              </a:lnSpc>
            </a:pPr>
            <a:r>
              <a:rPr lang="zh-CN" altLang="en-US" dirty="0">
                <a:latin typeface="Times New Roman" panose="02020603050405020304" pitchFamily="18" charset="0"/>
                <a:ea typeface="宋体" panose="02010600030101010101" pitchFamily="2" charset="-122"/>
              </a:rPr>
              <a:t>副边绕组内会产生很大环流。</a:t>
            </a:r>
            <a:endParaRPr lang="zh-CN" altLang="en-US" dirty="0">
              <a:latin typeface="Times New Roman" panose="02020603050405020304" pitchFamily="18" charset="0"/>
              <a:ea typeface="宋体" panose="02010600030101010101" pitchFamily="2" charset="-122"/>
            </a:endParaRPr>
          </a:p>
          <a:p>
            <a:pPr>
              <a:lnSpc>
                <a:spcPct val="120000"/>
              </a:lnSpc>
            </a:pPr>
            <a:r>
              <a:rPr lang="zh-CN" altLang="en-US" dirty="0">
                <a:latin typeface="Times New Roman" panose="02020603050405020304" pitchFamily="18" charset="0"/>
                <a:ea typeface="宋体" panose="02010600030101010101" pitchFamily="2" charset="-122"/>
              </a:rPr>
              <a:t>用电压表测量副边开口电压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来防止接反。</a:t>
            </a:r>
            <a:endParaRPr lang="zh-CN" altLang="en-US" dirty="0">
              <a:latin typeface="Times New Roman" panose="02020603050405020304" pitchFamily="18" charset="0"/>
              <a:ea typeface="宋体" panose="02010600030101010101" pitchFamily="2" charset="-122"/>
            </a:endParaRPr>
          </a:p>
        </p:txBody>
      </p:sp>
      <p:sp>
        <p:nvSpPr>
          <p:cNvPr id="43012" name="矩形 81931"/>
          <p:cNvSpPr/>
          <p:nvPr/>
        </p:nvSpPr>
        <p:spPr>
          <a:xfrm>
            <a:off x="323850" y="3789363"/>
            <a:ext cx="8497888" cy="968375"/>
          </a:xfrm>
          <a:prstGeom prst="rect">
            <a:avLst/>
          </a:prstGeom>
          <a:noFill/>
          <a:ln w="9525">
            <a:noFill/>
          </a:ln>
        </p:spPr>
        <p:txBody>
          <a:bodyPr anchor="t" anchorCtr="0">
            <a:spAutoFit/>
          </a:bodyPr>
          <a:p>
            <a:pPr>
              <a:lnSpc>
                <a:spcPct val="120000"/>
              </a:lnSpc>
            </a:pPr>
            <a:r>
              <a:rPr lang="en-US" altLang="zh-CN" dirty="0">
                <a:latin typeface="Times New Roman" panose="02020603050405020304" pitchFamily="18" charset="0"/>
                <a:ea typeface="宋体" panose="02010600030101010101" pitchFamily="2" charset="-122"/>
              </a:rPr>
              <a:t>5-23</a:t>
            </a:r>
            <a:r>
              <a:rPr lang="zh-CN" altLang="en-US" dirty="0">
                <a:latin typeface="Times New Roman" panose="02020603050405020304" pitchFamily="18" charset="0"/>
                <a:ea typeface="宋体" panose="02010600030101010101" pitchFamily="2" charset="-122"/>
              </a:rPr>
              <a:t>：三相变压器中什么样的绕组连接方式允许通过三次谐波电流？此时磁通中是否也有三次谐波出现？</a:t>
            </a:r>
            <a:endParaRPr lang="zh-CN" altLang="en-US" dirty="0">
              <a:latin typeface="Times New Roman" panose="02020603050405020304" pitchFamily="18" charset="0"/>
              <a:ea typeface="宋体" panose="02010600030101010101" pitchFamily="2" charset="-122"/>
            </a:endParaRPr>
          </a:p>
        </p:txBody>
      </p:sp>
      <p:sp>
        <p:nvSpPr>
          <p:cNvPr id="43013" name="矩形 81932"/>
          <p:cNvSpPr/>
          <p:nvPr/>
        </p:nvSpPr>
        <p:spPr>
          <a:xfrm>
            <a:off x="323850" y="4868863"/>
            <a:ext cx="8534400" cy="1573212"/>
          </a:xfrm>
          <a:prstGeom prst="rect">
            <a:avLst/>
          </a:prstGeom>
          <a:noFill/>
          <a:ln w="9525">
            <a:noFill/>
          </a:ln>
        </p:spPr>
        <p:txBody>
          <a:bodyPr anchor="t" anchorCtr="0">
            <a:spAutoFit/>
          </a:bodyPr>
          <a:p>
            <a:pPr>
              <a:lnSpc>
                <a:spcPct val="135000"/>
              </a:lnSpc>
            </a:pPr>
            <a:r>
              <a:rPr lang="zh-CN" altLang="en-US" dirty="0">
                <a:latin typeface="Times New Roman" panose="02020603050405020304" pitchFamily="18" charset="0"/>
                <a:ea typeface="宋体" panose="02010600030101010101" pitchFamily="2" charset="-122"/>
              </a:rPr>
              <a:t>解：</a:t>
            </a:r>
            <a:r>
              <a:rPr lang="en-US" altLang="zh-CN" err="1">
                <a:latin typeface="Times New Roman" panose="02020603050405020304" pitchFamily="18" charset="0"/>
                <a:ea typeface="宋体" panose="02010600030101010101" pitchFamily="2" charset="-122"/>
              </a:rPr>
              <a:t>YN,y</a:t>
            </a:r>
            <a:r>
              <a:rPr lang="zh-CN" altLang="en-US" dirty="0">
                <a:latin typeface="Times New Roman" panose="02020603050405020304" pitchFamily="18" charset="0"/>
                <a:ea typeface="宋体" panose="02010600030101010101" pitchFamily="2" charset="-122"/>
              </a:rPr>
              <a:t>连接允许三次谐波电流通过，此时磁通中有三次谐波。</a:t>
            </a:r>
            <a:r>
              <a:rPr lang="en-US" altLang="zh-CN" err="1">
                <a:latin typeface="Times New Roman" panose="02020603050405020304" pitchFamily="18" charset="0"/>
                <a:ea typeface="宋体" panose="02010600030101010101" pitchFamily="2" charset="-122"/>
              </a:rPr>
              <a:t>D,y</a:t>
            </a:r>
            <a:r>
              <a:rPr lang="zh-CN" altLang="en-US" dirty="0">
                <a:latin typeface="Times New Roman" panose="02020603050405020304" pitchFamily="18" charset="0"/>
                <a:ea typeface="宋体" panose="02010600030101010101" pitchFamily="2" charset="-122"/>
              </a:rPr>
              <a:t>连接允许三次谐波电流通过，磁通中三次谐波为零。</a:t>
            </a:r>
            <a:endParaRPr lang="zh-CN" altLang="en-US" dirty="0">
              <a:latin typeface="Times New Roman" panose="02020603050405020304" pitchFamily="18" charset="0"/>
              <a:ea typeface="宋体" panose="02010600030101010101" pitchFamily="2" charset="-122"/>
            </a:endParaRPr>
          </a:p>
          <a:p>
            <a:pPr>
              <a:lnSpc>
                <a:spcPct val="135000"/>
              </a:lnSpc>
            </a:pPr>
            <a:r>
              <a:rPr lang="en-US" altLang="zh-CN" err="1">
                <a:latin typeface="Times New Roman" panose="02020603050405020304" pitchFamily="18" charset="0"/>
                <a:ea typeface="宋体" panose="02010600030101010101" pitchFamily="2" charset="-122"/>
              </a:rPr>
              <a:t>Y,d</a:t>
            </a:r>
            <a:r>
              <a:rPr lang="zh-CN" altLang="en-US" dirty="0">
                <a:latin typeface="Times New Roman" panose="02020603050405020304" pitchFamily="18" charset="0"/>
                <a:ea typeface="宋体" panose="02010600030101010101" pitchFamily="2" charset="-122"/>
              </a:rPr>
              <a:t>允许三次谐波电流通过，磁通中三次谐波近似为零。</a:t>
            </a:r>
            <a:endParaRPr lang="zh-CN" altLang="en-US" dirty="0">
              <a:latin typeface="Times New Roman" panose="02020603050405020304" pitchFamily="18" charset="0"/>
              <a:ea typeface="宋体" panose="02010600030101010101" pitchFamily="2" charset="-122"/>
            </a:endParaRPr>
          </a:p>
        </p:txBody>
      </p:sp>
      <p:grpSp>
        <p:nvGrpSpPr>
          <p:cNvPr id="43014" name="组合 81948"/>
          <p:cNvGrpSpPr>
            <a:grpSpLocks noChangeAspect="1"/>
          </p:cNvGrpSpPr>
          <p:nvPr/>
        </p:nvGrpSpPr>
        <p:grpSpPr>
          <a:xfrm>
            <a:off x="5435600" y="1700213"/>
            <a:ext cx="2665413" cy="2078037"/>
            <a:chOff x="3450" y="4333"/>
            <a:chExt cx="3600" cy="2808"/>
          </a:xfrm>
        </p:grpSpPr>
        <p:sp>
          <p:nvSpPr>
            <p:cNvPr id="43015" name="矩形 81949"/>
            <p:cNvSpPr>
              <a:spLocks noChangeAspect="1"/>
            </p:cNvSpPr>
            <p:nvPr/>
          </p:nvSpPr>
          <p:spPr>
            <a:xfrm>
              <a:off x="3450" y="4333"/>
              <a:ext cx="3600" cy="2808"/>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3016" name="直接连接符 81950"/>
            <p:cNvSpPr/>
            <p:nvPr/>
          </p:nvSpPr>
          <p:spPr>
            <a:xfrm>
              <a:off x="5430" y="4489"/>
              <a:ext cx="1" cy="1404"/>
            </a:xfrm>
            <a:prstGeom prst="line">
              <a:avLst/>
            </a:prstGeom>
            <a:ln w="9525" cap="flat" cmpd="sng">
              <a:solidFill>
                <a:srgbClr val="000000"/>
              </a:solidFill>
              <a:prstDash val="solid"/>
              <a:round/>
              <a:headEnd type="none" w="med" len="med"/>
              <a:tailEnd type="triangle" w="med" len="med"/>
            </a:ln>
          </p:spPr>
        </p:sp>
        <p:sp>
          <p:nvSpPr>
            <p:cNvPr id="43017" name="直接连接符 81951"/>
            <p:cNvSpPr/>
            <p:nvPr/>
          </p:nvSpPr>
          <p:spPr>
            <a:xfrm flipV="1">
              <a:off x="4170" y="5893"/>
              <a:ext cx="1260" cy="624"/>
            </a:xfrm>
            <a:prstGeom prst="line">
              <a:avLst/>
            </a:prstGeom>
            <a:ln w="9525" cap="flat" cmpd="sng">
              <a:solidFill>
                <a:srgbClr val="000000"/>
              </a:solidFill>
              <a:prstDash val="solid"/>
              <a:round/>
              <a:headEnd type="none" w="med" len="med"/>
              <a:tailEnd type="triangle" w="med" len="med"/>
            </a:ln>
          </p:spPr>
        </p:sp>
        <p:sp>
          <p:nvSpPr>
            <p:cNvPr id="43018" name="直接连接符 81952"/>
            <p:cNvSpPr/>
            <p:nvPr/>
          </p:nvSpPr>
          <p:spPr>
            <a:xfrm flipH="1" flipV="1">
              <a:off x="5430" y="5893"/>
              <a:ext cx="1081" cy="624"/>
            </a:xfrm>
            <a:prstGeom prst="line">
              <a:avLst/>
            </a:prstGeom>
            <a:ln w="9525" cap="flat" cmpd="sng">
              <a:solidFill>
                <a:srgbClr val="000000"/>
              </a:solidFill>
              <a:prstDash val="solid"/>
              <a:round/>
              <a:headEnd type="none" w="med" len="med"/>
              <a:tailEnd type="triangle" w="med" len="med"/>
            </a:ln>
          </p:spPr>
        </p:sp>
        <p:sp>
          <p:nvSpPr>
            <p:cNvPr id="43019" name="直接连接符 81953"/>
            <p:cNvSpPr/>
            <p:nvPr/>
          </p:nvSpPr>
          <p:spPr>
            <a:xfrm>
              <a:off x="4170" y="5893"/>
              <a:ext cx="0" cy="624"/>
            </a:xfrm>
            <a:prstGeom prst="line">
              <a:avLst/>
            </a:prstGeom>
            <a:ln w="9525" cap="flat" cmpd="sng">
              <a:solidFill>
                <a:srgbClr val="FF0000"/>
              </a:solidFill>
              <a:prstDash val="solid"/>
              <a:round/>
              <a:headEnd type="none" w="med" len="med"/>
              <a:tailEnd type="triangle" w="med" len="med"/>
            </a:ln>
          </p:spPr>
        </p:sp>
        <p:sp>
          <p:nvSpPr>
            <p:cNvPr id="43020" name="直接连接符 81954"/>
            <p:cNvSpPr/>
            <p:nvPr/>
          </p:nvSpPr>
          <p:spPr>
            <a:xfrm flipV="1">
              <a:off x="4170" y="6219"/>
              <a:ext cx="540" cy="313"/>
            </a:xfrm>
            <a:prstGeom prst="line">
              <a:avLst/>
            </a:prstGeom>
            <a:ln w="9525" cap="flat" cmpd="sng">
              <a:solidFill>
                <a:srgbClr val="FF0000"/>
              </a:solidFill>
              <a:prstDash val="solid"/>
              <a:round/>
              <a:headEnd type="none" w="med" len="med"/>
              <a:tailEnd type="triangle" w="med" len="med"/>
            </a:ln>
          </p:spPr>
        </p:sp>
        <p:sp>
          <p:nvSpPr>
            <p:cNvPr id="43021" name="直接连接符 81955"/>
            <p:cNvSpPr/>
            <p:nvPr/>
          </p:nvSpPr>
          <p:spPr>
            <a:xfrm>
              <a:off x="3630" y="5581"/>
              <a:ext cx="540" cy="312"/>
            </a:xfrm>
            <a:prstGeom prst="line">
              <a:avLst/>
            </a:prstGeom>
            <a:ln w="9525" cap="flat" cmpd="sng">
              <a:solidFill>
                <a:srgbClr val="FF0000"/>
              </a:solidFill>
              <a:prstDash val="solid"/>
              <a:round/>
              <a:headEnd type="none" w="med" len="med"/>
              <a:tailEnd type="triangle" w="med" len="med"/>
            </a:ln>
          </p:spPr>
        </p:sp>
        <p:sp>
          <p:nvSpPr>
            <p:cNvPr id="43022" name="直接连接符 81956"/>
            <p:cNvSpPr/>
            <p:nvPr/>
          </p:nvSpPr>
          <p:spPr>
            <a:xfrm>
              <a:off x="3630" y="5581"/>
              <a:ext cx="1080" cy="624"/>
            </a:xfrm>
            <a:prstGeom prst="line">
              <a:avLst/>
            </a:prstGeom>
            <a:ln w="9525" cap="flat" cmpd="sng">
              <a:solidFill>
                <a:srgbClr val="0000FF"/>
              </a:solidFill>
              <a:prstDash val="lgDash"/>
              <a:round/>
              <a:headEnd type="none" w="med" len="med"/>
              <a:tailEnd type="none" w="med" len="med"/>
            </a:ln>
          </p:spPr>
        </p:sp>
        <p:sp>
          <p:nvSpPr>
            <p:cNvPr id="43023" name="文本框 81957"/>
            <p:cNvSpPr txBox="1"/>
            <p:nvPr/>
          </p:nvSpPr>
          <p:spPr>
            <a:xfrm>
              <a:off x="5430" y="4333"/>
              <a:ext cx="720" cy="780"/>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V1</a:t>
              </a:r>
              <a:endParaRPr lang="en-US" altLang="zh-CN">
                <a:latin typeface="Times New Roman" panose="02020603050405020304" pitchFamily="18" charset="0"/>
                <a:ea typeface="宋体" panose="02010600030101010101" pitchFamily="2" charset="-122"/>
              </a:endParaRPr>
            </a:p>
          </p:txBody>
        </p:sp>
        <p:sp>
          <p:nvSpPr>
            <p:cNvPr id="43024" name="文本框 81958"/>
            <p:cNvSpPr txBox="1"/>
            <p:nvPr/>
          </p:nvSpPr>
          <p:spPr>
            <a:xfrm>
              <a:off x="6330" y="6205"/>
              <a:ext cx="720" cy="624"/>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W1</a:t>
              </a:r>
              <a:endParaRPr lang="en-US" altLang="zh-CN">
                <a:latin typeface="Times New Roman" panose="02020603050405020304" pitchFamily="18" charset="0"/>
                <a:ea typeface="宋体" panose="02010600030101010101" pitchFamily="2" charset="-122"/>
              </a:endParaRPr>
            </a:p>
          </p:txBody>
        </p:sp>
        <p:sp>
          <p:nvSpPr>
            <p:cNvPr id="43025" name="文本框 81959"/>
            <p:cNvSpPr txBox="1"/>
            <p:nvPr/>
          </p:nvSpPr>
          <p:spPr>
            <a:xfrm>
              <a:off x="3810" y="6517"/>
              <a:ext cx="720" cy="624"/>
            </a:xfrm>
            <a:prstGeom prst="rect">
              <a:avLst/>
            </a:prstGeom>
            <a:noFill/>
            <a:ln w="9525">
              <a:noFill/>
            </a:ln>
          </p:spPr>
          <p:txBody>
            <a:bodyPr anchor="t" anchorCtr="0"/>
            <a:p>
              <a:pPr algn="just"/>
              <a:r>
                <a:rPr lang="en-US" altLang="zh-CN" sz="1400" b="0">
                  <a:latin typeface="Times New Roman" panose="02020603050405020304" pitchFamily="18" charset="0"/>
                  <a:ea typeface="宋体" panose="02010600030101010101" pitchFamily="2" charset="-122"/>
                </a:rPr>
                <a:t>U1</a:t>
              </a:r>
              <a:endParaRPr lang="en-US" altLang="zh-CN">
                <a:latin typeface="Times New Roman" panose="02020603050405020304" pitchFamily="18" charset="0"/>
                <a:ea typeface="宋体" panose="02010600030101010101" pitchFamily="2" charset="-122"/>
              </a:endParaRPr>
            </a:p>
          </p:txBody>
        </p:sp>
        <p:sp>
          <p:nvSpPr>
            <p:cNvPr id="43026" name="文本框 81960"/>
            <p:cNvSpPr txBox="1"/>
            <p:nvPr/>
          </p:nvSpPr>
          <p:spPr>
            <a:xfrm>
              <a:off x="3450" y="5113"/>
              <a:ext cx="720" cy="624"/>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w</a:t>
              </a:r>
              <a:r>
                <a:rPr lang="en-US" altLang="zh-CN" sz="1400" b="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3027" name="文本框 81961"/>
            <p:cNvSpPr txBox="1"/>
            <p:nvPr/>
          </p:nvSpPr>
          <p:spPr>
            <a:xfrm>
              <a:off x="3990" y="5425"/>
              <a:ext cx="720" cy="780"/>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v</a:t>
              </a:r>
              <a:r>
                <a:rPr lang="en-US" altLang="zh-CN" sz="1400" b="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3028" name="文本框 81962"/>
            <p:cNvSpPr txBox="1"/>
            <p:nvPr/>
          </p:nvSpPr>
          <p:spPr>
            <a:xfrm>
              <a:off x="3630" y="6205"/>
              <a:ext cx="720" cy="624"/>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u</a:t>
              </a:r>
              <a:r>
                <a:rPr lang="en-US" altLang="zh-CN" sz="1400" b="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43029" name="文本框 81963"/>
            <p:cNvSpPr txBox="1"/>
            <p:nvPr/>
          </p:nvSpPr>
          <p:spPr>
            <a:xfrm>
              <a:off x="4710" y="5893"/>
              <a:ext cx="720" cy="624"/>
            </a:xfrm>
            <a:prstGeom prst="rect">
              <a:avLst/>
            </a:prstGeom>
            <a:noFill/>
            <a:ln w="9525">
              <a:noFill/>
            </a:ln>
          </p:spPr>
          <p:txBody>
            <a:bodyPr anchor="t" anchorCtr="0"/>
            <a:p>
              <a:pPr algn="just"/>
              <a:r>
                <a:rPr lang="en-US" altLang="zh-CN" sz="1400" b="0" i="1">
                  <a:latin typeface="Times New Roman" panose="02020603050405020304" pitchFamily="18" charset="0"/>
                  <a:ea typeface="宋体" panose="02010600030101010101" pitchFamily="2" charset="-122"/>
                </a:rPr>
                <a:t>u</a:t>
              </a:r>
              <a:r>
                <a:rPr lang="en-US" altLang="zh-CN" sz="1400" b="0">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矩形 80897"/>
          <p:cNvSpPr/>
          <p:nvPr/>
        </p:nvSpPr>
        <p:spPr>
          <a:xfrm>
            <a:off x="323850" y="587375"/>
            <a:ext cx="8589963" cy="457200"/>
          </a:xfrm>
          <a:prstGeom prst="rect">
            <a:avLst/>
          </a:prstGeom>
          <a:noFill/>
          <a:ln w="9525">
            <a:noFill/>
          </a:ln>
        </p:spPr>
        <p:txBody>
          <a:bodyPr anchor="ctr" anchorCtr="0">
            <a:spAutoFit/>
          </a:bodyPr>
          <a:p>
            <a:endParaRPr lang="zh-CN" b="0" dirty="0">
              <a:latin typeface="Times New Roman" panose="02020603050405020304" pitchFamily="18" charset="0"/>
              <a:ea typeface="宋体" panose="02010600030101010101" pitchFamily="2" charset="-122"/>
            </a:endParaRPr>
          </a:p>
        </p:txBody>
      </p:sp>
      <p:sp>
        <p:nvSpPr>
          <p:cNvPr id="44034" name="矩形 80898"/>
          <p:cNvSpPr/>
          <p:nvPr/>
        </p:nvSpPr>
        <p:spPr>
          <a:xfrm>
            <a:off x="250825" y="1666875"/>
            <a:ext cx="8709025" cy="457200"/>
          </a:xfrm>
          <a:prstGeom prst="rect">
            <a:avLst/>
          </a:prstGeom>
          <a:noFill/>
          <a:ln w="9525">
            <a:noFill/>
          </a:ln>
        </p:spPr>
        <p:txBody>
          <a:bodyPr anchor="ctr" anchorCtr="0">
            <a:spAutoFit/>
          </a:bodyPr>
          <a:p>
            <a:r>
              <a:rPr lang="en-US" altLang="zh-CN" b="0" dirty="0">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p:txBody>
      </p:sp>
      <p:sp>
        <p:nvSpPr>
          <p:cNvPr id="44035" name="矩形 80899"/>
          <p:cNvSpPr/>
          <p:nvPr/>
        </p:nvSpPr>
        <p:spPr>
          <a:xfrm>
            <a:off x="250825" y="404813"/>
            <a:ext cx="8569325" cy="155257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5-24</a:t>
            </a:r>
            <a:r>
              <a:rPr lang="zh-CN" altLang="en-US" dirty="0">
                <a:latin typeface="Times New Roman" panose="02020603050405020304" pitchFamily="18" charset="0"/>
                <a:ea typeface="宋体" panose="02010600030101010101" pitchFamily="2" charset="-122"/>
              </a:rPr>
              <a:t>：一台</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接法的三相变压器，原边额定电压，测副边三角形开口处的电压，问在三相心柱式变压器与三相变压器组两种情况下测得电压有何不同？如将三角形闭口，再测其闭合回路中的电流，在两种情况下测得的数值是否相同？为什么？</a:t>
            </a:r>
            <a:endParaRPr lang="zh-CN" altLang="en-US" dirty="0">
              <a:latin typeface="Times New Roman" panose="02020603050405020304" pitchFamily="18" charset="0"/>
              <a:ea typeface="宋体" panose="02010600030101010101" pitchFamily="2" charset="-122"/>
            </a:endParaRPr>
          </a:p>
        </p:txBody>
      </p:sp>
      <p:sp>
        <p:nvSpPr>
          <p:cNvPr id="44036" name="矩形 80900"/>
          <p:cNvSpPr/>
          <p:nvPr/>
        </p:nvSpPr>
        <p:spPr>
          <a:xfrm>
            <a:off x="250825" y="1951038"/>
            <a:ext cx="8262938" cy="1041400"/>
          </a:xfrm>
          <a:prstGeom prst="rect">
            <a:avLst/>
          </a:prstGeom>
          <a:noFill/>
          <a:ln w="9525">
            <a:noFill/>
          </a:ln>
        </p:spPr>
        <p:txBody>
          <a:bodyPr anchor="ctr" anchorCtr="0">
            <a:spAutoFit/>
          </a:bodyPr>
          <a:p>
            <a:pPr>
              <a:lnSpc>
                <a:spcPct val="130000"/>
              </a:lnSpc>
            </a:pPr>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Y,d</a:t>
            </a:r>
            <a:r>
              <a:rPr lang="zh-CN" altLang="en-US" dirty="0">
                <a:latin typeface="Times New Roman" panose="02020603050405020304" pitchFamily="18" charset="0"/>
                <a:ea typeface="宋体" panose="02010600030101010101" pitchFamily="2" charset="-122"/>
              </a:rPr>
              <a:t>接法中</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心式变压器付边三角形开口电压比组式小。副边三角形闭合的环流基本相同。 </a:t>
            </a:r>
            <a:endParaRPr lang="zh-CN" altLang="en-US" dirty="0">
              <a:latin typeface="Times New Roman" panose="02020603050405020304" pitchFamily="18" charset="0"/>
              <a:ea typeface="宋体" panose="02010600030101010101" pitchFamily="2" charset="-122"/>
            </a:endParaRPr>
          </a:p>
        </p:txBody>
      </p:sp>
      <p:sp>
        <p:nvSpPr>
          <p:cNvPr id="44037" name="矩形 80901"/>
          <p:cNvSpPr/>
          <p:nvPr/>
        </p:nvSpPr>
        <p:spPr>
          <a:xfrm>
            <a:off x="250825" y="3213100"/>
            <a:ext cx="8642350" cy="118745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5-25</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两种连接组别的三相心式变压器中，它们的相电势波形中有无三次谐波？若在三相变压器组下情况又如何？</a:t>
            </a:r>
            <a:endParaRPr lang="zh-CN" altLang="en-US" dirty="0">
              <a:latin typeface="Times New Roman" panose="02020603050405020304" pitchFamily="18" charset="0"/>
              <a:ea typeface="宋体" panose="02010600030101010101" pitchFamily="2" charset="-122"/>
            </a:endParaRPr>
          </a:p>
        </p:txBody>
      </p:sp>
      <p:sp>
        <p:nvSpPr>
          <p:cNvPr id="44038" name="矩形 80902"/>
          <p:cNvSpPr/>
          <p:nvPr/>
        </p:nvSpPr>
        <p:spPr>
          <a:xfrm>
            <a:off x="468313" y="4437063"/>
            <a:ext cx="8316912" cy="118745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答：在</a:t>
            </a:r>
            <a:r>
              <a:rPr lang="en-US" altLang="zh-CN" err="1">
                <a:latin typeface="Times New Roman" panose="02020603050405020304" pitchFamily="18" charset="0"/>
                <a:ea typeface="宋体" panose="02010600030101010101" pitchFamily="2" charset="-122"/>
              </a:rPr>
              <a:t>Y,d</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和</a:t>
            </a:r>
            <a:r>
              <a:rPr lang="en-US" altLang="zh-CN" err="1">
                <a:latin typeface="Times New Roman" panose="02020603050405020304" pitchFamily="18" charset="0"/>
                <a:ea typeface="宋体" panose="02010600030101010101" pitchFamily="2" charset="-122"/>
              </a:rPr>
              <a:t>D,y</a:t>
            </a:r>
            <a:r>
              <a:rPr lang="zh-CN" altLang="en-US" dirty="0">
                <a:latin typeface="Times New Roman" panose="02020603050405020304" pitchFamily="18" charset="0"/>
                <a:ea typeface="宋体" panose="02010600030101010101" pitchFamily="2" charset="-122"/>
              </a:rPr>
              <a:t>两种接线方式下的三相心式变压器中，</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或</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闭合情况下，相电势波形近似正弦，三次谐波分量近似为零，三相变压器组情况同上。</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矩形 87043"/>
          <p:cNvSpPr/>
          <p:nvPr/>
        </p:nvSpPr>
        <p:spPr>
          <a:xfrm>
            <a:off x="271463" y="404813"/>
            <a:ext cx="8872537" cy="19177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5-27 </a:t>
            </a:r>
            <a:r>
              <a:rPr lang="zh-CN" altLang="en-US" dirty="0">
                <a:latin typeface="Times New Roman" panose="02020603050405020304" pitchFamily="18" charset="0"/>
                <a:ea typeface="宋体" panose="02010600030101010101" pitchFamily="2" charset="-122"/>
              </a:rPr>
              <a:t>变压器均</a:t>
            </a:r>
            <a:r>
              <a:rPr lang="en-US" altLang="zh-CN" dirty="0">
                <a:latin typeface="Times New Roman" panose="02020603050405020304" pitchFamily="18" charset="0"/>
                <a:ea typeface="宋体" panose="02010600030101010101" pitchFamily="2" charset="-122"/>
              </a:rPr>
              <a:t>Yy12</a:t>
            </a:r>
            <a:r>
              <a:rPr lang="zh-CN" altLang="en-US" dirty="0">
                <a:latin typeface="Times New Roman" panose="02020603050405020304" pitchFamily="18" charset="0"/>
                <a:ea typeface="宋体" panose="02010600030101010101" pitchFamily="2" charset="-122"/>
              </a:rPr>
              <a:t>连接，</a:t>
            </a:r>
            <a:r>
              <a:rPr lang="en-US" altLang="zh-CN" i="1">
                <a:latin typeface="Times New Roman" panose="02020603050405020304" pitchFamily="18" charset="0"/>
                <a:ea typeface="宋体" panose="02010600030101010101" pitchFamily="2" charset="-122"/>
              </a:rPr>
              <a:t>B</a:t>
            </a:r>
            <a:r>
              <a:rPr lang="en-US" altLang="zh-CN" baseline="-25000">
                <a:latin typeface="Times New Roman" panose="02020603050405020304" pitchFamily="18" charset="0"/>
                <a:ea typeface="宋体" panose="02010600030101010101" pitchFamily="2" charset="-122"/>
              </a:rPr>
              <a:t>α</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3200kVA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35/6.3kV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%=6.9%.</a:t>
            </a:r>
            <a:endParaRPr lang="en-US" altLang="zh-CN">
              <a:latin typeface="Times New Roman" panose="02020603050405020304" pitchFamily="18" charset="0"/>
              <a:ea typeface="宋体" panose="02010600030101010101" pitchFamily="2" charset="-122"/>
            </a:endParaRPr>
          </a:p>
          <a:p>
            <a:r>
              <a:rPr lang="en-US" altLang="zh-CN" i="1">
                <a:latin typeface="Times New Roman" panose="02020603050405020304" pitchFamily="18" charset="0"/>
                <a:ea typeface="宋体" panose="02010600030101010101" pitchFamily="2" charset="-122"/>
              </a:rPr>
              <a:t>B</a:t>
            </a:r>
            <a:r>
              <a:rPr lang="en-US" altLang="zh-CN" baseline="-25000">
                <a:latin typeface="Times New Roman" panose="02020603050405020304" pitchFamily="18" charset="0"/>
                <a:ea typeface="宋体" panose="02010600030101010101" pitchFamily="2" charset="-122"/>
              </a:rPr>
              <a:t>β</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5600kVA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35/6.3kV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%=7.5%.</a:t>
            </a:r>
            <a:endParaRPr lang="en-US" altLang="zh-CN">
              <a:latin typeface="Times New Roman" panose="02020603050405020304" pitchFamily="18" charset="0"/>
              <a:ea typeface="宋体" panose="02010600030101010101" pitchFamily="2" charset="-122"/>
            </a:endParaRPr>
          </a:p>
          <a:p>
            <a:r>
              <a:rPr lang="en-US" altLang="zh-CN" i="1">
                <a:latin typeface="Times New Roman" panose="02020603050405020304" pitchFamily="18" charset="0"/>
                <a:ea typeface="宋体" panose="02010600030101010101" pitchFamily="2" charset="-122"/>
              </a:rPr>
              <a:t>B</a:t>
            </a:r>
            <a:r>
              <a:rPr lang="zh-CN" altLang="zh-CN" baseline="-25000" dirty="0">
                <a:latin typeface="Times New Roman" panose="02020603050405020304" pitchFamily="18" charset="0"/>
                <a:ea typeface="宋体" panose="02010600030101010101" pitchFamily="2" charset="-122"/>
              </a:rPr>
              <a:t>γ</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3200kVA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35/6.3kV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%=7.5%.</a:t>
            </a:r>
            <a:endParaRPr lang="en-US" altLang="zh-CN">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当负载</a:t>
            </a:r>
            <a:r>
              <a:rPr lang="en-US" altLang="zh-CN" dirty="0">
                <a:latin typeface="Times New Roman" panose="02020603050405020304" pitchFamily="18" charset="0"/>
                <a:ea typeface="宋体" panose="02010600030101010101" pitchFamily="2" charset="-122"/>
              </a:rPr>
              <a:t>8500kVA</a:t>
            </a:r>
            <a:r>
              <a:rPr lang="zh-CN" altLang="en-US" dirty="0">
                <a:latin typeface="Times New Roman" panose="02020603050405020304" pitchFamily="18" charset="0"/>
                <a:ea typeface="宋体" panose="02010600030101010101" pitchFamily="2" charset="-122"/>
              </a:rPr>
              <a:t>时，应选择哪两台并联？各分担多少？</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三变压器并联，可能供给的最大负载为？各分担多少？</a:t>
            </a:r>
            <a:endParaRPr lang="zh-CN" altLang="en-US" dirty="0">
              <a:latin typeface="Times New Roman" panose="02020603050405020304" pitchFamily="18" charset="0"/>
              <a:ea typeface="宋体" panose="02010600030101010101" pitchFamily="2" charset="-122"/>
            </a:endParaRPr>
          </a:p>
        </p:txBody>
      </p:sp>
      <p:graphicFrame>
        <p:nvGraphicFramePr>
          <p:cNvPr id="45058" name="对象 87045"/>
          <p:cNvGraphicFramePr/>
          <p:nvPr/>
        </p:nvGraphicFramePr>
        <p:xfrm>
          <a:off x="2916238" y="2420938"/>
          <a:ext cx="6011862" cy="749300"/>
        </p:xfrm>
        <a:graphic>
          <a:graphicData uri="http://schemas.openxmlformats.org/presentationml/2006/ole">
            <mc:AlternateContent xmlns:mc="http://schemas.openxmlformats.org/markup-compatibility/2006">
              <mc:Choice xmlns:v="urn:schemas-microsoft-com:vml" Requires="v">
                <p:oleObj spid="_x0000_s3151" name="" r:id="rId1" imgW="3340100" imgH="419100" progId="Equation.DSMT4">
                  <p:embed/>
                </p:oleObj>
              </mc:Choice>
              <mc:Fallback>
                <p:oleObj name="" r:id="rId1" imgW="3340100" imgH="419100" progId="Equation.DSMT4">
                  <p:embed/>
                  <p:pic>
                    <p:nvPicPr>
                      <p:cNvPr id="0" name="图片 3150"/>
                      <p:cNvPicPr/>
                      <p:nvPr/>
                    </p:nvPicPr>
                    <p:blipFill>
                      <a:blip r:embed="rId2"/>
                      <a:stretch>
                        <a:fillRect/>
                      </a:stretch>
                    </p:blipFill>
                    <p:spPr>
                      <a:xfrm>
                        <a:off x="2916238" y="2420938"/>
                        <a:ext cx="6011862" cy="749300"/>
                      </a:xfrm>
                      <a:prstGeom prst="rect">
                        <a:avLst/>
                      </a:prstGeom>
                      <a:noFill/>
                      <a:ln w="38100">
                        <a:noFill/>
                        <a:miter/>
                      </a:ln>
                    </p:spPr>
                  </p:pic>
                </p:oleObj>
              </mc:Fallback>
            </mc:AlternateContent>
          </a:graphicData>
        </a:graphic>
      </p:graphicFrame>
      <p:graphicFrame>
        <p:nvGraphicFramePr>
          <p:cNvPr id="45059" name="对象 87044"/>
          <p:cNvGraphicFramePr/>
          <p:nvPr/>
        </p:nvGraphicFramePr>
        <p:xfrm>
          <a:off x="755650" y="4365625"/>
          <a:ext cx="4895850" cy="887413"/>
        </p:xfrm>
        <a:graphic>
          <a:graphicData uri="http://schemas.openxmlformats.org/presentationml/2006/ole">
            <mc:AlternateContent xmlns:mc="http://schemas.openxmlformats.org/markup-compatibility/2006">
              <mc:Choice xmlns:v="urn:schemas-microsoft-com:vml" Requires="v">
                <p:oleObj spid="_x0000_s3152" name="" r:id="rId3" imgW="2578100" imgH="469900" progId="Equation.DSMT4">
                  <p:embed/>
                </p:oleObj>
              </mc:Choice>
              <mc:Fallback>
                <p:oleObj name="" r:id="rId3" imgW="2578100" imgH="469900" progId="Equation.DSMT4">
                  <p:embed/>
                  <p:pic>
                    <p:nvPicPr>
                      <p:cNvPr id="0" name="图片 3151"/>
                      <p:cNvPicPr/>
                      <p:nvPr/>
                    </p:nvPicPr>
                    <p:blipFill>
                      <a:blip r:embed="rId4"/>
                      <a:stretch>
                        <a:fillRect/>
                      </a:stretch>
                    </p:blipFill>
                    <p:spPr>
                      <a:xfrm>
                        <a:off x="755650" y="4365625"/>
                        <a:ext cx="4895850" cy="887413"/>
                      </a:xfrm>
                      <a:prstGeom prst="rect">
                        <a:avLst/>
                      </a:prstGeom>
                      <a:noFill/>
                      <a:ln w="38100">
                        <a:noFill/>
                        <a:miter/>
                      </a:ln>
                    </p:spPr>
                  </p:pic>
                </p:oleObj>
              </mc:Fallback>
            </mc:AlternateContent>
          </a:graphicData>
        </a:graphic>
      </p:graphicFrame>
      <p:sp>
        <p:nvSpPr>
          <p:cNvPr id="45060" name="矩形 87046"/>
          <p:cNvSpPr/>
          <p:nvPr/>
        </p:nvSpPr>
        <p:spPr>
          <a:xfrm>
            <a:off x="250825" y="2492375"/>
            <a:ext cx="2673350"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应选</a:t>
            </a:r>
            <a:r>
              <a:rPr lang="en-US" altLang="zh-CN">
                <a:latin typeface="Times New Roman" panose="02020603050405020304" pitchFamily="18" charset="0"/>
                <a:ea typeface="宋体" panose="02010600030101010101" pitchFamily="2" charset="-122"/>
              </a:rPr>
              <a:t>B</a:t>
            </a:r>
            <a:r>
              <a:rPr lang="en-US" altLang="zh-CN" baseline="-30000">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B</a:t>
            </a:r>
            <a:r>
              <a:rPr lang="en-US" altLang="zh-CN" baseline="-30000">
                <a:latin typeface="Times New Roman" panose="02020603050405020304" pitchFamily="18" charset="0"/>
                <a:ea typeface="宋体" panose="02010600030101010101" pitchFamily="2" charset="-122"/>
                <a:sym typeface="Symbol" panose="05050102010706020507" pitchFamily="18" charset="2"/>
              </a:rPr>
              <a:t></a:t>
            </a:r>
            <a:r>
              <a:rPr lang="zh-CN" altLang="en-US" dirty="0">
                <a:latin typeface="Times New Roman" panose="02020603050405020304" pitchFamily="18" charset="0"/>
                <a:ea typeface="宋体" panose="02010600030101010101" pitchFamily="2" charset="-122"/>
              </a:rPr>
              <a:t>并联</a:t>
            </a:r>
            <a:endParaRPr lang="zh-CN" altLang="en-US" sz="1500" b="0" baseline="-30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45061" name="矩形 87047"/>
          <p:cNvSpPr/>
          <p:nvPr/>
        </p:nvSpPr>
        <p:spPr>
          <a:xfrm>
            <a:off x="2268538" y="3213100"/>
            <a:ext cx="5113337" cy="457200"/>
          </a:xfrm>
          <a:prstGeom prst="rect">
            <a:avLst/>
          </a:prstGeom>
          <a:noFill/>
          <a:ln w="9525">
            <a:noFill/>
          </a:ln>
        </p:spPr>
        <p:txBody>
          <a:bodyPr anchor="ctr" anchorCtr="0">
            <a:spAutoFit/>
          </a:bodyPr>
          <a:p>
            <a:r>
              <a:rPr lang="en-US" altLang="zh-CN" i="1">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=8500-5409=3091</a:t>
            </a:r>
            <a:r>
              <a:rPr lang="en-US" altLang="zh-CN" i="1">
                <a:latin typeface="Times New Roman" panose="02020603050405020304" pitchFamily="18" charset="0"/>
                <a:ea typeface="宋体" panose="02010600030101010101" pitchFamily="2" charset="-122"/>
              </a:rPr>
              <a:t>KVA</a:t>
            </a:r>
            <a:r>
              <a:rPr lang="en-US" altLang="zh-CN">
                <a:latin typeface="Times New Roman" panose="02020603050405020304" pitchFamily="18" charset="0"/>
                <a:ea typeface="宋体" panose="02010600030101010101" pitchFamily="2" charset="-122"/>
              </a:rPr>
              <a:t>;</a:t>
            </a:r>
            <a:endParaRPr lang="en-US" altLang="zh-CN" baseline="-30000">
              <a:latin typeface="Times New Roman" panose="02020603050405020304" pitchFamily="18" charset="0"/>
              <a:ea typeface="宋体" panose="02010600030101010101" pitchFamily="2" charset="-122"/>
              <a:sym typeface="Symbol" panose="05050102010706020507" pitchFamily="18" charset="2"/>
            </a:endParaRPr>
          </a:p>
        </p:txBody>
      </p:sp>
      <p:sp>
        <p:nvSpPr>
          <p:cNvPr id="45062" name="矩形 87048"/>
          <p:cNvSpPr/>
          <p:nvPr/>
        </p:nvSpPr>
        <p:spPr>
          <a:xfrm>
            <a:off x="5580063" y="6092825"/>
            <a:ext cx="1874837" cy="457200"/>
          </a:xfrm>
          <a:prstGeom prst="rect">
            <a:avLst/>
          </a:prstGeom>
          <a:noFill/>
          <a:ln w="9525">
            <a:noFill/>
          </a:ln>
        </p:spPr>
        <p:txBody>
          <a:bodyPr wrap="none" anchor="ctr" anchorCtr="0">
            <a:spAutoFit/>
          </a:bodyPr>
          <a:p>
            <a:r>
              <a:rPr lang="en-US" altLang="zh-CN" i="1">
                <a:latin typeface="Times New Roman" panose="02020603050405020304" pitchFamily="18" charset="0"/>
                <a:ea typeface="宋体" panose="02010600030101010101" pitchFamily="2" charset="-122"/>
                <a:sym typeface="Symbol" panose="05050102010706020507" pitchFamily="18" charset="2"/>
              </a:rPr>
              <a:t>S</a:t>
            </a:r>
            <a:r>
              <a:rPr lang="en-US" altLang="zh-CN" baseline="-25000">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=3200</a:t>
            </a:r>
            <a:r>
              <a:rPr lang="en-US" altLang="zh-CN" i="1">
                <a:latin typeface="Times New Roman" panose="02020603050405020304" pitchFamily="18" charset="0"/>
                <a:ea typeface="宋体" panose="02010600030101010101" pitchFamily="2" charset="-122"/>
              </a:rPr>
              <a:t>KVA</a:t>
            </a:r>
            <a:endParaRPr lang="en-US" altLang="zh-CN" i="1" baseline="-30000">
              <a:latin typeface="Times New Roman" panose="02020603050405020304" pitchFamily="18" charset="0"/>
              <a:ea typeface="宋体" panose="02010600030101010101" pitchFamily="2" charset="-122"/>
              <a:sym typeface="Symbol" panose="05050102010706020507" pitchFamily="18" charset="2"/>
            </a:endParaRPr>
          </a:p>
        </p:txBody>
      </p:sp>
      <p:sp>
        <p:nvSpPr>
          <p:cNvPr id="45063" name="矩形 87049"/>
          <p:cNvSpPr/>
          <p:nvPr/>
        </p:nvSpPr>
        <p:spPr>
          <a:xfrm>
            <a:off x="539750" y="3789363"/>
            <a:ext cx="5273675"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三台并联</a:t>
            </a:r>
            <a:r>
              <a:rPr lang="en-US" altLang="zh-CN">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zh-CN" altLang="en-US" dirty="0">
                <a:latin typeface="Times New Roman" panose="02020603050405020304" pitchFamily="18" charset="0"/>
                <a:ea typeface="宋体" panose="02010600030101010101" pitchFamily="2" charset="-122"/>
              </a:rPr>
              <a:t>先满载</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zh-CN" altLang="en-US" dirty="0">
                <a:latin typeface="Times New Roman" panose="02020603050405020304" pitchFamily="18" charset="0"/>
                <a:ea typeface="宋体" panose="02010600030101010101" pitchFamily="2" charset="-122"/>
                <a:sym typeface="Symbol" panose="05050102010706020507" pitchFamily="18" charset="2"/>
              </a:rPr>
              <a:t>设此时负载为</a:t>
            </a:r>
            <a:r>
              <a:rPr lang="en-US" altLang="zh-CN">
                <a:latin typeface="Times New Roman" panose="02020603050405020304" pitchFamily="18" charset="0"/>
                <a:ea typeface="宋体" panose="02010600030101010101" pitchFamily="2" charset="-122"/>
                <a:sym typeface="Symbol" panose="05050102010706020507" pitchFamily="18" charset="2"/>
              </a:rPr>
              <a:t>S</a:t>
            </a:r>
            <a:r>
              <a:rPr lang="en-US" altLang="zh-CN" baseline="-25000">
                <a:latin typeface="Times New Roman" panose="02020603050405020304" pitchFamily="18" charset="0"/>
                <a:ea typeface="宋体" panose="02010600030101010101" pitchFamily="2" charset="-122"/>
                <a:sym typeface="Symbol" panose="05050102010706020507" pitchFamily="18" charset="2"/>
              </a:rPr>
              <a:t>L</a:t>
            </a:r>
            <a:r>
              <a:rPr lang="en-US" altLang="zh-CN">
                <a:latin typeface="Times New Roman" panose="02020603050405020304" pitchFamily="18" charset="0"/>
                <a:ea typeface="宋体" panose="02010600030101010101" pitchFamily="2" charset="-122"/>
                <a:sym typeface="Symbol" panose="05050102010706020507" pitchFamily="18" charset="2"/>
              </a:rPr>
              <a:t>:</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sp>
        <p:nvSpPr>
          <p:cNvPr id="45064" name="矩形 87050"/>
          <p:cNvSpPr/>
          <p:nvPr/>
        </p:nvSpPr>
        <p:spPr>
          <a:xfrm>
            <a:off x="717550" y="5373688"/>
            <a:ext cx="2868613" cy="457200"/>
          </a:xfrm>
          <a:prstGeom prst="rect">
            <a:avLst/>
          </a:prstGeom>
          <a:noFill/>
          <a:ln w="9525">
            <a:noFill/>
          </a:ln>
        </p:spPr>
        <p:txBody>
          <a:bodyPr wrap="none" anchor="t" anchorCtr="0">
            <a:spAutoFit/>
          </a:bodyPr>
          <a:p>
            <a:pPr algn="ctr"/>
            <a:r>
              <a:rPr lang="en-US" altLang="zh-CN">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/(0.069</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163710)</a:t>
            </a:r>
            <a:endParaRPr lang="en-US" altLang="zh-CN">
              <a:latin typeface="Times New Roman" panose="02020603050405020304" pitchFamily="18" charset="0"/>
              <a:ea typeface="宋体" panose="02010600030101010101" pitchFamily="2" charset="-122"/>
            </a:endParaRPr>
          </a:p>
        </p:txBody>
      </p:sp>
      <p:sp>
        <p:nvSpPr>
          <p:cNvPr id="45065" name="矩形 87051"/>
          <p:cNvSpPr/>
          <p:nvPr/>
        </p:nvSpPr>
        <p:spPr>
          <a:xfrm>
            <a:off x="3884613" y="5373688"/>
            <a:ext cx="2033587" cy="457200"/>
          </a:xfrm>
          <a:prstGeom prst="rect">
            <a:avLst/>
          </a:prstGeom>
          <a:noFill/>
          <a:ln w="9525">
            <a:noFill/>
          </a:ln>
        </p:spPr>
        <p:txBody>
          <a:bodyPr wrap="none" anchor="t" anchorCtr="0">
            <a:spAutoFit/>
          </a:bodyPr>
          <a:p>
            <a:pPr algn="ctr"/>
            <a:r>
              <a:rPr lang="en-US" altLang="zh-CN" i="1">
                <a:latin typeface="Times New Roman" panose="02020603050405020304" pitchFamily="18" charset="0"/>
                <a:ea typeface="宋体" panose="02010600030101010101" pitchFamily="2" charset="-122"/>
                <a:sym typeface="Symbol" panose="05050102010706020507" pitchFamily="18" charset="2"/>
              </a:rPr>
              <a:t>S</a:t>
            </a:r>
            <a:r>
              <a:rPr lang="en-US" altLang="zh-CN" baseline="-25000">
                <a:latin typeface="Times New Roman" panose="02020603050405020304" pitchFamily="18" charset="0"/>
                <a:ea typeface="宋体" panose="02010600030101010101" pitchFamily="2" charset="-122"/>
                <a:sym typeface="Symbol" panose="05050102010706020507" pitchFamily="18" charset="2"/>
              </a:rPr>
              <a:t>L</a:t>
            </a:r>
            <a:r>
              <a:rPr lang="en-US" altLang="zh-CN">
                <a:latin typeface="Times New Roman" panose="02020603050405020304" pitchFamily="18" charset="0"/>
                <a:ea typeface="宋体" panose="02010600030101010101" pitchFamily="2" charset="-122"/>
                <a:sym typeface="Symbol" panose="05050102010706020507" pitchFamily="18" charset="2"/>
              </a:rPr>
              <a:t>=11296</a:t>
            </a:r>
            <a:r>
              <a:rPr lang="en-US" altLang="zh-CN" i="1">
                <a:latin typeface="Times New Roman" panose="02020603050405020304" pitchFamily="18" charset="0"/>
                <a:ea typeface="宋体" panose="02010600030101010101" pitchFamily="2" charset="-122"/>
                <a:sym typeface="Symbol" panose="05050102010706020507" pitchFamily="18" charset="2"/>
              </a:rPr>
              <a:t>KVA</a:t>
            </a:r>
            <a:endParaRPr lang="en-US" altLang="zh-CN" i="1">
              <a:latin typeface="Times New Roman" panose="02020603050405020304" pitchFamily="18" charset="0"/>
              <a:ea typeface="宋体" panose="02010600030101010101" pitchFamily="2" charset="-122"/>
              <a:sym typeface="Symbol" panose="05050102010706020507" pitchFamily="18" charset="2"/>
            </a:endParaRPr>
          </a:p>
        </p:txBody>
      </p:sp>
      <p:sp>
        <p:nvSpPr>
          <p:cNvPr id="45066" name="矩形 87052"/>
          <p:cNvSpPr/>
          <p:nvPr/>
        </p:nvSpPr>
        <p:spPr>
          <a:xfrm>
            <a:off x="809625" y="6099175"/>
            <a:ext cx="1830388" cy="457200"/>
          </a:xfrm>
          <a:prstGeom prst="rect">
            <a:avLst/>
          </a:prstGeom>
          <a:noFill/>
          <a:ln w="9525">
            <a:noFill/>
          </a:ln>
        </p:spPr>
        <p:txBody>
          <a:bodyPr wrap="none" anchor="t" anchorCtr="0">
            <a:spAutoFit/>
          </a:bodyPr>
          <a:p>
            <a:pPr algn="ctr"/>
            <a:r>
              <a:rPr lang="en-US" altLang="zh-CN" i="1">
                <a:latin typeface="Times New Roman" panose="02020603050405020304" pitchFamily="18" charset="0"/>
                <a:ea typeface="宋体" panose="02010600030101010101" pitchFamily="2" charset="-122"/>
                <a:sym typeface="Symbol" panose="05050102010706020507" pitchFamily="18" charset="2"/>
              </a:rPr>
              <a:t>S</a:t>
            </a:r>
            <a:r>
              <a:rPr lang="en-US" altLang="zh-CN" baseline="-25000">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=2944</a:t>
            </a:r>
            <a:r>
              <a:rPr lang="en-US" altLang="zh-CN" i="1">
                <a:latin typeface="Times New Roman" panose="02020603050405020304" pitchFamily="18" charset="0"/>
                <a:ea typeface="宋体" panose="02010600030101010101" pitchFamily="2" charset="-122"/>
              </a:rPr>
              <a:t>KVA</a:t>
            </a:r>
            <a:endParaRPr lang="en-US" altLang="zh-CN" i="1">
              <a:latin typeface="Times New Roman" panose="02020603050405020304" pitchFamily="18" charset="0"/>
              <a:ea typeface="宋体" panose="02010600030101010101" pitchFamily="2" charset="-122"/>
            </a:endParaRPr>
          </a:p>
        </p:txBody>
      </p:sp>
      <p:sp>
        <p:nvSpPr>
          <p:cNvPr id="45067" name="矩形 87053"/>
          <p:cNvSpPr/>
          <p:nvPr/>
        </p:nvSpPr>
        <p:spPr>
          <a:xfrm>
            <a:off x="3119438" y="6099175"/>
            <a:ext cx="1857375" cy="457200"/>
          </a:xfrm>
          <a:prstGeom prst="rect">
            <a:avLst/>
          </a:prstGeom>
          <a:noFill/>
          <a:ln w="9525">
            <a:noFill/>
          </a:ln>
        </p:spPr>
        <p:txBody>
          <a:bodyPr wrap="none" anchor="t" anchorCtr="0">
            <a:spAutoFit/>
          </a:bodyPr>
          <a:p>
            <a:pPr algn="ctr"/>
            <a:r>
              <a:rPr lang="en-US" altLang="zh-CN" i="1">
                <a:latin typeface="Times New Roman" panose="02020603050405020304" pitchFamily="18" charset="0"/>
                <a:ea typeface="宋体" panose="02010600030101010101" pitchFamily="2" charset="-122"/>
                <a:sym typeface="Symbol" panose="05050102010706020507" pitchFamily="18" charset="2"/>
              </a:rPr>
              <a:t>S</a:t>
            </a:r>
            <a:r>
              <a:rPr lang="en-US" altLang="zh-CN" baseline="-25000">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=5152</a:t>
            </a:r>
            <a:r>
              <a:rPr lang="en-US" altLang="zh-CN" i="1">
                <a:latin typeface="Times New Roman" panose="02020603050405020304" pitchFamily="18" charset="0"/>
                <a:ea typeface="宋体" panose="02010600030101010101" pitchFamily="2" charset="-122"/>
              </a:rPr>
              <a:t>KVA</a:t>
            </a:r>
            <a:endParaRPr lang="en-US" altLang="zh-CN" i="1">
              <a:latin typeface="Times New Roman" panose="02020603050405020304" pitchFamily="18" charset="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矩形 79873"/>
          <p:cNvSpPr/>
          <p:nvPr/>
        </p:nvSpPr>
        <p:spPr>
          <a:xfrm>
            <a:off x="250825" y="836613"/>
            <a:ext cx="8208963" cy="118745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6-5 </a:t>
            </a:r>
            <a:r>
              <a:rPr lang="zh-CN" altLang="en-US" dirty="0">
                <a:latin typeface="Times New Roman" panose="02020603050405020304" pitchFamily="18" charset="0"/>
                <a:ea typeface="宋体" panose="02010600030101010101" pitchFamily="2" charset="-122"/>
              </a:rPr>
              <a:t>如图</a:t>
            </a:r>
            <a:r>
              <a:rPr lang="en-US" altLang="zh-CN" dirty="0">
                <a:latin typeface="Times New Roman" panose="02020603050405020304" pitchFamily="18" charset="0"/>
                <a:ea typeface="宋体" panose="02010600030101010101" pitchFamily="2" charset="-122"/>
              </a:rPr>
              <a:t>6-28</a:t>
            </a:r>
            <a:r>
              <a:rPr lang="zh-CN" altLang="en-US" dirty="0">
                <a:latin typeface="Times New Roman" panose="02020603050405020304" pitchFamily="18" charset="0"/>
                <a:ea typeface="宋体" panose="02010600030101010101" pitchFamily="2" charset="-122"/>
              </a:rPr>
              <a:t>，画出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t0</a:t>
            </a:r>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t1</a:t>
            </a:r>
            <a:r>
              <a:rPr lang="en-US" altLang="zh-CN">
                <a:latin typeface="Times New Roman" panose="02020603050405020304" pitchFamily="18" charset="0"/>
                <a:ea typeface="宋体" panose="02010600030101010101" pitchFamily="2" charset="-122"/>
              </a:rPr>
              <a:t>=90°,</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t2</a:t>
            </a:r>
            <a:r>
              <a:rPr lang="en-US" altLang="zh-CN">
                <a:latin typeface="Times New Roman" panose="02020603050405020304" pitchFamily="18" charset="0"/>
                <a:ea typeface="宋体" panose="02010600030101010101" pitchFamily="2" charset="-122"/>
              </a:rPr>
              <a:t>=210°,ω</a:t>
            </a:r>
            <a:r>
              <a:rPr lang="en-US" altLang="zh-CN" baseline="-25000">
                <a:latin typeface="Times New Roman" panose="02020603050405020304" pitchFamily="18" charset="0"/>
                <a:ea typeface="宋体" panose="02010600030101010101" pitchFamily="2" charset="-122"/>
              </a:rPr>
              <a:t>t3</a:t>
            </a:r>
            <a:r>
              <a:rPr lang="en-US" altLang="zh-CN" dirty="0">
                <a:latin typeface="Times New Roman" panose="02020603050405020304" pitchFamily="18" charset="0"/>
                <a:ea typeface="宋体" panose="02010600030101010101" pitchFamily="2" charset="-122"/>
              </a:rPr>
              <a:t>=330°</a:t>
            </a:r>
            <a:r>
              <a:rPr lang="zh-CN" altLang="en-US" dirty="0">
                <a:latin typeface="Times New Roman" panose="02020603050405020304" pitchFamily="18" charset="0"/>
                <a:ea typeface="宋体" panose="02010600030101010101" pitchFamily="2" charset="-122"/>
              </a:rPr>
              <a:t>磁场的空间位置。当电流变化一个周期时，磁场在空间转了多少圈？若频率</a:t>
            </a:r>
            <a:r>
              <a:rPr lang="en-US" altLang="zh-CN" dirty="0">
                <a:latin typeface="Times New Roman" panose="02020603050405020304" pitchFamily="18" charset="0"/>
                <a:ea typeface="宋体" panose="02010600030101010101" pitchFamily="2" charset="-122"/>
              </a:rPr>
              <a:t>50Hz</a:t>
            </a:r>
            <a:r>
              <a:rPr lang="zh-CN" altLang="en-US" dirty="0">
                <a:latin typeface="Times New Roman" panose="02020603050405020304" pitchFamily="18" charset="0"/>
                <a:ea typeface="宋体" panose="02010600030101010101" pitchFamily="2" charset="-122"/>
              </a:rPr>
              <a:t>，磁场的转速？</a:t>
            </a:r>
            <a:endParaRPr lang="zh-CN" altLang="en-US" dirty="0">
              <a:latin typeface="Times New Roman" panose="02020603050405020304" pitchFamily="18" charset="0"/>
              <a:ea typeface="宋体" panose="02010600030101010101" pitchFamily="2" charset="-122"/>
            </a:endParaRPr>
          </a:p>
        </p:txBody>
      </p:sp>
      <p:sp>
        <p:nvSpPr>
          <p:cNvPr id="46082" name="文本框 79874"/>
          <p:cNvSpPr txBox="1"/>
          <p:nvPr/>
        </p:nvSpPr>
        <p:spPr>
          <a:xfrm>
            <a:off x="827088" y="333375"/>
            <a:ext cx="7148512" cy="519113"/>
          </a:xfrm>
          <a:prstGeom prst="rect">
            <a:avLst/>
          </a:prstGeom>
          <a:noFill/>
          <a:ln w="9525">
            <a:noFill/>
          </a:ln>
        </p:spPr>
        <p:txBody>
          <a:bodyPr anchor="t" anchorCtr="0">
            <a:spAutoFit/>
          </a:bodyPr>
          <a:p>
            <a:pPr algn="ctr"/>
            <a:r>
              <a:rPr lang="zh-CN" altLang="en-US" sz="2800" dirty="0">
                <a:solidFill>
                  <a:srgbClr val="FF0000"/>
                </a:solidFill>
                <a:latin typeface="Times New Roman" panose="02020603050405020304" pitchFamily="18" charset="0"/>
                <a:ea typeface="宋体" panose="02010600030101010101" pitchFamily="2" charset="-122"/>
              </a:rPr>
              <a:t>第六章</a:t>
            </a:r>
            <a:r>
              <a:rPr lang="zh-CN" altLang="en-US" dirty="0">
                <a:latin typeface="Times New Roman" panose="02020603050405020304" pitchFamily="18" charset="0"/>
                <a:ea typeface="宋体" panose="02010600030101010101" pitchFamily="2" charset="-122"/>
              </a:rPr>
              <a:t> </a:t>
            </a:r>
            <a:r>
              <a:rPr lang="zh-CN" altLang="en-US" sz="2800" dirty="0">
                <a:solidFill>
                  <a:srgbClr val="FF0000"/>
                </a:solidFill>
                <a:latin typeface="Times New Roman" panose="02020603050405020304" pitchFamily="18" charset="0"/>
                <a:ea typeface="宋体" panose="02010600030101010101" pitchFamily="2" charset="-122"/>
              </a:rPr>
              <a:t>交流电机的共同理论</a:t>
            </a:r>
            <a:endParaRPr lang="zh-CN" altLang="en-US" sz="2800" dirty="0">
              <a:solidFill>
                <a:srgbClr val="FF0000"/>
              </a:solidFill>
              <a:latin typeface="Times New Roman" panose="02020603050405020304" pitchFamily="18" charset="0"/>
              <a:ea typeface="宋体" panose="02010600030101010101" pitchFamily="2" charset="-122"/>
            </a:endParaRPr>
          </a:p>
        </p:txBody>
      </p:sp>
      <p:sp>
        <p:nvSpPr>
          <p:cNvPr id="46083" name="矩形 79875"/>
          <p:cNvSpPr/>
          <p:nvPr/>
        </p:nvSpPr>
        <p:spPr>
          <a:xfrm>
            <a:off x="7769225" y="1811338"/>
            <a:ext cx="184150" cy="457200"/>
          </a:xfrm>
          <a:prstGeom prst="rect">
            <a:avLst/>
          </a:prstGeom>
          <a:noFill/>
          <a:ln w="9525">
            <a:noFill/>
          </a:ln>
        </p:spPr>
        <p:txBody>
          <a:bodyPr wrap="none" anchor="ctr" anchorCtr="0">
            <a:spAutoFit/>
          </a:bodyPr>
          <a:p>
            <a:pPr algn="ctr"/>
            <a:endParaRPr lang="zh-CN" b="0" dirty="0">
              <a:latin typeface="Times New Roman" panose="02020603050405020304" pitchFamily="18" charset="0"/>
              <a:ea typeface="宋体" panose="02010600030101010101" pitchFamily="2" charset="-122"/>
            </a:endParaRPr>
          </a:p>
        </p:txBody>
      </p:sp>
      <p:grpSp>
        <p:nvGrpSpPr>
          <p:cNvPr id="46084" name="组合 79876"/>
          <p:cNvGrpSpPr/>
          <p:nvPr/>
        </p:nvGrpSpPr>
        <p:grpSpPr>
          <a:xfrm>
            <a:off x="4551363" y="2565400"/>
            <a:ext cx="3295650" cy="3554413"/>
            <a:chOff x="1040" y="-63"/>
            <a:chExt cx="2076" cy="2239"/>
          </a:xfrm>
        </p:grpSpPr>
        <p:grpSp>
          <p:nvGrpSpPr>
            <p:cNvPr id="46085" name="组合 79877"/>
            <p:cNvGrpSpPr/>
            <p:nvPr/>
          </p:nvGrpSpPr>
          <p:grpSpPr>
            <a:xfrm>
              <a:off x="1040" y="-63"/>
              <a:ext cx="2076" cy="2060"/>
              <a:chOff x="336" y="0"/>
              <a:chExt cx="2076" cy="2060"/>
            </a:xfrm>
          </p:grpSpPr>
          <p:sp>
            <p:nvSpPr>
              <p:cNvPr id="46086" name="文本框 79878"/>
              <p:cNvSpPr txBox="1"/>
              <p:nvPr/>
            </p:nvSpPr>
            <p:spPr>
              <a:xfrm>
                <a:off x="720" y="156"/>
                <a:ext cx="336"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6087" name="文本框 79879"/>
              <p:cNvSpPr txBox="1"/>
              <p:nvPr/>
            </p:nvSpPr>
            <p:spPr>
              <a:xfrm>
                <a:off x="444" y="444"/>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6088" name="文本框 79880"/>
              <p:cNvSpPr txBox="1"/>
              <p:nvPr/>
            </p:nvSpPr>
            <p:spPr>
              <a:xfrm>
                <a:off x="336" y="852"/>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6089" name="文本框 79881"/>
              <p:cNvSpPr txBox="1"/>
              <p:nvPr/>
            </p:nvSpPr>
            <p:spPr>
              <a:xfrm>
                <a:off x="456" y="1356"/>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6090" name="文本框 79882"/>
              <p:cNvSpPr txBox="1"/>
              <p:nvPr/>
            </p:nvSpPr>
            <p:spPr>
              <a:xfrm>
                <a:off x="696" y="1692"/>
                <a:ext cx="43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6091" name="文本框 79883"/>
              <p:cNvSpPr txBox="1"/>
              <p:nvPr/>
            </p:nvSpPr>
            <p:spPr>
              <a:xfrm>
                <a:off x="1284" y="1752"/>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6092" name="文本框 79884"/>
              <p:cNvSpPr txBox="1"/>
              <p:nvPr/>
            </p:nvSpPr>
            <p:spPr>
              <a:xfrm>
                <a:off x="1728" y="1632"/>
                <a:ext cx="300"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6093" name="文本框 79885"/>
              <p:cNvSpPr txBox="1"/>
              <p:nvPr/>
            </p:nvSpPr>
            <p:spPr>
              <a:xfrm>
                <a:off x="1980" y="444"/>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6094" name="文本框 79886"/>
              <p:cNvSpPr txBox="1"/>
              <p:nvPr/>
            </p:nvSpPr>
            <p:spPr>
              <a:xfrm>
                <a:off x="2004" y="1368"/>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6095" name="文本框 79887"/>
              <p:cNvSpPr txBox="1"/>
              <p:nvPr/>
            </p:nvSpPr>
            <p:spPr>
              <a:xfrm>
                <a:off x="1704" y="156"/>
                <a:ext cx="43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6096" name="文本框 79888"/>
              <p:cNvSpPr txBox="1"/>
              <p:nvPr/>
            </p:nvSpPr>
            <p:spPr>
              <a:xfrm>
                <a:off x="1260" y="0"/>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6097" name="椭圆 79889"/>
              <p:cNvSpPr/>
              <p:nvPr/>
            </p:nvSpPr>
            <p:spPr>
              <a:xfrm>
                <a:off x="540" y="228"/>
                <a:ext cx="1587" cy="1587"/>
              </a:xfrm>
              <a:prstGeom prst="ellipse">
                <a:avLst/>
              </a:prstGeom>
              <a:solidFill>
                <a:srgbClr val="FFFFFF"/>
              </a:solidFill>
              <a:ln w="38100"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098" name="椭圆 79890"/>
              <p:cNvSpPr/>
              <p:nvPr/>
            </p:nvSpPr>
            <p:spPr>
              <a:xfrm>
                <a:off x="888" y="557"/>
                <a:ext cx="907" cy="907"/>
              </a:xfrm>
              <a:prstGeom prst="ellipse">
                <a:avLst/>
              </a:prstGeom>
              <a:solidFill>
                <a:srgbClr val="FFFFFF"/>
              </a:solidFill>
              <a:ln w="38100"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099" name="文本框 79891"/>
              <p:cNvSpPr txBox="1"/>
              <p:nvPr/>
            </p:nvSpPr>
            <p:spPr>
              <a:xfrm>
                <a:off x="2124" y="852"/>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6100" name="椭圆 79892"/>
              <p:cNvSpPr/>
              <p:nvPr/>
            </p:nvSpPr>
            <p:spPr>
              <a:xfrm>
                <a:off x="1260" y="324"/>
                <a:ext cx="144" cy="140"/>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101" name="椭圆 79893"/>
              <p:cNvSpPr/>
              <p:nvPr/>
            </p:nvSpPr>
            <p:spPr>
              <a:xfrm>
                <a:off x="1260" y="1572"/>
                <a:ext cx="144" cy="140"/>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6102" name="组合 79894"/>
              <p:cNvGrpSpPr/>
              <p:nvPr/>
            </p:nvGrpSpPr>
            <p:grpSpPr>
              <a:xfrm>
                <a:off x="1596" y="420"/>
                <a:ext cx="144" cy="140"/>
                <a:chOff x="3080" y="12615"/>
                <a:chExt cx="283" cy="283"/>
              </a:xfrm>
            </p:grpSpPr>
            <p:sp>
              <p:nvSpPr>
                <p:cNvPr id="46103" name="椭圆 79895"/>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104" name="椭圆 79896"/>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6105" name="组合 79897"/>
              <p:cNvGrpSpPr/>
              <p:nvPr/>
            </p:nvGrpSpPr>
            <p:grpSpPr>
              <a:xfrm>
                <a:off x="1836" y="660"/>
                <a:ext cx="144" cy="140"/>
                <a:chOff x="3080" y="12615"/>
                <a:chExt cx="283" cy="283"/>
              </a:xfrm>
            </p:grpSpPr>
            <p:sp>
              <p:nvSpPr>
                <p:cNvPr id="46106" name="椭圆 79898"/>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107" name="椭圆 79899"/>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sp>
            <p:nvSpPr>
              <p:cNvPr id="46108" name="椭圆 79900"/>
              <p:cNvSpPr/>
              <p:nvPr/>
            </p:nvSpPr>
            <p:spPr>
              <a:xfrm>
                <a:off x="1884" y="948"/>
                <a:ext cx="144" cy="140"/>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109" name="椭圆 79901"/>
              <p:cNvSpPr/>
              <p:nvPr/>
            </p:nvSpPr>
            <p:spPr>
              <a:xfrm>
                <a:off x="636" y="948"/>
                <a:ext cx="144" cy="140"/>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6110" name="组合 79902"/>
              <p:cNvGrpSpPr/>
              <p:nvPr/>
            </p:nvGrpSpPr>
            <p:grpSpPr>
              <a:xfrm>
                <a:off x="1812" y="1248"/>
                <a:ext cx="143" cy="140"/>
                <a:chOff x="4560" y="12615"/>
                <a:chExt cx="283" cy="283"/>
              </a:xfrm>
            </p:grpSpPr>
            <p:sp>
              <p:nvSpPr>
                <p:cNvPr id="46111" name="椭圆 79903"/>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6112" name="组合 79904"/>
                <p:cNvGrpSpPr/>
                <p:nvPr/>
              </p:nvGrpSpPr>
              <p:grpSpPr>
                <a:xfrm>
                  <a:off x="4640" y="12695"/>
                  <a:ext cx="120" cy="140"/>
                  <a:chOff x="4800" y="7260"/>
                  <a:chExt cx="220" cy="220"/>
                </a:xfrm>
              </p:grpSpPr>
              <p:sp>
                <p:nvSpPr>
                  <p:cNvPr id="46113" name="直接连接符 79905"/>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6114" name="直接连接符 79906"/>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6115" name="组合 79907"/>
              <p:cNvGrpSpPr/>
              <p:nvPr/>
            </p:nvGrpSpPr>
            <p:grpSpPr>
              <a:xfrm>
                <a:off x="1548" y="1476"/>
                <a:ext cx="143" cy="140"/>
                <a:chOff x="4560" y="12615"/>
                <a:chExt cx="283" cy="283"/>
              </a:xfrm>
            </p:grpSpPr>
            <p:sp>
              <p:nvSpPr>
                <p:cNvPr id="46116" name="椭圆 79908"/>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6117" name="组合 79909"/>
                <p:cNvGrpSpPr/>
                <p:nvPr/>
              </p:nvGrpSpPr>
              <p:grpSpPr>
                <a:xfrm>
                  <a:off x="4640" y="12695"/>
                  <a:ext cx="120" cy="140"/>
                  <a:chOff x="4800" y="7260"/>
                  <a:chExt cx="220" cy="220"/>
                </a:xfrm>
              </p:grpSpPr>
              <p:sp>
                <p:nvSpPr>
                  <p:cNvPr id="46118" name="直接连接符 79910"/>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6119" name="直接连接符 79911"/>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6120" name="组合 79912"/>
              <p:cNvGrpSpPr/>
              <p:nvPr/>
            </p:nvGrpSpPr>
            <p:grpSpPr>
              <a:xfrm>
                <a:off x="936" y="1464"/>
                <a:ext cx="144" cy="140"/>
                <a:chOff x="3080" y="12615"/>
                <a:chExt cx="283" cy="283"/>
              </a:xfrm>
            </p:grpSpPr>
            <p:sp>
              <p:nvSpPr>
                <p:cNvPr id="46121" name="椭圆 79913"/>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122" name="椭圆 79914"/>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6123" name="组合 79915"/>
              <p:cNvGrpSpPr/>
              <p:nvPr/>
            </p:nvGrpSpPr>
            <p:grpSpPr>
              <a:xfrm>
                <a:off x="720" y="1260"/>
                <a:ext cx="144" cy="140"/>
                <a:chOff x="3080" y="12615"/>
                <a:chExt cx="283" cy="283"/>
              </a:xfrm>
            </p:grpSpPr>
            <p:sp>
              <p:nvSpPr>
                <p:cNvPr id="46124" name="椭圆 79916"/>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125" name="椭圆 79917"/>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6126" name="组合 79918"/>
              <p:cNvGrpSpPr/>
              <p:nvPr/>
            </p:nvGrpSpPr>
            <p:grpSpPr>
              <a:xfrm>
                <a:off x="732" y="612"/>
                <a:ext cx="143" cy="140"/>
                <a:chOff x="4560" y="12615"/>
                <a:chExt cx="283" cy="283"/>
              </a:xfrm>
            </p:grpSpPr>
            <p:sp>
              <p:nvSpPr>
                <p:cNvPr id="46127" name="椭圆 79919"/>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6128" name="组合 79920"/>
                <p:cNvGrpSpPr/>
                <p:nvPr/>
              </p:nvGrpSpPr>
              <p:grpSpPr>
                <a:xfrm>
                  <a:off x="4640" y="12695"/>
                  <a:ext cx="120" cy="140"/>
                  <a:chOff x="4800" y="7260"/>
                  <a:chExt cx="220" cy="220"/>
                </a:xfrm>
              </p:grpSpPr>
              <p:sp>
                <p:nvSpPr>
                  <p:cNvPr id="46129" name="直接连接符 79921"/>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6130" name="直接连接符 79922"/>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6131" name="组合 79923"/>
              <p:cNvGrpSpPr/>
              <p:nvPr/>
            </p:nvGrpSpPr>
            <p:grpSpPr>
              <a:xfrm>
                <a:off x="960" y="408"/>
                <a:ext cx="143" cy="140"/>
                <a:chOff x="4560" y="12615"/>
                <a:chExt cx="283" cy="283"/>
              </a:xfrm>
            </p:grpSpPr>
            <p:sp>
              <p:nvSpPr>
                <p:cNvPr id="46132" name="椭圆 79924"/>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6133" name="组合 79925"/>
                <p:cNvGrpSpPr/>
                <p:nvPr/>
              </p:nvGrpSpPr>
              <p:grpSpPr>
                <a:xfrm>
                  <a:off x="4640" y="12695"/>
                  <a:ext cx="120" cy="140"/>
                  <a:chOff x="4800" y="7260"/>
                  <a:chExt cx="220" cy="220"/>
                </a:xfrm>
              </p:grpSpPr>
              <p:sp>
                <p:nvSpPr>
                  <p:cNvPr id="46134" name="直接连接符 79926"/>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6135" name="直接连接符 79927"/>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sp>
            <p:nvSpPr>
              <p:cNvPr id="46136" name="直接连接符 79928"/>
              <p:cNvSpPr/>
              <p:nvPr/>
            </p:nvSpPr>
            <p:spPr>
              <a:xfrm flipH="1">
                <a:off x="876" y="936"/>
                <a:ext cx="144" cy="0"/>
              </a:xfrm>
              <a:prstGeom prst="line">
                <a:avLst/>
              </a:prstGeom>
              <a:ln w="38100" cap="flat" cmpd="sng">
                <a:solidFill>
                  <a:schemeClr val="accent2"/>
                </a:solidFill>
                <a:prstDash val="solid"/>
                <a:round/>
                <a:headEnd type="none" w="med" len="med"/>
                <a:tailEnd type="triangle" w="med" len="med"/>
              </a:ln>
            </p:spPr>
          </p:sp>
          <p:sp>
            <p:nvSpPr>
              <p:cNvPr id="46137" name="直接连接符 79929"/>
              <p:cNvSpPr/>
              <p:nvPr/>
            </p:nvSpPr>
            <p:spPr>
              <a:xfrm flipH="1">
                <a:off x="876" y="1092"/>
                <a:ext cx="144" cy="0"/>
              </a:xfrm>
              <a:prstGeom prst="line">
                <a:avLst/>
              </a:prstGeom>
              <a:ln w="38100" cap="flat" cmpd="sng">
                <a:solidFill>
                  <a:schemeClr val="accent2"/>
                </a:solidFill>
                <a:prstDash val="solid"/>
                <a:round/>
                <a:headEnd type="none" w="med" len="med"/>
                <a:tailEnd type="triangle" w="med" len="med"/>
              </a:ln>
            </p:spPr>
          </p:sp>
          <p:sp>
            <p:nvSpPr>
              <p:cNvPr id="46138" name="直接连接符 79930"/>
              <p:cNvSpPr/>
              <p:nvPr/>
            </p:nvSpPr>
            <p:spPr>
              <a:xfrm flipV="1">
                <a:off x="1260" y="1284"/>
                <a:ext cx="0" cy="192"/>
              </a:xfrm>
              <a:prstGeom prst="line">
                <a:avLst/>
              </a:prstGeom>
              <a:ln w="38100" cap="flat" cmpd="sng">
                <a:solidFill>
                  <a:srgbClr val="FF0066"/>
                </a:solidFill>
                <a:prstDash val="solid"/>
                <a:round/>
                <a:headEnd type="none" w="med" len="med"/>
                <a:tailEnd type="triangle" w="med" len="med"/>
              </a:ln>
            </p:spPr>
          </p:sp>
          <p:sp>
            <p:nvSpPr>
              <p:cNvPr id="46139" name="直接连接符 79931"/>
              <p:cNvSpPr/>
              <p:nvPr/>
            </p:nvSpPr>
            <p:spPr>
              <a:xfrm flipV="1">
                <a:off x="1404" y="1284"/>
                <a:ext cx="0" cy="192"/>
              </a:xfrm>
              <a:prstGeom prst="line">
                <a:avLst/>
              </a:prstGeom>
              <a:ln w="38100" cap="flat" cmpd="sng">
                <a:solidFill>
                  <a:srgbClr val="FF0066"/>
                </a:solidFill>
                <a:prstDash val="solid"/>
                <a:round/>
                <a:headEnd type="none" w="med" len="med"/>
                <a:tailEnd type="triangle" w="med" len="med"/>
              </a:ln>
            </p:spPr>
          </p:sp>
          <p:sp>
            <p:nvSpPr>
              <p:cNvPr id="46140" name="直接连接符 79932"/>
              <p:cNvSpPr/>
              <p:nvPr/>
            </p:nvSpPr>
            <p:spPr>
              <a:xfrm>
                <a:off x="1644" y="1092"/>
                <a:ext cx="144" cy="0"/>
              </a:xfrm>
              <a:prstGeom prst="line">
                <a:avLst/>
              </a:prstGeom>
              <a:ln w="38100" cap="flat" cmpd="sng">
                <a:solidFill>
                  <a:schemeClr val="accent2"/>
                </a:solidFill>
                <a:prstDash val="solid"/>
                <a:round/>
                <a:headEnd type="none" w="med" len="med"/>
                <a:tailEnd type="triangle" w="med" len="med"/>
              </a:ln>
            </p:spPr>
          </p:sp>
          <p:sp>
            <p:nvSpPr>
              <p:cNvPr id="46141" name="直接连接符 79933"/>
              <p:cNvSpPr/>
              <p:nvPr/>
            </p:nvSpPr>
            <p:spPr>
              <a:xfrm>
                <a:off x="1644" y="948"/>
                <a:ext cx="144" cy="0"/>
              </a:xfrm>
              <a:prstGeom prst="line">
                <a:avLst/>
              </a:prstGeom>
              <a:ln w="38100" cap="flat" cmpd="sng">
                <a:solidFill>
                  <a:schemeClr val="accent2"/>
                </a:solidFill>
                <a:prstDash val="solid"/>
                <a:round/>
                <a:headEnd type="none" w="med" len="med"/>
                <a:tailEnd type="triangle" w="med" len="med"/>
              </a:ln>
            </p:spPr>
          </p:sp>
          <p:sp>
            <p:nvSpPr>
              <p:cNvPr id="46142" name="文本框 79934"/>
              <p:cNvSpPr txBox="1"/>
              <p:nvPr/>
            </p:nvSpPr>
            <p:spPr>
              <a:xfrm>
                <a:off x="1272" y="720"/>
                <a:ext cx="216" cy="240"/>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FF0066"/>
                    </a:solidFill>
                    <a:latin typeface="Times New Roman" panose="02020603050405020304" pitchFamily="18" charset="0"/>
                    <a:ea typeface="宋体" panose="02010600030101010101" pitchFamily="2" charset="-122"/>
                  </a:rPr>
                  <a:t>N</a:t>
                </a:r>
                <a:endParaRPr lang="en-US" altLang="zh-CN" sz="2000">
                  <a:solidFill>
                    <a:srgbClr val="FF0066"/>
                  </a:solidFill>
                  <a:latin typeface="Times New Roman" panose="02020603050405020304" pitchFamily="18" charset="0"/>
                  <a:ea typeface="宋体" panose="02010600030101010101" pitchFamily="2" charset="-122"/>
                </a:endParaRPr>
              </a:p>
            </p:txBody>
          </p:sp>
          <p:sp>
            <p:nvSpPr>
              <p:cNvPr id="46143" name="文本框 79935"/>
              <p:cNvSpPr txBox="1"/>
              <p:nvPr/>
            </p:nvSpPr>
            <p:spPr>
              <a:xfrm>
                <a:off x="1428" y="912"/>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S</a:t>
                </a:r>
                <a:endParaRPr lang="en-US" altLang="zh-CN" sz="2000">
                  <a:latin typeface="Times New Roman" panose="02020603050405020304" pitchFamily="18" charset="0"/>
                  <a:ea typeface="宋体" panose="02010600030101010101" pitchFamily="2" charset="-122"/>
                </a:endParaRPr>
              </a:p>
            </p:txBody>
          </p:sp>
          <p:sp>
            <p:nvSpPr>
              <p:cNvPr id="46144" name="文本框 79936"/>
              <p:cNvSpPr txBox="1"/>
              <p:nvPr/>
            </p:nvSpPr>
            <p:spPr>
              <a:xfrm>
                <a:off x="1284" y="1092"/>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p:txBody>
          </p:sp>
          <p:sp>
            <p:nvSpPr>
              <p:cNvPr id="46145" name="文本框 79937"/>
              <p:cNvSpPr txBox="1"/>
              <p:nvPr/>
            </p:nvSpPr>
            <p:spPr>
              <a:xfrm>
                <a:off x="1068" y="900"/>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S</a:t>
                </a:r>
                <a:endParaRPr lang="en-US" altLang="zh-CN" sz="2000">
                  <a:latin typeface="Times New Roman" panose="02020603050405020304" pitchFamily="18" charset="0"/>
                  <a:ea typeface="宋体" panose="02010600030101010101" pitchFamily="2" charset="-122"/>
                </a:endParaRPr>
              </a:p>
            </p:txBody>
          </p:sp>
          <p:sp>
            <p:nvSpPr>
              <p:cNvPr id="46146" name="椭圆 79938"/>
              <p:cNvSpPr/>
              <p:nvPr/>
            </p:nvSpPr>
            <p:spPr>
              <a:xfrm>
                <a:off x="684" y="360"/>
                <a:ext cx="576" cy="576"/>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147" name="椭圆 79939"/>
              <p:cNvSpPr/>
              <p:nvPr/>
            </p:nvSpPr>
            <p:spPr>
              <a:xfrm>
                <a:off x="1428" y="396"/>
                <a:ext cx="576" cy="576"/>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148" name="椭圆 79940"/>
              <p:cNvSpPr/>
              <p:nvPr/>
            </p:nvSpPr>
            <p:spPr>
              <a:xfrm>
                <a:off x="1404" y="1080"/>
                <a:ext cx="576" cy="576"/>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149" name="椭圆 79941"/>
              <p:cNvSpPr/>
              <p:nvPr/>
            </p:nvSpPr>
            <p:spPr>
              <a:xfrm>
                <a:off x="684" y="1068"/>
                <a:ext cx="576" cy="576"/>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6150" name="直接连接符 79942"/>
              <p:cNvSpPr/>
              <p:nvPr/>
            </p:nvSpPr>
            <p:spPr>
              <a:xfrm>
                <a:off x="1428" y="564"/>
                <a:ext cx="0" cy="192"/>
              </a:xfrm>
              <a:prstGeom prst="line">
                <a:avLst/>
              </a:prstGeom>
              <a:ln w="38100" cap="flat" cmpd="sng">
                <a:solidFill>
                  <a:srgbClr val="FF0066"/>
                </a:solidFill>
                <a:prstDash val="solid"/>
                <a:round/>
                <a:headEnd type="none" w="med" len="med"/>
                <a:tailEnd type="triangle" w="med" len="med"/>
              </a:ln>
            </p:spPr>
          </p:sp>
          <p:sp>
            <p:nvSpPr>
              <p:cNvPr id="46151" name="直接连接符 79943"/>
              <p:cNvSpPr/>
              <p:nvPr/>
            </p:nvSpPr>
            <p:spPr>
              <a:xfrm>
                <a:off x="1260" y="564"/>
                <a:ext cx="0" cy="192"/>
              </a:xfrm>
              <a:prstGeom prst="line">
                <a:avLst/>
              </a:prstGeom>
              <a:ln w="38100" cap="flat" cmpd="sng">
                <a:solidFill>
                  <a:srgbClr val="FF0066"/>
                </a:solidFill>
                <a:prstDash val="solid"/>
                <a:round/>
                <a:headEnd type="none" w="med" len="med"/>
                <a:tailEnd type="triangle" w="med" len="med"/>
              </a:ln>
            </p:spPr>
          </p:sp>
        </p:grpSp>
        <p:sp>
          <p:nvSpPr>
            <p:cNvPr id="46152" name="文本框 79944"/>
            <p:cNvSpPr txBox="1"/>
            <p:nvPr/>
          </p:nvSpPr>
          <p:spPr>
            <a:xfrm>
              <a:off x="1043" y="1888"/>
              <a:ext cx="2064" cy="28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ctr"/>
              <a:r>
                <a:rPr lang="en-US" altLang="zh-CN" sz="1800">
                  <a:solidFill>
                    <a:schemeClr val="accent2"/>
                  </a:solidFill>
                  <a:latin typeface="宋体" panose="02010600030101010101" pitchFamily="2" charset="-122"/>
                  <a:ea typeface="宋体" panose="02010600030101010101" pitchFamily="2" charset="-122"/>
                  <a:sym typeface="Symbol" panose="05050102010706020507" pitchFamily="18" charset="2"/>
                </a:rPr>
                <a:t>t=0;i</a:t>
              </a:r>
              <a:r>
                <a:rPr lang="en-US" altLang="zh-CN" sz="18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u</a:t>
              </a:r>
              <a:r>
                <a:rPr lang="en-US" altLang="zh-CN" sz="1800">
                  <a:solidFill>
                    <a:schemeClr val="accent2"/>
                  </a:solidFill>
                  <a:latin typeface="宋体" panose="02010600030101010101" pitchFamily="2" charset="-122"/>
                  <a:ea typeface="宋体" panose="02010600030101010101" pitchFamily="2" charset="-122"/>
                  <a:sym typeface="Symbol" panose="05050102010706020507" pitchFamily="18" charset="2"/>
                </a:rPr>
                <a:t>=0, i</a:t>
              </a:r>
              <a:r>
                <a:rPr lang="en-US" altLang="zh-CN" sz="18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v</a:t>
              </a:r>
              <a:r>
                <a:rPr lang="en-US" altLang="zh-CN" sz="1800">
                  <a:solidFill>
                    <a:schemeClr val="accent2"/>
                  </a:solidFill>
                  <a:latin typeface="宋体" panose="02010600030101010101" pitchFamily="2" charset="-122"/>
                  <a:ea typeface="宋体" panose="02010600030101010101" pitchFamily="2" charset="-122"/>
                  <a:sym typeface="Symbol" panose="05050102010706020507" pitchFamily="18" charset="2"/>
                </a:rPr>
                <a:t>&lt;0, i</a:t>
              </a:r>
              <a:r>
                <a:rPr lang="en-US" altLang="zh-CN" sz="18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w</a:t>
              </a:r>
              <a:r>
                <a:rPr lang="en-US" altLang="zh-CN" sz="1800">
                  <a:solidFill>
                    <a:schemeClr val="accent2"/>
                  </a:solidFill>
                  <a:latin typeface="宋体" panose="02010600030101010101" pitchFamily="2" charset="-122"/>
                  <a:ea typeface="宋体" panose="02010600030101010101" pitchFamily="2" charset="-122"/>
                  <a:sym typeface="Symbol" panose="05050102010706020507" pitchFamily="18" charset="2"/>
                </a:rPr>
                <a:t>&gt;0</a:t>
              </a:r>
              <a:endParaRPr lang="en-US" altLang="zh-CN" sz="1800">
                <a:solidFill>
                  <a:schemeClr val="accent2"/>
                </a:solidFill>
                <a:latin typeface="宋体" panose="02010600030101010101" pitchFamily="2" charset="-122"/>
                <a:ea typeface="宋体" panose="02010600030101010101" pitchFamily="2" charset="-122"/>
                <a:sym typeface="Symbol" panose="05050102010706020507" pitchFamily="18" charset="2"/>
              </a:endParaRPr>
            </a:p>
          </p:txBody>
        </p:sp>
      </p:grpSp>
      <p:sp>
        <p:nvSpPr>
          <p:cNvPr id="46153" name="文本框 80021"/>
          <p:cNvSpPr txBox="1"/>
          <p:nvPr/>
        </p:nvSpPr>
        <p:spPr>
          <a:xfrm>
            <a:off x="395288" y="2133600"/>
            <a:ext cx="5086350"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解：三相四极交流电机磁场分布图：</a:t>
            </a:r>
            <a:endParaRPr lang="zh-CN" altLang="en-US" dirty="0">
              <a:latin typeface="Times New Roman" panose="02020603050405020304" pitchFamily="18" charset="0"/>
              <a:ea typeface="宋体" panose="02010600030101010101" pitchFamily="2" charset="-122"/>
            </a:endParaRPr>
          </a:p>
        </p:txBody>
      </p:sp>
      <p:grpSp>
        <p:nvGrpSpPr>
          <p:cNvPr id="46154" name="组合 80022"/>
          <p:cNvGrpSpPr/>
          <p:nvPr/>
        </p:nvGrpSpPr>
        <p:grpSpPr>
          <a:xfrm>
            <a:off x="539750" y="3429000"/>
            <a:ext cx="3527425" cy="2536825"/>
            <a:chOff x="884" y="1162"/>
            <a:chExt cx="1937" cy="1598"/>
          </a:xfrm>
        </p:grpSpPr>
        <p:sp>
          <p:nvSpPr>
            <p:cNvPr id="46155" name="直接连接符 80023"/>
            <p:cNvSpPr/>
            <p:nvPr/>
          </p:nvSpPr>
          <p:spPr>
            <a:xfrm flipV="1">
              <a:off x="884" y="1978"/>
              <a:ext cx="1872" cy="6"/>
            </a:xfrm>
            <a:prstGeom prst="line">
              <a:avLst/>
            </a:prstGeom>
            <a:ln w="28575" cap="flat" cmpd="sng">
              <a:solidFill>
                <a:srgbClr val="000000"/>
              </a:solidFill>
              <a:prstDash val="solid"/>
              <a:round/>
              <a:headEnd type="none" w="med" len="med"/>
              <a:tailEnd type="triangle" w="sm" len="lg"/>
            </a:ln>
          </p:spPr>
        </p:sp>
        <p:sp>
          <p:nvSpPr>
            <p:cNvPr id="46156" name="文本框 80024"/>
            <p:cNvSpPr txBox="1"/>
            <p:nvPr/>
          </p:nvSpPr>
          <p:spPr>
            <a:xfrm>
              <a:off x="2660" y="1738"/>
              <a:ext cx="151" cy="218"/>
            </a:xfrm>
            <a:prstGeom prst="rect">
              <a:avLst/>
            </a:prstGeom>
            <a:noFill/>
            <a:ln w="9525">
              <a:noFill/>
            </a:ln>
          </p:spPr>
          <p:txBody>
            <a:bodyPr anchor="t" anchorCtr="0"/>
            <a:p>
              <a:pPr algn="just" eaLnBrk="0" hangingPunct="0"/>
              <a:r>
                <a:rPr lang="en-US" altLang="zh-CN" sz="2600">
                  <a:latin typeface="Times New Roman" panose="02020603050405020304" pitchFamily="18" charset="0"/>
                  <a:ea typeface="宋体" panose="02010600030101010101" pitchFamily="2" charset="-122"/>
                </a:rPr>
                <a:t>t</a:t>
              </a:r>
              <a:endParaRPr lang="en-US" altLang="zh-CN" sz="2600">
                <a:latin typeface="Times New Roman" panose="02020603050405020304" pitchFamily="18" charset="0"/>
                <a:ea typeface="宋体" panose="02010600030101010101" pitchFamily="2" charset="-122"/>
              </a:endParaRPr>
            </a:p>
          </p:txBody>
        </p:sp>
        <p:sp>
          <p:nvSpPr>
            <p:cNvPr id="46157" name="文本框 80025"/>
            <p:cNvSpPr txBox="1"/>
            <p:nvPr/>
          </p:nvSpPr>
          <p:spPr>
            <a:xfrm>
              <a:off x="1202" y="2558"/>
              <a:ext cx="96" cy="192"/>
            </a:xfrm>
            <a:prstGeom prst="rect">
              <a:avLst/>
            </a:prstGeom>
            <a:noFill/>
            <a:ln w="9525">
              <a:noFill/>
            </a:ln>
          </p:spPr>
          <p:txBody>
            <a:bodyPr lIns="0" tIns="0" rIns="0" bIns="0" anchor="t" anchorCtr="0"/>
            <a:p>
              <a:pPr algn="just" eaLnBrk="0" hangingPunct="0"/>
              <a:r>
                <a:rPr lang="en-US" altLang="zh-CN" sz="1800">
                  <a:latin typeface="Times New Roman" panose="02020603050405020304" pitchFamily="18" charset="0"/>
                  <a:ea typeface="宋体" panose="02010600030101010101" pitchFamily="2" charset="-122"/>
                </a:rPr>
                <a:t>0</a:t>
              </a:r>
              <a:endParaRPr lang="en-US" altLang="zh-CN" sz="1800">
                <a:latin typeface="Times New Roman" panose="02020603050405020304" pitchFamily="18" charset="0"/>
                <a:ea typeface="宋体" panose="02010600030101010101" pitchFamily="2" charset="-122"/>
              </a:endParaRPr>
            </a:p>
          </p:txBody>
        </p:sp>
        <p:sp>
          <p:nvSpPr>
            <p:cNvPr id="46158" name="文本框 80026"/>
            <p:cNvSpPr txBox="1"/>
            <p:nvPr/>
          </p:nvSpPr>
          <p:spPr>
            <a:xfrm>
              <a:off x="1474" y="2568"/>
              <a:ext cx="240" cy="192"/>
            </a:xfrm>
            <a:prstGeom prst="rect">
              <a:avLst/>
            </a:prstGeom>
            <a:noFill/>
            <a:ln w="9525">
              <a:noFill/>
            </a:ln>
          </p:spPr>
          <p:txBody>
            <a:bodyPr lIns="0" tIns="0" rIns="0" bIns="0" anchor="t" anchorCtr="0"/>
            <a:p>
              <a:pPr algn="just" eaLnBrk="0" hangingPunct="0"/>
              <a:r>
                <a:rPr lang="en-US" altLang="zh-CN" sz="1800">
                  <a:latin typeface="Times New Roman" panose="02020603050405020304" pitchFamily="18" charset="0"/>
                  <a:ea typeface="宋体" panose="02010600030101010101" pitchFamily="2" charset="-122"/>
                </a:rPr>
                <a:t>90</a:t>
              </a:r>
              <a:endParaRPr lang="en-US" altLang="zh-CN" sz="1800">
                <a:latin typeface="Times New Roman" panose="02020603050405020304" pitchFamily="18" charset="0"/>
                <a:ea typeface="宋体" panose="02010600030101010101" pitchFamily="2" charset="-122"/>
              </a:endParaRPr>
            </a:p>
          </p:txBody>
        </p:sp>
        <p:sp>
          <p:nvSpPr>
            <p:cNvPr id="46159" name="文本框 80027"/>
            <p:cNvSpPr txBox="1"/>
            <p:nvPr/>
          </p:nvSpPr>
          <p:spPr>
            <a:xfrm>
              <a:off x="1837" y="2568"/>
              <a:ext cx="240" cy="192"/>
            </a:xfrm>
            <a:prstGeom prst="rect">
              <a:avLst/>
            </a:prstGeom>
            <a:noFill/>
            <a:ln w="9525">
              <a:noFill/>
            </a:ln>
          </p:spPr>
          <p:txBody>
            <a:bodyPr lIns="0" tIns="0" rIns="0" bIns="0" anchor="t" anchorCtr="0"/>
            <a:p>
              <a:pPr algn="just" eaLnBrk="0" hangingPunct="0"/>
              <a:r>
                <a:rPr lang="en-US" altLang="zh-CN" sz="1800">
                  <a:latin typeface="Times New Roman" panose="02020603050405020304" pitchFamily="18" charset="0"/>
                  <a:ea typeface="宋体" panose="02010600030101010101" pitchFamily="2" charset="-122"/>
                </a:rPr>
                <a:t>210</a:t>
              </a:r>
              <a:endParaRPr lang="en-US" altLang="zh-CN" sz="1800">
                <a:latin typeface="Times New Roman" panose="02020603050405020304" pitchFamily="18" charset="0"/>
                <a:ea typeface="宋体" panose="02010600030101010101" pitchFamily="2" charset="-122"/>
              </a:endParaRPr>
            </a:p>
          </p:txBody>
        </p:sp>
        <p:grpSp>
          <p:nvGrpSpPr>
            <p:cNvPr id="46160" name="组合 80028"/>
            <p:cNvGrpSpPr/>
            <p:nvPr/>
          </p:nvGrpSpPr>
          <p:grpSpPr>
            <a:xfrm>
              <a:off x="884" y="1386"/>
              <a:ext cx="1728" cy="1168"/>
              <a:chOff x="768" y="2912"/>
              <a:chExt cx="1728" cy="1168"/>
            </a:xfrm>
          </p:grpSpPr>
          <p:sp>
            <p:nvSpPr>
              <p:cNvPr id="46161" name="任意多边形 80029"/>
              <p:cNvSpPr/>
              <p:nvPr/>
            </p:nvSpPr>
            <p:spPr>
              <a:xfrm>
                <a:off x="768" y="2912"/>
                <a:ext cx="576" cy="581"/>
              </a:xfrm>
              <a:custGeom>
                <a:avLst/>
                <a:gdLst/>
                <a:ahLst/>
                <a:cxnLst/>
                <a:pathLst>
                  <a:path w="1476" h="1562">
                    <a:moveTo>
                      <a:pt x="0" y="1562"/>
                    </a:moveTo>
                    <a:cubicBezTo>
                      <a:pt x="118" y="1302"/>
                      <a:pt x="462" y="4"/>
                      <a:pt x="708" y="2"/>
                    </a:cubicBezTo>
                    <a:cubicBezTo>
                      <a:pt x="954" y="0"/>
                      <a:pt x="1316" y="1228"/>
                      <a:pt x="1476" y="1550"/>
                    </a:cubicBezTo>
                  </a:path>
                </a:pathLst>
              </a:custGeom>
              <a:noFill/>
              <a:ln w="38100" cap="flat" cmpd="sng">
                <a:solidFill>
                  <a:srgbClr val="FF0000"/>
                </a:solidFill>
                <a:prstDash val="solid"/>
                <a:round/>
                <a:headEnd type="none" w="med" len="med"/>
                <a:tailEnd type="none" w="med" len="med"/>
              </a:ln>
            </p:spPr>
            <p:txBody>
              <a:bodyPr/>
              <a:p>
                <a:endParaRPr lang="zh-CN" altLang="en-US"/>
              </a:p>
            </p:txBody>
          </p:sp>
          <p:sp>
            <p:nvSpPr>
              <p:cNvPr id="46162" name="任意多边形 80030"/>
              <p:cNvSpPr/>
              <p:nvPr/>
            </p:nvSpPr>
            <p:spPr>
              <a:xfrm flipV="1">
                <a:off x="1344" y="3499"/>
                <a:ext cx="576" cy="581"/>
              </a:xfrm>
              <a:custGeom>
                <a:avLst/>
                <a:gdLst/>
                <a:ahLst/>
                <a:cxnLst/>
                <a:pathLst>
                  <a:path w="1476" h="1562">
                    <a:moveTo>
                      <a:pt x="0" y="1562"/>
                    </a:moveTo>
                    <a:cubicBezTo>
                      <a:pt x="118" y="1302"/>
                      <a:pt x="462" y="4"/>
                      <a:pt x="708" y="2"/>
                    </a:cubicBezTo>
                    <a:cubicBezTo>
                      <a:pt x="954" y="0"/>
                      <a:pt x="1316" y="1228"/>
                      <a:pt x="1476" y="1550"/>
                    </a:cubicBezTo>
                  </a:path>
                </a:pathLst>
              </a:custGeom>
              <a:noFill/>
              <a:ln w="38100" cap="flat" cmpd="sng">
                <a:solidFill>
                  <a:srgbClr val="FF0000"/>
                </a:solidFill>
                <a:prstDash val="solid"/>
                <a:round/>
                <a:headEnd type="none" w="med" len="med"/>
                <a:tailEnd type="none" w="med" len="med"/>
              </a:ln>
            </p:spPr>
            <p:txBody>
              <a:bodyPr/>
              <a:p>
                <a:endParaRPr lang="zh-CN" altLang="en-US"/>
              </a:p>
            </p:txBody>
          </p:sp>
          <p:sp>
            <p:nvSpPr>
              <p:cNvPr id="46163" name="任意多边形 80031"/>
              <p:cNvSpPr/>
              <p:nvPr/>
            </p:nvSpPr>
            <p:spPr>
              <a:xfrm>
                <a:off x="1920" y="2928"/>
                <a:ext cx="576" cy="581"/>
              </a:xfrm>
              <a:custGeom>
                <a:avLst/>
                <a:gdLst/>
                <a:ahLst/>
                <a:cxnLst/>
                <a:pathLst>
                  <a:path w="1476" h="1562">
                    <a:moveTo>
                      <a:pt x="0" y="1562"/>
                    </a:moveTo>
                    <a:cubicBezTo>
                      <a:pt x="118" y="1302"/>
                      <a:pt x="462" y="4"/>
                      <a:pt x="708" y="2"/>
                    </a:cubicBezTo>
                    <a:cubicBezTo>
                      <a:pt x="954" y="0"/>
                      <a:pt x="1316" y="1228"/>
                      <a:pt x="1476" y="1550"/>
                    </a:cubicBezTo>
                  </a:path>
                </a:pathLst>
              </a:custGeom>
              <a:noFill/>
              <a:ln w="38100" cap="flat" cmpd="sng">
                <a:solidFill>
                  <a:srgbClr val="FF0000"/>
                </a:solidFill>
                <a:prstDash val="solid"/>
                <a:round/>
                <a:headEnd type="none" w="med" len="med"/>
                <a:tailEnd type="none" w="med" len="med"/>
              </a:ln>
            </p:spPr>
            <p:txBody>
              <a:bodyPr/>
              <a:p>
                <a:endParaRPr lang="zh-CN" altLang="en-US"/>
              </a:p>
            </p:txBody>
          </p:sp>
        </p:grpSp>
        <p:sp>
          <p:nvSpPr>
            <p:cNvPr id="46164" name="任意多边形 80032"/>
            <p:cNvSpPr/>
            <p:nvPr/>
          </p:nvSpPr>
          <p:spPr>
            <a:xfrm>
              <a:off x="1276" y="1402"/>
              <a:ext cx="576" cy="581"/>
            </a:xfrm>
            <a:custGeom>
              <a:avLst/>
              <a:gdLst/>
              <a:ahLst/>
              <a:cxnLst/>
              <a:pathLst>
                <a:path w="1476" h="1562">
                  <a:moveTo>
                    <a:pt x="0" y="1562"/>
                  </a:moveTo>
                  <a:cubicBezTo>
                    <a:pt x="118" y="1302"/>
                    <a:pt x="462" y="4"/>
                    <a:pt x="708" y="2"/>
                  </a:cubicBezTo>
                  <a:cubicBezTo>
                    <a:pt x="954" y="0"/>
                    <a:pt x="1316" y="1228"/>
                    <a:pt x="1476" y="1550"/>
                  </a:cubicBezTo>
                </a:path>
              </a:pathLst>
            </a:custGeom>
            <a:noFill/>
            <a:ln w="38100" cap="flat" cmpd="sng">
              <a:solidFill>
                <a:schemeClr val="accent2"/>
              </a:solidFill>
              <a:prstDash val="solid"/>
              <a:round/>
              <a:headEnd type="none" w="med" len="med"/>
              <a:tailEnd type="none" w="med" len="med"/>
            </a:ln>
          </p:spPr>
          <p:txBody>
            <a:bodyPr/>
            <a:p>
              <a:endParaRPr lang="zh-CN" altLang="en-US"/>
            </a:p>
          </p:txBody>
        </p:sp>
        <p:sp>
          <p:nvSpPr>
            <p:cNvPr id="46165" name="任意多边形 80033"/>
            <p:cNvSpPr/>
            <p:nvPr/>
          </p:nvSpPr>
          <p:spPr>
            <a:xfrm flipV="1">
              <a:off x="1844" y="1989"/>
              <a:ext cx="576" cy="581"/>
            </a:xfrm>
            <a:custGeom>
              <a:avLst/>
              <a:gdLst/>
              <a:ahLst/>
              <a:cxnLst/>
              <a:pathLst>
                <a:path w="1476" h="1562">
                  <a:moveTo>
                    <a:pt x="0" y="1562"/>
                  </a:moveTo>
                  <a:cubicBezTo>
                    <a:pt x="118" y="1302"/>
                    <a:pt x="462" y="4"/>
                    <a:pt x="708" y="2"/>
                  </a:cubicBezTo>
                  <a:cubicBezTo>
                    <a:pt x="954" y="0"/>
                    <a:pt x="1316" y="1228"/>
                    <a:pt x="1476" y="1550"/>
                  </a:cubicBezTo>
                </a:path>
              </a:pathLst>
            </a:custGeom>
            <a:noFill/>
            <a:ln w="38100" cap="flat" cmpd="sng">
              <a:solidFill>
                <a:schemeClr val="accent2"/>
              </a:solidFill>
              <a:prstDash val="solid"/>
              <a:round/>
              <a:headEnd type="none" w="med" len="med"/>
              <a:tailEnd type="none" w="med" len="med"/>
            </a:ln>
          </p:spPr>
          <p:txBody>
            <a:bodyPr/>
            <a:p>
              <a:endParaRPr lang="zh-CN" altLang="en-US"/>
            </a:p>
          </p:txBody>
        </p:sp>
        <p:sp>
          <p:nvSpPr>
            <p:cNvPr id="46166" name="任意多边形 80034"/>
            <p:cNvSpPr/>
            <p:nvPr/>
          </p:nvSpPr>
          <p:spPr>
            <a:xfrm flipV="1">
              <a:off x="1084" y="1973"/>
              <a:ext cx="576" cy="581"/>
            </a:xfrm>
            <a:custGeom>
              <a:avLst/>
              <a:gdLst/>
              <a:ahLst/>
              <a:cxnLst/>
              <a:pathLst>
                <a:path w="1476" h="1562">
                  <a:moveTo>
                    <a:pt x="0" y="1562"/>
                  </a:moveTo>
                  <a:cubicBezTo>
                    <a:pt x="118" y="1302"/>
                    <a:pt x="462" y="4"/>
                    <a:pt x="708" y="2"/>
                  </a:cubicBezTo>
                  <a:cubicBezTo>
                    <a:pt x="954" y="0"/>
                    <a:pt x="1316" y="1228"/>
                    <a:pt x="1476" y="1550"/>
                  </a:cubicBezTo>
                </a:path>
              </a:pathLst>
            </a:custGeom>
            <a:noFill/>
            <a:ln w="38100" cap="flat" cmpd="sng">
              <a:solidFill>
                <a:srgbClr val="CC9900"/>
              </a:solidFill>
              <a:prstDash val="solid"/>
              <a:round/>
              <a:headEnd type="none" w="med" len="med"/>
              <a:tailEnd type="none" w="med" len="med"/>
            </a:ln>
          </p:spPr>
          <p:txBody>
            <a:bodyPr/>
            <a:p>
              <a:endParaRPr lang="zh-CN" altLang="en-US"/>
            </a:p>
          </p:txBody>
        </p:sp>
        <p:sp>
          <p:nvSpPr>
            <p:cNvPr id="46167" name="任意多边形 80035"/>
            <p:cNvSpPr/>
            <p:nvPr/>
          </p:nvSpPr>
          <p:spPr>
            <a:xfrm>
              <a:off x="1660" y="1402"/>
              <a:ext cx="576" cy="581"/>
            </a:xfrm>
            <a:custGeom>
              <a:avLst/>
              <a:gdLst/>
              <a:ahLst/>
              <a:cxnLst/>
              <a:pathLst>
                <a:path w="1476" h="1562">
                  <a:moveTo>
                    <a:pt x="0" y="1562"/>
                  </a:moveTo>
                  <a:cubicBezTo>
                    <a:pt x="118" y="1302"/>
                    <a:pt x="462" y="4"/>
                    <a:pt x="708" y="2"/>
                  </a:cubicBezTo>
                  <a:cubicBezTo>
                    <a:pt x="954" y="0"/>
                    <a:pt x="1316" y="1228"/>
                    <a:pt x="1476" y="1550"/>
                  </a:cubicBezTo>
                </a:path>
              </a:pathLst>
            </a:custGeom>
            <a:noFill/>
            <a:ln w="38100" cap="flat" cmpd="sng">
              <a:solidFill>
                <a:srgbClr val="CC9900"/>
              </a:solidFill>
              <a:prstDash val="solid"/>
              <a:round/>
              <a:headEnd type="none" w="med" len="med"/>
              <a:tailEnd type="none" w="med" len="med"/>
            </a:ln>
          </p:spPr>
          <p:txBody>
            <a:bodyPr/>
            <a:p>
              <a:endParaRPr lang="zh-CN" altLang="en-US"/>
            </a:p>
          </p:txBody>
        </p:sp>
        <p:sp>
          <p:nvSpPr>
            <p:cNvPr id="46168" name="直接连接符 80036"/>
            <p:cNvSpPr/>
            <p:nvPr/>
          </p:nvSpPr>
          <p:spPr>
            <a:xfrm flipV="1">
              <a:off x="1255" y="1210"/>
              <a:ext cx="0" cy="1392"/>
            </a:xfrm>
            <a:prstGeom prst="line">
              <a:avLst/>
            </a:prstGeom>
            <a:ln w="28575" cap="flat" cmpd="sng">
              <a:solidFill>
                <a:schemeClr val="tx1"/>
              </a:solidFill>
              <a:prstDash val="solid"/>
              <a:round/>
              <a:headEnd type="none" w="med" len="med"/>
              <a:tailEnd type="triangle" w="med" len="med"/>
            </a:ln>
          </p:spPr>
        </p:sp>
        <p:sp>
          <p:nvSpPr>
            <p:cNvPr id="46169" name="直接连接符 80037"/>
            <p:cNvSpPr/>
            <p:nvPr/>
          </p:nvSpPr>
          <p:spPr>
            <a:xfrm flipH="1">
              <a:off x="1172" y="1978"/>
              <a:ext cx="104" cy="240"/>
            </a:xfrm>
            <a:prstGeom prst="line">
              <a:avLst/>
            </a:prstGeom>
            <a:ln w="38100" cap="flat" cmpd="sng">
              <a:solidFill>
                <a:schemeClr val="accent2"/>
              </a:solidFill>
              <a:prstDash val="solid"/>
              <a:round/>
              <a:headEnd type="none" w="med" len="med"/>
              <a:tailEnd type="none" w="med" len="med"/>
            </a:ln>
          </p:spPr>
        </p:sp>
        <p:sp>
          <p:nvSpPr>
            <p:cNvPr id="46170" name="直接连接符 80038"/>
            <p:cNvSpPr/>
            <p:nvPr/>
          </p:nvSpPr>
          <p:spPr>
            <a:xfrm flipV="1">
              <a:off x="1556" y="1210"/>
              <a:ext cx="0" cy="1344"/>
            </a:xfrm>
            <a:prstGeom prst="line">
              <a:avLst/>
            </a:prstGeom>
            <a:ln w="9525" cap="rnd" cmpd="sng">
              <a:solidFill>
                <a:schemeClr val="tx1"/>
              </a:solidFill>
              <a:prstDash val="sysDot"/>
              <a:round/>
              <a:headEnd type="none" w="med" len="med"/>
              <a:tailEnd type="none" w="med" len="med"/>
            </a:ln>
          </p:spPr>
        </p:sp>
        <p:sp>
          <p:nvSpPr>
            <p:cNvPr id="46171" name="直接连接符 80039"/>
            <p:cNvSpPr/>
            <p:nvPr/>
          </p:nvSpPr>
          <p:spPr>
            <a:xfrm flipV="1">
              <a:off x="1940" y="1210"/>
              <a:ext cx="0" cy="1344"/>
            </a:xfrm>
            <a:prstGeom prst="line">
              <a:avLst/>
            </a:prstGeom>
            <a:ln w="9525" cap="rnd" cmpd="sng">
              <a:solidFill>
                <a:schemeClr val="tx1"/>
              </a:solidFill>
              <a:prstDash val="sysDot"/>
              <a:round/>
              <a:headEnd type="none" w="med" len="med"/>
              <a:tailEnd type="none" w="med" len="med"/>
            </a:ln>
          </p:spPr>
        </p:sp>
        <p:sp>
          <p:nvSpPr>
            <p:cNvPr id="46172" name="文本框 80040"/>
            <p:cNvSpPr txBox="1"/>
            <p:nvPr/>
          </p:nvSpPr>
          <p:spPr>
            <a:xfrm>
              <a:off x="1292" y="1210"/>
              <a:ext cx="96" cy="192"/>
            </a:xfrm>
            <a:prstGeom prst="rect">
              <a:avLst/>
            </a:prstGeom>
            <a:noFill/>
            <a:ln w="9525">
              <a:noFill/>
            </a:ln>
          </p:spPr>
          <p:txBody>
            <a:bodyPr lIns="0" tIns="0" rIns="0" bIns="0" anchor="t" anchorCtr="0"/>
            <a:p>
              <a:pPr algn="just" eaLnBrk="0" hangingPunct="0"/>
              <a:r>
                <a:rPr lang="en-US" altLang="zh-CN">
                  <a:latin typeface="Times New Roman" panose="02020603050405020304" pitchFamily="18" charset="0"/>
                  <a:ea typeface="宋体" panose="02010600030101010101" pitchFamily="2" charset="-122"/>
                </a:rPr>
                <a:t>i</a:t>
              </a:r>
              <a:endParaRPr lang="en-US" altLang="zh-CN">
                <a:latin typeface="Times New Roman" panose="02020603050405020304" pitchFamily="18" charset="0"/>
                <a:ea typeface="宋体" panose="02010600030101010101" pitchFamily="2" charset="-122"/>
              </a:endParaRPr>
            </a:p>
          </p:txBody>
        </p:sp>
        <p:sp>
          <p:nvSpPr>
            <p:cNvPr id="46173" name="文本框 80041"/>
            <p:cNvSpPr txBox="1"/>
            <p:nvPr/>
          </p:nvSpPr>
          <p:spPr>
            <a:xfrm>
              <a:off x="1472" y="1162"/>
              <a:ext cx="192" cy="192"/>
            </a:xfrm>
            <a:prstGeom prst="rect">
              <a:avLst/>
            </a:prstGeom>
            <a:noFill/>
            <a:ln w="9525">
              <a:noFill/>
            </a:ln>
          </p:spPr>
          <p:txBody>
            <a:bodyPr lIns="0" tIns="0" rIns="0" bIns="0" anchor="t" anchorCtr="0"/>
            <a:p>
              <a:pPr algn="just" eaLnBrk="0" hangingPunct="0"/>
              <a:r>
                <a:rPr lang="en-US" altLang="zh-CN">
                  <a:solidFill>
                    <a:schemeClr val="accent2"/>
                  </a:solidFill>
                  <a:latin typeface="Times New Roman" panose="02020603050405020304" pitchFamily="18" charset="0"/>
                  <a:ea typeface="宋体" panose="02010600030101010101" pitchFamily="2" charset="-122"/>
                </a:rPr>
                <a:t>i</a:t>
              </a:r>
              <a:r>
                <a:rPr lang="en-US" altLang="zh-CN" baseline="-25000">
                  <a:solidFill>
                    <a:schemeClr val="accent2"/>
                  </a:solidFill>
                  <a:latin typeface="Times New Roman" panose="02020603050405020304" pitchFamily="18" charset="0"/>
                  <a:ea typeface="宋体" panose="02010600030101010101" pitchFamily="2" charset="-122"/>
                </a:rPr>
                <a:t>u</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46174" name="文本框 80042"/>
            <p:cNvSpPr txBox="1"/>
            <p:nvPr/>
          </p:nvSpPr>
          <p:spPr>
            <a:xfrm>
              <a:off x="1872" y="1162"/>
              <a:ext cx="192" cy="192"/>
            </a:xfrm>
            <a:prstGeom prst="rect">
              <a:avLst/>
            </a:prstGeom>
            <a:noFill/>
            <a:ln w="9525">
              <a:noFill/>
            </a:ln>
          </p:spPr>
          <p:txBody>
            <a:bodyPr lIns="0" tIns="0" rIns="0" bIns="0" anchor="t" anchorCtr="0"/>
            <a:p>
              <a:pPr algn="just" eaLnBrk="0" hangingPunct="0"/>
              <a:r>
                <a:rPr lang="en-US" altLang="zh-CN">
                  <a:solidFill>
                    <a:srgbClr val="996600"/>
                  </a:solidFill>
                  <a:latin typeface="Times New Roman" panose="02020603050405020304" pitchFamily="18" charset="0"/>
                  <a:ea typeface="宋体" panose="02010600030101010101" pitchFamily="2" charset="-122"/>
                </a:rPr>
                <a:t>i</a:t>
              </a:r>
              <a:r>
                <a:rPr lang="en-US" altLang="zh-CN" baseline="-25000">
                  <a:solidFill>
                    <a:srgbClr val="996600"/>
                  </a:solidFill>
                  <a:latin typeface="Times New Roman" panose="02020603050405020304" pitchFamily="18" charset="0"/>
                  <a:ea typeface="宋体" panose="02010600030101010101" pitchFamily="2" charset="-122"/>
                </a:rPr>
                <a:t>v</a:t>
              </a:r>
              <a:endParaRPr lang="en-US" altLang="zh-CN">
                <a:solidFill>
                  <a:srgbClr val="996600"/>
                </a:solidFill>
                <a:latin typeface="Times New Roman" panose="02020603050405020304" pitchFamily="18" charset="0"/>
                <a:ea typeface="宋体" panose="02010600030101010101" pitchFamily="2" charset="-122"/>
              </a:endParaRPr>
            </a:p>
          </p:txBody>
        </p:sp>
        <p:sp>
          <p:nvSpPr>
            <p:cNvPr id="46175" name="文本框 80043"/>
            <p:cNvSpPr txBox="1"/>
            <p:nvPr/>
          </p:nvSpPr>
          <p:spPr>
            <a:xfrm>
              <a:off x="2234" y="1162"/>
              <a:ext cx="192" cy="192"/>
            </a:xfrm>
            <a:prstGeom prst="rect">
              <a:avLst/>
            </a:prstGeom>
            <a:noFill/>
            <a:ln w="9525">
              <a:noFill/>
            </a:ln>
          </p:spPr>
          <p:txBody>
            <a:bodyPr lIns="0" tIns="0" rIns="0" bIns="0" anchor="t" anchorCtr="0"/>
            <a:p>
              <a:pPr algn="just" eaLnBrk="0" hangingPunct="0"/>
              <a:r>
                <a:rPr lang="en-US" altLang="zh-CN">
                  <a:solidFill>
                    <a:srgbClr val="FF0066"/>
                  </a:solidFill>
                  <a:latin typeface="Times New Roman" panose="02020603050405020304" pitchFamily="18" charset="0"/>
                  <a:ea typeface="宋体" panose="02010600030101010101" pitchFamily="2" charset="-122"/>
                </a:rPr>
                <a:t>i</a:t>
              </a:r>
              <a:r>
                <a:rPr lang="en-US" altLang="zh-CN" baseline="-25000">
                  <a:solidFill>
                    <a:srgbClr val="FF0066"/>
                  </a:solidFill>
                  <a:latin typeface="Times New Roman" panose="02020603050405020304" pitchFamily="18" charset="0"/>
                  <a:ea typeface="宋体" panose="02010600030101010101" pitchFamily="2" charset="-122"/>
                </a:rPr>
                <a:t>w</a:t>
              </a:r>
              <a:endParaRPr lang="en-US" altLang="zh-CN">
                <a:solidFill>
                  <a:srgbClr val="FF0066"/>
                </a:solidFill>
                <a:latin typeface="Times New Roman" panose="02020603050405020304" pitchFamily="18" charset="0"/>
                <a:ea typeface="宋体" panose="02010600030101010101" pitchFamily="2" charset="-122"/>
              </a:endParaRPr>
            </a:p>
          </p:txBody>
        </p:sp>
        <p:sp>
          <p:nvSpPr>
            <p:cNvPr id="46176" name="任意多边形 80044"/>
            <p:cNvSpPr/>
            <p:nvPr/>
          </p:nvSpPr>
          <p:spPr>
            <a:xfrm flipV="1">
              <a:off x="2245" y="1984"/>
              <a:ext cx="576" cy="581"/>
            </a:xfrm>
            <a:custGeom>
              <a:avLst/>
              <a:gdLst/>
              <a:ahLst/>
              <a:cxnLst/>
              <a:pathLst>
                <a:path w="1476" h="1562">
                  <a:moveTo>
                    <a:pt x="0" y="1562"/>
                  </a:moveTo>
                  <a:cubicBezTo>
                    <a:pt x="118" y="1302"/>
                    <a:pt x="462" y="4"/>
                    <a:pt x="708" y="2"/>
                  </a:cubicBezTo>
                  <a:cubicBezTo>
                    <a:pt x="954" y="0"/>
                    <a:pt x="1316" y="1228"/>
                    <a:pt x="1476" y="1550"/>
                  </a:cubicBezTo>
                </a:path>
              </a:pathLst>
            </a:custGeom>
            <a:noFill/>
            <a:ln w="38100" cap="flat" cmpd="sng">
              <a:solidFill>
                <a:srgbClr val="CC9900"/>
              </a:solidFill>
              <a:prstDash val="solid"/>
              <a:round/>
              <a:headEnd type="none" w="med" len="med"/>
              <a:tailEnd type="none" w="med" len="med"/>
            </a:ln>
          </p:spPr>
          <p:txBody>
            <a:bodyPr/>
            <a:p>
              <a:endParaRPr lang="zh-CN" altLang="en-US"/>
            </a:p>
          </p:txBody>
        </p:sp>
        <p:sp>
          <p:nvSpPr>
            <p:cNvPr id="46177" name="直接连接符 80045"/>
            <p:cNvSpPr/>
            <p:nvPr/>
          </p:nvSpPr>
          <p:spPr>
            <a:xfrm flipV="1">
              <a:off x="2328" y="1207"/>
              <a:ext cx="0" cy="1344"/>
            </a:xfrm>
            <a:prstGeom prst="line">
              <a:avLst/>
            </a:prstGeom>
            <a:ln w="9525" cap="rnd" cmpd="sng">
              <a:solidFill>
                <a:schemeClr val="tx1"/>
              </a:solidFill>
              <a:prstDash val="sysDot"/>
              <a:round/>
              <a:headEnd type="none" w="med" len="med"/>
              <a:tailEnd type="none" w="med" len="med"/>
            </a:ln>
          </p:spPr>
        </p:sp>
        <p:sp>
          <p:nvSpPr>
            <p:cNvPr id="46178" name="文本框 80046"/>
            <p:cNvSpPr txBox="1"/>
            <p:nvPr/>
          </p:nvSpPr>
          <p:spPr>
            <a:xfrm>
              <a:off x="2245" y="2568"/>
              <a:ext cx="240" cy="192"/>
            </a:xfrm>
            <a:prstGeom prst="rect">
              <a:avLst/>
            </a:prstGeom>
            <a:noFill/>
            <a:ln w="9525">
              <a:noFill/>
            </a:ln>
          </p:spPr>
          <p:txBody>
            <a:bodyPr lIns="0" tIns="0" rIns="0" bIns="0" anchor="t" anchorCtr="0"/>
            <a:p>
              <a:pPr algn="just" eaLnBrk="0" hangingPunct="0"/>
              <a:r>
                <a:rPr lang="en-US" altLang="zh-CN" sz="1800">
                  <a:latin typeface="Times New Roman" panose="02020603050405020304" pitchFamily="18" charset="0"/>
                  <a:ea typeface="宋体" panose="02010600030101010101" pitchFamily="2" charset="-122"/>
                </a:rPr>
                <a:t>330</a:t>
              </a:r>
              <a:endParaRPr lang="en-US" altLang="zh-CN" sz="1800">
                <a:latin typeface="Times New Roman" panose="02020603050405020304" pitchFamily="18" charset="0"/>
                <a:ea typeface="宋体" panose="02010600030101010101" pitchFamily="2" charset="-122"/>
              </a:endParaRPr>
            </a:p>
          </p:txBody>
        </p:sp>
      </p:grpSp>
      <p:sp>
        <p:nvSpPr>
          <p:cNvPr id="46179" name="矩形 80047"/>
          <p:cNvSpPr/>
          <p:nvPr/>
        </p:nvSpPr>
        <p:spPr>
          <a:xfrm>
            <a:off x="971550" y="2708275"/>
            <a:ext cx="2513013" cy="457200"/>
          </a:xfrm>
          <a:prstGeom prst="rect">
            <a:avLst/>
          </a:prstGeom>
          <a:noFill/>
          <a:ln w="9525">
            <a:noFill/>
          </a:ln>
        </p:spPr>
        <p:txBody>
          <a:bodyPr wrap="none" anchor="t" anchorCtr="0">
            <a:spAutoFit/>
          </a:bodyPr>
          <a:p>
            <a:r>
              <a:rPr lang="en-US" altLang="zh-CN" dirty="0">
                <a:solidFill>
                  <a:srgbClr val="CC0000"/>
                </a:solidFill>
                <a:latin typeface="Times New Roman" panose="02020603050405020304" pitchFamily="18" charset="0"/>
                <a:ea typeface="宋体" panose="02010600030101010101" pitchFamily="2" charset="-122"/>
                <a:sym typeface="Symbol" panose="05050102010706020507" pitchFamily="18" charset="2"/>
              </a:rPr>
              <a:t>I</a:t>
            </a:r>
            <a:r>
              <a:rPr lang="zh-CN" altLang="en-US" dirty="0">
                <a:solidFill>
                  <a:srgbClr val="CC0000"/>
                </a:solidFill>
                <a:latin typeface="Times New Roman" panose="02020603050405020304" pitchFamily="18" charset="0"/>
                <a:ea typeface="宋体" panose="02010600030101010101" pitchFamily="2" charset="-122"/>
                <a:sym typeface="Symbol" panose="05050102010706020507" pitchFamily="18" charset="2"/>
              </a:rPr>
              <a:t>正方向</a:t>
            </a:r>
            <a:r>
              <a:rPr lang="en-US" altLang="zh-CN" dirty="0">
                <a:solidFill>
                  <a:srgbClr val="CC0000"/>
                </a:solidFill>
                <a:latin typeface="Times New Roman" panose="02020603050405020304" pitchFamily="18" charset="0"/>
                <a:ea typeface="宋体" panose="02010600030101010101" pitchFamily="2" charset="-122"/>
                <a:sym typeface="Symbol" panose="05050102010706020507" pitchFamily="18" charset="2"/>
              </a:rPr>
              <a:t>,</a:t>
            </a:r>
            <a:r>
              <a:rPr lang="zh-CN" altLang="en-US" dirty="0">
                <a:solidFill>
                  <a:srgbClr val="CC0000"/>
                </a:solidFill>
                <a:latin typeface="Times New Roman" panose="02020603050405020304" pitchFamily="18" charset="0"/>
                <a:ea typeface="宋体" panose="02010600030101010101" pitchFamily="2" charset="-122"/>
                <a:sym typeface="Symbol" panose="05050102010706020507" pitchFamily="18" charset="2"/>
              </a:rPr>
              <a:t>首进尾出</a:t>
            </a:r>
            <a:endParaRPr lang="zh-CN" altLang="en-US" dirty="0">
              <a:solidFill>
                <a:srgbClr val="CC0000"/>
              </a:solidFill>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8933" name="组合 118932"/>
          <p:cNvGrpSpPr/>
          <p:nvPr/>
        </p:nvGrpSpPr>
        <p:grpSpPr>
          <a:xfrm>
            <a:off x="4648200" y="88900"/>
            <a:ext cx="3505200" cy="3581400"/>
            <a:chOff x="1066" y="2064"/>
            <a:chExt cx="2208" cy="2256"/>
          </a:xfrm>
        </p:grpSpPr>
        <p:sp>
          <p:nvSpPr>
            <p:cNvPr id="47106" name="文本框 118933"/>
            <p:cNvSpPr txBox="1"/>
            <p:nvPr/>
          </p:nvSpPr>
          <p:spPr>
            <a:xfrm>
              <a:off x="1546" y="2220"/>
              <a:ext cx="336"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107" name="文本框 118934"/>
            <p:cNvSpPr txBox="1"/>
            <p:nvPr/>
          </p:nvSpPr>
          <p:spPr>
            <a:xfrm>
              <a:off x="1270" y="2508"/>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08" name="文本框 118935"/>
            <p:cNvSpPr txBox="1"/>
            <p:nvPr/>
          </p:nvSpPr>
          <p:spPr>
            <a:xfrm>
              <a:off x="1162" y="2916"/>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09" name="文本框 118936"/>
            <p:cNvSpPr txBox="1"/>
            <p:nvPr/>
          </p:nvSpPr>
          <p:spPr>
            <a:xfrm>
              <a:off x="1282" y="3420"/>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10" name="文本框 118937"/>
            <p:cNvSpPr txBox="1"/>
            <p:nvPr/>
          </p:nvSpPr>
          <p:spPr>
            <a:xfrm>
              <a:off x="1522" y="3756"/>
              <a:ext cx="43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111" name="文本框 118938"/>
            <p:cNvSpPr txBox="1"/>
            <p:nvPr/>
          </p:nvSpPr>
          <p:spPr>
            <a:xfrm>
              <a:off x="2110" y="3816"/>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12" name="文本框 118939"/>
            <p:cNvSpPr txBox="1"/>
            <p:nvPr/>
          </p:nvSpPr>
          <p:spPr>
            <a:xfrm>
              <a:off x="2554" y="3696"/>
              <a:ext cx="300"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113" name="文本框 118940"/>
            <p:cNvSpPr txBox="1"/>
            <p:nvPr/>
          </p:nvSpPr>
          <p:spPr>
            <a:xfrm>
              <a:off x="2806" y="2508"/>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14" name="文本框 118941"/>
            <p:cNvSpPr txBox="1"/>
            <p:nvPr/>
          </p:nvSpPr>
          <p:spPr>
            <a:xfrm>
              <a:off x="2830" y="3432"/>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15" name="文本框 118942"/>
            <p:cNvSpPr txBox="1"/>
            <p:nvPr/>
          </p:nvSpPr>
          <p:spPr>
            <a:xfrm>
              <a:off x="2530" y="2220"/>
              <a:ext cx="43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116" name="文本框 118943"/>
            <p:cNvSpPr txBox="1"/>
            <p:nvPr/>
          </p:nvSpPr>
          <p:spPr>
            <a:xfrm>
              <a:off x="2086" y="2064"/>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17" name="椭圆 118944"/>
            <p:cNvSpPr/>
            <p:nvPr/>
          </p:nvSpPr>
          <p:spPr>
            <a:xfrm>
              <a:off x="1366" y="2292"/>
              <a:ext cx="1587" cy="1587"/>
            </a:xfrm>
            <a:prstGeom prst="ellipse">
              <a:avLst/>
            </a:prstGeom>
            <a:solidFill>
              <a:srgbClr val="FFFFFF"/>
            </a:solidFill>
            <a:ln w="38100"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18" name="椭圆 118945"/>
            <p:cNvSpPr/>
            <p:nvPr/>
          </p:nvSpPr>
          <p:spPr>
            <a:xfrm>
              <a:off x="1714" y="2621"/>
              <a:ext cx="907" cy="907"/>
            </a:xfrm>
            <a:prstGeom prst="ellipse">
              <a:avLst/>
            </a:prstGeom>
            <a:solidFill>
              <a:srgbClr val="FFFFFF"/>
            </a:solidFill>
            <a:ln w="38100"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19" name="文本框 118946"/>
            <p:cNvSpPr txBox="1"/>
            <p:nvPr/>
          </p:nvSpPr>
          <p:spPr>
            <a:xfrm>
              <a:off x="2950" y="2916"/>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grpSp>
          <p:nvGrpSpPr>
            <p:cNvPr id="47120" name="组合 118947"/>
            <p:cNvGrpSpPr/>
            <p:nvPr/>
          </p:nvGrpSpPr>
          <p:grpSpPr>
            <a:xfrm>
              <a:off x="1786" y="2496"/>
              <a:ext cx="144" cy="140"/>
              <a:chOff x="3080" y="12615"/>
              <a:chExt cx="283" cy="283"/>
            </a:xfrm>
          </p:grpSpPr>
          <p:sp>
            <p:nvSpPr>
              <p:cNvPr id="47121" name="椭圆 118948"/>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22" name="椭圆 118949"/>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123" name="组合 118950"/>
            <p:cNvGrpSpPr/>
            <p:nvPr/>
          </p:nvGrpSpPr>
          <p:grpSpPr>
            <a:xfrm>
              <a:off x="1594" y="2688"/>
              <a:ext cx="144" cy="140"/>
              <a:chOff x="3080" y="12615"/>
              <a:chExt cx="283" cy="283"/>
            </a:xfrm>
          </p:grpSpPr>
          <p:sp>
            <p:nvSpPr>
              <p:cNvPr id="47124" name="椭圆 118951"/>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25" name="椭圆 118952"/>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126" name="组合 118953"/>
            <p:cNvGrpSpPr/>
            <p:nvPr/>
          </p:nvGrpSpPr>
          <p:grpSpPr>
            <a:xfrm>
              <a:off x="1738" y="3552"/>
              <a:ext cx="143" cy="140"/>
              <a:chOff x="4560" y="12615"/>
              <a:chExt cx="283" cy="283"/>
            </a:xfrm>
          </p:grpSpPr>
          <p:sp>
            <p:nvSpPr>
              <p:cNvPr id="47127" name="椭圆 118954"/>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128" name="组合 118955"/>
              <p:cNvGrpSpPr/>
              <p:nvPr/>
            </p:nvGrpSpPr>
            <p:grpSpPr>
              <a:xfrm>
                <a:off x="4640" y="12695"/>
                <a:ext cx="120" cy="140"/>
                <a:chOff x="4800" y="7260"/>
                <a:chExt cx="220" cy="220"/>
              </a:xfrm>
            </p:grpSpPr>
            <p:sp>
              <p:nvSpPr>
                <p:cNvPr id="47129" name="直接连接符 118956"/>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130" name="直接连接符 118957"/>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131" name="组合 118958"/>
            <p:cNvGrpSpPr/>
            <p:nvPr/>
          </p:nvGrpSpPr>
          <p:grpSpPr>
            <a:xfrm>
              <a:off x="1498" y="3312"/>
              <a:ext cx="143" cy="140"/>
              <a:chOff x="4560" y="12615"/>
              <a:chExt cx="283" cy="283"/>
            </a:xfrm>
          </p:grpSpPr>
          <p:sp>
            <p:nvSpPr>
              <p:cNvPr id="47132" name="椭圆 118959"/>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133" name="组合 118960"/>
              <p:cNvGrpSpPr/>
              <p:nvPr/>
            </p:nvGrpSpPr>
            <p:grpSpPr>
              <a:xfrm>
                <a:off x="4640" y="12695"/>
                <a:ext cx="120" cy="140"/>
                <a:chOff x="4800" y="7260"/>
                <a:chExt cx="220" cy="220"/>
              </a:xfrm>
            </p:grpSpPr>
            <p:sp>
              <p:nvSpPr>
                <p:cNvPr id="47134" name="直接连接符 118961"/>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135" name="直接连接符 118962"/>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136" name="组合 118963"/>
            <p:cNvGrpSpPr/>
            <p:nvPr/>
          </p:nvGrpSpPr>
          <p:grpSpPr>
            <a:xfrm>
              <a:off x="2602" y="3360"/>
              <a:ext cx="144" cy="140"/>
              <a:chOff x="3080" y="12615"/>
              <a:chExt cx="283" cy="283"/>
            </a:xfrm>
          </p:grpSpPr>
          <p:sp>
            <p:nvSpPr>
              <p:cNvPr id="47137" name="椭圆 118964"/>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38" name="椭圆 118965"/>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139" name="组合 118966"/>
            <p:cNvGrpSpPr/>
            <p:nvPr/>
          </p:nvGrpSpPr>
          <p:grpSpPr>
            <a:xfrm>
              <a:off x="2410" y="3552"/>
              <a:ext cx="144" cy="140"/>
              <a:chOff x="3080" y="12615"/>
              <a:chExt cx="283" cy="283"/>
            </a:xfrm>
          </p:grpSpPr>
          <p:sp>
            <p:nvSpPr>
              <p:cNvPr id="47140" name="椭圆 118967"/>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41" name="椭圆 118968"/>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142" name="组合 118969"/>
            <p:cNvGrpSpPr/>
            <p:nvPr/>
          </p:nvGrpSpPr>
          <p:grpSpPr>
            <a:xfrm>
              <a:off x="2662" y="2736"/>
              <a:ext cx="143" cy="140"/>
              <a:chOff x="4560" y="12615"/>
              <a:chExt cx="283" cy="283"/>
            </a:xfrm>
          </p:grpSpPr>
          <p:sp>
            <p:nvSpPr>
              <p:cNvPr id="47143" name="椭圆 118970"/>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144" name="组合 118971"/>
              <p:cNvGrpSpPr/>
              <p:nvPr/>
            </p:nvGrpSpPr>
            <p:grpSpPr>
              <a:xfrm>
                <a:off x="4640" y="12695"/>
                <a:ext cx="120" cy="140"/>
                <a:chOff x="4800" y="7260"/>
                <a:chExt cx="220" cy="220"/>
              </a:xfrm>
            </p:grpSpPr>
            <p:sp>
              <p:nvSpPr>
                <p:cNvPr id="47145" name="直接连接符 118972"/>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146" name="直接连接符 118973"/>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147" name="组合 118974"/>
            <p:cNvGrpSpPr/>
            <p:nvPr/>
          </p:nvGrpSpPr>
          <p:grpSpPr>
            <a:xfrm>
              <a:off x="2458" y="2496"/>
              <a:ext cx="143" cy="140"/>
              <a:chOff x="4560" y="12615"/>
              <a:chExt cx="283" cy="283"/>
            </a:xfrm>
          </p:grpSpPr>
          <p:sp>
            <p:nvSpPr>
              <p:cNvPr id="47148" name="椭圆 118975"/>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149" name="组合 118976"/>
              <p:cNvGrpSpPr/>
              <p:nvPr/>
            </p:nvGrpSpPr>
            <p:grpSpPr>
              <a:xfrm>
                <a:off x="4640" y="12695"/>
                <a:ext cx="120" cy="140"/>
                <a:chOff x="4800" y="7260"/>
                <a:chExt cx="220" cy="220"/>
              </a:xfrm>
            </p:grpSpPr>
            <p:sp>
              <p:nvSpPr>
                <p:cNvPr id="47150" name="直接连接符 118977"/>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151" name="直接连接符 118978"/>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sp>
          <p:nvSpPr>
            <p:cNvPr id="47152" name="文本框 118979"/>
            <p:cNvSpPr txBox="1"/>
            <p:nvPr/>
          </p:nvSpPr>
          <p:spPr>
            <a:xfrm>
              <a:off x="2278" y="3048"/>
              <a:ext cx="216" cy="240"/>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FF0066"/>
                  </a:solidFill>
                  <a:latin typeface="Times New Roman" panose="02020603050405020304" pitchFamily="18" charset="0"/>
                  <a:ea typeface="宋体" panose="02010600030101010101" pitchFamily="2" charset="-122"/>
                </a:rPr>
                <a:t>N</a:t>
              </a:r>
              <a:endParaRPr lang="en-US" altLang="zh-CN" sz="2000">
                <a:solidFill>
                  <a:srgbClr val="FF0066"/>
                </a:solidFill>
                <a:latin typeface="Times New Roman" panose="02020603050405020304" pitchFamily="18" charset="0"/>
                <a:ea typeface="宋体" panose="02010600030101010101" pitchFamily="2" charset="-122"/>
              </a:endParaRPr>
            </a:p>
          </p:txBody>
        </p:sp>
        <p:sp>
          <p:nvSpPr>
            <p:cNvPr id="47153" name="文本框 118980"/>
            <p:cNvSpPr txBox="1"/>
            <p:nvPr/>
          </p:nvSpPr>
          <p:spPr>
            <a:xfrm>
              <a:off x="2158" y="2772"/>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S</a:t>
              </a:r>
              <a:endParaRPr lang="en-US" altLang="zh-CN" sz="2000">
                <a:latin typeface="Times New Roman" panose="02020603050405020304" pitchFamily="18" charset="0"/>
                <a:ea typeface="宋体" panose="02010600030101010101" pitchFamily="2" charset="-122"/>
              </a:endParaRPr>
            </a:p>
          </p:txBody>
        </p:sp>
        <p:sp>
          <p:nvSpPr>
            <p:cNvPr id="47154" name="文本框 118981"/>
            <p:cNvSpPr txBox="1"/>
            <p:nvPr/>
          </p:nvSpPr>
          <p:spPr>
            <a:xfrm>
              <a:off x="1882" y="2928"/>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p:txBody>
        </p:sp>
        <p:sp>
          <p:nvSpPr>
            <p:cNvPr id="47155" name="文本框 118982"/>
            <p:cNvSpPr txBox="1"/>
            <p:nvPr/>
          </p:nvSpPr>
          <p:spPr>
            <a:xfrm>
              <a:off x="2026" y="3216"/>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S</a:t>
              </a:r>
              <a:endParaRPr lang="en-US" altLang="zh-CN" sz="2000">
                <a:latin typeface="Times New Roman" panose="02020603050405020304" pitchFamily="18" charset="0"/>
                <a:ea typeface="宋体" panose="02010600030101010101" pitchFamily="2" charset="-122"/>
              </a:endParaRPr>
            </a:p>
          </p:txBody>
        </p:sp>
        <p:sp>
          <p:nvSpPr>
            <p:cNvPr id="47156" name="椭圆 118983"/>
            <p:cNvSpPr/>
            <p:nvPr/>
          </p:nvSpPr>
          <p:spPr>
            <a:xfrm rot="-1438667">
              <a:off x="1534" y="2340"/>
              <a:ext cx="816" cy="528"/>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57" name="椭圆 118984"/>
            <p:cNvSpPr/>
            <p:nvPr/>
          </p:nvSpPr>
          <p:spPr>
            <a:xfrm rot="-1806378">
              <a:off x="2359" y="2434"/>
              <a:ext cx="525" cy="860"/>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58" name="椭圆 118985"/>
            <p:cNvSpPr/>
            <p:nvPr/>
          </p:nvSpPr>
          <p:spPr>
            <a:xfrm rot="-1879142">
              <a:off x="1943" y="3306"/>
              <a:ext cx="864" cy="492"/>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59" name="椭圆 118986"/>
            <p:cNvSpPr/>
            <p:nvPr/>
          </p:nvSpPr>
          <p:spPr>
            <a:xfrm rot="-1265617">
              <a:off x="1473" y="2827"/>
              <a:ext cx="456" cy="960"/>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60" name="直接连接符 118987"/>
            <p:cNvSpPr/>
            <p:nvPr/>
          </p:nvSpPr>
          <p:spPr>
            <a:xfrm flipH="1" flipV="1">
              <a:off x="2458" y="3168"/>
              <a:ext cx="240" cy="84"/>
            </a:xfrm>
            <a:prstGeom prst="line">
              <a:avLst/>
            </a:prstGeom>
            <a:ln w="57150" cap="flat" cmpd="sng">
              <a:solidFill>
                <a:srgbClr val="FF0066"/>
              </a:solidFill>
              <a:prstDash val="solid"/>
              <a:round/>
              <a:headEnd type="none" w="med" len="med"/>
              <a:tailEnd type="triangle" w="med" len="med"/>
            </a:ln>
          </p:spPr>
        </p:sp>
        <p:grpSp>
          <p:nvGrpSpPr>
            <p:cNvPr id="47161" name="组合 118988"/>
            <p:cNvGrpSpPr/>
            <p:nvPr/>
          </p:nvGrpSpPr>
          <p:grpSpPr>
            <a:xfrm>
              <a:off x="2122" y="2400"/>
              <a:ext cx="144" cy="140"/>
              <a:chOff x="3080" y="12615"/>
              <a:chExt cx="283" cy="283"/>
            </a:xfrm>
          </p:grpSpPr>
          <p:sp>
            <p:nvSpPr>
              <p:cNvPr id="47162" name="椭圆 118989"/>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63" name="椭圆 118990"/>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164" name="组合 118991"/>
            <p:cNvGrpSpPr/>
            <p:nvPr/>
          </p:nvGrpSpPr>
          <p:grpSpPr>
            <a:xfrm>
              <a:off x="2698" y="3024"/>
              <a:ext cx="143" cy="140"/>
              <a:chOff x="4560" y="12615"/>
              <a:chExt cx="283" cy="283"/>
            </a:xfrm>
          </p:grpSpPr>
          <p:sp>
            <p:nvSpPr>
              <p:cNvPr id="47165" name="椭圆 118992"/>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166" name="组合 118993"/>
              <p:cNvGrpSpPr/>
              <p:nvPr/>
            </p:nvGrpSpPr>
            <p:grpSpPr>
              <a:xfrm>
                <a:off x="4640" y="12695"/>
                <a:ext cx="120" cy="140"/>
                <a:chOff x="4800" y="7260"/>
                <a:chExt cx="220" cy="220"/>
              </a:xfrm>
            </p:grpSpPr>
            <p:sp>
              <p:nvSpPr>
                <p:cNvPr id="47167" name="直接连接符 118994"/>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168" name="直接连接符 118995"/>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169" name="组合 118996"/>
            <p:cNvGrpSpPr/>
            <p:nvPr/>
          </p:nvGrpSpPr>
          <p:grpSpPr>
            <a:xfrm>
              <a:off x="2110" y="3648"/>
              <a:ext cx="144" cy="140"/>
              <a:chOff x="3080" y="12615"/>
              <a:chExt cx="283" cy="283"/>
            </a:xfrm>
          </p:grpSpPr>
          <p:sp>
            <p:nvSpPr>
              <p:cNvPr id="47170" name="椭圆 118997"/>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71" name="椭圆 118998"/>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172" name="组合 118999"/>
            <p:cNvGrpSpPr/>
            <p:nvPr/>
          </p:nvGrpSpPr>
          <p:grpSpPr>
            <a:xfrm>
              <a:off x="1450" y="2976"/>
              <a:ext cx="143" cy="140"/>
              <a:chOff x="4560" y="12615"/>
              <a:chExt cx="283" cy="283"/>
            </a:xfrm>
          </p:grpSpPr>
          <p:sp>
            <p:nvSpPr>
              <p:cNvPr id="47173" name="椭圆 119000"/>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174" name="组合 119001"/>
              <p:cNvGrpSpPr/>
              <p:nvPr/>
            </p:nvGrpSpPr>
            <p:grpSpPr>
              <a:xfrm>
                <a:off x="4640" y="12695"/>
                <a:ext cx="120" cy="140"/>
                <a:chOff x="4800" y="7260"/>
                <a:chExt cx="220" cy="220"/>
              </a:xfrm>
            </p:grpSpPr>
            <p:sp>
              <p:nvSpPr>
                <p:cNvPr id="47175" name="直接连接符 119002"/>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176" name="直接连接符 119003"/>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sp>
          <p:nvSpPr>
            <p:cNvPr id="47177" name="直接连接符 119004"/>
            <p:cNvSpPr/>
            <p:nvPr/>
          </p:nvSpPr>
          <p:spPr>
            <a:xfrm>
              <a:off x="1642" y="2880"/>
              <a:ext cx="192" cy="60"/>
            </a:xfrm>
            <a:prstGeom prst="line">
              <a:avLst/>
            </a:prstGeom>
            <a:ln w="57150" cap="flat" cmpd="sng">
              <a:solidFill>
                <a:srgbClr val="FF0066"/>
              </a:solidFill>
              <a:prstDash val="solid"/>
              <a:round/>
              <a:headEnd type="none" w="med" len="med"/>
              <a:tailEnd type="triangle" w="med" len="med"/>
            </a:ln>
          </p:spPr>
        </p:sp>
        <p:sp>
          <p:nvSpPr>
            <p:cNvPr id="47178" name="直接连接符 119005"/>
            <p:cNvSpPr/>
            <p:nvPr/>
          </p:nvSpPr>
          <p:spPr>
            <a:xfrm flipV="1">
              <a:off x="2266" y="2520"/>
              <a:ext cx="96" cy="192"/>
            </a:xfrm>
            <a:prstGeom prst="line">
              <a:avLst/>
            </a:prstGeom>
            <a:ln w="57150" cap="flat" cmpd="sng">
              <a:solidFill>
                <a:schemeClr val="accent2"/>
              </a:solidFill>
              <a:prstDash val="solid"/>
              <a:round/>
              <a:headEnd type="none" w="med" len="med"/>
              <a:tailEnd type="triangle" w="med" len="med"/>
            </a:ln>
          </p:spPr>
        </p:sp>
        <p:sp>
          <p:nvSpPr>
            <p:cNvPr id="47179" name="直接连接符 119006"/>
            <p:cNvSpPr/>
            <p:nvPr/>
          </p:nvSpPr>
          <p:spPr>
            <a:xfrm flipH="1">
              <a:off x="1942" y="3552"/>
              <a:ext cx="48" cy="144"/>
            </a:xfrm>
            <a:prstGeom prst="line">
              <a:avLst/>
            </a:prstGeom>
            <a:ln w="57150" cap="flat" cmpd="sng">
              <a:solidFill>
                <a:schemeClr val="accent2"/>
              </a:solidFill>
              <a:prstDash val="solid"/>
              <a:round/>
              <a:headEnd type="none" w="med" len="med"/>
              <a:tailEnd type="triangle" w="med" len="med"/>
            </a:ln>
          </p:spPr>
        </p:sp>
        <p:sp>
          <p:nvSpPr>
            <p:cNvPr id="47180" name="文本框 119007"/>
            <p:cNvSpPr txBox="1"/>
            <p:nvPr/>
          </p:nvSpPr>
          <p:spPr>
            <a:xfrm>
              <a:off x="1066" y="4032"/>
              <a:ext cx="2208" cy="28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t=210;i</a:t>
              </a:r>
              <a:r>
                <a:rPr lang="en-US" altLang="zh-CN" sz="20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u</a:t>
              </a:r>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&lt;0, i</a:t>
              </a:r>
              <a:r>
                <a:rPr lang="en-US" altLang="zh-CN" sz="20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v</a:t>
              </a:r>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&gt;0, i</a:t>
              </a:r>
              <a:r>
                <a:rPr lang="en-US" altLang="zh-CN" sz="20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w</a:t>
              </a:r>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&lt;0</a:t>
              </a:r>
              <a:endPar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endParaRPr>
            </a:p>
          </p:txBody>
        </p:sp>
      </p:grpSp>
      <p:grpSp>
        <p:nvGrpSpPr>
          <p:cNvPr id="119009" name="组合 119008"/>
          <p:cNvGrpSpPr/>
          <p:nvPr/>
        </p:nvGrpSpPr>
        <p:grpSpPr>
          <a:xfrm>
            <a:off x="539750" y="3584575"/>
            <a:ext cx="3313113" cy="3248025"/>
            <a:chOff x="3264" y="2064"/>
            <a:chExt cx="2247" cy="2256"/>
          </a:xfrm>
        </p:grpSpPr>
        <p:sp>
          <p:nvSpPr>
            <p:cNvPr id="47182" name="文本框 119009"/>
            <p:cNvSpPr txBox="1"/>
            <p:nvPr/>
          </p:nvSpPr>
          <p:spPr>
            <a:xfrm>
              <a:off x="3648" y="2220"/>
              <a:ext cx="336"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183" name="文本框 119010"/>
            <p:cNvSpPr txBox="1"/>
            <p:nvPr/>
          </p:nvSpPr>
          <p:spPr>
            <a:xfrm>
              <a:off x="3372" y="2508"/>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84" name="文本框 119011"/>
            <p:cNvSpPr txBox="1"/>
            <p:nvPr/>
          </p:nvSpPr>
          <p:spPr>
            <a:xfrm>
              <a:off x="3264" y="2916"/>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85" name="文本框 119012"/>
            <p:cNvSpPr txBox="1"/>
            <p:nvPr/>
          </p:nvSpPr>
          <p:spPr>
            <a:xfrm>
              <a:off x="3384" y="3420"/>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86" name="文本框 119013"/>
            <p:cNvSpPr txBox="1"/>
            <p:nvPr/>
          </p:nvSpPr>
          <p:spPr>
            <a:xfrm>
              <a:off x="3624" y="3756"/>
              <a:ext cx="43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187" name="文本框 119014"/>
            <p:cNvSpPr txBox="1"/>
            <p:nvPr/>
          </p:nvSpPr>
          <p:spPr>
            <a:xfrm>
              <a:off x="4212" y="3816"/>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88" name="文本框 119015"/>
            <p:cNvSpPr txBox="1"/>
            <p:nvPr/>
          </p:nvSpPr>
          <p:spPr>
            <a:xfrm>
              <a:off x="4656" y="3696"/>
              <a:ext cx="300"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189" name="文本框 119016"/>
            <p:cNvSpPr txBox="1"/>
            <p:nvPr/>
          </p:nvSpPr>
          <p:spPr>
            <a:xfrm>
              <a:off x="4908" y="2508"/>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90" name="文本框 119017"/>
            <p:cNvSpPr txBox="1"/>
            <p:nvPr/>
          </p:nvSpPr>
          <p:spPr>
            <a:xfrm>
              <a:off x="4932" y="3432"/>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91" name="文本框 119018"/>
            <p:cNvSpPr txBox="1"/>
            <p:nvPr/>
          </p:nvSpPr>
          <p:spPr>
            <a:xfrm>
              <a:off x="4632" y="2220"/>
              <a:ext cx="43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192" name="文本框 119019"/>
            <p:cNvSpPr txBox="1"/>
            <p:nvPr/>
          </p:nvSpPr>
          <p:spPr>
            <a:xfrm>
              <a:off x="4188" y="2064"/>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193" name="椭圆 119020"/>
            <p:cNvSpPr/>
            <p:nvPr/>
          </p:nvSpPr>
          <p:spPr>
            <a:xfrm>
              <a:off x="3468" y="2292"/>
              <a:ext cx="1587" cy="1587"/>
            </a:xfrm>
            <a:prstGeom prst="ellipse">
              <a:avLst/>
            </a:prstGeom>
            <a:solidFill>
              <a:srgbClr val="FFFFFF"/>
            </a:solidFill>
            <a:ln w="38100"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94" name="椭圆 119021"/>
            <p:cNvSpPr/>
            <p:nvPr/>
          </p:nvSpPr>
          <p:spPr>
            <a:xfrm>
              <a:off x="3816" y="2621"/>
              <a:ext cx="907" cy="907"/>
            </a:xfrm>
            <a:prstGeom prst="ellipse">
              <a:avLst/>
            </a:prstGeom>
            <a:solidFill>
              <a:srgbClr val="FFFFFF"/>
            </a:solidFill>
            <a:ln w="38100"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95" name="文本框 119022"/>
            <p:cNvSpPr txBox="1"/>
            <p:nvPr/>
          </p:nvSpPr>
          <p:spPr>
            <a:xfrm>
              <a:off x="5052" y="2916"/>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grpSp>
          <p:nvGrpSpPr>
            <p:cNvPr id="47196" name="组合 119023"/>
            <p:cNvGrpSpPr/>
            <p:nvPr/>
          </p:nvGrpSpPr>
          <p:grpSpPr>
            <a:xfrm>
              <a:off x="3624" y="3288"/>
              <a:ext cx="144" cy="140"/>
              <a:chOff x="3080" y="12615"/>
              <a:chExt cx="283" cy="283"/>
            </a:xfrm>
          </p:grpSpPr>
          <p:sp>
            <p:nvSpPr>
              <p:cNvPr id="47197" name="椭圆 119024"/>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198" name="椭圆 119025"/>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199" name="组合 119026"/>
            <p:cNvGrpSpPr/>
            <p:nvPr/>
          </p:nvGrpSpPr>
          <p:grpSpPr>
            <a:xfrm>
              <a:off x="3816" y="3564"/>
              <a:ext cx="144" cy="140"/>
              <a:chOff x="3080" y="12615"/>
              <a:chExt cx="283" cy="283"/>
            </a:xfrm>
          </p:grpSpPr>
          <p:sp>
            <p:nvSpPr>
              <p:cNvPr id="47200" name="椭圆 119027"/>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01" name="椭圆 119028"/>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202" name="组合 119029"/>
            <p:cNvGrpSpPr/>
            <p:nvPr/>
          </p:nvGrpSpPr>
          <p:grpSpPr>
            <a:xfrm>
              <a:off x="4728" y="3324"/>
              <a:ext cx="143" cy="140"/>
              <a:chOff x="4560" y="12615"/>
              <a:chExt cx="283" cy="283"/>
            </a:xfrm>
          </p:grpSpPr>
          <p:sp>
            <p:nvSpPr>
              <p:cNvPr id="47203" name="椭圆 119030"/>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204" name="组合 119031"/>
              <p:cNvGrpSpPr/>
              <p:nvPr/>
            </p:nvGrpSpPr>
            <p:grpSpPr>
              <a:xfrm>
                <a:off x="4640" y="12695"/>
                <a:ext cx="120" cy="140"/>
                <a:chOff x="4800" y="7260"/>
                <a:chExt cx="220" cy="220"/>
              </a:xfrm>
            </p:grpSpPr>
            <p:sp>
              <p:nvSpPr>
                <p:cNvPr id="47205" name="直接连接符 119032"/>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206" name="直接连接符 119033"/>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207" name="组合 119034"/>
            <p:cNvGrpSpPr/>
            <p:nvPr/>
          </p:nvGrpSpPr>
          <p:grpSpPr>
            <a:xfrm>
              <a:off x="3840" y="2496"/>
              <a:ext cx="143" cy="140"/>
              <a:chOff x="4560" y="12615"/>
              <a:chExt cx="283" cy="283"/>
            </a:xfrm>
          </p:grpSpPr>
          <p:sp>
            <p:nvSpPr>
              <p:cNvPr id="47208" name="椭圆 119035"/>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209" name="组合 119036"/>
              <p:cNvGrpSpPr/>
              <p:nvPr/>
            </p:nvGrpSpPr>
            <p:grpSpPr>
              <a:xfrm>
                <a:off x="4640" y="12695"/>
                <a:ext cx="120" cy="140"/>
                <a:chOff x="4800" y="7260"/>
                <a:chExt cx="220" cy="220"/>
              </a:xfrm>
            </p:grpSpPr>
            <p:sp>
              <p:nvSpPr>
                <p:cNvPr id="47210" name="直接连接符 119037"/>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211" name="直接连接符 119038"/>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212" name="组合 119039"/>
            <p:cNvGrpSpPr/>
            <p:nvPr/>
          </p:nvGrpSpPr>
          <p:grpSpPr>
            <a:xfrm>
              <a:off x="4584" y="2520"/>
              <a:ext cx="144" cy="140"/>
              <a:chOff x="3080" y="12615"/>
              <a:chExt cx="283" cy="283"/>
            </a:xfrm>
          </p:grpSpPr>
          <p:sp>
            <p:nvSpPr>
              <p:cNvPr id="47213" name="椭圆 119040"/>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14" name="椭圆 119041"/>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215" name="组合 119042"/>
            <p:cNvGrpSpPr/>
            <p:nvPr/>
          </p:nvGrpSpPr>
          <p:grpSpPr>
            <a:xfrm>
              <a:off x="4752" y="2736"/>
              <a:ext cx="144" cy="140"/>
              <a:chOff x="3080" y="12615"/>
              <a:chExt cx="283" cy="283"/>
            </a:xfrm>
          </p:grpSpPr>
          <p:sp>
            <p:nvSpPr>
              <p:cNvPr id="47216" name="椭圆 119043"/>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17" name="椭圆 119044"/>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218" name="组合 119045"/>
            <p:cNvGrpSpPr/>
            <p:nvPr/>
          </p:nvGrpSpPr>
          <p:grpSpPr>
            <a:xfrm>
              <a:off x="4560" y="3552"/>
              <a:ext cx="143" cy="140"/>
              <a:chOff x="4560" y="12615"/>
              <a:chExt cx="283" cy="283"/>
            </a:xfrm>
          </p:grpSpPr>
          <p:sp>
            <p:nvSpPr>
              <p:cNvPr id="47219" name="椭圆 119046"/>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220" name="组合 119047"/>
              <p:cNvGrpSpPr/>
              <p:nvPr/>
            </p:nvGrpSpPr>
            <p:grpSpPr>
              <a:xfrm>
                <a:off x="4640" y="12695"/>
                <a:ext cx="120" cy="140"/>
                <a:chOff x="4800" y="7260"/>
                <a:chExt cx="220" cy="220"/>
              </a:xfrm>
            </p:grpSpPr>
            <p:sp>
              <p:nvSpPr>
                <p:cNvPr id="47221" name="直接连接符 119048"/>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222" name="直接连接符 119049"/>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223" name="组合 119050"/>
            <p:cNvGrpSpPr/>
            <p:nvPr/>
          </p:nvGrpSpPr>
          <p:grpSpPr>
            <a:xfrm>
              <a:off x="3648" y="2688"/>
              <a:ext cx="143" cy="140"/>
              <a:chOff x="4560" y="12615"/>
              <a:chExt cx="283" cy="283"/>
            </a:xfrm>
          </p:grpSpPr>
          <p:sp>
            <p:nvSpPr>
              <p:cNvPr id="47224" name="椭圆 119051"/>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225" name="组合 119052"/>
              <p:cNvGrpSpPr/>
              <p:nvPr/>
            </p:nvGrpSpPr>
            <p:grpSpPr>
              <a:xfrm>
                <a:off x="4640" y="12695"/>
                <a:ext cx="120" cy="140"/>
                <a:chOff x="4800" y="7260"/>
                <a:chExt cx="220" cy="220"/>
              </a:xfrm>
            </p:grpSpPr>
            <p:sp>
              <p:nvSpPr>
                <p:cNvPr id="47226" name="直接连接符 119053"/>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227" name="直接连接符 119054"/>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sp>
          <p:nvSpPr>
            <p:cNvPr id="47228" name="文本框 119055"/>
            <p:cNvSpPr txBox="1"/>
            <p:nvPr/>
          </p:nvSpPr>
          <p:spPr>
            <a:xfrm>
              <a:off x="4272" y="3156"/>
              <a:ext cx="216" cy="240"/>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FF0066"/>
                  </a:solidFill>
                  <a:latin typeface="Times New Roman" panose="02020603050405020304" pitchFamily="18" charset="0"/>
                  <a:ea typeface="宋体" panose="02010600030101010101" pitchFamily="2" charset="-122"/>
                </a:rPr>
                <a:t>N</a:t>
              </a:r>
              <a:endParaRPr lang="en-US" altLang="zh-CN" sz="2000">
                <a:solidFill>
                  <a:srgbClr val="FF0066"/>
                </a:solidFill>
                <a:latin typeface="Times New Roman" panose="02020603050405020304" pitchFamily="18" charset="0"/>
                <a:ea typeface="宋体" panose="02010600030101010101" pitchFamily="2" charset="-122"/>
              </a:endParaRPr>
            </a:p>
          </p:txBody>
        </p:sp>
        <p:sp>
          <p:nvSpPr>
            <p:cNvPr id="47229" name="文本框 119056"/>
            <p:cNvSpPr txBox="1"/>
            <p:nvPr/>
          </p:nvSpPr>
          <p:spPr>
            <a:xfrm>
              <a:off x="4032" y="2976"/>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S</a:t>
              </a:r>
              <a:endParaRPr lang="en-US" altLang="zh-CN" sz="2000">
                <a:latin typeface="Times New Roman" panose="02020603050405020304" pitchFamily="18" charset="0"/>
                <a:ea typeface="宋体" panose="02010600030101010101" pitchFamily="2" charset="-122"/>
              </a:endParaRPr>
            </a:p>
          </p:txBody>
        </p:sp>
        <p:sp>
          <p:nvSpPr>
            <p:cNvPr id="47230" name="文本框 119057"/>
            <p:cNvSpPr txBox="1"/>
            <p:nvPr/>
          </p:nvSpPr>
          <p:spPr>
            <a:xfrm>
              <a:off x="4176" y="2736"/>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p:txBody>
        </p:sp>
        <p:sp>
          <p:nvSpPr>
            <p:cNvPr id="47231" name="文本框 119058"/>
            <p:cNvSpPr txBox="1"/>
            <p:nvPr/>
          </p:nvSpPr>
          <p:spPr>
            <a:xfrm>
              <a:off x="4416" y="2880"/>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S</a:t>
              </a:r>
              <a:endParaRPr lang="en-US" altLang="zh-CN" sz="2000">
                <a:latin typeface="Times New Roman" panose="02020603050405020304" pitchFamily="18" charset="0"/>
                <a:ea typeface="宋体" panose="02010600030101010101" pitchFamily="2" charset="-122"/>
              </a:endParaRPr>
            </a:p>
          </p:txBody>
        </p:sp>
        <p:sp>
          <p:nvSpPr>
            <p:cNvPr id="47232" name="椭圆 119059"/>
            <p:cNvSpPr/>
            <p:nvPr/>
          </p:nvSpPr>
          <p:spPr>
            <a:xfrm rot="-3660637">
              <a:off x="3398" y="2495"/>
              <a:ext cx="900" cy="528"/>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33" name="椭圆 119060"/>
            <p:cNvSpPr/>
            <p:nvPr/>
          </p:nvSpPr>
          <p:spPr>
            <a:xfrm rot="-3211904">
              <a:off x="3743" y="3082"/>
              <a:ext cx="525" cy="860"/>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34" name="椭圆 119061"/>
            <p:cNvSpPr/>
            <p:nvPr/>
          </p:nvSpPr>
          <p:spPr>
            <a:xfrm rot="-3734763">
              <a:off x="4260" y="3132"/>
              <a:ext cx="864" cy="492"/>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35" name="椭圆 119062"/>
            <p:cNvSpPr/>
            <p:nvPr/>
          </p:nvSpPr>
          <p:spPr>
            <a:xfrm rot="-3157260">
              <a:off x="4344" y="2160"/>
              <a:ext cx="456" cy="960"/>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236" name="组合 119063"/>
            <p:cNvGrpSpPr/>
            <p:nvPr/>
          </p:nvGrpSpPr>
          <p:grpSpPr>
            <a:xfrm>
              <a:off x="4224" y="2400"/>
              <a:ext cx="144" cy="140"/>
              <a:chOff x="3080" y="12615"/>
              <a:chExt cx="283" cy="283"/>
            </a:xfrm>
          </p:grpSpPr>
          <p:sp>
            <p:nvSpPr>
              <p:cNvPr id="47237" name="椭圆 119064"/>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38" name="椭圆 119065"/>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239" name="组合 119066"/>
            <p:cNvGrpSpPr/>
            <p:nvPr/>
          </p:nvGrpSpPr>
          <p:grpSpPr>
            <a:xfrm>
              <a:off x="4800" y="3024"/>
              <a:ext cx="143" cy="140"/>
              <a:chOff x="4560" y="12615"/>
              <a:chExt cx="283" cy="283"/>
            </a:xfrm>
          </p:grpSpPr>
          <p:sp>
            <p:nvSpPr>
              <p:cNvPr id="47240" name="椭圆 119067"/>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241" name="组合 119068"/>
              <p:cNvGrpSpPr/>
              <p:nvPr/>
            </p:nvGrpSpPr>
            <p:grpSpPr>
              <a:xfrm>
                <a:off x="4640" y="12695"/>
                <a:ext cx="120" cy="140"/>
                <a:chOff x="4800" y="7260"/>
                <a:chExt cx="220" cy="220"/>
              </a:xfrm>
            </p:grpSpPr>
            <p:sp>
              <p:nvSpPr>
                <p:cNvPr id="47242" name="直接连接符 119069"/>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243" name="直接连接符 119070"/>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244" name="组合 119071"/>
            <p:cNvGrpSpPr/>
            <p:nvPr/>
          </p:nvGrpSpPr>
          <p:grpSpPr>
            <a:xfrm>
              <a:off x="4212" y="3648"/>
              <a:ext cx="144" cy="140"/>
              <a:chOff x="3080" y="12615"/>
              <a:chExt cx="283" cy="283"/>
            </a:xfrm>
          </p:grpSpPr>
          <p:sp>
            <p:nvSpPr>
              <p:cNvPr id="47245" name="椭圆 119072"/>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46" name="椭圆 119073"/>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247" name="组合 119074"/>
            <p:cNvGrpSpPr/>
            <p:nvPr/>
          </p:nvGrpSpPr>
          <p:grpSpPr>
            <a:xfrm>
              <a:off x="3552" y="2976"/>
              <a:ext cx="143" cy="140"/>
              <a:chOff x="4560" y="12615"/>
              <a:chExt cx="283" cy="283"/>
            </a:xfrm>
          </p:grpSpPr>
          <p:sp>
            <p:nvSpPr>
              <p:cNvPr id="47248" name="椭圆 119075"/>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249" name="组合 119076"/>
              <p:cNvGrpSpPr/>
              <p:nvPr/>
            </p:nvGrpSpPr>
            <p:grpSpPr>
              <a:xfrm>
                <a:off x="4640" y="12695"/>
                <a:ext cx="120" cy="140"/>
                <a:chOff x="4800" y="7260"/>
                <a:chExt cx="220" cy="220"/>
              </a:xfrm>
            </p:grpSpPr>
            <p:sp>
              <p:nvSpPr>
                <p:cNvPr id="47250" name="直接连接符 119077"/>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251" name="直接连接符 119078"/>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sp>
          <p:nvSpPr>
            <p:cNvPr id="47252" name="直接连接符 119079"/>
            <p:cNvSpPr/>
            <p:nvPr/>
          </p:nvSpPr>
          <p:spPr>
            <a:xfrm flipH="1" flipV="1">
              <a:off x="4332" y="3420"/>
              <a:ext cx="84" cy="276"/>
            </a:xfrm>
            <a:prstGeom prst="line">
              <a:avLst/>
            </a:prstGeom>
            <a:ln w="57150" cap="flat" cmpd="sng">
              <a:solidFill>
                <a:srgbClr val="FF0066"/>
              </a:solidFill>
              <a:prstDash val="solid"/>
              <a:round/>
              <a:headEnd type="none" w="med" len="med"/>
              <a:tailEnd type="triangle" w="med" len="med"/>
            </a:ln>
          </p:spPr>
        </p:sp>
        <p:sp>
          <p:nvSpPr>
            <p:cNvPr id="47253" name="直接连接符 119080"/>
            <p:cNvSpPr/>
            <p:nvPr/>
          </p:nvSpPr>
          <p:spPr>
            <a:xfrm flipV="1">
              <a:off x="4656" y="2928"/>
              <a:ext cx="288" cy="96"/>
            </a:xfrm>
            <a:prstGeom prst="line">
              <a:avLst/>
            </a:prstGeom>
            <a:ln w="57150" cap="flat" cmpd="sng">
              <a:solidFill>
                <a:schemeClr val="accent2"/>
              </a:solidFill>
              <a:prstDash val="solid"/>
              <a:round/>
              <a:headEnd type="none" w="med" len="med"/>
              <a:tailEnd type="triangle" w="med" len="med"/>
            </a:ln>
          </p:spPr>
        </p:sp>
        <p:sp>
          <p:nvSpPr>
            <p:cNvPr id="47254" name="直接连接符 119081"/>
            <p:cNvSpPr/>
            <p:nvPr/>
          </p:nvSpPr>
          <p:spPr>
            <a:xfrm>
              <a:off x="4140" y="2376"/>
              <a:ext cx="48" cy="240"/>
            </a:xfrm>
            <a:prstGeom prst="line">
              <a:avLst/>
            </a:prstGeom>
            <a:ln w="57150" cap="flat" cmpd="sng">
              <a:solidFill>
                <a:srgbClr val="FF0066"/>
              </a:solidFill>
              <a:prstDash val="solid"/>
              <a:round/>
              <a:headEnd type="none" w="med" len="med"/>
              <a:tailEnd type="triangle" w="med" len="med"/>
            </a:ln>
          </p:spPr>
        </p:sp>
        <p:sp>
          <p:nvSpPr>
            <p:cNvPr id="47255" name="直接连接符 119082"/>
            <p:cNvSpPr/>
            <p:nvPr/>
          </p:nvSpPr>
          <p:spPr>
            <a:xfrm flipH="1">
              <a:off x="3672" y="3144"/>
              <a:ext cx="240" cy="48"/>
            </a:xfrm>
            <a:prstGeom prst="line">
              <a:avLst/>
            </a:prstGeom>
            <a:ln w="57150" cap="flat" cmpd="sng">
              <a:solidFill>
                <a:schemeClr val="accent2"/>
              </a:solidFill>
              <a:prstDash val="solid"/>
              <a:round/>
              <a:headEnd type="none" w="med" len="med"/>
              <a:tailEnd type="triangle" w="med" len="med"/>
            </a:ln>
          </p:spPr>
        </p:sp>
        <p:sp>
          <p:nvSpPr>
            <p:cNvPr id="47256" name="文本框 119083"/>
            <p:cNvSpPr txBox="1"/>
            <p:nvPr/>
          </p:nvSpPr>
          <p:spPr>
            <a:xfrm>
              <a:off x="3303" y="4032"/>
              <a:ext cx="2208" cy="28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t=330;i</a:t>
              </a:r>
              <a:r>
                <a:rPr lang="en-US" altLang="zh-CN" sz="20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u</a:t>
              </a:r>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&lt;0, i</a:t>
              </a:r>
              <a:r>
                <a:rPr lang="en-US" altLang="zh-CN" sz="20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v</a:t>
              </a:r>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&lt;0, i</a:t>
              </a:r>
              <a:r>
                <a:rPr lang="en-US" altLang="zh-CN" sz="20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w</a:t>
              </a:r>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&gt;0</a:t>
              </a:r>
              <a:endPar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endParaRPr>
            </a:p>
          </p:txBody>
        </p:sp>
      </p:grpSp>
      <p:sp>
        <p:nvSpPr>
          <p:cNvPr id="119110" name="文本框 119109"/>
          <p:cNvSpPr txBox="1"/>
          <p:nvPr/>
        </p:nvSpPr>
        <p:spPr>
          <a:xfrm>
            <a:off x="3995738" y="3933825"/>
            <a:ext cx="4824412" cy="1223963"/>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r>
              <a:rPr lang="zh-CN" altLang="en-US" dirty="0">
                <a:latin typeface="Times New Roman" panose="02020603050405020304" pitchFamily="18" charset="0"/>
                <a:ea typeface="宋体" panose="02010600030101010101" pitchFamily="2" charset="-122"/>
                <a:sym typeface="Symbol" panose="05050102010706020507" pitchFamily="18" charset="2"/>
              </a:rPr>
              <a:t>三相</a:t>
            </a:r>
            <a:r>
              <a:rPr lang="zh-CN" altLang="en-US" dirty="0">
                <a:solidFill>
                  <a:srgbClr val="FF0066"/>
                </a:solidFill>
                <a:latin typeface="Times New Roman" panose="02020603050405020304" pitchFamily="18" charset="0"/>
                <a:ea typeface="宋体" panose="02010600030101010101" pitchFamily="2" charset="-122"/>
                <a:sym typeface="Symbol" panose="05050102010706020507" pitchFamily="18" charset="2"/>
              </a:rPr>
              <a:t>四极</a:t>
            </a:r>
            <a:r>
              <a:rPr lang="zh-CN" altLang="en-US" dirty="0">
                <a:latin typeface="Times New Roman" panose="02020603050405020304" pitchFamily="18" charset="0"/>
                <a:ea typeface="宋体" panose="02010600030101010101" pitchFamily="2" charset="-122"/>
                <a:sym typeface="Symbol" panose="05050102010706020507" pitchFamily="18" charset="2"/>
              </a:rPr>
              <a:t>交流电机的磁场。 </a:t>
            </a:r>
            <a:r>
              <a:rPr lang="en-US" altLang="zh-CN" dirty="0">
                <a:solidFill>
                  <a:srgbClr val="CC0000"/>
                </a:solidFill>
                <a:latin typeface="Times New Roman" panose="02020603050405020304" pitchFamily="18" charset="0"/>
                <a:ea typeface="宋体" panose="02010600030101010101" pitchFamily="2" charset="-122"/>
                <a:sym typeface="Symbol" panose="05050102010706020507" pitchFamily="18" charset="2"/>
              </a:rPr>
              <a:t>I</a:t>
            </a:r>
            <a:r>
              <a:rPr lang="zh-CN" altLang="en-US" dirty="0">
                <a:solidFill>
                  <a:srgbClr val="CC0000"/>
                </a:solidFill>
                <a:latin typeface="Times New Roman" panose="02020603050405020304" pitchFamily="18" charset="0"/>
                <a:ea typeface="宋体" panose="02010600030101010101" pitchFamily="2" charset="-122"/>
                <a:sym typeface="Symbol" panose="05050102010706020507" pitchFamily="18" charset="2"/>
              </a:rPr>
              <a:t>变化一周期，磁场转过</a:t>
            </a:r>
            <a:r>
              <a:rPr lang="zh-CN" altLang="en-US" dirty="0">
                <a:latin typeface="Times New Roman" panose="02020603050405020304" pitchFamily="18" charset="0"/>
                <a:ea typeface="宋体" panose="02010600030101010101" pitchFamily="2" charset="-122"/>
                <a:sym typeface="Symbol" panose="05050102010706020507" pitchFamily="18" charset="2"/>
              </a:rPr>
              <a:t>半个圆周</a:t>
            </a:r>
            <a:r>
              <a:rPr lang="zh-CN" altLang="en-US" dirty="0">
                <a:solidFill>
                  <a:srgbClr val="CC0000"/>
                </a:solidFill>
                <a:latin typeface="Times New Roman" panose="02020603050405020304" pitchFamily="18" charset="0"/>
                <a:ea typeface="宋体" panose="02010600030101010101" pitchFamily="2" charset="-122"/>
                <a:sym typeface="Symbol" panose="05050102010706020507" pitchFamily="18" charset="2"/>
              </a:rPr>
              <a:t>。转速与极对数成反比。</a:t>
            </a:r>
            <a:endParaRPr lang="zh-CN" altLang="en-US" sz="2200" dirty="0">
              <a:solidFill>
                <a:srgbClr val="CC0000"/>
              </a:solidFill>
              <a:latin typeface="Times New Roman" panose="02020603050405020304" pitchFamily="18" charset="0"/>
              <a:ea typeface="宋体" panose="02010600030101010101" pitchFamily="2" charset="-122"/>
            </a:endParaRPr>
          </a:p>
        </p:txBody>
      </p:sp>
      <p:sp>
        <p:nvSpPr>
          <p:cNvPr id="47258" name="矩形 119110"/>
          <p:cNvSpPr/>
          <p:nvPr/>
        </p:nvSpPr>
        <p:spPr>
          <a:xfrm>
            <a:off x="5795963" y="5805488"/>
            <a:ext cx="2952750" cy="457200"/>
          </a:xfrm>
          <a:prstGeom prst="rect">
            <a:avLst/>
          </a:prstGeom>
          <a:noFill/>
          <a:ln w="9525">
            <a:noFill/>
          </a:ln>
        </p:spPr>
        <p:txBody>
          <a:bodyPr anchor="t" anchorCtr="0">
            <a:spAutoFit/>
          </a:bodyPr>
          <a:p>
            <a:r>
              <a:rPr lang="zh-CN" altLang="en-US" dirty="0">
                <a:latin typeface="Times New Roman" panose="02020603050405020304" pitchFamily="18" charset="0"/>
                <a:ea typeface="宋体" panose="02010600030101010101" pitchFamily="2" charset="-122"/>
              </a:rPr>
              <a:t>所以：</a:t>
            </a:r>
            <a:r>
              <a:rPr lang="en-US" altLang="zh-CN">
                <a:latin typeface="Times New Roman" panose="02020603050405020304" pitchFamily="18" charset="0"/>
                <a:ea typeface="宋体" panose="02010600030101010101" pitchFamily="2" charset="-122"/>
              </a:rPr>
              <a:t>n=1500 rpm</a:t>
            </a:r>
            <a:endParaRPr lang="en-US" altLang="zh-CN">
              <a:latin typeface="Times New Roman" panose="02020603050405020304" pitchFamily="18" charset="0"/>
              <a:ea typeface="宋体" panose="02010600030101010101" pitchFamily="2" charset="-122"/>
            </a:endParaRPr>
          </a:p>
        </p:txBody>
      </p:sp>
      <p:graphicFrame>
        <p:nvGraphicFramePr>
          <p:cNvPr id="47259" name="对象 119111"/>
          <p:cNvGraphicFramePr/>
          <p:nvPr/>
        </p:nvGraphicFramePr>
        <p:xfrm>
          <a:off x="4284663" y="5589588"/>
          <a:ext cx="1295400" cy="873125"/>
        </p:xfrm>
        <a:graphic>
          <a:graphicData uri="http://schemas.openxmlformats.org/presentationml/2006/ole">
            <mc:AlternateContent xmlns:mc="http://schemas.openxmlformats.org/markup-compatibility/2006">
              <mc:Choice xmlns:v="urn:schemas-microsoft-com:vml" Requires="v">
                <p:oleObj spid="_x0000_s3153" name="" r:id="rId1" imgW="622300" imgH="419100" progId="Equation.DSMT4">
                  <p:embed/>
                </p:oleObj>
              </mc:Choice>
              <mc:Fallback>
                <p:oleObj name="" r:id="rId1" imgW="622300" imgH="419100" progId="Equation.DSMT4">
                  <p:embed/>
                  <p:pic>
                    <p:nvPicPr>
                      <p:cNvPr id="0" name="图片 3152"/>
                      <p:cNvPicPr/>
                      <p:nvPr/>
                    </p:nvPicPr>
                    <p:blipFill>
                      <a:blip r:embed="rId2"/>
                      <a:stretch>
                        <a:fillRect/>
                      </a:stretch>
                    </p:blipFill>
                    <p:spPr>
                      <a:xfrm>
                        <a:off x="4284663" y="5589588"/>
                        <a:ext cx="1295400" cy="873125"/>
                      </a:xfrm>
                      <a:prstGeom prst="rect">
                        <a:avLst/>
                      </a:prstGeom>
                      <a:noFill/>
                      <a:ln w="38100">
                        <a:noFill/>
                        <a:miter/>
                      </a:ln>
                    </p:spPr>
                  </p:pic>
                </p:oleObj>
              </mc:Fallback>
            </mc:AlternateContent>
          </a:graphicData>
        </a:graphic>
      </p:graphicFrame>
      <p:grpSp>
        <p:nvGrpSpPr>
          <p:cNvPr id="119113" name="组合 119112"/>
          <p:cNvGrpSpPr/>
          <p:nvPr/>
        </p:nvGrpSpPr>
        <p:grpSpPr>
          <a:xfrm>
            <a:off x="687388" y="100013"/>
            <a:ext cx="3382962" cy="3429000"/>
            <a:chOff x="3168" y="-144"/>
            <a:chExt cx="2304" cy="2292"/>
          </a:xfrm>
        </p:grpSpPr>
        <p:sp>
          <p:nvSpPr>
            <p:cNvPr id="47261" name="文本框 119113"/>
            <p:cNvSpPr txBox="1"/>
            <p:nvPr/>
          </p:nvSpPr>
          <p:spPr>
            <a:xfrm>
              <a:off x="3312" y="1860"/>
              <a:ext cx="2160" cy="28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t=90;i</a:t>
              </a:r>
              <a:r>
                <a:rPr lang="en-US" altLang="zh-CN" sz="20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u</a:t>
              </a:r>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&gt;0, i</a:t>
              </a:r>
              <a:r>
                <a:rPr lang="en-US" altLang="zh-CN" sz="20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v</a:t>
              </a:r>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&lt;0, i</a:t>
              </a:r>
              <a:r>
                <a:rPr lang="en-US" altLang="zh-CN" sz="2000" baseline="-25000">
                  <a:solidFill>
                    <a:schemeClr val="accent2"/>
                  </a:solidFill>
                  <a:latin typeface="宋体" panose="02010600030101010101" pitchFamily="2" charset="-122"/>
                  <a:ea typeface="宋体" panose="02010600030101010101" pitchFamily="2" charset="-122"/>
                  <a:sym typeface="Symbol" panose="05050102010706020507" pitchFamily="18" charset="2"/>
                </a:rPr>
                <a:t>w</a:t>
              </a:r>
              <a:r>
                <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rPr>
                <a:t>&lt;0</a:t>
              </a:r>
              <a:endParaRPr lang="en-US" altLang="zh-CN" sz="2000">
                <a:solidFill>
                  <a:schemeClr val="accent2"/>
                </a:solidFill>
                <a:latin typeface="宋体" panose="02010600030101010101" pitchFamily="2" charset="-122"/>
                <a:ea typeface="宋体" panose="02010600030101010101" pitchFamily="2" charset="-122"/>
                <a:sym typeface="Symbol" panose="05050102010706020507" pitchFamily="18" charset="2"/>
              </a:endParaRPr>
            </a:p>
          </p:txBody>
        </p:sp>
        <p:sp>
          <p:nvSpPr>
            <p:cNvPr id="47262" name="文本框 119114"/>
            <p:cNvSpPr txBox="1"/>
            <p:nvPr/>
          </p:nvSpPr>
          <p:spPr>
            <a:xfrm>
              <a:off x="3552" y="12"/>
              <a:ext cx="336"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263" name="文本框 119115"/>
            <p:cNvSpPr txBox="1"/>
            <p:nvPr/>
          </p:nvSpPr>
          <p:spPr>
            <a:xfrm>
              <a:off x="3276" y="300"/>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264" name="文本框 119116"/>
            <p:cNvSpPr txBox="1"/>
            <p:nvPr/>
          </p:nvSpPr>
          <p:spPr>
            <a:xfrm>
              <a:off x="3168" y="708"/>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265" name="文本框 119117"/>
            <p:cNvSpPr txBox="1"/>
            <p:nvPr/>
          </p:nvSpPr>
          <p:spPr>
            <a:xfrm>
              <a:off x="3288" y="1212"/>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266" name="文本框 119118"/>
            <p:cNvSpPr txBox="1"/>
            <p:nvPr/>
          </p:nvSpPr>
          <p:spPr>
            <a:xfrm>
              <a:off x="3528" y="1548"/>
              <a:ext cx="43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267" name="文本框 119119"/>
            <p:cNvSpPr txBox="1"/>
            <p:nvPr/>
          </p:nvSpPr>
          <p:spPr>
            <a:xfrm>
              <a:off x="4116" y="1608"/>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268" name="文本框 119120"/>
            <p:cNvSpPr txBox="1"/>
            <p:nvPr/>
          </p:nvSpPr>
          <p:spPr>
            <a:xfrm>
              <a:off x="4560" y="1488"/>
              <a:ext cx="300"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269" name="文本框 119121"/>
            <p:cNvSpPr txBox="1"/>
            <p:nvPr/>
          </p:nvSpPr>
          <p:spPr>
            <a:xfrm>
              <a:off x="4812" y="300"/>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V</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270" name="文本框 119122"/>
            <p:cNvSpPr txBox="1"/>
            <p:nvPr/>
          </p:nvSpPr>
          <p:spPr>
            <a:xfrm>
              <a:off x="4836" y="1224"/>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271" name="文本框 119123"/>
            <p:cNvSpPr txBox="1"/>
            <p:nvPr/>
          </p:nvSpPr>
          <p:spPr>
            <a:xfrm>
              <a:off x="4536" y="12"/>
              <a:ext cx="43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W ´</a:t>
              </a:r>
              <a:endParaRPr lang="en-US" altLang="zh-CN" sz="2000">
                <a:solidFill>
                  <a:srgbClr val="000000"/>
                </a:solidFill>
                <a:latin typeface="Times New Roman" panose="02020603050405020304" pitchFamily="18" charset="0"/>
                <a:ea typeface="Times New Roman" panose="02020603050405020304" pitchFamily="18" charset="0"/>
              </a:endParaRPr>
            </a:p>
          </p:txBody>
        </p:sp>
        <p:sp>
          <p:nvSpPr>
            <p:cNvPr id="47272" name="文本框 119124"/>
            <p:cNvSpPr txBox="1"/>
            <p:nvPr/>
          </p:nvSpPr>
          <p:spPr>
            <a:xfrm>
              <a:off x="4092" y="-144"/>
              <a:ext cx="192"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sp>
          <p:nvSpPr>
            <p:cNvPr id="47273" name="椭圆 119125"/>
            <p:cNvSpPr/>
            <p:nvPr/>
          </p:nvSpPr>
          <p:spPr>
            <a:xfrm>
              <a:off x="3372" y="84"/>
              <a:ext cx="1587" cy="1587"/>
            </a:xfrm>
            <a:prstGeom prst="ellipse">
              <a:avLst/>
            </a:prstGeom>
            <a:solidFill>
              <a:srgbClr val="FFFFFF"/>
            </a:solidFill>
            <a:ln w="38100"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74" name="椭圆 119126"/>
            <p:cNvSpPr/>
            <p:nvPr/>
          </p:nvSpPr>
          <p:spPr>
            <a:xfrm>
              <a:off x="3720" y="413"/>
              <a:ext cx="907" cy="907"/>
            </a:xfrm>
            <a:prstGeom prst="ellipse">
              <a:avLst/>
            </a:prstGeom>
            <a:solidFill>
              <a:srgbClr val="FFFFFF"/>
            </a:solidFill>
            <a:ln w="38100"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75" name="文本框 119127"/>
            <p:cNvSpPr txBox="1"/>
            <p:nvPr/>
          </p:nvSpPr>
          <p:spPr>
            <a:xfrm>
              <a:off x="4956" y="708"/>
              <a:ext cx="288" cy="30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000000"/>
                  </a:solidFill>
                  <a:latin typeface="Times New Roman" panose="02020603050405020304" pitchFamily="18" charset="0"/>
                  <a:ea typeface="宋体" panose="02010600030101010101" pitchFamily="2" charset="-122"/>
                </a:rPr>
                <a:t>U´</a:t>
              </a:r>
              <a:endParaRPr lang="en-US" altLang="zh-CN" sz="2000">
                <a:solidFill>
                  <a:srgbClr val="000000"/>
                </a:solidFill>
                <a:latin typeface="Times New Roman" panose="02020603050405020304" pitchFamily="18" charset="0"/>
                <a:ea typeface="宋体" panose="02010600030101010101" pitchFamily="2" charset="-122"/>
              </a:endParaRPr>
            </a:p>
          </p:txBody>
        </p:sp>
        <p:grpSp>
          <p:nvGrpSpPr>
            <p:cNvPr id="47276" name="组合 119128"/>
            <p:cNvGrpSpPr/>
            <p:nvPr/>
          </p:nvGrpSpPr>
          <p:grpSpPr>
            <a:xfrm>
              <a:off x="3540" y="516"/>
              <a:ext cx="144" cy="140"/>
              <a:chOff x="3080" y="12615"/>
              <a:chExt cx="283" cy="283"/>
            </a:xfrm>
          </p:grpSpPr>
          <p:sp>
            <p:nvSpPr>
              <p:cNvPr id="47277" name="椭圆 119129"/>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78" name="椭圆 119130"/>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279" name="组合 119131"/>
            <p:cNvGrpSpPr/>
            <p:nvPr/>
          </p:nvGrpSpPr>
          <p:grpSpPr>
            <a:xfrm>
              <a:off x="4668" y="516"/>
              <a:ext cx="144" cy="140"/>
              <a:chOff x="3080" y="12615"/>
              <a:chExt cx="283" cy="283"/>
            </a:xfrm>
          </p:grpSpPr>
          <p:sp>
            <p:nvSpPr>
              <p:cNvPr id="47280" name="椭圆 119132"/>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81" name="椭圆 119133"/>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282" name="组合 119134"/>
            <p:cNvGrpSpPr/>
            <p:nvPr/>
          </p:nvGrpSpPr>
          <p:grpSpPr>
            <a:xfrm>
              <a:off x="4080" y="1440"/>
              <a:ext cx="143" cy="140"/>
              <a:chOff x="4560" y="12615"/>
              <a:chExt cx="283" cy="283"/>
            </a:xfrm>
          </p:grpSpPr>
          <p:sp>
            <p:nvSpPr>
              <p:cNvPr id="47283" name="椭圆 119135"/>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284" name="组合 119136"/>
              <p:cNvGrpSpPr/>
              <p:nvPr/>
            </p:nvGrpSpPr>
            <p:grpSpPr>
              <a:xfrm>
                <a:off x="4640" y="12695"/>
                <a:ext cx="120" cy="140"/>
                <a:chOff x="4800" y="7260"/>
                <a:chExt cx="220" cy="220"/>
              </a:xfrm>
            </p:grpSpPr>
            <p:sp>
              <p:nvSpPr>
                <p:cNvPr id="47285" name="直接连接符 119137"/>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286" name="直接连接符 119138"/>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287" name="组合 119139"/>
            <p:cNvGrpSpPr/>
            <p:nvPr/>
          </p:nvGrpSpPr>
          <p:grpSpPr>
            <a:xfrm>
              <a:off x="4392" y="1356"/>
              <a:ext cx="143" cy="140"/>
              <a:chOff x="4560" y="12615"/>
              <a:chExt cx="283" cy="283"/>
            </a:xfrm>
          </p:grpSpPr>
          <p:sp>
            <p:nvSpPr>
              <p:cNvPr id="47288" name="椭圆 119140"/>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289" name="组合 119141"/>
              <p:cNvGrpSpPr/>
              <p:nvPr/>
            </p:nvGrpSpPr>
            <p:grpSpPr>
              <a:xfrm>
                <a:off x="4640" y="12695"/>
                <a:ext cx="120" cy="140"/>
                <a:chOff x="4800" y="7260"/>
                <a:chExt cx="220" cy="220"/>
              </a:xfrm>
            </p:grpSpPr>
            <p:sp>
              <p:nvSpPr>
                <p:cNvPr id="47290" name="直接连接符 119142"/>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291" name="直接连接符 119143"/>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292" name="组合 119144"/>
            <p:cNvGrpSpPr/>
            <p:nvPr/>
          </p:nvGrpSpPr>
          <p:grpSpPr>
            <a:xfrm>
              <a:off x="3456" y="816"/>
              <a:ext cx="144" cy="140"/>
              <a:chOff x="3080" y="12615"/>
              <a:chExt cx="283" cy="283"/>
            </a:xfrm>
          </p:grpSpPr>
          <p:sp>
            <p:nvSpPr>
              <p:cNvPr id="47293" name="椭圆 119145"/>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94" name="椭圆 119146"/>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295" name="组合 119147"/>
            <p:cNvGrpSpPr/>
            <p:nvPr/>
          </p:nvGrpSpPr>
          <p:grpSpPr>
            <a:xfrm>
              <a:off x="3552" y="1116"/>
              <a:ext cx="144" cy="140"/>
              <a:chOff x="3080" y="12615"/>
              <a:chExt cx="283" cy="283"/>
            </a:xfrm>
          </p:grpSpPr>
          <p:sp>
            <p:nvSpPr>
              <p:cNvPr id="47296" name="椭圆 119148"/>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297" name="椭圆 119149"/>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298" name="组合 119150"/>
            <p:cNvGrpSpPr/>
            <p:nvPr/>
          </p:nvGrpSpPr>
          <p:grpSpPr>
            <a:xfrm>
              <a:off x="4464" y="288"/>
              <a:ext cx="143" cy="140"/>
              <a:chOff x="4560" y="12615"/>
              <a:chExt cx="283" cy="283"/>
            </a:xfrm>
          </p:grpSpPr>
          <p:sp>
            <p:nvSpPr>
              <p:cNvPr id="47299" name="椭圆 119151"/>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300" name="组合 119152"/>
              <p:cNvGrpSpPr/>
              <p:nvPr/>
            </p:nvGrpSpPr>
            <p:grpSpPr>
              <a:xfrm>
                <a:off x="4640" y="12695"/>
                <a:ext cx="120" cy="140"/>
                <a:chOff x="4800" y="7260"/>
                <a:chExt cx="220" cy="220"/>
              </a:xfrm>
            </p:grpSpPr>
            <p:sp>
              <p:nvSpPr>
                <p:cNvPr id="47301" name="直接连接符 119153"/>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302" name="直接连接符 119154"/>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303" name="组合 119155"/>
            <p:cNvGrpSpPr/>
            <p:nvPr/>
          </p:nvGrpSpPr>
          <p:grpSpPr>
            <a:xfrm>
              <a:off x="3792" y="264"/>
              <a:ext cx="143" cy="140"/>
              <a:chOff x="4560" y="12615"/>
              <a:chExt cx="283" cy="283"/>
            </a:xfrm>
          </p:grpSpPr>
          <p:sp>
            <p:nvSpPr>
              <p:cNvPr id="47304" name="椭圆 119156"/>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305" name="组合 119157"/>
              <p:cNvGrpSpPr/>
              <p:nvPr/>
            </p:nvGrpSpPr>
            <p:grpSpPr>
              <a:xfrm>
                <a:off x="4640" y="12695"/>
                <a:ext cx="120" cy="140"/>
                <a:chOff x="4800" y="7260"/>
                <a:chExt cx="220" cy="220"/>
              </a:xfrm>
            </p:grpSpPr>
            <p:sp>
              <p:nvSpPr>
                <p:cNvPr id="47306" name="直接连接符 119158"/>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307" name="直接连接符 119159"/>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sp>
          <p:nvSpPr>
            <p:cNvPr id="47308" name="文本框 119160"/>
            <p:cNvSpPr txBox="1"/>
            <p:nvPr/>
          </p:nvSpPr>
          <p:spPr>
            <a:xfrm>
              <a:off x="4296" y="612"/>
              <a:ext cx="216" cy="240"/>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solidFill>
                    <a:srgbClr val="FF0066"/>
                  </a:solidFill>
                  <a:latin typeface="Times New Roman" panose="02020603050405020304" pitchFamily="18" charset="0"/>
                  <a:ea typeface="宋体" panose="02010600030101010101" pitchFamily="2" charset="-122"/>
                </a:rPr>
                <a:t>N</a:t>
              </a:r>
              <a:endParaRPr lang="en-US" altLang="zh-CN" sz="2000">
                <a:solidFill>
                  <a:srgbClr val="FF0066"/>
                </a:solidFill>
                <a:latin typeface="Times New Roman" panose="02020603050405020304" pitchFamily="18" charset="0"/>
                <a:ea typeface="宋体" panose="02010600030101010101" pitchFamily="2" charset="-122"/>
              </a:endParaRPr>
            </a:p>
          </p:txBody>
        </p:sp>
        <p:sp>
          <p:nvSpPr>
            <p:cNvPr id="47309" name="文本框 119161"/>
            <p:cNvSpPr txBox="1"/>
            <p:nvPr/>
          </p:nvSpPr>
          <p:spPr>
            <a:xfrm>
              <a:off x="4272" y="912"/>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S</a:t>
              </a:r>
              <a:endParaRPr lang="en-US" altLang="zh-CN" sz="2000">
                <a:latin typeface="Times New Roman" panose="02020603050405020304" pitchFamily="18" charset="0"/>
                <a:ea typeface="宋体" panose="02010600030101010101" pitchFamily="2" charset="-122"/>
              </a:endParaRPr>
            </a:p>
          </p:txBody>
        </p:sp>
        <p:sp>
          <p:nvSpPr>
            <p:cNvPr id="47310" name="文本框 119162"/>
            <p:cNvSpPr txBox="1"/>
            <p:nvPr/>
          </p:nvSpPr>
          <p:spPr>
            <a:xfrm>
              <a:off x="3936" y="912"/>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p:txBody>
        </p:sp>
        <p:sp>
          <p:nvSpPr>
            <p:cNvPr id="47311" name="文本框 119163"/>
            <p:cNvSpPr txBox="1"/>
            <p:nvPr/>
          </p:nvSpPr>
          <p:spPr>
            <a:xfrm>
              <a:off x="3912" y="588"/>
              <a:ext cx="144" cy="192"/>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S</a:t>
              </a:r>
              <a:endParaRPr lang="en-US" altLang="zh-CN" sz="2000">
                <a:latin typeface="Times New Roman" panose="02020603050405020304" pitchFamily="18" charset="0"/>
                <a:ea typeface="宋体" panose="02010600030101010101" pitchFamily="2" charset="-122"/>
              </a:endParaRPr>
            </a:p>
          </p:txBody>
        </p:sp>
        <p:sp>
          <p:nvSpPr>
            <p:cNvPr id="47312" name="椭圆 119164"/>
            <p:cNvSpPr/>
            <p:nvPr/>
          </p:nvSpPr>
          <p:spPr>
            <a:xfrm>
              <a:off x="3696" y="120"/>
              <a:ext cx="960" cy="480"/>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313" name="椭圆 119165"/>
            <p:cNvSpPr/>
            <p:nvPr/>
          </p:nvSpPr>
          <p:spPr>
            <a:xfrm>
              <a:off x="3408" y="432"/>
              <a:ext cx="480" cy="912"/>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314" name="椭圆 119166"/>
            <p:cNvSpPr/>
            <p:nvPr/>
          </p:nvSpPr>
          <p:spPr>
            <a:xfrm>
              <a:off x="4464" y="432"/>
              <a:ext cx="468" cy="912"/>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315" name="椭圆 119167"/>
            <p:cNvSpPr/>
            <p:nvPr/>
          </p:nvSpPr>
          <p:spPr>
            <a:xfrm>
              <a:off x="3696" y="1152"/>
              <a:ext cx="912" cy="528"/>
            </a:xfrm>
            <a:prstGeom prst="ellipse">
              <a:avLst/>
            </a:prstGeom>
            <a:noFill/>
            <a:ln w="28575" cap="flat" cmpd="sng">
              <a:solidFill>
                <a:srgbClr val="A5002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316" name="直接连接符 119168"/>
            <p:cNvSpPr/>
            <p:nvPr/>
          </p:nvSpPr>
          <p:spPr>
            <a:xfrm flipH="1">
              <a:off x="4404" y="432"/>
              <a:ext cx="252" cy="192"/>
            </a:xfrm>
            <a:prstGeom prst="line">
              <a:avLst/>
            </a:prstGeom>
            <a:ln w="57150" cap="flat" cmpd="sng">
              <a:solidFill>
                <a:srgbClr val="FF0066"/>
              </a:solidFill>
              <a:prstDash val="solid"/>
              <a:round/>
              <a:headEnd type="none" w="med" len="med"/>
              <a:tailEnd type="triangle" w="med" len="med"/>
            </a:ln>
          </p:spPr>
        </p:sp>
        <p:sp>
          <p:nvSpPr>
            <p:cNvPr id="47317" name="直接连接符 119169"/>
            <p:cNvSpPr/>
            <p:nvPr/>
          </p:nvSpPr>
          <p:spPr>
            <a:xfrm flipV="1">
              <a:off x="3696" y="1104"/>
              <a:ext cx="240" cy="240"/>
            </a:xfrm>
            <a:prstGeom prst="line">
              <a:avLst/>
            </a:prstGeom>
            <a:ln w="57150" cap="flat" cmpd="sng">
              <a:solidFill>
                <a:srgbClr val="FF0066"/>
              </a:solidFill>
              <a:prstDash val="solid"/>
              <a:round/>
              <a:headEnd type="none" w="med" len="med"/>
              <a:tailEnd type="triangle" w="med" len="med"/>
            </a:ln>
          </p:spPr>
        </p:sp>
        <p:grpSp>
          <p:nvGrpSpPr>
            <p:cNvPr id="47318" name="组合 119170"/>
            <p:cNvGrpSpPr/>
            <p:nvPr/>
          </p:nvGrpSpPr>
          <p:grpSpPr>
            <a:xfrm>
              <a:off x="4116" y="192"/>
              <a:ext cx="143" cy="140"/>
              <a:chOff x="4560" y="12615"/>
              <a:chExt cx="283" cy="283"/>
            </a:xfrm>
          </p:grpSpPr>
          <p:sp>
            <p:nvSpPr>
              <p:cNvPr id="47319" name="椭圆 119171"/>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320" name="组合 119172"/>
              <p:cNvGrpSpPr/>
              <p:nvPr/>
            </p:nvGrpSpPr>
            <p:grpSpPr>
              <a:xfrm>
                <a:off x="4640" y="12695"/>
                <a:ext cx="120" cy="140"/>
                <a:chOff x="4800" y="7260"/>
                <a:chExt cx="220" cy="220"/>
              </a:xfrm>
            </p:grpSpPr>
            <p:sp>
              <p:nvSpPr>
                <p:cNvPr id="47321" name="直接连接符 119173"/>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322" name="直接连接符 119174"/>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grpSp>
          <p:nvGrpSpPr>
            <p:cNvPr id="47323" name="组合 119175"/>
            <p:cNvGrpSpPr/>
            <p:nvPr/>
          </p:nvGrpSpPr>
          <p:grpSpPr>
            <a:xfrm>
              <a:off x="4704" y="816"/>
              <a:ext cx="144" cy="140"/>
              <a:chOff x="3080" y="12615"/>
              <a:chExt cx="283" cy="283"/>
            </a:xfrm>
          </p:grpSpPr>
          <p:sp>
            <p:nvSpPr>
              <p:cNvPr id="47324" name="椭圆 119176"/>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325" name="椭圆 119177"/>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326" name="组合 119178"/>
            <p:cNvGrpSpPr/>
            <p:nvPr/>
          </p:nvGrpSpPr>
          <p:grpSpPr>
            <a:xfrm>
              <a:off x="4620" y="1128"/>
              <a:ext cx="144" cy="140"/>
              <a:chOff x="3080" y="12615"/>
              <a:chExt cx="283" cy="283"/>
            </a:xfrm>
          </p:grpSpPr>
          <p:sp>
            <p:nvSpPr>
              <p:cNvPr id="47327" name="椭圆 119179"/>
              <p:cNvSpPr/>
              <p:nvPr/>
            </p:nvSpPr>
            <p:spPr>
              <a:xfrm>
                <a:off x="308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7328" name="椭圆 119180"/>
              <p:cNvSpPr/>
              <p:nvPr/>
            </p:nvSpPr>
            <p:spPr>
              <a:xfrm>
                <a:off x="3164" y="12695"/>
                <a:ext cx="102" cy="102"/>
              </a:xfrm>
              <a:prstGeom prst="ellipse">
                <a:avLst/>
              </a:prstGeom>
              <a:solidFill>
                <a:srgbClr val="FF0000"/>
              </a:solidFill>
              <a:ln w="9525" cap="flat" cmpd="sng">
                <a:solidFill>
                  <a:srgbClr val="FF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47329" name="组合 119181"/>
            <p:cNvGrpSpPr/>
            <p:nvPr/>
          </p:nvGrpSpPr>
          <p:grpSpPr>
            <a:xfrm>
              <a:off x="3768" y="1368"/>
              <a:ext cx="143" cy="140"/>
              <a:chOff x="4560" y="12615"/>
              <a:chExt cx="283" cy="283"/>
            </a:xfrm>
          </p:grpSpPr>
          <p:sp>
            <p:nvSpPr>
              <p:cNvPr id="47330" name="椭圆 119182"/>
              <p:cNvSpPr/>
              <p:nvPr/>
            </p:nvSpPr>
            <p:spPr>
              <a:xfrm>
                <a:off x="4560" y="12615"/>
                <a:ext cx="283" cy="283"/>
              </a:xfrm>
              <a:prstGeom prst="ellipse">
                <a:avLst/>
              </a:prstGeom>
              <a:solidFill>
                <a:srgbClr val="FFFFFF"/>
              </a:solidFill>
              <a:ln w="2857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47331" name="组合 119183"/>
              <p:cNvGrpSpPr/>
              <p:nvPr/>
            </p:nvGrpSpPr>
            <p:grpSpPr>
              <a:xfrm>
                <a:off x="4640" y="12695"/>
                <a:ext cx="120" cy="140"/>
                <a:chOff x="4800" y="7260"/>
                <a:chExt cx="220" cy="220"/>
              </a:xfrm>
            </p:grpSpPr>
            <p:sp>
              <p:nvSpPr>
                <p:cNvPr id="47332" name="直接连接符 119184"/>
                <p:cNvSpPr/>
                <p:nvPr/>
              </p:nvSpPr>
              <p:spPr>
                <a:xfrm flipH="1">
                  <a:off x="4800" y="7260"/>
                  <a:ext cx="220" cy="220"/>
                </a:xfrm>
                <a:prstGeom prst="line">
                  <a:avLst/>
                </a:prstGeom>
                <a:ln w="12700" cap="flat" cmpd="sng">
                  <a:solidFill>
                    <a:srgbClr val="000080"/>
                  </a:solidFill>
                  <a:prstDash val="solid"/>
                  <a:round/>
                  <a:headEnd type="none" w="med" len="med"/>
                  <a:tailEnd type="none" w="med" len="med"/>
                </a:ln>
              </p:spPr>
            </p:sp>
            <p:sp>
              <p:nvSpPr>
                <p:cNvPr id="47333" name="直接连接符 119185"/>
                <p:cNvSpPr/>
                <p:nvPr/>
              </p:nvSpPr>
              <p:spPr>
                <a:xfrm>
                  <a:off x="4800" y="7260"/>
                  <a:ext cx="220" cy="220"/>
                </a:xfrm>
                <a:prstGeom prst="line">
                  <a:avLst/>
                </a:prstGeom>
                <a:ln w="12700" cap="flat" cmpd="sng">
                  <a:solidFill>
                    <a:srgbClr val="000080"/>
                  </a:solidFill>
                  <a:prstDash val="solid"/>
                  <a:round/>
                  <a:headEnd type="none" w="med" len="med"/>
                  <a:tailEnd type="none" w="med" len="med"/>
                </a:ln>
              </p:spPr>
            </p:sp>
          </p:grpSp>
        </p:grpSp>
        <p:sp>
          <p:nvSpPr>
            <p:cNvPr id="47334" name="直接连接符 119186"/>
            <p:cNvSpPr/>
            <p:nvPr/>
          </p:nvSpPr>
          <p:spPr>
            <a:xfrm>
              <a:off x="4452" y="1200"/>
              <a:ext cx="240" cy="192"/>
            </a:xfrm>
            <a:prstGeom prst="line">
              <a:avLst/>
            </a:prstGeom>
            <a:ln w="57150" cap="flat" cmpd="sng">
              <a:solidFill>
                <a:schemeClr val="accent2"/>
              </a:solidFill>
              <a:prstDash val="solid"/>
              <a:round/>
              <a:headEnd type="none" w="med" len="med"/>
              <a:tailEnd type="triangle" w="med" len="med"/>
            </a:ln>
          </p:spPr>
        </p:sp>
        <p:sp>
          <p:nvSpPr>
            <p:cNvPr id="47335" name="直接连接符 119187"/>
            <p:cNvSpPr/>
            <p:nvPr/>
          </p:nvSpPr>
          <p:spPr>
            <a:xfrm flipH="1" flipV="1">
              <a:off x="3696" y="384"/>
              <a:ext cx="96" cy="144"/>
            </a:xfrm>
            <a:prstGeom prst="line">
              <a:avLst/>
            </a:prstGeom>
            <a:ln w="57150" cap="flat" cmpd="sng">
              <a:solidFill>
                <a:schemeClr val="accent2"/>
              </a:solidFill>
              <a:prstDash val="solid"/>
              <a:roun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93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009"/>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9110"/>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3" name="type.wav"/>
                                        </p:tgtEl>
                                      </p:cMediaNode>
                                    </p:audio>
                                  </p:sub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19113"/>
                                        </p:tgtEl>
                                        <p:attrNameLst>
                                          <p:attrName>style.visibility</p:attrName>
                                        </p:attrNameLst>
                                      </p:cBhvr>
                                      <p:to>
                                        <p:strVal val="visible"/>
                                      </p:to>
                                    </p:set>
                                    <p:animEffect transition="in" filter="wipe(up)">
                                      <p:cBhvr>
                                        <p:cTn id="19" dur="500"/>
                                        <p:tgtEl>
                                          <p:spTgt spid="119113"/>
                                        </p:tgtEl>
                                      </p:cBhvr>
                                    </p:animEffect>
                                  </p:childTnLst>
                                  <p:subTnLst>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11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矩形 78849"/>
          <p:cNvSpPr/>
          <p:nvPr/>
        </p:nvSpPr>
        <p:spPr>
          <a:xfrm>
            <a:off x="250825" y="333375"/>
            <a:ext cx="8570913" cy="191770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6-8</a:t>
            </a:r>
            <a:r>
              <a:rPr lang="zh-CN" altLang="en-US" dirty="0">
                <a:latin typeface="Times New Roman" panose="02020603050405020304" pitchFamily="18" charset="0"/>
                <a:ea typeface="宋体" panose="02010600030101010101" pitchFamily="2" charset="-122"/>
              </a:rPr>
              <a:t>：三相四极同步发电机，额定相电压</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，双层叠式绕组，问每极相组电压？想得到三相</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对称输出电压，绕组怎么连？</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呢？若其中任一相绕组标志颠倒了，还能得到对称的</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吗？若有一相的一个极相组接反了，输出电压如何变化？画图说明。</a:t>
            </a:r>
            <a:endParaRPr lang="zh-CN" altLang="en-US" dirty="0">
              <a:latin typeface="Times New Roman" panose="02020603050405020304" pitchFamily="18" charset="0"/>
              <a:ea typeface="宋体" panose="02010600030101010101" pitchFamily="2" charset="-122"/>
            </a:endParaRPr>
          </a:p>
        </p:txBody>
      </p:sp>
      <p:sp>
        <p:nvSpPr>
          <p:cNvPr id="48130" name="矩形 78850"/>
          <p:cNvSpPr/>
          <p:nvPr/>
        </p:nvSpPr>
        <p:spPr>
          <a:xfrm>
            <a:off x="755650" y="2420938"/>
            <a:ext cx="6985000" cy="3803650"/>
          </a:xfrm>
          <a:prstGeom prst="rect">
            <a:avLst/>
          </a:prstGeom>
          <a:noFill/>
          <a:ln w="9525">
            <a:noFill/>
          </a:ln>
        </p:spPr>
        <p:txBody>
          <a:bodyPr anchor="ctr" anchorCtr="0">
            <a:spAutoFit/>
          </a:bodyPr>
          <a:p>
            <a:pPr defTabSz="914400">
              <a:lnSpc>
                <a:spcPct val="145000"/>
              </a:lnSpc>
              <a:tabLst>
                <a:tab pos="228600" algn="l"/>
              </a:tabLst>
            </a:pPr>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个极相组，有</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种连接方式。</a:t>
            </a:r>
            <a:endParaRPr lang="zh-CN" altLang="en-US" dirty="0">
              <a:latin typeface="Times New Roman" panose="02020603050405020304" pitchFamily="18" charset="0"/>
              <a:ea typeface="宋体" panose="02010600030101010101" pitchFamily="2" charset="-122"/>
            </a:endParaRPr>
          </a:p>
          <a:p>
            <a:pPr defTabSz="914400">
              <a:lnSpc>
                <a:spcPct val="145000"/>
              </a:lnSpc>
              <a:tabLst>
                <a:tab pos="228600" algn="l"/>
              </a:tabLst>
            </a:pPr>
            <a:r>
              <a:rPr lang="en-US" altLang="zh-CN" dirty="0">
                <a:latin typeface="Times New Roman" panose="02020603050405020304" pitchFamily="18" charset="0"/>
                <a:ea typeface="宋体" panose="02010600030101010101" pitchFamily="2" charset="-122"/>
              </a:rPr>
              <a:t>(1) 4</a:t>
            </a:r>
            <a:r>
              <a:rPr lang="zh-CN" altLang="en-US" dirty="0">
                <a:latin typeface="Times New Roman" panose="02020603050405020304" pitchFamily="18" charset="0"/>
                <a:ea typeface="宋体" panose="02010600030101010101" pitchFamily="2" charset="-122"/>
              </a:rPr>
              <a:t>组串联，相电压</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，每组 </a:t>
            </a:r>
            <a:r>
              <a:rPr lang="en-US" altLang="zh-CN" dirty="0">
                <a:latin typeface="Times New Roman" panose="02020603050405020304" pitchFamily="18" charset="0"/>
                <a:ea typeface="宋体" panose="02010600030101010101" pitchFamily="2" charset="-122"/>
              </a:rPr>
              <a:t>220/4=55V</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defTabSz="914400">
              <a:lnSpc>
                <a:spcPct val="145000"/>
              </a:lnSpc>
              <a:tabLst>
                <a:tab pos="228600" algn="l"/>
              </a:tabLst>
            </a:pPr>
            <a:r>
              <a:rPr lang="en-US" altLang="zh-CN" dirty="0">
                <a:latin typeface="Times New Roman" panose="02020603050405020304" pitchFamily="18" charset="0"/>
                <a:ea typeface="宋体" panose="02010600030101010101" pitchFamily="2" charset="-122"/>
              </a:rPr>
              <a:t>(2) 4</a:t>
            </a:r>
            <a:r>
              <a:rPr lang="zh-CN" altLang="en-US" dirty="0">
                <a:latin typeface="Times New Roman" panose="02020603050405020304" pitchFamily="18" charset="0"/>
                <a:ea typeface="宋体" panose="02010600030101010101" pitchFamily="2" charset="-122"/>
              </a:rPr>
              <a:t>组并联，相电压</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，每组 </a:t>
            </a:r>
            <a:r>
              <a:rPr lang="en-US" altLang="zh-CN">
                <a:latin typeface="Times New Roman" panose="02020603050405020304" pitchFamily="18" charset="0"/>
                <a:ea typeface="宋体" panose="02010600030101010101" pitchFamily="2" charset="-122"/>
              </a:rPr>
              <a:t>220V.</a:t>
            </a:r>
            <a:endParaRPr lang="en-US" altLang="zh-CN">
              <a:latin typeface="Times New Roman" panose="02020603050405020304" pitchFamily="18" charset="0"/>
              <a:ea typeface="宋体" panose="02010600030101010101" pitchFamily="2" charset="-122"/>
            </a:endParaRPr>
          </a:p>
          <a:p>
            <a:pPr defTabSz="914400">
              <a:lnSpc>
                <a:spcPct val="145000"/>
              </a:lnSpc>
              <a:tabLst>
                <a:tab pos="228600" algn="l"/>
              </a:tabLst>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两两串联再并联，相电压</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，每组</a:t>
            </a:r>
            <a:r>
              <a:rPr lang="en-US" altLang="zh-CN" dirty="0">
                <a:latin typeface="Times New Roman" panose="02020603050405020304" pitchFamily="18" charset="0"/>
                <a:ea typeface="宋体" panose="02010600030101010101" pitchFamily="2" charset="-122"/>
              </a:rPr>
              <a:t>110V</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defTabSz="914400">
              <a:lnSpc>
                <a:spcPct val="145000"/>
              </a:lnSpc>
              <a:tabLst>
                <a:tab pos="228600" algn="l"/>
              </a:tabLst>
            </a:pPr>
            <a:r>
              <a:rPr lang="zh-CN" altLang="en-US" dirty="0">
                <a:latin typeface="Times New Roman" panose="02020603050405020304" pitchFamily="18" charset="0"/>
                <a:ea typeface="宋体" panose="02010600030101010101" pitchFamily="2" charset="-122"/>
              </a:rPr>
              <a:t>     无论</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个极相组如何连接，相电压都是</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defTabSz="914400">
              <a:lnSpc>
                <a:spcPct val="145000"/>
              </a:lnSpc>
              <a:tabLst>
                <a:tab pos="228600" algn="l"/>
              </a:tabLst>
            </a:pP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输出</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三相对称电压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绕组</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接</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defTabSz="914400">
              <a:lnSpc>
                <a:spcPct val="145000"/>
              </a:lnSpc>
              <a:tabLst>
                <a:tab pos="228600" algn="l"/>
              </a:tabLst>
            </a:pP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输出</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电压，绕组应该</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接。</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矩形 119811"/>
          <p:cNvSpPr/>
          <p:nvPr/>
        </p:nvSpPr>
        <p:spPr>
          <a:xfrm>
            <a:off x="395288" y="4868863"/>
            <a:ext cx="5472112" cy="1406525"/>
          </a:xfrm>
          <a:prstGeom prst="rect">
            <a:avLst/>
          </a:prstGeom>
          <a:noFill/>
          <a:ln w="9525">
            <a:noFill/>
          </a:ln>
        </p:spPr>
        <p:txBody>
          <a:bodyPr anchor="ctr" anchorCtr="0">
            <a:spAutoFit/>
          </a:bodyPr>
          <a:p>
            <a:pPr>
              <a:lnSpc>
                <a:spcPct val="120000"/>
              </a:lnSpc>
            </a:pPr>
            <a:r>
              <a:rPr lang="en-US" altLang="zh-CN" dirty="0">
                <a:latin typeface="Times New Roman" panose="02020603050405020304" pitchFamily="18" charset="0"/>
                <a:ea typeface="宋体" panose="02010600030101010101" pitchFamily="2" charset="-122"/>
              </a:rPr>
              <a:t>(7) </a:t>
            </a:r>
            <a:r>
              <a:rPr lang="zh-CN" altLang="en-US" dirty="0">
                <a:latin typeface="Times New Roman" panose="02020603050405020304" pitchFamily="18" charset="0"/>
                <a:ea typeface="宋体" panose="02010600030101010101" pitchFamily="2" charset="-122"/>
              </a:rPr>
              <a:t>设</a:t>
            </a:r>
            <a:r>
              <a:rPr lang="en-US" altLang="zh-CN" dirty="0">
                <a:latin typeface="Times New Roman" panose="02020603050405020304" pitchFamily="18" charset="0"/>
                <a:ea typeface="宋体" panose="02010600030101010101" pitchFamily="2" charset="-122"/>
              </a:rPr>
              <a:t>U</a:t>
            </a:r>
            <a:r>
              <a:rPr lang="zh-CN" altLang="en-US" dirty="0">
                <a:latin typeface="Times New Roman" panose="02020603050405020304" pitchFamily="18" charset="0"/>
                <a:ea typeface="宋体" panose="02010600030101010101" pitchFamily="2" charset="-122"/>
              </a:rPr>
              <a:t>相一个极相组反接了</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U</a:t>
            </a:r>
            <a:r>
              <a:rPr lang="zh-CN" altLang="en-US" dirty="0">
                <a:latin typeface="Times New Roman" panose="02020603050405020304" pitchFamily="18" charset="0"/>
                <a:ea typeface="宋体" panose="02010600030101010101" pitchFamily="2" charset="-122"/>
              </a:rPr>
              <a:t>相电压  减半为</a:t>
            </a:r>
            <a:r>
              <a:rPr lang="en-US" altLang="zh-CN" dirty="0">
                <a:latin typeface="Times New Roman" panose="02020603050405020304" pitchFamily="18" charset="0"/>
                <a:ea typeface="宋体" panose="02010600030101010101" pitchFamily="2" charset="-122"/>
              </a:rPr>
              <a:t>110V, </a:t>
            </a:r>
            <a:r>
              <a:rPr lang="zh-CN" altLang="en-US" dirty="0">
                <a:latin typeface="Times New Roman" panose="02020603050405020304" pitchFamily="18" charset="0"/>
                <a:ea typeface="宋体" panose="02010600030101010101" pitchFamily="2" charset="-122"/>
              </a:rPr>
              <a:t>电压相量图如图右</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a:lnSpc>
                <a:spcPct val="120000"/>
              </a:lnSpc>
            </a:pP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UV</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UW</a:t>
            </a:r>
            <a:r>
              <a:rPr lang="en-US" altLang="zh-CN">
                <a:latin typeface="Times New Roman" panose="02020603050405020304" pitchFamily="18" charset="0"/>
                <a:ea typeface="宋体" panose="02010600030101010101" pitchFamily="2" charset="-122"/>
              </a:rPr>
              <a:t>=286V; </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VW</a:t>
            </a:r>
            <a:r>
              <a:rPr lang="en-US" altLang="zh-CN">
                <a:latin typeface="Times New Roman" panose="02020603050405020304" pitchFamily="18" charset="0"/>
                <a:ea typeface="宋体" panose="02010600030101010101" pitchFamily="2" charset="-122"/>
              </a:rPr>
              <a:t>=380V; </a:t>
            </a:r>
            <a:endParaRPr lang="en-US" altLang="zh-CN">
              <a:latin typeface="Times New Roman" panose="02020603050405020304" pitchFamily="18" charset="0"/>
              <a:ea typeface="宋体" panose="02010600030101010101" pitchFamily="2" charset="-122"/>
            </a:endParaRPr>
          </a:p>
        </p:txBody>
      </p:sp>
      <p:sp>
        <p:nvSpPr>
          <p:cNvPr id="49154" name="矩形 119812"/>
          <p:cNvSpPr/>
          <p:nvPr/>
        </p:nvSpPr>
        <p:spPr>
          <a:xfrm>
            <a:off x="323850" y="3789363"/>
            <a:ext cx="5256213" cy="968375"/>
          </a:xfrm>
          <a:prstGeom prst="rect">
            <a:avLst/>
          </a:prstGeom>
          <a:noFill/>
          <a:ln w="9525">
            <a:noFill/>
          </a:ln>
        </p:spPr>
        <p:txBody>
          <a:bodyPr anchor="t" anchorCtr="0">
            <a:spAutoFit/>
          </a:bodyPr>
          <a:p>
            <a:pPr>
              <a:lnSpc>
                <a:spcPct val="120000"/>
              </a:lnSpc>
            </a:pPr>
            <a:r>
              <a:rPr lang="zh-CN" altLang="en-US" dirty="0">
                <a:latin typeface="Times New Roman" panose="02020603050405020304" pitchFamily="18" charset="0"/>
                <a:ea typeface="宋体" panose="02010600030101010101" pitchFamily="2" charset="-122"/>
              </a:rPr>
              <a:t>由图知：</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UV</a:t>
            </a:r>
            <a:r>
              <a:rPr lang="en-US" altLang="zh-CN">
                <a:latin typeface="Times New Roman" panose="02020603050405020304" pitchFamily="18" charset="0"/>
                <a:ea typeface="宋体" panose="02010600030101010101" pitchFamily="2" charset="-122"/>
              </a:rPr>
              <a:t>=220V; </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VW</a:t>
            </a:r>
            <a:r>
              <a:rPr lang="en-US" altLang="zh-CN">
                <a:latin typeface="Times New Roman" panose="02020603050405020304" pitchFamily="18" charset="0"/>
                <a:ea typeface="宋体" panose="02010600030101010101" pitchFamily="2" charset="-122"/>
              </a:rPr>
              <a:t>=220V; </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UW</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不能得到对称的</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电压。</a:t>
            </a:r>
            <a:endParaRPr lang="zh-CN" altLang="en-US" dirty="0">
              <a:latin typeface="Times New Roman" panose="02020603050405020304" pitchFamily="18" charset="0"/>
              <a:ea typeface="宋体" panose="02010600030101010101" pitchFamily="2" charset="-122"/>
            </a:endParaRPr>
          </a:p>
        </p:txBody>
      </p:sp>
      <p:sp>
        <p:nvSpPr>
          <p:cNvPr id="49155" name="文本框 119813"/>
          <p:cNvSpPr txBox="1"/>
          <p:nvPr/>
        </p:nvSpPr>
        <p:spPr>
          <a:xfrm>
            <a:off x="611188" y="333375"/>
            <a:ext cx="3900487" cy="457200"/>
          </a:xfrm>
          <a:prstGeom prst="rect">
            <a:avLst/>
          </a:prstGeom>
          <a:noFill/>
          <a:ln w="9525">
            <a:noFill/>
          </a:ln>
        </p:spPr>
        <p:txBody>
          <a:bodyPr wrap="none" anchor="t" anchorCtr="0">
            <a:spAutoFit/>
          </a:bodyPr>
          <a:p>
            <a:r>
              <a:rPr lang="en-US" altLang="zh-CN" dirty="0">
                <a:latin typeface="Times New Roman" panose="02020603050405020304" pitchFamily="18" charset="0"/>
                <a:ea typeface="宋体" panose="02010600030101010101" pitchFamily="2" charset="-122"/>
              </a:rPr>
              <a:t>(6) </a:t>
            </a:r>
            <a:r>
              <a:rPr lang="zh-CN" altLang="en-US" dirty="0">
                <a:latin typeface="Times New Roman" panose="02020603050405020304" pitchFamily="18" charset="0"/>
                <a:ea typeface="宋体" panose="02010600030101010101" pitchFamily="2" charset="-122"/>
              </a:rPr>
              <a:t>设</a:t>
            </a:r>
            <a:r>
              <a:rPr lang="en-US" altLang="zh-CN" dirty="0">
                <a:latin typeface="Times New Roman" panose="02020603050405020304" pitchFamily="18" charset="0"/>
                <a:ea typeface="宋体" panose="02010600030101010101" pitchFamily="2" charset="-122"/>
              </a:rPr>
              <a:t>V</a:t>
            </a:r>
            <a:r>
              <a:rPr lang="zh-CN" altLang="en-US" dirty="0">
                <a:latin typeface="Times New Roman" panose="02020603050405020304" pitchFamily="18" charset="0"/>
                <a:ea typeface="宋体" panose="02010600030101010101" pitchFamily="2" charset="-122"/>
              </a:rPr>
              <a:t>相绕组颠倒了，则：</a:t>
            </a:r>
            <a:endParaRPr lang="zh-CN" altLang="en-US" dirty="0">
              <a:latin typeface="Times New Roman" panose="02020603050405020304" pitchFamily="18" charset="0"/>
              <a:ea typeface="宋体" panose="02010600030101010101" pitchFamily="2" charset="-122"/>
            </a:endParaRPr>
          </a:p>
        </p:txBody>
      </p:sp>
      <p:grpSp>
        <p:nvGrpSpPr>
          <p:cNvPr id="49156" name="组合 119831"/>
          <p:cNvGrpSpPr>
            <a:grpSpLocks noChangeAspect="1"/>
          </p:cNvGrpSpPr>
          <p:nvPr/>
        </p:nvGrpSpPr>
        <p:grpSpPr>
          <a:xfrm>
            <a:off x="6011863" y="4292600"/>
            <a:ext cx="2549525" cy="2303463"/>
            <a:chOff x="5954" y="10792"/>
            <a:chExt cx="4016" cy="3627"/>
          </a:xfrm>
        </p:grpSpPr>
        <p:sp>
          <p:nvSpPr>
            <p:cNvPr id="49157" name="矩形 119832"/>
            <p:cNvSpPr>
              <a:spLocks noChangeAspect="1"/>
            </p:cNvSpPr>
            <p:nvPr/>
          </p:nvSpPr>
          <p:spPr>
            <a:xfrm>
              <a:off x="5954" y="10792"/>
              <a:ext cx="4016" cy="3627"/>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9158" name="文本框 119833"/>
            <p:cNvSpPr txBox="1"/>
            <p:nvPr/>
          </p:nvSpPr>
          <p:spPr>
            <a:xfrm>
              <a:off x="8030" y="10792"/>
              <a:ext cx="651" cy="514"/>
            </a:xfrm>
            <a:prstGeom prst="rect">
              <a:avLst/>
            </a:prstGeom>
            <a:noFill/>
            <a:ln w="9525">
              <a:noFill/>
            </a:ln>
          </p:spPr>
          <p:txBody>
            <a:bodyPr lIns="0" tIns="0" rIns="0" bIns="0" anchor="t" anchorCtr="0"/>
            <a:p>
              <a:pPr algn="just"/>
              <a:r>
                <a:rPr lang="en-US" altLang="zh-CN" sz="1200">
                  <a:solidFill>
                    <a:srgbClr val="000000"/>
                  </a:solidFill>
                  <a:latin typeface="Times New Roman" panose="02020603050405020304" pitchFamily="18" charset="0"/>
                  <a:ea typeface="宋体" panose="02010600030101010101" pitchFamily="2" charset="-122"/>
                </a:rPr>
                <a:t>V</a:t>
              </a:r>
              <a:endParaRPr lang="en-US" altLang="zh-CN">
                <a:latin typeface="Times New Roman" panose="02020603050405020304" pitchFamily="18" charset="0"/>
                <a:ea typeface="宋体" panose="02010600030101010101" pitchFamily="2" charset="-122"/>
              </a:endParaRPr>
            </a:p>
          </p:txBody>
        </p:sp>
        <p:sp>
          <p:nvSpPr>
            <p:cNvPr id="49159" name="直接连接符 119834"/>
            <p:cNvSpPr/>
            <p:nvPr/>
          </p:nvSpPr>
          <p:spPr>
            <a:xfrm flipV="1">
              <a:off x="6741" y="12867"/>
              <a:ext cx="967" cy="779"/>
            </a:xfrm>
            <a:prstGeom prst="line">
              <a:avLst/>
            </a:prstGeom>
            <a:ln w="19050" cap="flat" cmpd="sng">
              <a:solidFill>
                <a:srgbClr val="000000"/>
              </a:solidFill>
              <a:prstDash val="solid"/>
              <a:round/>
              <a:headEnd type="none" w="med" len="med"/>
              <a:tailEnd type="triangle" w="sm" len="med"/>
            </a:ln>
          </p:spPr>
        </p:sp>
        <p:sp>
          <p:nvSpPr>
            <p:cNvPr id="49160" name="直接连接符 119835"/>
            <p:cNvSpPr/>
            <p:nvPr/>
          </p:nvSpPr>
          <p:spPr>
            <a:xfrm flipH="1" flipV="1">
              <a:off x="7664" y="12871"/>
              <a:ext cx="1530" cy="1197"/>
            </a:xfrm>
            <a:prstGeom prst="line">
              <a:avLst/>
            </a:prstGeom>
            <a:ln w="19050" cap="flat" cmpd="sng">
              <a:solidFill>
                <a:srgbClr val="000000"/>
              </a:solidFill>
              <a:prstDash val="solid"/>
              <a:round/>
              <a:headEnd type="none" w="med" len="med"/>
              <a:tailEnd type="triangle" w="sm" len="med"/>
            </a:ln>
          </p:spPr>
        </p:sp>
        <p:sp>
          <p:nvSpPr>
            <p:cNvPr id="49161" name="文本框 119836"/>
            <p:cNvSpPr txBox="1"/>
            <p:nvPr/>
          </p:nvSpPr>
          <p:spPr>
            <a:xfrm>
              <a:off x="5954" y="13600"/>
              <a:ext cx="650" cy="514"/>
            </a:xfrm>
            <a:prstGeom prst="rect">
              <a:avLst/>
            </a:prstGeom>
            <a:noFill/>
            <a:ln w="9525">
              <a:noFill/>
            </a:ln>
          </p:spPr>
          <p:txBody>
            <a:bodyPr lIns="0" tIns="0" rIns="0" bIns="0" anchor="t" anchorCtr="0"/>
            <a:p>
              <a:pPr algn="just"/>
              <a:r>
                <a:rPr lang="en-US" altLang="zh-CN" sz="1200">
                  <a:solidFill>
                    <a:srgbClr val="000000"/>
                  </a:solidFill>
                  <a:latin typeface="Times New Roman" panose="02020603050405020304" pitchFamily="18" charset="0"/>
                  <a:ea typeface="宋体" panose="02010600030101010101" pitchFamily="2" charset="-122"/>
                </a:rPr>
                <a:t>U</a:t>
              </a:r>
              <a:endParaRPr lang="en-US" altLang="zh-CN">
                <a:latin typeface="Times New Roman" panose="02020603050405020304" pitchFamily="18" charset="0"/>
                <a:ea typeface="宋体" panose="02010600030101010101" pitchFamily="2" charset="-122"/>
              </a:endParaRPr>
            </a:p>
          </p:txBody>
        </p:sp>
        <p:sp>
          <p:nvSpPr>
            <p:cNvPr id="49162" name="文本框 119837"/>
            <p:cNvSpPr txBox="1"/>
            <p:nvPr/>
          </p:nvSpPr>
          <p:spPr>
            <a:xfrm>
              <a:off x="9320" y="13905"/>
              <a:ext cx="650" cy="514"/>
            </a:xfrm>
            <a:prstGeom prst="rect">
              <a:avLst/>
            </a:prstGeom>
            <a:noFill/>
            <a:ln w="9525">
              <a:noFill/>
            </a:ln>
          </p:spPr>
          <p:txBody>
            <a:bodyPr lIns="0" tIns="0" rIns="0" bIns="0" anchor="t" anchorCtr="0"/>
            <a:p>
              <a:pPr algn="just"/>
              <a:r>
                <a:rPr lang="en-US" altLang="zh-CN" sz="1200">
                  <a:solidFill>
                    <a:srgbClr val="000000"/>
                  </a:solidFill>
                  <a:latin typeface="Times New Roman" panose="02020603050405020304" pitchFamily="18" charset="0"/>
                  <a:ea typeface="宋体" panose="02010600030101010101" pitchFamily="2" charset="-122"/>
                </a:rPr>
                <a:t>W</a:t>
              </a:r>
              <a:endParaRPr lang="en-US" altLang="zh-CN">
                <a:latin typeface="Times New Roman" panose="02020603050405020304" pitchFamily="18" charset="0"/>
                <a:ea typeface="宋体" panose="02010600030101010101" pitchFamily="2" charset="-122"/>
              </a:endParaRPr>
            </a:p>
          </p:txBody>
        </p:sp>
        <p:sp>
          <p:nvSpPr>
            <p:cNvPr id="49163" name="直接连接符 119838"/>
            <p:cNvSpPr/>
            <p:nvPr/>
          </p:nvSpPr>
          <p:spPr>
            <a:xfrm flipH="1">
              <a:off x="7649" y="11104"/>
              <a:ext cx="45" cy="1794"/>
            </a:xfrm>
            <a:prstGeom prst="line">
              <a:avLst/>
            </a:prstGeom>
            <a:ln w="19050" cap="flat" cmpd="sng">
              <a:solidFill>
                <a:srgbClr val="000000"/>
              </a:solidFill>
              <a:prstDash val="solid"/>
              <a:round/>
              <a:headEnd type="none" w="med" len="med"/>
              <a:tailEnd type="triangle" w="sm" len="med"/>
            </a:ln>
          </p:spPr>
        </p:sp>
        <p:sp>
          <p:nvSpPr>
            <p:cNvPr id="49164" name="直接连接符 119839"/>
            <p:cNvSpPr/>
            <p:nvPr/>
          </p:nvSpPr>
          <p:spPr>
            <a:xfrm flipH="1">
              <a:off x="6734" y="11044"/>
              <a:ext cx="967" cy="2595"/>
            </a:xfrm>
            <a:prstGeom prst="line">
              <a:avLst/>
            </a:prstGeom>
            <a:ln w="9525" cap="flat" cmpd="sng">
              <a:solidFill>
                <a:srgbClr val="000000"/>
              </a:solidFill>
              <a:prstDash val="solid"/>
              <a:round/>
              <a:headEnd type="none" w="med" len="med"/>
              <a:tailEnd type="none" w="med" len="med"/>
            </a:ln>
          </p:spPr>
        </p:sp>
        <p:sp>
          <p:nvSpPr>
            <p:cNvPr id="49165" name="直接连接符 119840"/>
            <p:cNvSpPr/>
            <p:nvPr/>
          </p:nvSpPr>
          <p:spPr>
            <a:xfrm>
              <a:off x="6741" y="13646"/>
              <a:ext cx="2453" cy="422"/>
            </a:xfrm>
            <a:prstGeom prst="line">
              <a:avLst/>
            </a:prstGeom>
            <a:ln w="9525" cap="flat" cmpd="sng">
              <a:solidFill>
                <a:srgbClr val="000000"/>
              </a:solidFill>
              <a:prstDash val="solid"/>
              <a:round/>
              <a:headEnd type="none" w="med" len="med"/>
              <a:tailEnd type="none" w="med" len="med"/>
            </a:ln>
          </p:spPr>
        </p:sp>
        <p:sp>
          <p:nvSpPr>
            <p:cNvPr id="49166" name="直接连接符 119841"/>
            <p:cNvSpPr/>
            <p:nvPr/>
          </p:nvSpPr>
          <p:spPr>
            <a:xfrm>
              <a:off x="7679" y="11029"/>
              <a:ext cx="1515" cy="3039"/>
            </a:xfrm>
            <a:prstGeom prst="line">
              <a:avLst/>
            </a:prstGeom>
            <a:ln w="9525" cap="flat" cmpd="sng">
              <a:solidFill>
                <a:srgbClr val="000000"/>
              </a:solidFill>
              <a:prstDash val="solid"/>
              <a:round/>
              <a:headEnd type="none" w="med" len="med"/>
              <a:tailEnd type="none" w="med" len="med"/>
            </a:ln>
          </p:spPr>
        </p:sp>
      </p:grpSp>
      <p:grpSp>
        <p:nvGrpSpPr>
          <p:cNvPr id="49167" name="组合 119857"/>
          <p:cNvGrpSpPr>
            <a:grpSpLocks noChangeAspect="1"/>
          </p:cNvGrpSpPr>
          <p:nvPr/>
        </p:nvGrpSpPr>
        <p:grpSpPr>
          <a:xfrm>
            <a:off x="1476375" y="1125538"/>
            <a:ext cx="2590800" cy="2244725"/>
            <a:chOff x="3780" y="2298"/>
            <a:chExt cx="2880" cy="2496"/>
          </a:xfrm>
        </p:grpSpPr>
        <p:sp>
          <p:nvSpPr>
            <p:cNvPr id="49168" name="矩形 119858"/>
            <p:cNvSpPr>
              <a:spLocks noChangeAspect="1"/>
            </p:cNvSpPr>
            <p:nvPr/>
          </p:nvSpPr>
          <p:spPr>
            <a:xfrm>
              <a:off x="3780" y="2298"/>
              <a:ext cx="2880" cy="2496"/>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49169" name="直接连接符 119859"/>
            <p:cNvSpPr/>
            <p:nvPr/>
          </p:nvSpPr>
          <p:spPr>
            <a:xfrm>
              <a:off x="5220" y="2610"/>
              <a:ext cx="1" cy="1248"/>
            </a:xfrm>
            <a:prstGeom prst="line">
              <a:avLst/>
            </a:prstGeom>
            <a:ln w="9525" cap="flat" cmpd="sng">
              <a:solidFill>
                <a:srgbClr val="000000"/>
              </a:solidFill>
              <a:prstDash val="solid"/>
              <a:round/>
              <a:headEnd type="none" w="med" len="med"/>
              <a:tailEnd type="triangle" w="med" len="med"/>
            </a:ln>
          </p:spPr>
        </p:sp>
        <p:sp>
          <p:nvSpPr>
            <p:cNvPr id="49170" name="直接连接符 119860"/>
            <p:cNvSpPr/>
            <p:nvPr/>
          </p:nvSpPr>
          <p:spPr>
            <a:xfrm flipV="1">
              <a:off x="4140" y="3858"/>
              <a:ext cx="1080" cy="624"/>
            </a:xfrm>
            <a:prstGeom prst="line">
              <a:avLst/>
            </a:prstGeom>
            <a:ln w="9525" cap="flat" cmpd="sng">
              <a:solidFill>
                <a:srgbClr val="000000"/>
              </a:solidFill>
              <a:prstDash val="solid"/>
              <a:round/>
              <a:headEnd type="none" w="med" len="med"/>
              <a:tailEnd type="triangle" w="med" len="med"/>
            </a:ln>
          </p:spPr>
        </p:sp>
        <p:sp>
          <p:nvSpPr>
            <p:cNvPr id="49171" name="直接连接符 119861"/>
            <p:cNvSpPr/>
            <p:nvPr/>
          </p:nvSpPr>
          <p:spPr>
            <a:xfrm flipH="1" flipV="1">
              <a:off x="5220" y="3858"/>
              <a:ext cx="900" cy="624"/>
            </a:xfrm>
            <a:prstGeom prst="line">
              <a:avLst/>
            </a:prstGeom>
            <a:ln w="9525" cap="flat" cmpd="sng">
              <a:solidFill>
                <a:srgbClr val="000000"/>
              </a:solidFill>
              <a:prstDash val="solid"/>
              <a:round/>
              <a:headEnd type="none" w="med" len="med"/>
              <a:tailEnd type="triangle" w="med" len="med"/>
            </a:ln>
          </p:spPr>
        </p:sp>
        <p:sp>
          <p:nvSpPr>
            <p:cNvPr id="49172" name="直接连接符 119862"/>
            <p:cNvSpPr/>
            <p:nvPr/>
          </p:nvSpPr>
          <p:spPr>
            <a:xfrm flipH="1">
              <a:off x="4140" y="2610"/>
              <a:ext cx="1080" cy="1872"/>
            </a:xfrm>
            <a:prstGeom prst="line">
              <a:avLst/>
            </a:prstGeom>
            <a:ln w="9525" cap="flat" cmpd="sng">
              <a:solidFill>
                <a:srgbClr val="000000"/>
              </a:solidFill>
              <a:prstDash val="solid"/>
              <a:round/>
              <a:headEnd type="none" w="med" len="med"/>
              <a:tailEnd type="none" w="med" len="med"/>
            </a:ln>
          </p:spPr>
        </p:sp>
        <p:sp>
          <p:nvSpPr>
            <p:cNvPr id="49173" name="直接连接符 119863"/>
            <p:cNvSpPr/>
            <p:nvPr/>
          </p:nvSpPr>
          <p:spPr>
            <a:xfrm>
              <a:off x="4140" y="4482"/>
              <a:ext cx="1980" cy="1"/>
            </a:xfrm>
            <a:prstGeom prst="line">
              <a:avLst/>
            </a:prstGeom>
            <a:ln w="9525" cap="flat" cmpd="sng">
              <a:solidFill>
                <a:srgbClr val="000000"/>
              </a:solidFill>
              <a:prstDash val="solid"/>
              <a:round/>
              <a:headEnd type="none" w="med" len="med"/>
              <a:tailEnd type="none" w="med" len="med"/>
            </a:ln>
          </p:spPr>
        </p:sp>
        <p:sp>
          <p:nvSpPr>
            <p:cNvPr id="49174" name="直接连接符 119864"/>
            <p:cNvSpPr/>
            <p:nvPr/>
          </p:nvSpPr>
          <p:spPr>
            <a:xfrm>
              <a:off x="5220" y="2610"/>
              <a:ext cx="900" cy="1872"/>
            </a:xfrm>
            <a:prstGeom prst="line">
              <a:avLst/>
            </a:prstGeom>
            <a:ln w="9525" cap="flat" cmpd="sng">
              <a:solidFill>
                <a:srgbClr val="000000"/>
              </a:solidFill>
              <a:prstDash val="solid"/>
              <a:round/>
              <a:headEnd type="none" w="med" len="med"/>
              <a:tailEnd type="none" w="med" len="med"/>
            </a:ln>
          </p:spPr>
        </p:sp>
        <p:sp>
          <p:nvSpPr>
            <p:cNvPr id="49175" name="文本框 119865"/>
            <p:cNvSpPr txBox="1"/>
            <p:nvPr/>
          </p:nvSpPr>
          <p:spPr>
            <a:xfrm>
              <a:off x="6120" y="4326"/>
              <a:ext cx="540" cy="468"/>
            </a:xfrm>
            <a:prstGeom prst="rect">
              <a:avLst/>
            </a:prstGeom>
            <a:noFill/>
            <a:ln w="9525">
              <a:noFill/>
            </a:ln>
          </p:spPr>
          <p:txBody>
            <a:bodyPr anchor="t" anchorCtr="0"/>
            <a:p>
              <a:pPr algn="just"/>
              <a:r>
                <a:rPr lang="en-US" altLang="zh-CN" sz="1000" b="0">
                  <a:latin typeface="Times New Roman" panose="02020603050405020304" pitchFamily="18" charset="0"/>
                  <a:ea typeface="宋体" panose="02010600030101010101" pitchFamily="2" charset="-122"/>
                </a:rPr>
                <a:t>W</a:t>
              </a:r>
              <a:endParaRPr lang="en-US" altLang="zh-CN">
                <a:latin typeface="Times New Roman" panose="02020603050405020304" pitchFamily="18" charset="0"/>
                <a:ea typeface="宋体" panose="02010600030101010101" pitchFamily="2" charset="-122"/>
              </a:endParaRPr>
            </a:p>
          </p:txBody>
        </p:sp>
        <p:sp>
          <p:nvSpPr>
            <p:cNvPr id="49176" name="文本框 119866"/>
            <p:cNvSpPr txBox="1"/>
            <p:nvPr/>
          </p:nvSpPr>
          <p:spPr>
            <a:xfrm>
              <a:off x="5220" y="2298"/>
              <a:ext cx="720" cy="468"/>
            </a:xfrm>
            <a:prstGeom prst="rect">
              <a:avLst/>
            </a:prstGeom>
            <a:noFill/>
            <a:ln w="9525">
              <a:noFill/>
            </a:ln>
          </p:spPr>
          <p:txBody>
            <a:bodyPr anchor="t" anchorCtr="0"/>
            <a:p>
              <a:pPr algn="just"/>
              <a:r>
                <a:rPr lang="en-US" altLang="zh-CN" sz="1000" b="0">
                  <a:latin typeface="Times New Roman" panose="02020603050405020304" pitchFamily="18" charset="0"/>
                  <a:ea typeface="宋体" panose="02010600030101010101" pitchFamily="2" charset="-122"/>
                </a:rPr>
                <a:t>U</a:t>
              </a:r>
              <a:endParaRPr lang="en-US" altLang="zh-CN">
                <a:latin typeface="Times New Roman" panose="02020603050405020304" pitchFamily="18" charset="0"/>
                <a:ea typeface="宋体" panose="02010600030101010101" pitchFamily="2" charset="-122"/>
              </a:endParaRPr>
            </a:p>
          </p:txBody>
        </p:sp>
        <p:sp>
          <p:nvSpPr>
            <p:cNvPr id="49177" name="文本框 119867"/>
            <p:cNvSpPr txBox="1"/>
            <p:nvPr/>
          </p:nvSpPr>
          <p:spPr>
            <a:xfrm>
              <a:off x="3780" y="4326"/>
              <a:ext cx="720" cy="468"/>
            </a:xfrm>
            <a:prstGeom prst="rect">
              <a:avLst/>
            </a:prstGeom>
            <a:noFill/>
            <a:ln w="9525">
              <a:noFill/>
            </a:ln>
          </p:spPr>
          <p:txBody>
            <a:bodyPr anchor="t" anchorCtr="0"/>
            <a:p>
              <a:pPr algn="just"/>
              <a:r>
                <a:rPr lang="en-US" altLang="zh-CN" sz="1000" b="0">
                  <a:latin typeface="Times New Roman" panose="02020603050405020304" pitchFamily="18" charset="0"/>
                  <a:ea typeface="宋体" panose="02010600030101010101" pitchFamily="2" charset="-122"/>
                </a:rPr>
                <a:t>V</a:t>
              </a:r>
              <a:endParaRPr lang="en-US" altLang="zh-CN">
                <a:latin typeface="Times New Roman" panose="02020603050405020304" pitchFamily="18" charset="0"/>
                <a:ea typeface="宋体" panose="02010600030101010101" pitchFamily="2" charset="-122"/>
              </a:endParaRPr>
            </a:p>
          </p:txBody>
        </p:sp>
        <p:sp>
          <p:nvSpPr>
            <p:cNvPr id="49178" name="文本框 119868"/>
            <p:cNvSpPr txBox="1"/>
            <p:nvPr/>
          </p:nvSpPr>
          <p:spPr>
            <a:xfrm>
              <a:off x="5760" y="3234"/>
              <a:ext cx="720" cy="468"/>
            </a:xfrm>
            <a:prstGeom prst="rect">
              <a:avLst/>
            </a:prstGeom>
            <a:noFill/>
            <a:ln w="9525">
              <a:noFill/>
            </a:ln>
          </p:spPr>
          <p:txBody>
            <a:bodyPr anchor="t" anchorCtr="0"/>
            <a:p>
              <a:pPr algn="just"/>
              <a:r>
                <a:rPr lang="en-US" altLang="zh-CN" sz="1000" b="0">
                  <a:latin typeface="Times New Roman" panose="02020603050405020304" pitchFamily="18" charset="0"/>
                  <a:ea typeface="宋体" panose="02010600030101010101" pitchFamily="2" charset="-122"/>
                </a:rPr>
                <a:t>380</a:t>
              </a:r>
              <a:endParaRPr lang="en-US" altLang="zh-CN">
                <a:latin typeface="Times New Roman" panose="02020603050405020304" pitchFamily="18" charset="0"/>
                <a:ea typeface="宋体" panose="02010600030101010101" pitchFamily="2" charset="-122"/>
              </a:endParaRPr>
            </a:p>
          </p:txBody>
        </p:sp>
        <p:sp>
          <p:nvSpPr>
            <p:cNvPr id="49179" name="文本框 119869"/>
            <p:cNvSpPr txBox="1"/>
            <p:nvPr/>
          </p:nvSpPr>
          <p:spPr>
            <a:xfrm>
              <a:off x="4860" y="3234"/>
              <a:ext cx="720" cy="468"/>
            </a:xfrm>
            <a:prstGeom prst="rect">
              <a:avLst/>
            </a:prstGeom>
            <a:noFill/>
            <a:ln w="9525">
              <a:noFill/>
            </a:ln>
          </p:spPr>
          <p:txBody>
            <a:bodyPr anchor="t" anchorCtr="0"/>
            <a:p>
              <a:pPr algn="just"/>
              <a:r>
                <a:rPr lang="en-US" altLang="zh-CN" sz="1000" b="0">
                  <a:latin typeface="Times New Roman" panose="02020603050405020304" pitchFamily="18" charset="0"/>
                  <a:ea typeface="宋体" panose="02010600030101010101" pitchFamily="2" charset="-122"/>
                </a:rPr>
                <a:t>220</a:t>
              </a:r>
              <a:endParaRPr lang="en-US" altLang="zh-CN">
                <a:latin typeface="Times New Roman" panose="02020603050405020304" pitchFamily="18" charset="0"/>
                <a:ea typeface="宋体" panose="02010600030101010101" pitchFamily="2" charset="-122"/>
              </a:endParaRPr>
            </a:p>
          </p:txBody>
        </p:sp>
        <p:sp>
          <p:nvSpPr>
            <p:cNvPr id="49180" name="文本框 119870"/>
            <p:cNvSpPr txBox="1"/>
            <p:nvPr/>
          </p:nvSpPr>
          <p:spPr>
            <a:xfrm>
              <a:off x="5400" y="4014"/>
              <a:ext cx="720" cy="468"/>
            </a:xfrm>
            <a:prstGeom prst="rect">
              <a:avLst/>
            </a:prstGeom>
            <a:noFill/>
            <a:ln w="9525">
              <a:noFill/>
            </a:ln>
          </p:spPr>
          <p:txBody>
            <a:bodyPr anchor="t" anchorCtr="0"/>
            <a:p>
              <a:pPr algn="just"/>
              <a:r>
                <a:rPr lang="en-US" altLang="zh-CN" sz="1000" b="0">
                  <a:latin typeface="Times New Roman" panose="02020603050405020304" pitchFamily="18" charset="0"/>
                  <a:ea typeface="宋体" panose="02010600030101010101" pitchFamily="2" charset="-122"/>
                </a:rPr>
                <a:t>220</a:t>
              </a:r>
              <a:endParaRPr lang="en-US" altLang="zh-CN">
                <a:latin typeface="Times New Roman" panose="02020603050405020304" pitchFamily="18" charset="0"/>
                <a:ea typeface="宋体" panose="02010600030101010101" pitchFamily="2" charset="-122"/>
              </a:endParaRPr>
            </a:p>
          </p:txBody>
        </p:sp>
        <p:sp>
          <p:nvSpPr>
            <p:cNvPr id="49181" name="文本框 119871"/>
            <p:cNvSpPr txBox="1"/>
            <p:nvPr/>
          </p:nvSpPr>
          <p:spPr>
            <a:xfrm>
              <a:off x="4320" y="4014"/>
              <a:ext cx="900" cy="468"/>
            </a:xfrm>
            <a:prstGeom prst="rect">
              <a:avLst/>
            </a:prstGeom>
            <a:noFill/>
            <a:ln w="9525">
              <a:noFill/>
            </a:ln>
          </p:spPr>
          <p:txBody>
            <a:bodyPr anchor="t" anchorCtr="0"/>
            <a:p>
              <a:pPr algn="just"/>
              <a:r>
                <a:rPr lang="en-US" altLang="zh-CN" sz="1000" b="0">
                  <a:latin typeface="Times New Roman" panose="02020603050405020304" pitchFamily="18" charset="0"/>
                  <a:ea typeface="宋体" panose="02010600030101010101" pitchFamily="2" charset="-122"/>
                </a:rPr>
                <a:t>220</a:t>
              </a:r>
              <a:endParaRPr lang="en-US" altLang="zh-CN">
                <a:latin typeface="Times New Roman" panose="02020603050405020304" pitchFamily="18" charset="0"/>
                <a:ea typeface="宋体" panose="02010600030101010101" pitchFamily="2" charset="-122"/>
              </a:endParaRPr>
            </a:p>
          </p:txBody>
        </p:sp>
      </p:grpSp>
      <p:sp>
        <p:nvSpPr>
          <p:cNvPr id="49182" name="文本框 119872"/>
          <p:cNvSpPr txBox="1"/>
          <p:nvPr/>
        </p:nvSpPr>
        <p:spPr>
          <a:xfrm>
            <a:off x="611188" y="1052513"/>
            <a:ext cx="1409700"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正常时：</a:t>
            </a:r>
            <a:endParaRPr lang="zh-CN" altLang="en-US" dirty="0">
              <a:latin typeface="Times New Roman" panose="02020603050405020304" pitchFamily="18" charset="0"/>
              <a:ea typeface="宋体" panose="02010600030101010101" pitchFamily="2" charset="-122"/>
            </a:endParaRPr>
          </a:p>
        </p:txBody>
      </p:sp>
      <p:sp>
        <p:nvSpPr>
          <p:cNvPr id="49183" name="文本框 119873"/>
          <p:cNvSpPr txBox="1"/>
          <p:nvPr/>
        </p:nvSpPr>
        <p:spPr>
          <a:xfrm>
            <a:off x="4067175" y="981075"/>
            <a:ext cx="1630363" cy="457200"/>
          </a:xfrm>
          <a:prstGeom prst="rect">
            <a:avLst/>
          </a:prstGeom>
          <a:noFill/>
          <a:ln w="9525">
            <a:noFill/>
          </a:ln>
        </p:spPr>
        <p:txBody>
          <a:bodyPr anchor="t" anchorCtr="0">
            <a:spAutoFit/>
          </a:bodyPr>
          <a:p>
            <a:r>
              <a:rPr lang="en-US" altLang="zh-CN" dirty="0">
                <a:latin typeface="Times New Roman" panose="02020603050405020304" pitchFamily="18" charset="0"/>
                <a:ea typeface="宋体" panose="02010600030101010101" pitchFamily="2" charset="-122"/>
              </a:rPr>
              <a:t>V</a:t>
            </a:r>
            <a:r>
              <a:rPr lang="zh-CN" altLang="en-US" dirty="0">
                <a:latin typeface="Times New Roman" panose="02020603050405020304" pitchFamily="18" charset="0"/>
                <a:ea typeface="宋体" panose="02010600030101010101" pitchFamily="2" charset="-122"/>
              </a:rPr>
              <a:t>相颠倒：</a:t>
            </a:r>
            <a:endParaRPr lang="zh-CN" altLang="en-US" dirty="0">
              <a:latin typeface="Times New Roman" panose="02020603050405020304" pitchFamily="18" charset="0"/>
              <a:ea typeface="宋体" panose="02010600030101010101" pitchFamily="2" charset="-122"/>
            </a:endParaRPr>
          </a:p>
        </p:txBody>
      </p:sp>
      <p:graphicFrame>
        <p:nvGraphicFramePr>
          <p:cNvPr id="49184" name="对象 119887"/>
          <p:cNvGraphicFramePr/>
          <p:nvPr/>
        </p:nvGraphicFramePr>
        <p:xfrm>
          <a:off x="6084888" y="2852738"/>
          <a:ext cx="1960562" cy="642937"/>
        </p:xfrm>
        <a:graphic>
          <a:graphicData uri="http://schemas.openxmlformats.org/presentationml/2006/ole">
            <mc:AlternateContent xmlns:mc="http://schemas.openxmlformats.org/markup-compatibility/2006">
              <mc:Choice xmlns:v="urn:schemas-microsoft-com:vml" Requires="v">
                <p:oleObj spid="_x0000_s3154" name="" r:id="rId1" imgW="1472565" imgH="482600" progId="Equation.3">
                  <p:embed/>
                </p:oleObj>
              </mc:Choice>
              <mc:Fallback>
                <p:oleObj name="" r:id="rId1" imgW="1472565" imgH="482600" progId="Equation.3">
                  <p:embed/>
                  <p:pic>
                    <p:nvPicPr>
                      <p:cNvPr id="0" name="图片 3153"/>
                      <p:cNvPicPr/>
                      <p:nvPr/>
                    </p:nvPicPr>
                    <p:blipFill>
                      <a:blip r:embed="rId2"/>
                      <a:stretch>
                        <a:fillRect/>
                      </a:stretch>
                    </p:blipFill>
                    <p:spPr>
                      <a:xfrm>
                        <a:off x="6084888" y="2852738"/>
                        <a:ext cx="1960562" cy="642937"/>
                      </a:xfrm>
                      <a:prstGeom prst="rect">
                        <a:avLst/>
                      </a:prstGeom>
                      <a:noFill/>
                      <a:ln w="38100">
                        <a:noFill/>
                        <a:miter/>
                      </a:ln>
                    </p:spPr>
                  </p:pic>
                </p:oleObj>
              </mc:Fallback>
            </mc:AlternateContent>
          </a:graphicData>
        </a:graphic>
      </p:graphicFrame>
      <p:grpSp>
        <p:nvGrpSpPr>
          <p:cNvPr id="49185" name="组合 119892"/>
          <p:cNvGrpSpPr/>
          <p:nvPr/>
        </p:nvGrpSpPr>
        <p:grpSpPr>
          <a:xfrm>
            <a:off x="6011863" y="476250"/>
            <a:ext cx="1944687" cy="2457450"/>
            <a:chOff x="3787" y="300"/>
            <a:chExt cx="1225" cy="1548"/>
          </a:xfrm>
        </p:grpSpPr>
        <p:sp>
          <p:nvSpPr>
            <p:cNvPr id="49186" name="直接连接符 119876"/>
            <p:cNvSpPr/>
            <p:nvPr/>
          </p:nvSpPr>
          <p:spPr>
            <a:xfrm>
              <a:off x="4028" y="494"/>
              <a:ext cx="1" cy="774"/>
            </a:xfrm>
            <a:prstGeom prst="line">
              <a:avLst/>
            </a:prstGeom>
            <a:ln w="9525" cap="flat" cmpd="sng">
              <a:solidFill>
                <a:srgbClr val="000000"/>
              </a:solidFill>
              <a:prstDash val="solid"/>
              <a:round/>
              <a:headEnd type="none" w="med" len="med"/>
              <a:tailEnd type="triangle" w="med" len="med"/>
            </a:ln>
          </p:spPr>
        </p:sp>
        <p:sp>
          <p:nvSpPr>
            <p:cNvPr id="49187" name="直接连接符 119877"/>
            <p:cNvSpPr/>
            <p:nvPr/>
          </p:nvSpPr>
          <p:spPr>
            <a:xfrm flipH="1">
              <a:off x="4014" y="890"/>
              <a:ext cx="670" cy="387"/>
            </a:xfrm>
            <a:prstGeom prst="line">
              <a:avLst/>
            </a:prstGeom>
            <a:ln w="12700" cap="flat" cmpd="sng">
              <a:solidFill>
                <a:schemeClr val="accent2"/>
              </a:solidFill>
              <a:prstDash val="solid"/>
              <a:round/>
              <a:headEnd type="none" w="med" len="med"/>
              <a:tailEnd type="triangle" w="med" len="med"/>
            </a:ln>
          </p:spPr>
        </p:sp>
        <p:sp>
          <p:nvSpPr>
            <p:cNvPr id="49188" name="直接连接符 119878"/>
            <p:cNvSpPr/>
            <p:nvPr/>
          </p:nvSpPr>
          <p:spPr>
            <a:xfrm flipH="1" flipV="1">
              <a:off x="4028" y="1268"/>
              <a:ext cx="559" cy="387"/>
            </a:xfrm>
            <a:prstGeom prst="line">
              <a:avLst/>
            </a:prstGeom>
            <a:ln w="9525" cap="flat" cmpd="sng">
              <a:solidFill>
                <a:srgbClr val="000000"/>
              </a:solidFill>
              <a:prstDash val="solid"/>
              <a:round/>
              <a:headEnd type="none" w="med" len="med"/>
              <a:tailEnd type="triangle" w="med" len="med"/>
            </a:ln>
          </p:spPr>
        </p:sp>
        <p:sp>
          <p:nvSpPr>
            <p:cNvPr id="49189" name="直接连接符 119879"/>
            <p:cNvSpPr/>
            <p:nvPr/>
          </p:nvSpPr>
          <p:spPr>
            <a:xfrm>
              <a:off x="4028" y="494"/>
              <a:ext cx="559" cy="1161"/>
            </a:xfrm>
            <a:prstGeom prst="line">
              <a:avLst/>
            </a:prstGeom>
            <a:ln w="19050" cap="flat" cmpd="sng">
              <a:solidFill>
                <a:srgbClr val="FF0000"/>
              </a:solidFill>
              <a:prstDash val="solid"/>
              <a:round/>
              <a:headEnd type="none" w="med" len="med"/>
              <a:tailEnd type="triangle" w="med" len="med"/>
            </a:ln>
          </p:spPr>
        </p:sp>
        <p:sp>
          <p:nvSpPr>
            <p:cNvPr id="49190" name="文本框 119880"/>
            <p:cNvSpPr txBox="1"/>
            <p:nvPr/>
          </p:nvSpPr>
          <p:spPr>
            <a:xfrm>
              <a:off x="4587" y="1558"/>
              <a:ext cx="335" cy="290"/>
            </a:xfrm>
            <a:prstGeom prst="rect">
              <a:avLst/>
            </a:prstGeom>
            <a:noFill/>
            <a:ln w="9525">
              <a:noFill/>
            </a:ln>
          </p:spPr>
          <p:txBody>
            <a:bodyPr anchor="t" anchorCtr="0"/>
            <a:p>
              <a:pPr algn="just"/>
              <a:r>
                <a:rPr lang="en-US" altLang="zh-CN" sz="2000" b="0">
                  <a:latin typeface="Times New Roman" panose="02020603050405020304" pitchFamily="18" charset="0"/>
                  <a:ea typeface="宋体" panose="02010600030101010101" pitchFamily="2" charset="-122"/>
                </a:rPr>
                <a:t>W</a:t>
              </a:r>
              <a:endParaRPr lang="en-US" altLang="zh-CN" sz="2000">
                <a:latin typeface="Times New Roman" panose="02020603050405020304" pitchFamily="18" charset="0"/>
                <a:ea typeface="宋体" panose="02010600030101010101" pitchFamily="2" charset="-122"/>
              </a:endParaRPr>
            </a:p>
          </p:txBody>
        </p:sp>
        <p:sp>
          <p:nvSpPr>
            <p:cNvPr id="49191" name="文本框 119881"/>
            <p:cNvSpPr txBox="1"/>
            <p:nvPr/>
          </p:nvSpPr>
          <p:spPr>
            <a:xfrm>
              <a:off x="4028" y="300"/>
              <a:ext cx="304" cy="227"/>
            </a:xfrm>
            <a:prstGeom prst="rect">
              <a:avLst/>
            </a:prstGeom>
            <a:noFill/>
            <a:ln w="9525">
              <a:noFill/>
            </a:ln>
          </p:spPr>
          <p:txBody>
            <a:bodyPr anchor="t" anchorCtr="0"/>
            <a:p>
              <a:pPr algn="just"/>
              <a:r>
                <a:rPr lang="en-US" altLang="zh-CN" sz="2000" b="0">
                  <a:latin typeface="Times New Roman" panose="02020603050405020304" pitchFamily="18" charset="0"/>
                  <a:ea typeface="宋体" panose="02010600030101010101" pitchFamily="2" charset="-122"/>
                </a:rPr>
                <a:t>U</a:t>
              </a:r>
              <a:endParaRPr lang="en-US" altLang="zh-CN" sz="2000">
                <a:latin typeface="Times New Roman" panose="02020603050405020304" pitchFamily="18" charset="0"/>
                <a:ea typeface="宋体" panose="02010600030101010101" pitchFamily="2" charset="-122"/>
              </a:endParaRPr>
            </a:p>
          </p:txBody>
        </p:sp>
        <p:sp>
          <p:nvSpPr>
            <p:cNvPr id="49192" name="文本框 119882"/>
            <p:cNvSpPr txBox="1"/>
            <p:nvPr/>
          </p:nvSpPr>
          <p:spPr>
            <a:xfrm>
              <a:off x="4649" y="708"/>
              <a:ext cx="363" cy="227"/>
            </a:xfrm>
            <a:prstGeom prst="rect">
              <a:avLst/>
            </a:prstGeom>
            <a:noFill/>
            <a:ln w="9525">
              <a:noFill/>
            </a:ln>
          </p:spPr>
          <p:txBody>
            <a:bodyPr anchor="t" anchorCtr="0"/>
            <a:p>
              <a:pPr algn="just"/>
              <a:r>
                <a:rPr lang="en-US" altLang="zh-CN" sz="2000" b="0">
                  <a:latin typeface="Times New Roman" panose="02020603050405020304" pitchFamily="18" charset="0"/>
                  <a:ea typeface="宋体" panose="02010600030101010101" pitchFamily="2" charset="-122"/>
                </a:rPr>
                <a:t>V</a:t>
              </a:r>
              <a:endParaRPr lang="en-US" altLang="zh-CN" sz="2000">
                <a:latin typeface="Times New Roman" panose="02020603050405020304" pitchFamily="18" charset="0"/>
                <a:ea typeface="宋体" panose="02010600030101010101" pitchFamily="2" charset="-122"/>
              </a:endParaRPr>
            </a:p>
          </p:txBody>
        </p:sp>
        <p:sp>
          <p:nvSpPr>
            <p:cNvPr id="49193" name="文本框 119883"/>
            <p:cNvSpPr txBox="1"/>
            <p:nvPr/>
          </p:nvSpPr>
          <p:spPr>
            <a:xfrm>
              <a:off x="4014" y="708"/>
              <a:ext cx="408" cy="181"/>
            </a:xfrm>
            <a:prstGeom prst="rect">
              <a:avLst/>
            </a:prstGeom>
            <a:noFill/>
            <a:ln w="9525">
              <a:noFill/>
            </a:ln>
          </p:spPr>
          <p:txBody>
            <a:bodyPr anchor="t" anchorCtr="0"/>
            <a:p>
              <a:pPr algn="just"/>
              <a:r>
                <a:rPr lang="en-US" altLang="zh-CN" sz="1600" b="0">
                  <a:latin typeface="Times New Roman" panose="02020603050405020304" pitchFamily="18" charset="0"/>
                  <a:ea typeface="宋体" panose="02010600030101010101" pitchFamily="2" charset="-122"/>
                </a:rPr>
                <a:t>380</a:t>
              </a:r>
              <a:endParaRPr lang="en-US" altLang="zh-CN" sz="1600">
                <a:latin typeface="Times New Roman" panose="02020603050405020304" pitchFamily="18" charset="0"/>
                <a:ea typeface="宋体" panose="02010600030101010101" pitchFamily="2" charset="-122"/>
              </a:endParaRPr>
            </a:p>
          </p:txBody>
        </p:sp>
        <p:sp>
          <p:nvSpPr>
            <p:cNvPr id="49194" name="文本框 119884"/>
            <p:cNvSpPr txBox="1"/>
            <p:nvPr/>
          </p:nvSpPr>
          <p:spPr>
            <a:xfrm>
              <a:off x="3787" y="844"/>
              <a:ext cx="363" cy="227"/>
            </a:xfrm>
            <a:prstGeom prst="rect">
              <a:avLst/>
            </a:prstGeom>
            <a:noFill/>
            <a:ln w="9525">
              <a:noFill/>
            </a:ln>
          </p:spPr>
          <p:txBody>
            <a:bodyPr anchor="t" anchorCtr="0"/>
            <a:p>
              <a:pPr algn="just"/>
              <a:r>
                <a:rPr lang="en-US" altLang="zh-CN" sz="1600" b="0">
                  <a:latin typeface="Times New Roman" panose="02020603050405020304" pitchFamily="18" charset="0"/>
                  <a:ea typeface="宋体" panose="02010600030101010101" pitchFamily="2" charset="-122"/>
                </a:rPr>
                <a:t>220</a:t>
              </a:r>
              <a:endParaRPr lang="en-US" altLang="zh-CN" sz="1600">
                <a:latin typeface="Times New Roman" panose="02020603050405020304" pitchFamily="18" charset="0"/>
                <a:ea typeface="宋体" panose="02010600030101010101" pitchFamily="2" charset="-122"/>
              </a:endParaRPr>
            </a:p>
          </p:txBody>
        </p:sp>
        <p:sp>
          <p:nvSpPr>
            <p:cNvPr id="49195" name="文本框 119885"/>
            <p:cNvSpPr txBox="1"/>
            <p:nvPr/>
          </p:nvSpPr>
          <p:spPr>
            <a:xfrm>
              <a:off x="4059" y="1389"/>
              <a:ext cx="363" cy="226"/>
            </a:xfrm>
            <a:prstGeom prst="rect">
              <a:avLst/>
            </a:prstGeom>
            <a:noFill/>
            <a:ln w="9525">
              <a:noFill/>
            </a:ln>
          </p:spPr>
          <p:txBody>
            <a:bodyPr anchor="t" anchorCtr="0"/>
            <a:p>
              <a:pPr algn="just"/>
              <a:r>
                <a:rPr lang="en-US" altLang="zh-CN" sz="2000" b="0">
                  <a:latin typeface="Times New Roman" panose="02020603050405020304" pitchFamily="18" charset="0"/>
                  <a:ea typeface="宋体" panose="02010600030101010101" pitchFamily="2" charset="-122"/>
                </a:rPr>
                <a:t>220</a:t>
              </a:r>
              <a:endParaRPr lang="en-US" altLang="zh-CN" sz="2000">
                <a:latin typeface="Times New Roman" panose="02020603050405020304" pitchFamily="18" charset="0"/>
                <a:ea typeface="宋体" panose="02010600030101010101" pitchFamily="2" charset="-122"/>
              </a:endParaRPr>
            </a:p>
          </p:txBody>
        </p:sp>
        <p:sp>
          <p:nvSpPr>
            <p:cNvPr id="49196" name="直接连接符 119888"/>
            <p:cNvSpPr/>
            <p:nvPr/>
          </p:nvSpPr>
          <p:spPr>
            <a:xfrm>
              <a:off x="4014" y="482"/>
              <a:ext cx="680" cy="408"/>
            </a:xfrm>
            <a:prstGeom prst="line">
              <a:avLst/>
            </a:prstGeom>
            <a:ln w="19050" cap="flat" cmpd="sng">
              <a:solidFill>
                <a:srgbClr val="FF0000"/>
              </a:solidFill>
              <a:prstDash val="solid"/>
              <a:round/>
              <a:headEnd type="triangle" w="med" len="med"/>
              <a:tailEnd type="none" w="med" len="med"/>
            </a:ln>
          </p:spPr>
        </p:sp>
        <p:sp>
          <p:nvSpPr>
            <p:cNvPr id="49197" name="直接连接符 119889"/>
            <p:cNvSpPr/>
            <p:nvPr/>
          </p:nvSpPr>
          <p:spPr>
            <a:xfrm flipV="1">
              <a:off x="4604" y="890"/>
              <a:ext cx="90" cy="771"/>
            </a:xfrm>
            <a:prstGeom prst="line">
              <a:avLst/>
            </a:prstGeom>
            <a:ln w="19050" cap="flat" cmpd="sng">
              <a:solidFill>
                <a:srgbClr val="FF0000"/>
              </a:solidFill>
              <a:prstDash val="solid"/>
              <a:round/>
              <a:headEnd type="none" w="med" len="med"/>
              <a:tailEnd type="triangle" w="med" len="med"/>
            </a:ln>
          </p:spPr>
        </p:sp>
        <p:sp>
          <p:nvSpPr>
            <p:cNvPr id="49198" name="文本框 119890"/>
            <p:cNvSpPr txBox="1"/>
            <p:nvPr/>
          </p:nvSpPr>
          <p:spPr>
            <a:xfrm>
              <a:off x="4377" y="527"/>
              <a:ext cx="363" cy="227"/>
            </a:xfrm>
            <a:prstGeom prst="rect">
              <a:avLst/>
            </a:prstGeom>
            <a:noFill/>
            <a:ln w="9525">
              <a:noFill/>
            </a:ln>
          </p:spPr>
          <p:txBody>
            <a:bodyPr anchor="t" anchorCtr="0"/>
            <a:p>
              <a:pPr algn="just"/>
              <a:r>
                <a:rPr lang="en-US" altLang="zh-CN" sz="1600" b="0">
                  <a:latin typeface="Times New Roman" panose="02020603050405020304" pitchFamily="18" charset="0"/>
                  <a:ea typeface="宋体" panose="02010600030101010101" pitchFamily="2" charset="-122"/>
                </a:rPr>
                <a:t>220</a:t>
              </a:r>
              <a:endParaRPr lang="en-US" altLang="zh-CN" sz="1600">
                <a:latin typeface="Times New Roman" panose="02020603050405020304" pitchFamily="18" charset="0"/>
                <a:ea typeface="宋体" panose="02010600030101010101" pitchFamily="2" charset="-122"/>
              </a:endParaRPr>
            </a:p>
          </p:txBody>
        </p:sp>
        <p:sp>
          <p:nvSpPr>
            <p:cNvPr id="49199" name="文本框 119891"/>
            <p:cNvSpPr txBox="1"/>
            <p:nvPr/>
          </p:nvSpPr>
          <p:spPr>
            <a:xfrm>
              <a:off x="4604" y="1117"/>
              <a:ext cx="363" cy="227"/>
            </a:xfrm>
            <a:prstGeom prst="rect">
              <a:avLst/>
            </a:prstGeom>
            <a:noFill/>
            <a:ln w="9525">
              <a:noFill/>
            </a:ln>
          </p:spPr>
          <p:txBody>
            <a:bodyPr anchor="t" anchorCtr="0"/>
            <a:p>
              <a:pPr algn="just"/>
              <a:r>
                <a:rPr lang="en-US" altLang="zh-CN" sz="1600" b="0">
                  <a:latin typeface="Times New Roman" panose="02020603050405020304" pitchFamily="18" charset="0"/>
                  <a:ea typeface="宋体" panose="02010600030101010101" pitchFamily="2" charset="-122"/>
                </a:rPr>
                <a:t>220</a:t>
              </a:r>
              <a:endParaRPr lang="en-US" altLang="zh-CN" sz="1600">
                <a:latin typeface="Times New Roman" panose="02020603050405020304" pitchFamily="18" charset="0"/>
                <a:ea typeface="宋体" panose="02010600030101010101" pitchFamily="2"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矩形 77825"/>
          <p:cNvSpPr/>
          <p:nvPr/>
        </p:nvSpPr>
        <p:spPr>
          <a:xfrm>
            <a:off x="250825" y="333375"/>
            <a:ext cx="8748713" cy="155257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6-9</a:t>
            </a:r>
            <a:r>
              <a:rPr lang="zh-CN" altLang="en-US" dirty="0">
                <a:latin typeface="Times New Roman" panose="02020603050405020304" pitchFamily="18" charset="0"/>
                <a:ea typeface="宋体" panose="02010600030101010101" pitchFamily="2" charset="-122"/>
              </a:rPr>
              <a:t>：一</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型三相六极异步机，定子槽数</a:t>
            </a:r>
            <a:r>
              <a:rPr lang="en-US" altLang="zh-CN" dirty="0">
                <a:latin typeface="Times New Roman" panose="02020603050405020304" pitchFamily="18" charset="0"/>
                <a:ea typeface="宋体" panose="02010600030101010101" pitchFamily="2" charset="-122"/>
              </a:rPr>
              <a:t>36</a:t>
            </a:r>
            <a:r>
              <a:rPr lang="zh-CN" altLang="en-US" dirty="0">
                <a:latin typeface="Times New Roman" panose="02020603050405020304" pitchFamily="18" charset="0"/>
                <a:ea typeface="宋体" panose="02010600030101010101" pitchFamily="2" charset="-122"/>
              </a:rPr>
              <a:t>，双层，短距，叠式绕组，节距</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，三相绕组按一路</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形连接，画电势星形图、极相组连接示意图、一相绕组展开图，并标出其余两相绕组的首末端位置。</a:t>
            </a:r>
            <a:endParaRPr lang="zh-CN" altLang="en-US" dirty="0">
              <a:latin typeface="Times New Roman" panose="02020603050405020304" pitchFamily="18" charset="0"/>
              <a:ea typeface="宋体" panose="02010600030101010101" pitchFamily="2" charset="-122"/>
            </a:endParaRPr>
          </a:p>
        </p:txBody>
      </p:sp>
      <p:sp>
        <p:nvSpPr>
          <p:cNvPr id="50178" name="矩形 77826"/>
          <p:cNvSpPr/>
          <p:nvPr/>
        </p:nvSpPr>
        <p:spPr>
          <a:xfrm>
            <a:off x="468313" y="2060575"/>
            <a:ext cx="2606675"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解</a:t>
            </a:r>
            <a:r>
              <a:rPr lang="en-US" altLang="zh-CN">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=6; Y</a:t>
            </a:r>
            <a:r>
              <a:rPr lang="en-US" altLang="zh-CN" baseline="-25000">
                <a:latin typeface="Times New Roman" panose="02020603050405020304" pitchFamily="18" charset="0"/>
                <a:ea typeface="宋体" panose="02010600030101010101" pitchFamily="2" charset="-122"/>
                <a:sym typeface="Symbol" panose="05050102010706020507" pitchFamily="18" charset="2"/>
              </a:rPr>
              <a:t>1</a:t>
            </a:r>
            <a:r>
              <a:rPr lang="en-US" altLang="zh-CN">
                <a:latin typeface="Times New Roman" panose="02020603050405020304" pitchFamily="18" charset="0"/>
                <a:ea typeface="宋体" panose="02010600030101010101" pitchFamily="2" charset="-122"/>
                <a:sym typeface="Symbol" panose="05050102010706020507" pitchFamily="18" charset="2"/>
              </a:rPr>
              <a:t>=5; </a:t>
            </a:r>
            <a:r>
              <a:rPr lang="en-US" altLang="zh-CN" i="1">
                <a:latin typeface="Times New Roman" panose="02020603050405020304" pitchFamily="18" charset="0"/>
                <a:ea typeface="宋体" panose="02010600030101010101" pitchFamily="2" charset="-122"/>
                <a:sym typeface="Symbol" panose="05050102010706020507" pitchFamily="18" charset="2"/>
              </a:rPr>
              <a:t>q</a:t>
            </a:r>
            <a:r>
              <a:rPr lang="en-US" altLang="zh-CN">
                <a:latin typeface="Times New Roman" panose="02020603050405020304" pitchFamily="18" charset="0"/>
                <a:ea typeface="宋体" panose="02010600030101010101" pitchFamily="2" charset="-122"/>
                <a:sym typeface="Symbol" panose="05050102010706020507" pitchFamily="18" charset="2"/>
              </a:rPr>
              <a:t>=2</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矩形 76801"/>
          <p:cNvSpPr/>
          <p:nvPr/>
        </p:nvSpPr>
        <p:spPr>
          <a:xfrm>
            <a:off x="250825" y="404813"/>
            <a:ext cx="8569325" cy="82232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6-10</a:t>
            </a:r>
            <a:r>
              <a:rPr lang="zh-CN" altLang="en-US" dirty="0">
                <a:latin typeface="Times New Roman" panose="02020603050405020304" pitchFamily="18" charset="0"/>
                <a:ea typeface="宋体" panose="02010600030101010101" pitchFamily="2" charset="-122"/>
              </a:rPr>
              <a:t>：一三相六极异步机，定子绕组连成三路并联星形，额定线电压</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，怎样改接才能接到</a:t>
            </a:r>
            <a:r>
              <a:rPr lang="en-US" altLang="zh-CN" dirty="0">
                <a:latin typeface="Times New Roman" panose="02020603050405020304" pitchFamily="18" charset="0"/>
                <a:ea typeface="宋体" panose="02010600030101010101" pitchFamily="2" charset="-122"/>
              </a:rPr>
              <a:t>660V</a:t>
            </a:r>
            <a:r>
              <a:rPr lang="zh-CN" altLang="en-US" dirty="0">
                <a:latin typeface="Times New Roman" panose="02020603050405020304" pitchFamily="18" charset="0"/>
                <a:ea typeface="宋体" panose="02010600030101010101" pitchFamily="2" charset="-122"/>
              </a:rPr>
              <a:t>电网？</a:t>
            </a:r>
            <a:endParaRPr lang="zh-CN" altLang="en-US" dirty="0">
              <a:latin typeface="Times New Roman" panose="02020603050405020304" pitchFamily="18" charset="0"/>
              <a:ea typeface="宋体" panose="02010600030101010101" pitchFamily="2" charset="-122"/>
            </a:endParaRPr>
          </a:p>
        </p:txBody>
      </p:sp>
      <p:sp>
        <p:nvSpPr>
          <p:cNvPr id="51202" name="矩形 76802"/>
          <p:cNvSpPr/>
          <p:nvPr/>
        </p:nvSpPr>
        <p:spPr>
          <a:xfrm>
            <a:off x="468313" y="1662113"/>
            <a:ext cx="4751387" cy="822325"/>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如图，先将极相组串联，再</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连接。 </a:t>
            </a:r>
            <a:endParaRPr lang="zh-CN" altLang="en-US" dirty="0">
              <a:latin typeface="Times New Roman" panose="02020603050405020304" pitchFamily="18" charset="0"/>
              <a:ea typeface="宋体" panose="02010600030101010101" pitchFamily="2" charset="-122"/>
            </a:endParaRPr>
          </a:p>
        </p:txBody>
      </p:sp>
      <p:sp>
        <p:nvSpPr>
          <p:cNvPr id="51203" name="矩形 76803"/>
          <p:cNvSpPr/>
          <p:nvPr/>
        </p:nvSpPr>
        <p:spPr>
          <a:xfrm>
            <a:off x="323850" y="3500438"/>
            <a:ext cx="8280400" cy="82232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6-11</a:t>
            </a:r>
            <a:r>
              <a:rPr lang="zh-CN" altLang="en-US" dirty="0">
                <a:latin typeface="Times New Roman" panose="02020603050405020304" pitchFamily="18" charset="0"/>
                <a:ea typeface="宋体" panose="02010600030101010101" pitchFamily="2" charset="-122"/>
              </a:rPr>
              <a:t>：一个元件的两个边的感应电势为</a:t>
            </a:r>
            <a:r>
              <a:rPr lang="en-US" altLang="zh-CN" dirty="0">
                <a:latin typeface="Times New Roman" panose="02020603050405020304" pitchFamily="18" charset="0"/>
                <a:ea typeface="宋体" panose="02010600030101010101" pitchFamily="2" charset="-122"/>
              </a:rPr>
              <a:t>10∠0°</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10∠150°</a:t>
            </a:r>
            <a:r>
              <a:rPr lang="zh-CN" altLang="en-US" dirty="0">
                <a:latin typeface="Times New Roman" panose="02020603050405020304" pitchFamily="18" charset="0"/>
                <a:ea typeface="宋体" panose="02010600030101010101" pitchFamily="2" charset="-122"/>
              </a:rPr>
              <a:t>。求这个元件的基波短距系数和感应电势的数值。</a:t>
            </a:r>
            <a:endParaRPr lang="zh-CN" altLang="en-US" dirty="0">
              <a:latin typeface="Times New Roman" panose="02020603050405020304" pitchFamily="18" charset="0"/>
              <a:ea typeface="宋体" panose="02010600030101010101" pitchFamily="2" charset="-122"/>
            </a:endParaRPr>
          </a:p>
        </p:txBody>
      </p:sp>
      <p:sp>
        <p:nvSpPr>
          <p:cNvPr id="51204" name="矩形 76804"/>
          <p:cNvSpPr/>
          <p:nvPr/>
        </p:nvSpPr>
        <p:spPr>
          <a:xfrm>
            <a:off x="1042988" y="4437063"/>
            <a:ext cx="6553200" cy="1225550"/>
          </a:xfrm>
          <a:prstGeom prst="rect">
            <a:avLst/>
          </a:prstGeom>
          <a:noFill/>
          <a:ln w="9525">
            <a:noFill/>
          </a:ln>
        </p:spPr>
        <p:txBody>
          <a:bodyPr anchor="ctr" anchorCtr="0">
            <a:spAutoFit/>
          </a:bodyPr>
          <a:p>
            <a:pPr>
              <a:lnSpc>
                <a:spcPct val="155000"/>
              </a:lnSpc>
            </a:pPr>
            <a:r>
              <a:rPr lang="zh-CN" altLang="en-US" dirty="0">
                <a:latin typeface="Times New Roman" panose="02020603050405020304" pitchFamily="18" charset="0"/>
                <a:ea typeface="宋体" panose="02010600030101010101" pitchFamily="2" charset="-122"/>
              </a:rPr>
              <a:t>解</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 K</a:t>
            </a:r>
            <a:r>
              <a:rPr lang="en-US" altLang="zh-CN" baseline="-25000">
                <a:latin typeface="Times New Roman" panose="02020603050405020304" pitchFamily="18" charset="0"/>
                <a:ea typeface="宋体" panose="02010600030101010101" pitchFamily="2" charset="-122"/>
              </a:rPr>
              <a:t>d1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sin</a:t>
            </a:r>
            <a:r>
              <a:rPr lang="en-US" altLang="zh-CN">
                <a:latin typeface="Times New Roman" panose="02020603050405020304" pitchFamily="18" charset="0"/>
                <a:ea typeface="宋体" panose="02010600030101010101" pitchFamily="2" charset="-122"/>
              </a:rPr>
              <a:t>(150/2)=0.966</a:t>
            </a:r>
            <a:endParaRPr lang="en-US" altLang="zh-CN">
              <a:latin typeface="Times New Roman" panose="02020603050405020304" pitchFamily="18" charset="0"/>
              <a:ea typeface="宋体" panose="02010600030101010101" pitchFamily="2" charset="-122"/>
            </a:endParaRPr>
          </a:p>
          <a:p>
            <a:pPr algn="ctr">
              <a:lnSpc>
                <a:spcPct val="155000"/>
              </a:lnSpc>
            </a:pP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t1</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K</a:t>
            </a:r>
            <a:r>
              <a:rPr lang="en-US" altLang="zh-CN" baseline="-25000">
                <a:latin typeface="Times New Roman" panose="02020603050405020304" pitchFamily="18" charset="0"/>
                <a:ea typeface="宋体" panose="02010600030101010101" pitchFamily="2" charset="-122"/>
                <a:sym typeface="Symbol" panose="05050102010706020507" pitchFamily="18" charset="2"/>
              </a:rPr>
              <a:t>d1</a:t>
            </a:r>
            <a:r>
              <a:rPr lang="en-US" altLang="zh-CN">
                <a:latin typeface="Times New Roman" panose="02020603050405020304" pitchFamily="18" charset="0"/>
                <a:ea typeface="宋体" panose="02010600030101010101" pitchFamily="2" charset="-122"/>
                <a:sym typeface="Symbol" panose="05050102010706020507" pitchFamily="18" charset="2"/>
              </a:rPr>
              <a:t>=19.32</a:t>
            </a:r>
            <a:r>
              <a:rPr lang="en-US" altLang="zh-CN" i="1">
                <a:latin typeface="Times New Roman" panose="02020603050405020304" pitchFamily="18" charset="0"/>
                <a:ea typeface="宋体" panose="02010600030101010101" pitchFamily="2" charset="-122"/>
                <a:sym typeface="Symbol" panose="05050102010706020507" pitchFamily="18" charset="2"/>
              </a:rPr>
              <a:t>V</a:t>
            </a:r>
            <a:endParaRPr lang="en-US" altLang="zh-CN" i="1">
              <a:latin typeface="Times New Roman" panose="02020603050405020304" pitchFamily="18" charset="0"/>
              <a:ea typeface="宋体" panose="02010600030101010101" pitchFamily="2" charset="-122"/>
              <a:sym typeface="Symbol" panose="05050102010706020507" pitchFamily="18" charset="2"/>
            </a:endParaRPr>
          </a:p>
        </p:txBody>
      </p:sp>
      <p:pic>
        <p:nvPicPr>
          <p:cNvPr id="51205" name="图片 76805"/>
          <p:cNvPicPr>
            <a:picLocks noChangeAspect="1"/>
          </p:cNvPicPr>
          <p:nvPr/>
        </p:nvPicPr>
        <p:blipFill>
          <a:blip r:embed="rId1"/>
          <a:srcRect l="40747" t="-4913" r="24716" b="44197"/>
          <a:stretch>
            <a:fillRect/>
          </a:stretch>
        </p:blipFill>
        <p:spPr>
          <a:xfrm>
            <a:off x="5003800" y="1268413"/>
            <a:ext cx="3168650" cy="2222500"/>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矩形 75777"/>
          <p:cNvSpPr/>
          <p:nvPr/>
        </p:nvSpPr>
        <p:spPr>
          <a:xfrm>
            <a:off x="323850" y="404813"/>
            <a:ext cx="8459788" cy="118745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6-12</a:t>
            </a:r>
            <a:r>
              <a:rPr lang="zh-CN" altLang="en-US" dirty="0">
                <a:latin typeface="Times New Roman" panose="02020603050405020304" pitchFamily="18" charset="0"/>
                <a:ea typeface="宋体" panose="02010600030101010101" pitchFamily="2" charset="-122"/>
              </a:rPr>
              <a:t>：三个元件首尾串联组成一极相组，每个元件的电势分别</a:t>
            </a:r>
            <a:r>
              <a:rPr lang="en-US" altLang="zh-CN" dirty="0">
                <a:latin typeface="Times New Roman" panose="02020603050405020304" pitchFamily="18" charset="0"/>
                <a:ea typeface="宋体" panose="02010600030101010101" pitchFamily="2" charset="-122"/>
              </a:rPr>
              <a:t>30∠0°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30∠15°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30∠30°</a:t>
            </a:r>
            <a:r>
              <a:rPr lang="zh-CN" altLang="en-US" dirty="0">
                <a:latin typeface="Times New Roman" panose="02020603050405020304" pitchFamily="18" charset="0"/>
                <a:ea typeface="宋体" panose="02010600030101010101" pitchFamily="2" charset="-122"/>
              </a:rPr>
              <a:t>，求极相组电势为？基波分布系数？</a:t>
            </a:r>
            <a:endParaRPr lang="zh-CN" altLang="en-US" dirty="0">
              <a:latin typeface="Times New Roman" panose="02020603050405020304" pitchFamily="18" charset="0"/>
              <a:ea typeface="宋体" panose="02010600030101010101" pitchFamily="2" charset="-122"/>
            </a:endParaRPr>
          </a:p>
        </p:txBody>
      </p:sp>
      <p:sp>
        <p:nvSpPr>
          <p:cNvPr id="52226" name="矩形 75778"/>
          <p:cNvSpPr/>
          <p:nvPr/>
        </p:nvSpPr>
        <p:spPr>
          <a:xfrm>
            <a:off x="785813" y="1517650"/>
            <a:ext cx="4656137" cy="1187450"/>
          </a:xfrm>
          <a:prstGeom prst="rect">
            <a:avLst/>
          </a:prstGeom>
          <a:noFill/>
          <a:ln w="9525">
            <a:noFill/>
          </a:ln>
        </p:spPr>
        <p:txBody>
          <a:bodyPr wrap="none" anchor="ctr" anchorCtr="0">
            <a:spAutoFit/>
          </a:bodyPr>
          <a:p>
            <a:pPr algn="ctr">
              <a:lnSpc>
                <a:spcPct val="150000"/>
              </a:lnSpc>
            </a:pPr>
            <a:r>
              <a:rPr lang="zh-CN" altLang="en-US" dirty="0">
                <a:latin typeface="Times New Roman" panose="02020603050405020304" pitchFamily="18" charset="0"/>
                <a:ea typeface="宋体" panose="02010600030101010101" pitchFamily="2" charset="-122"/>
              </a:rPr>
              <a:t>解</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p1</a:t>
            </a:r>
            <a:r>
              <a:rPr lang="en-US" altLang="zh-CN">
                <a:latin typeface="Times New Roman" panose="02020603050405020304" pitchFamily="18" charset="0"/>
                <a:ea typeface="宋体" panose="02010600030101010101" pitchFamily="2" charset="-122"/>
              </a:rPr>
              <a:t>==0.977</a:t>
            </a:r>
            <a:endParaRPr lang="en-US" altLang="zh-CN">
              <a:latin typeface="Times New Roman" panose="02020603050405020304" pitchFamily="18" charset="0"/>
              <a:ea typeface="宋体" panose="02010600030101010101" pitchFamily="2" charset="-122"/>
            </a:endParaRPr>
          </a:p>
          <a:p>
            <a:pPr algn="ctr">
              <a:lnSpc>
                <a:spcPct val="150000"/>
              </a:lnSpc>
            </a:pP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q1</a:t>
            </a:r>
            <a:r>
              <a:rPr lang="en-US" altLang="zh-CN">
                <a:latin typeface="Times New Roman" panose="02020603050405020304" pitchFamily="18" charset="0"/>
                <a:ea typeface="宋体" panose="02010600030101010101" pitchFamily="2" charset="-122"/>
              </a:rPr>
              <a:t>=3</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y1</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sym typeface="Symbol" panose="05050102010706020507" pitchFamily="18" charset="2"/>
              </a:rPr>
              <a:t>p1</a:t>
            </a:r>
            <a:r>
              <a:rPr lang="en-US" altLang="zh-CN">
                <a:latin typeface="Times New Roman" panose="02020603050405020304" pitchFamily="18" charset="0"/>
                <a:ea typeface="宋体" panose="02010600030101010101" pitchFamily="2" charset="-122"/>
                <a:sym typeface="Symbol" panose="05050102010706020507" pitchFamily="18" charset="2"/>
              </a:rPr>
              <a:t>=87.93</a:t>
            </a:r>
            <a:r>
              <a:rPr lang="en-US" altLang="zh-CN" i="1">
                <a:latin typeface="Times New Roman" panose="02020603050405020304" pitchFamily="18" charset="0"/>
                <a:ea typeface="宋体" panose="02010600030101010101" pitchFamily="2" charset="-122"/>
                <a:sym typeface="Symbol" panose="05050102010706020507" pitchFamily="18" charset="2"/>
              </a:rPr>
              <a:t>V</a:t>
            </a:r>
            <a:endParaRPr lang="en-US" altLang="zh-CN" i="1">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52227" name="对象 75780"/>
          <p:cNvGraphicFramePr/>
          <p:nvPr/>
        </p:nvGraphicFramePr>
        <p:xfrm>
          <a:off x="2484438" y="3429000"/>
          <a:ext cx="4535487" cy="481013"/>
        </p:xfrm>
        <a:graphic>
          <a:graphicData uri="http://schemas.openxmlformats.org/presentationml/2006/ole">
            <mc:AlternateContent xmlns:mc="http://schemas.openxmlformats.org/markup-compatibility/2006">
              <mc:Choice xmlns:v="urn:schemas-microsoft-com:vml" Requires="v">
                <p:oleObj spid="_x0000_s3155" name="" r:id="rId1" imgW="2423795" imgH="254000" progId="Equation.DSMT4">
                  <p:embed/>
                </p:oleObj>
              </mc:Choice>
              <mc:Fallback>
                <p:oleObj name="" r:id="rId1" imgW="2423795" imgH="254000" progId="Equation.DSMT4">
                  <p:embed/>
                  <p:pic>
                    <p:nvPicPr>
                      <p:cNvPr id="0" name="图片 3154"/>
                      <p:cNvPicPr/>
                      <p:nvPr/>
                    </p:nvPicPr>
                    <p:blipFill>
                      <a:blip r:embed="rId2"/>
                      <a:stretch>
                        <a:fillRect/>
                      </a:stretch>
                    </p:blipFill>
                    <p:spPr>
                      <a:xfrm>
                        <a:off x="2484438" y="3429000"/>
                        <a:ext cx="4535487" cy="481013"/>
                      </a:xfrm>
                      <a:prstGeom prst="rect">
                        <a:avLst/>
                      </a:prstGeom>
                      <a:noFill/>
                      <a:ln w="38100">
                        <a:noFill/>
                        <a:miter/>
                      </a:ln>
                    </p:spPr>
                  </p:pic>
                </p:oleObj>
              </mc:Fallback>
            </mc:AlternateContent>
          </a:graphicData>
        </a:graphic>
      </p:graphicFrame>
      <p:graphicFrame>
        <p:nvGraphicFramePr>
          <p:cNvPr id="52228" name="对象 75779"/>
          <p:cNvGraphicFramePr/>
          <p:nvPr/>
        </p:nvGraphicFramePr>
        <p:xfrm>
          <a:off x="684213" y="3933825"/>
          <a:ext cx="2805112" cy="498475"/>
        </p:xfrm>
        <a:graphic>
          <a:graphicData uri="http://schemas.openxmlformats.org/presentationml/2006/ole">
            <mc:AlternateContent xmlns:mc="http://schemas.openxmlformats.org/markup-compatibility/2006">
              <mc:Choice xmlns:v="urn:schemas-microsoft-com:vml" Requires="v">
                <p:oleObj spid="_x0000_s3156" name="" r:id="rId3" imgW="1446530" imgH="254000" progId="Equation.DSMT4">
                  <p:embed/>
                </p:oleObj>
              </mc:Choice>
              <mc:Fallback>
                <p:oleObj name="" r:id="rId3" imgW="1446530" imgH="254000" progId="Equation.DSMT4">
                  <p:embed/>
                  <p:pic>
                    <p:nvPicPr>
                      <p:cNvPr id="0" name="图片 3155"/>
                      <p:cNvPicPr/>
                      <p:nvPr/>
                    </p:nvPicPr>
                    <p:blipFill>
                      <a:blip r:embed="rId4"/>
                      <a:stretch>
                        <a:fillRect/>
                      </a:stretch>
                    </p:blipFill>
                    <p:spPr>
                      <a:xfrm>
                        <a:off x="684213" y="3933825"/>
                        <a:ext cx="2805112" cy="498475"/>
                      </a:xfrm>
                      <a:prstGeom prst="rect">
                        <a:avLst/>
                      </a:prstGeom>
                      <a:noFill/>
                      <a:ln w="38100">
                        <a:noFill/>
                        <a:miter/>
                      </a:ln>
                    </p:spPr>
                  </p:pic>
                </p:oleObj>
              </mc:Fallback>
            </mc:AlternateContent>
          </a:graphicData>
        </a:graphic>
      </p:graphicFrame>
      <p:sp>
        <p:nvSpPr>
          <p:cNvPr id="52229" name="矩形 75781"/>
          <p:cNvSpPr/>
          <p:nvPr/>
        </p:nvSpPr>
        <p:spPr>
          <a:xfrm>
            <a:off x="250825" y="2924175"/>
            <a:ext cx="8640763" cy="82232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6-19</a:t>
            </a:r>
            <a:r>
              <a:rPr lang="zh-CN" altLang="en-US" dirty="0">
                <a:latin typeface="Times New Roman" panose="02020603050405020304" pitchFamily="18" charset="0"/>
                <a:ea typeface="宋体" panose="02010600030101010101" pitchFamily="2" charset="-122"/>
              </a:rPr>
              <a:t>：把三相集中绕组安置在定子铁心内，问当绕组中流过三相对称电流时，</a:t>
            </a:r>
            <a:endParaRPr lang="zh-CN" altLang="en-US" dirty="0">
              <a:latin typeface="Times New Roman" panose="02020603050405020304" pitchFamily="18" charset="0"/>
              <a:ea typeface="宋体" panose="02010600030101010101" pitchFamily="2" charset="-122"/>
            </a:endParaRPr>
          </a:p>
        </p:txBody>
      </p:sp>
      <p:sp>
        <p:nvSpPr>
          <p:cNvPr id="52230" name="矩形 75782"/>
          <p:cNvSpPr/>
          <p:nvPr/>
        </p:nvSpPr>
        <p:spPr>
          <a:xfrm>
            <a:off x="7092950" y="3500438"/>
            <a:ext cx="336550" cy="274637"/>
          </a:xfrm>
          <a:prstGeom prst="rect">
            <a:avLst/>
          </a:prstGeom>
          <a:noFill/>
          <a:ln w="9525">
            <a:noFill/>
          </a:ln>
        </p:spPr>
        <p:txBody>
          <a:bodyPr wrap="none" anchor="ctr" anchorCtr="0">
            <a:spAutoFit/>
          </a:bodyPr>
          <a:p>
            <a:r>
              <a:rPr lang="zh-CN" altLang="en-US" sz="1200" b="0"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p:txBody>
      </p:sp>
      <p:sp>
        <p:nvSpPr>
          <p:cNvPr id="52231" name="矩形 75783"/>
          <p:cNvSpPr/>
          <p:nvPr/>
        </p:nvSpPr>
        <p:spPr>
          <a:xfrm>
            <a:off x="3563938" y="3933825"/>
            <a:ext cx="4751387"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，能否获得旋转磁场？为什么？</a:t>
            </a:r>
            <a:endParaRPr lang="zh-CN" altLang="en-US" dirty="0">
              <a:latin typeface="Times New Roman" panose="02020603050405020304" pitchFamily="18" charset="0"/>
              <a:ea typeface="宋体" panose="02010600030101010101" pitchFamily="2" charset="-122"/>
            </a:endParaRPr>
          </a:p>
        </p:txBody>
      </p:sp>
      <p:sp>
        <p:nvSpPr>
          <p:cNvPr id="52232" name="文本框 75784"/>
          <p:cNvSpPr txBox="1"/>
          <p:nvPr/>
        </p:nvSpPr>
        <p:spPr>
          <a:xfrm>
            <a:off x="611188" y="4797425"/>
            <a:ext cx="7632700" cy="1187450"/>
          </a:xfrm>
          <a:prstGeom prst="rect">
            <a:avLst/>
          </a:prstGeom>
          <a:noFill/>
          <a:ln w="9525">
            <a:noFill/>
          </a:ln>
        </p:spPr>
        <p:txBody>
          <a:bodyPr anchor="t" anchorCtr="0">
            <a:spAutoFit/>
          </a:bodyPr>
          <a:p>
            <a:r>
              <a:rPr lang="zh-CN" altLang="en-US" dirty="0">
                <a:latin typeface="Times New Roman" panose="02020603050405020304" pitchFamily="18" charset="0"/>
                <a:ea typeface="宋体" panose="02010600030101010101" pitchFamily="2" charset="-122"/>
              </a:rPr>
              <a:t>解：不能，虽然通入的三相电流对称，但是集中绕组不对称，产生的三相绕组磁势不对称，合成磁势的变化和电流的变化规律不同，所以不能获得旋转磁场。</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矩形 74754"/>
          <p:cNvSpPr/>
          <p:nvPr/>
        </p:nvSpPr>
        <p:spPr>
          <a:xfrm>
            <a:off x="395288" y="908050"/>
            <a:ext cx="8348662"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6-20</a:t>
            </a:r>
            <a:r>
              <a:rPr lang="zh-CN" altLang="en-US" dirty="0">
                <a:latin typeface="Times New Roman" panose="02020603050405020304" pitchFamily="18" charset="0"/>
                <a:ea typeface="宋体" panose="02010600030101010101" pitchFamily="2" charset="-122"/>
              </a:rPr>
              <a:t>：如果将三相集中绕组依次串联起来，如</a:t>
            </a:r>
            <a:r>
              <a:rPr lang="en-US" altLang="zh-CN" dirty="0">
                <a:latin typeface="Times New Roman" panose="02020603050405020304" pitchFamily="18" charset="0"/>
                <a:ea typeface="宋体" panose="02010600030101010101" pitchFamily="2" charset="-122"/>
              </a:rPr>
              <a:t>6-31</a:t>
            </a:r>
            <a:r>
              <a:rPr lang="zh-CN" altLang="en-US" dirty="0">
                <a:latin typeface="Times New Roman" panose="02020603050405020304" pitchFamily="18" charset="0"/>
                <a:ea typeface="宋体" panose="02010600030101010101" pitchFamily="2" charset="-122"/>
              </a:rPr>
              <a:t>，通入电流</a:t>
            </a:r>
            <a:endParaRPr lang="zh-CN" altLang="en-US" dirty="0">
              <a:latin typeface="Times New Roman" panose="02020603050405020304" pitchFamily="18" charset="0"/>
              <a:ea typeface="宋体" panose="02010600030101010101" pitchFamily="2" charset="-122"/>
            </a:endParaRPr>
          </a:p>
        </p:txBody>
      </p:sp>
      <p:graphicFrame>
        <p:nvGraphicFramePr>
          <p:cNvPr id="53250" name="对象 74753"/>
          <p:cNvGraphicFramePr/>
          <p:nvPr/>
        </p:nvGraphicFramePr>
        <p:xfrm>
          <a:off x="539750" y="1628775"/>
          <a:ext cx="1873250" cy="473075"/>
        </p:xfrm>
        <a:graphic>
          <a:graphicData uri="http://schemas.openxmlformats.org/presentationml/2006/ole">
            <mc:AlternateContent xmlns:mc="http://schemas.openxmlformats.org/markup-compatibility/2006">
              <mc:Choice xmlns:v="urn:schemas-microsoft-com:vml" Requires="v">
                <p:oleObj spid="_x0000_s3157" name="" r:id="rId1" imgW="862965" imgH="215900" progId="Equation.DSMT4">
                  <p:embed/>
                </p:oleObj>
              </mc:Choice>
              <mc:Fallback>
                <p:oleObj name="" r:id="rId1" imgW="862965" imgH="215900" progId="Equation.DSMT4">
                  <p:embed/>
                  <p:pic>
                    <p:nvPicPr>
                      <p:cNvPr id="0" name="图片 3156"/>
                      <p:cNvPicPr/>
                      <p:nvPr/>
                    </p:nvPicPr>
                    <p:blipFill>
                      <a:blip r:embed="rId2"/>
                      <a:stretch>
                        <a:fillRect/>
                      </a:stretch>
                    </p:blipFill>
                    <p:spPr>
                      <a:xfrm>
                        <a:off x="539750" y="1628775"/>
                        <a:ext cx="1873250" cy="473075"/>
                      </a:xfrm>
                      <a:prstGeom prst="rect">
                        <a:avLst/>
                      </a:prstGeom>
                      <a:noFill/>
                      <a:ln w="38100">
                        <a:noFill/>
                        <a:miter/>
                      </a:ln>
                    </p:spPr>
                  </p:pic>
                </p:oleObj>
              </mc:Fallback>
            </mc:AlternateContent>
          </a:graphicData>
        </a:graphic>
      </p:graphicFrame>
      <p:sp>
        <p:nvSpPr>
          <p:cNvPr id="53251" name="矩形 74755"/>
          <p:cNvSpPr/>
          <p:nvPr/>
        </p:nvSpPr>
        <p:spPr>
          <a:xfrm>
            <a:off x="2484438" y="1628775"/>
            <a:ext cx="4679950"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，能否获得旋转磁场？为什么？</a:t>
            </a:r>
            <a:endParaRPr lang="zh-CN" altLang="en-US" dirty="0">
              <a:latin typeface="Times New Roman" panose="02020603050405020304" pitchFamily="18" charset="0"/>
              <a:ea typeface="宋体" panose="02010600030101010101" pitchFamily="2" charset="-122"/>
            </a:endParaRPr>
          </a:p>
        </p:txBody>
      </p:sp>
      <p:sp>
        <p:nvSpPr>
          <p:cNvPr id="53252" name="文本框 74756"/>
          <p:cNvSpPr txBox="1"/>
          <p:nvPr/>
        </p:nvSpPr>
        <p:spPr>
          <a:xfrm>
            <a:off x="539750" y="2565400"/>
            <a:ext cx="7056438" cy="1900238"/>
          </a:xfrm>
          <a:prstGeom prst="rect">
            <a:avLst/>
          </a:prstGeom>
          <a:noFill/>
          <a:ln w="9525">
            <a:noFill/>
          </a:ln>
        </p:spPr>
        <p:txBody>
          <a:bodyPr anchor="t" anchorCtr="0">
            <a:spAutoFit/>
          </a:bodyPr>
          <a:p>
            <a:pPr>
              <a:lnSpc>
                <a:spcPct val="140000"/>
              </a:lnSpc>
              <a:spcBef>
                <a:spcPct val="45000"/>
              </a:spcBef>
              <a:spcAft>
                <a:spcPct val="30000"/>
              </a:spcAft>
            </a:pPr>
            <a:r>
              <a:rPr lang="zh-CN" altLang="en-US" dirty="0">
                <a:latin typeface="Times New Roman" panose="02020603050405020304" pitchFamily="18" charset="0"/>
                <a:ea typeface="宋体" panose="02010600030101010101" pitchFamily="2" charset="-122"/>
              </a:rPr>
              <a:t>解：不能</a:t>
            </a:r>
            <a:endParaRPr lang="zh-CN" altLang="en-US" dirty="0">
              <a:latin typeface="Times New Roman" panose="02020603050405020304" pitchFamily="18" charset="0"/>
              <a:ea typeface="宋体" panose="02010600030101010101" pitchFamily="2" charset="-122"/>
            </a:endParaRPr>
          </a:p>
          <a:p>
            <a:pPr>
              <a:lnSpc>
                <a:spcPct val="140000"/>
              </a:lnSpc>
              <a:spcBef>
                <a:spcPct val="45000"/>
              </a:spcBef>
              <a:spcAft>
                <a:spcPct val="30000"/>
              </a:spcAft>
            </a:pPr>
            <a:r>
              <a:rPr lang="zh-CN" altLang="en-US" dirty="0">
                <a:latin typeface="Times New Roman" panose="02020603050405020304" pitchFamily="18" charset="0"/>
                <a:ea typeface="宋体" panose="02010600030101010101" pitchFamily="2" charset="-122"/>
              </a:rPr>
              <a:t>        集中绕组串联，通入一相电流，产生的是脉振磁场。</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文本框 88065"/>
          <p:cNvSpPr txBox="1"/>
          <p:nvPr/>
        </p:nvSpPr>
        <p:spPr>
          <a:xfrm>
            <a:off x="755650" y="404813"/>
            <a:ext cx="7366000" cy="519112"/>
          </a:xfrm>
          <a:prstGeom prst="rect">
            <a:avLst/>
          </a:prstGeom>
          <a:noFill/>
          <a:ln w="9525">
            <a:noFill/>
          </a:ln>
        </p:spPr>
        <p:txBody>
          <a:bodyPr anchor="t" anchorCtr="0">
            <a:spAutoFit/>
          </a:bodyPr>
          <a:p>
            <a:pPr algn="ctr"/>
            <a:r>
              <a:rPr lang="zh-CN" altLang="en-US" sz="2800" dirty="0">
                <a:solidFill>
                  <a:srgbClr val="FF0000"/>
                </a:solidFill>
                <a:latin typeface="Times New Roman" panose="02020603050405020304" pitchFamily="18" charset="0"/>
                <a:ea typeface="宋体" panose="02010600030101010101" pitchFamily="2" charset="-122"/>
              </a:rPr>
              <a:t>第七章 三相异步电机</a:t>
            </a:r>
            <a:endParaRPr lang="zh-CN" altLang="en-US" sz="2800" dirty="0">
              <a:solidFill>
                <a:srgbClr val="FF0000"/>
              </a:solidFill>
              <a:latin typeface="Times New Roman" panose="02020603050405020304" pitchFamily="18" charset="0"/>
              <a:ea typeface="宋体" panose="02010600030101010101" pitchFamily="2" charset="-122"/>
            </a:endParaRPr>
          </a:p>
        </p:txBody>
      </p:sp>
      <p:sp>
        <p:nvSpPr>
          <p:cNvPr id="54274" name="矩形 88066"/>
          <p:cNvSpPr/>
          <p:nvPr/>
        </p:nvSpPr>
        <p:spPr>
          <a:xfrm>
            <a:off x="250825" y="1052513"/>
            <a:ext cx="8604250" cy="155257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7-3 </a:t>
            </a:r>
            <a:r>
              <a:rPr lang="zh-CN" altLang="en-US" dirty="0">
                <a:latin typeface="Times New Roman" panose="02020603050405020304" pitchFamily="18" charset="0"/>
                <a:ea typeface="宋体" panose="02010600030101010101" pitchFamily="2" charset="-122"/>
              </a:rPr>
              <a:t>一台笼型转子三相异步机：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=380V(Y)</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=19.9A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dirty="0">
                <a:latin typeface="Times New Roman" panose="02020603050405020304" pitchFamily="18" charset="0"/>
                <a:ea typeface="宋体" panose="02010600030101010101" pitchFamily="2" charset="-122"/>
              </a:rPr>
              <a:t>=50Hz</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=1460r/min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cosφ</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=0.88</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η</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=86.3%</a:t>
            </a:r>
            <a:r>
              <a:rPr lang="zh-CN" altLang="en-US" dirty="0">
                <a:latin typeface="Times New Roman" panose="02020603050405020304" pitchFamily="18" charset="0"/>
                <a:ea typeface="宋体" panose="02010600030101010101" pitchFamily="2" charset="-122"/>
              </a:rPr>
              <a:t>，当电源电压</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，定子绕组应怎么接？线电流？电机同步速，极数，额定转差？</a:t>
            </a:r>
            <a:endParaRPr lang="zh-CN" altLang="en-US" dirty="0">
              <a:latin typeface="Times New Roman" panose="02020603050405020304" pitchFamily="18" charset="0"/>
              <a:ea typeface="宋体" panose="02010600030101010101" pitchFamily="2" charset="-122"/>
            </a:endParaRPr>
          </a:p>
        </p:txBody>
      </p:sp>
      <p:sp>
        <p:nvSpPr>
          <p:cNvPr id="54275" name="矩形 88067"/>
          <p:cNvSpPr/>
          <p:nvPr/>
        </p:nvSpPr>
        <p:spPr>
          <a:xfrm>
            <a:off x="755650" y="2781300"/>
            <a:ext cx="2951163" cy="603250"/>
          </a:xfrm>
          <a:prstGeom prst="rect">
            <a:avLst/>
          </a:prstGeom>
          <a:noFill/>
          <a:ln w="9525">
            <a:noFill/>
          </a:ln>
        </p:spPr>
        <p:txBody>
          <a:bodyPr anchor="ctr" anchorCtr="0">
            <a:spAutoFit/>
          </a:bodyPr>
          <a:p>
            <a:pPr>
              <a:lnSpc>
                <a:spcPct val="140000"/>
              </a:lnSpc>
            </a:pPr>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应</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线电流为：</a:t>
            </a:r>
            <a:endParaRPr lang="zh-CN" altLang="en-US">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54276" name="对象 88068"/>
          <p:cNvGraphicFramePr/>
          <p:nvPr/>
        </p:nvGraphicFramePr>
        <p:xfrm>
          <a:off x="1763713" y="3500438"/>
          <a:ext cx="4392612" cy="868362"/>
        </p:xfrm>
        <a:graphic>
          <a:graphicData uri="http://schemas.openxmlformats.org/presentationml/2006/ole">
            <mc:AlternateContent xmlns:mc="http://schemas.openxmlformats.org/markup-compatibility/2006">
              <mc:Choice xmlns:v="urn:schemas-microsoft-com:vml" Requires="v">
                <p:oleObj spid="_x0000_s3159" name="" r:id="rId1" imgW="2183765" imgH="431800" progId="Equation.DSMT4">
                  <p:embed/>
                </p:oleObj>
              </mc:Choice>
              <mc:Fallback>
                <p:oleObj name="" r:id="rId1" imgW="2183765" imgH="431800" progId="Equation.DSMT4">
                  <p:embed/>
                  <p:pic>
                    <p:nvPicPr>
                      <p:cNvPr id="0" name="图片 3158"/>
                      <p:cNvPicPr/>
                      <p:nvPr/>
                    </p:nvPicPr>
                    <p:blipFill>
                      <a:blip r:embed="rId2"/>
                      <a:stretch>
                        <a:fillRect/>
                      </a:stretch>
                    </p:blipFill>
                    <p:spPr>
                      <a:xfrm>
                        <a:off x="1763713" y="3500438"/>
                        <a:ext cx="4392612" cy="868362"/>
                      </a:xfrm>
                      <a:prstGeom prst="rect">
                        <a:avLst/>
                      </a:prstGeom>
                      <a:noFill/>
                      <a:ln w="38100">
                        <a:noFill/>
                        <a:miter/>
                      </a:ln>
                    </p:spPr>
                  </p:pic>
                </p:oleObj>
              </mc:Fallback>
            </mc:AlternateContent>
          </a:graphicData>
        </a:graphic>
      </p:graphicFrame>
      <p:sp>
        <p:nvSpPr>
          <p:cNvPr id="54277" name="矩形 88069"/>
          <p:cNvSpPr/>
          <p:nvPr/>
        </p:nvSpPr>
        <p:spPr>
          <a:xfrm>
            <a:off x="1476375" y="4508500"/>
            <a:ext cx="4572000" cy="457200"/>
          </a:xfrm>
          <a:prstGeom prst="rect">
            <a:avLst/>
          </a:prstGeom>
          <a:noFill/>
          <a:ln w="9525">
            <a:noFill/>
          </a:ln>
        </p:spPr>
        <p:txBody>
          <a:bodyPr anchor="t" anchorCtr="0">
            <a:spAutoFit/>
          </a:bodyPr>
          <a:p>
            <a:r>
              <a:rPr lang="zh-CN" altLang="en-US" dirty="0">
                <a:latin typeface="Times New Roman" panose="02020603050405020304" pitchFamily="18" charset="0"/>
                <a:ea typeface="宋体" panose="02010600030101010101" pitchFamily="2" charset="-122"/>
                <a:sym typeface="Symbol" panose="05050102010706020507" pitchFamily="18" charset="2"/>
              </a:rPr>
              <a:t>因为 </a:t>
            </a:r>
            <a:r>
              <a:rPr lang="en-US" altLang="zh-CN" i="1">
                <a:latin typeface="Times New Roman" panose="02020603050405020304" pitchFamily="18" charset="0"/>
                <a:ea typeface="宋体" panose="02010600030101010101" pitchFamily="2" charset="-122"/>
                <a:sym typeface="Symbol" panose="05050102010706020507" pitchFamily="18" charset="2"/>
              </a:rPr>
              <a:t>n</a:t>
            </a:r>
            <a:r>
              <a:rPr lang="en-US" altLang="zh-CN" baseline="-25000">
                <a:latin typeface="Times New Roman" panose="02020603050405020304" pitchFamily="18" charset="0"/>
                <a:ea typeface="宋体" panose="02010600030101010101" pitchFamily="2" charset="-122"/>
                <a:sym typeface="Symbol" panose="05050102010706020507" pitchFamily="18" charset="2"/>
              </a:rPr>
              <a:t>0</a:t>
            </a:r>
            <a:r>
              <a:rPr lang="en-US" altLang="zh-CN">
                <a:latin typeface="Times New Roman" panose="02020603050405020304" pitchFamily="18" charset="0"/>
                <a:ea typeface="宋体" panose="02010600030101010101" pitchFamily="2" charset="-122"/>
                <a:sym typeface="Symbol" panose="05050102010706020507" pitchFamily="18" charset="2"/>
              </a:rPr>
              <a:t>=1500</a:t>
            </a:r>
            <a:r>
              <a:rPr lang="en-US" altLang="zh-CN" i="1">
                <a:latin typeface="Times New Roman" panose="02020603050405020304" pitchFamily="18" charset="0"/>
                <a:ea typeface="宋体" panose="02010600030101010101" pitchFamily="2" charset="-122"/>
                <a:sym typeface="Symbol" panose="05050102010706020507" pitchFamily="18" charset="2"/>
              </a:rPr>
              <a:t>rpm</a:t>
            </a:r>
            <a:r>
              <a:rPr lang="en-US" altLang="zh-CN" dirty="0">
                <a:latin typeface="Times New Roman" panose="02020603050405020304" pitchFamily="18" charset="0"/>
                <a:ea typeface="宋体" panose="02010600030101010101" pitchFamily="2" charset="-122"/>
                <a:sym typeface="Symbol" panose="05050102010706020507" pitchFamily="18" charset="2"/>
              </a:rPr>
              <a:t>; </a:t>
            </a:r>
            <a:r>
              <a:rPr lang="zh-CN" altLang="en-US" dirty="0">
                <a:latin typeface="Times New Roman" panose="02020603050405020304" pitchFamily="18" charset="0"/>
                <a:ea typeface="宋体" panose="02010600030101010101" pitchFamily="2" charset="-122"/>
                <a:sym typeface="Symbol" panose="05050102010706020507" pitchFamily="18" charset="2"/>
              </a:rPr>
              <a:t>所以</a:t>
            </a:r>
            <a:r>
              <a:rPr lang="en-US" altLang="zh-CN">
                <a:latin typeface="Times New Roman" panose="02020603050405020304" pitchFamily="18" charset="0"/>
                <a:ea typeface="宋体" panose="02010600030101010101" pitchFamily="2" charset="-122"/>
                <a:sym typeface="Symbol" panose="05050102010706020507" pitchFamily="18" charset="2"/>
              </a:rPr>
              <a:t>2</a:t>
            </a: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a:latin typeface="Times New Roman" panose="02020603050405020304" pitchFamily="18" charset="0"/>
                <a:ea typeface="宋体" panose="02010600030101010101" pitchFamily="2" charset="-122"/>
                <a:sym typeface="Symbol" panose="05050102010706020507" pitchFamily="18" charset="2"/>
              </a:rPr>
              <a:t>=4;</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54278" name="对象 88070"/>
          <p:cNvGraphicFramePr/>
          <p:nvPr/>
        </p:nvGraphicFramePr>
        <p:xfrm>
          <a:off x="1476375" y="5229225"/>
          <a:ext cx="4895850" cy="900113"/>
        </p:xfrm>
        <a:graphic>
          <a:graphicData uri="http://schemas.openxmlformats.org/presentationml/2006/ole">
            <mc:AlternateContent xmlns:mc="http://schemas.openxmlformats.org/markup-compatibility/2006">
              <mc:Choice xmlns:v="urn:schemas-microsoft-com:vml" Requires="v">
                <p:oleObj spid="_x0000_s3158" name="" r:id="rId3" imgW="2348230" imgH="431800" progId="Equation.DSMT4">
                  <p:embed/>
                </p:oleObj>
              </mc:Choice>
              <mc:Fallback>
                <p:oleObj name="" r:id="rId3" imgW="2348230" imgH="431800" progId="Equation.DSMT4">
                  <p:embed/>
                  <p:pic>
                    <p:nvPicPr>
                      <p:cNvPr id="0" name="图片 3157"/>
                      <p:cNvPicPr/>
                      <p:nvPr/>
                    </p:nvPicPr>
                    <p:blipFill>
                      <a:blip r:embed="rId4"/>
                      <a:stretch>
                        <a:fillRect/>
                      </a:stretch>
                    </p:blipFill>
                    <p:spPr>
                      <a:xfrm>
                        <a:off x="1476375" y="5229225"/>
                        <a:ext cx="4895850" cy="900113"/>
                      </a:xfrm>
                      <a:prstGeom prst="rect">
                        <a:avLst/>
                      </a:prstGeom>
                      <a:noFill/>
                      <a:ln w="38100">
                        <a:noFill/>
                        <a:miter/>
                      </a:ln>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矩形 94209"/>
          <p:cNvSpPr/>
          <p:nvPr/>
        </p:nvSpPr>
        <p:spPr>
          <a:xfrm>
            <a:off x="323850" y="476250"/>
            <a:ext cx="8496300" cy="2282825"/>
          </a:xfrm>
          <a:prstGeom prst="rect">
            <a:avLst/>
          </a:prstGeom>
          <a:noFill/>
          <a:ln w="9525">
            <a:noFill/>
          </a:ln>
        </p:spPr>
        <p:txBody>
          <a:bodyPr anchor="ctr" anchorCtr="0">
            <a:spAutoFit/>
          </a:bodyPr>
          <a:p>
            <a:pPr defTabSz="914400">
              <a:tabLst>
                <a:tab pos="247650" algn="l"/>
              </a:tabLst>
            </a:pPr>
            <a:r>
              <a:rPr lang="en-US" altLang="zh-CN" dirty="0">
                <a:latin typeface="Times New Roman" panose="02020603050405020304" pitchFamily="18" charset="0"/>
                <a:ea typeface="宋体" panose="02010600030101010101" pitchFamily="2" charset="-122"/>
              </a:rPr>
              <a:t>7-11 </a:t>
            </a:r>
            <a:r>
              <a:rPr lang="zh-CN" altLang="en-US" dirty="0">
                <a:latin typeface="Times New Roman" panose="02020603050405020304" pitchFamily="18" charset="0"/>
                <a:ea typeface="宋体" panose="02010600030101010101" pitchFamily="2" charset="-122"/>
              </a:rPr>
              <a:t>三相异步机，功率：</a:t>
            </a:r>
            <a:r>
              <a:rPr lang="en-US" altLang="zh-CN" dirty="0">
                <a:latin typeface="Times New Roman" panose="02020603050405020304" pitchFamily="18" charset="0"/>
                <a:ea typeface="宋体" panose="02010600030101010101" pitchFamily="2" charset="-122"/>
              </a:rPr>
              <a:t>17kW</a:t>
            </a:r>
            <a:r>
              <a:rPr lang="zh-CN" altLang="en-US" dirty="0">
                <a:latin typeface="Times New Roman" panose="02020603050405020304" pitchFamily="18" charset="0"/>
                <a:ea typeface="宋体" panose="02010600030101010101" pitchFamily="2" charset="-122"/>
              </a:rPr>
              <a:t>；电压</a:t>
            </a:r>
            <a:r>
              <a:rPr lang="en-US" altLang="zh-CN" dirty="0">
                <a:latin typeface="Times New Roman" panose="02020603050405020304" pitchFamily="18" charset="0"/>
                <a:ea typeface="宋体" panose="02010600030101010101" pitchFamily="2" charset="-122"/>
              </a:rPr>
              <a:t>380V(Δ</a:t>
            </a:r>
            <a:r>
              <a:rPr lang="zh-CN" altLang="en-US" dirty="0">
                <a:latin typeface="Times New Roman" panose="02020603050405020304" pitchFamily="18" charset="0"/>
                <a:ea typeface="宋体" panose="02010600030101010101" pitchFamily="2" charset="-122"/>
              </a:rPr>
              <a:t>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；转速：</a:t>
            </a:r>
            <a:r>
              <a:rPr lang="en-US" altLang="zh-CN" dirty="0">
                <a:latin typeface="Times New Roman" panose="02020603050405020304" pitchFamily="18" charset="0"/>
                <a:ea typeface="宋体" panose="02010600030101010101" pitchFamily="2" charset="-122"/>
              </a:rPr>
              <a:t>1460r/min</a:t>
            </a:r>
            <a:r>
              <a:rPr lang="zh-CN" altLang="en-US" dirty="0">
                <a:latin typeface="Times New Roman" panose="02020603050405020304" pitchFamily="18" charset="0"/>
                <a:ea typeface="宋体" panose="02010600030101010101" pitchFamily="2" charset="-122"/>
              </a:rPr>
              <a:t>；频率</a:t>
            </a:r>
            <a:r>
              <a:rPr lang="en-US" altLang="zh-CN" dirty="0">
                <a:latin typeface="Times New Roman" panose="02020603050405020304" pitchFamily="18" charset="0"/>
                <a:ea typeface="宋体" panose="02010600030101010101" pitchFamily="2" charset="-122"/>
              </a:rPr>
              <a:t>50Hz</a:t>
            </a:r>
            <a:r>
              <a:rPr lang="zh-CN" altLang="en-US" dirty="0">
                <a:latin typeface="Times New Roman" panose="02020603050405020304" pitchFamily="18" charset="0"/>
                <a:ea typeface="宋体" panose="02010600030101010101" pitchFamily="2" charset="-122"/>
              </a:rPr>
              <a:t>，电流</a:t>
            </a:r>
            <a:r>
              <a:rPr lang="en-US" altLang="zh-CN" dirty="0">
                <a:latin typeface="Times New Roman" panose="02020603050405020304" pitchFamily="18" charset="0"/>
                <a:ea typeface="宋体" panose="02010600030101010101" pitchFamily="2" charset="-122"/>
              </a:rPr>
              <a:t>32.9A</a:t>
            </a:r>
            <a:r>
              <a:rPr lang="zh-CN" altLang="en-US" dirty="0">
                <a:latin typeface="Times New Roman" panose="02020603050405020304" pitchFamily="18" charset="0"/>
                <a:ea typeface="宋体" panose="02010600030101010101" pitchFamily="2" charset="-122"/>
              </a:rPr>
              <a:t>，功率因数</a:t>
            </a:r>
            <a:r>
              <a:rPr lang="en-US" altLang="zh-CN" dirty="0">
                <a:latin typeface="Times New Roman" panose="02020603050405020304" pitchFamily="18" charset="0"/>
                <a:ea typeface="宋体" panose="02010600030101010101" pitchFamily="2" charset="-122"/>
              </a:rPr>
              <a:t>0.88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defTabSz="914400">
              <a:tabLst>
                <a:tab pos="247650" algn="l"/>
              </a:tabLst>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电机的极对数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额定转差率</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额定输入功率和效率</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额定负载时转子电势的频率</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额定负载时转子磁势相对于转子及定子的转速</a:t>
            </a:r>
            <a:r>
              <a:rPr lang="en-US" altLang="zh-CN" dirty="0">
                <a:latin typeface="Times New Roman" panose="02020603050405020304" pitchFamily="18" charset="0"/>
                <a:ea typeface="宋体" panose="02010600030101010101" pitchFamily="2" charset="-122"/>
              </a:rPr>
              <a:t>.(6) </a:t>
            </a:r>
            <a:r>
              <a:rPr lang="zh-CN" altLang="en-US" dirty="0">
                <a:latin typeface="Times New Roman" panose="02020603050405020304" pitchFamily="18" charset="0"/>
                <a:ea typeface="宋体" panose="02010600030101010101" pitchFamily="2" charset="-122"/>
              </a:rPr>
              <a:t>定子旋转磁势的转速</a:t>
            </a:r>
            <a:r>
              <a:rPr lang="en-US" altLang="zh-CN" dirty="0">
                <a:latin typeface="Times New Roman" panose="02020603050405020304" pitchFamily="18" charset="0"/>
                <a:ea typeface="宋体" panose="02010600030101010101" pitchFamily="2" charset="-122"/>
              </a:rPr>
              <a:t>.(7) </a:t>
            </a:r>
            <a:r>
              <a:rPr lang="zh-CN" altLang="en-US" dirty="0">
                <a:latin typeface="Times New Roman" panose="02020603050405020304" pitchFamily="18" charset="0"/>
                <a:ea typeface="宋体" panose="02010600030101010101" pitchFamily="2" charset="-122"/>
              </a:rPr>
              <a:t>忽略损耗，认定</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Cu2</a:t>
            </a:r>
            <a:r>
              <a:rPr lang="zh-CN" altLang="en-US" dirty="0">
                <a:latin typeface="Times New Roman" panose="02020603050405020304" pitchFamily="18" charset="0"/>
                <a:ea typeface="宋体" panose="02010600030101010101" pitchFamily="2" charset="-122"/>
              </a:rPr>
              <a:t>，估算额定负载时的</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Fe</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5298" name="矩形 94210"/>
          <p:cNvSpPr/>
          <p:nvPr/>
        </p:nvSpPr>
        <p:spPr>
          <a:xfrm>
            <a:off x="684213" y="3181350"/>
            <a:ext cx="7632700" cy="2940050"/>
          </a:xfrm>
          <a:prstGeom prst="rect">
            <a:avLst/>
          </a:prstGeom>
          <a:noFill/>
          <a:ln w="9525">
            <a:noFill/>
          </a:ln>
        </p:spPr>
        <p:txBody>
          <a:bodyPr anchor="ctr" anchorCtr="0">
            <a:spAutoFit/>
          </a:bodyPr>
          <a:p>
            <a:pPr>
              <a:lnSpc>
                <a:spcPct val="130000"/>
              </a:lnSpc>
            </a:pPr>
            <a:r>
              <a:rPr lang="zh-CN" altLang="en-US" dirty="0">
                <a:latin typeface="Times New Roman" panose="02020603050405020304" pitchFamily="18" charset="0"/>
                <a:ea typeface="宋体" panose="02010600030101010101" pitchFamily="2" charset="-122"/>
              </a:rPr>
              <a:t>解</a:t>
            </a:r>
            <a:r>
              <a:rPr lang="en-US" altLang="zh-CN">
                <a:latin typeface="Times New Roman" panose="02020603050405020304" pitchFamily="18" charset="0"/>
                <a:ea typeface="宋体" panose="02010600030101010101" pitchFamily="2" charset="-122"/>
              </a:rPr>
              <a:t>:    (1) </a:t>
            </a:r>
            <a:r>
              <a:rPr lang="en-US" altLang="zh-CN" i="1">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a:p>
            <a:pPr>
              <a:lnSpc>
                <a:spcPct val="130000"/>
              </a:lnSpc>
            </a:pPr>
            <a:r>
              <a:rPr lang="en-US" altLang="zh-CN">
                <a:latin typeface="Times New Roman" panose="02020603050405020304" pitchFamily="18" charset="0"/>
                <a:ea typeface="宋体" panose="02010600030101010101" pitchFamily="2" charset="-122"/>
              </a:rPr>
              <a:t>         (2) </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=(1500-1460)/1500=0.0267</a:t>
            </a:r>
            <a:endParaRPr lang="en-US" altLang="zh-CN">
              <a:latin typeface="Times New Roman" panose="02020603050405020304" pitchFamily="18" charset="0"/>
              <a:ea typeface="宋体" panose="02010600030101010101" pitchFamily="2" charset="-122"/>
            </a:endParaRPr>
          </a:p>
          <a:p>
            <a:pPr>
              <a:lnSpc>
                <a:spcPct val="130000"/>
              </a:lnSpc>
            </a:pPr>
            <a:r>
              <a:rPr lang="en-US" altLang="zh-CN">
                <a:latin typeface="Times New Roman" panose="02020603050405020304" pitchFamily="18" charset="0"/>
                <a:ea typeface="宋体" panose="02010600030101010101" pitchFamily="2" charset="-122"/>
              </a:rPr>
              <a:t>         (3)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=1.732</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380</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32.9</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0.88=19056W</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nSpc>
                <a:spcPct val="130000"/>
              </a:lnSpc>
            </a:pP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P</a:t>
            </a:r>
            <a:r>
              <a:rPr lang="en-US" altLang="zh-CN">
                <a:latin typeface="Times New Roman" panose="02020603050405020304" pitchFamily="18" charset="0"/>
                <a:ea typeface="宋体" panose="02010600030101010101" pitchFamily="2" charset="-122"/>
                <a:sym typeface="Symbol" panose="05050102010706020507" pitchFamily="18" charset="2"/>
              </a:rPr>
              <a:t>2/ P1=17000/19056=89.2%</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nSpc>
                <a:spcPct val="130000"/>
              </a:lnSpc>
            </a:pPr>
            <a:r>
              <a:rPr lang="en-US" altLang="zh-CN">
                <a:latin typeface="Times New Roman" panose="02020603050405020304" pitchFamily="18" charset="0"/>
                <a:ea typeface="宋体" panose="02010600030101010101" pitchFamily="2" charset="-122"/>
                <a:sym typeface="Symbol" panose="05050102010706020507" pitchFamily="18" charset="2"/>
              </a:rPr>
              <a:t>         (4)  f</a:t>
            </a:r>
            <a:r>
              <a:rPr lang="en-US" altLang="zh-CN" baseline="-25000">
                <a:latin typeface="Times New Roman" panose="02020603050405020304" pitchFamily="18" charset="0"/>
                <a:ea typeface="宋体" panose="02010600030101010101" pitchFamily="2" charset="-122"/>
                <a:sym typeface="Symbol" panose="05050102010706020507" pitchFamily="18" charset="2"/>
              </a:rPr>
              <a:t>2s</a:t>
            </a:r>
            <a:r>
              <a:rPr lang="en-US" altLang="zh-CN">
                <a:latin typeface="Times New Roman" panose="02020603050405020304" pitchFamily="18" charset="0"/>
                <a:ea typeface="宋体" panose="02010600030101010101" pitchFamily="2" charset="-122"/>
                <a:sym typeface="Symbol" panose="05050102010706020507" pitchFamily="18" charset="2"/>
              </a:rPr>
              <a:t>=sf</a:t>
            </a:r>
            <a:r>
              <a:rPr lang="en-US" altLang="zh-CN" baseline="-25000">
                <a:latin typeface="Times New Roman" panose="02020603050405020304" pitchFamily="18" charset="0"/>
                <a:ea typeface="宋体" panose="02010600030101010101" pitchFamily="2" charset="-122"/>
                <a:sym typeface="Symbol" panose="05050102010706020507" pitchFamily="18" charset="2"/>
              </a:rPr>
              <a:t>1</a:t>
            </a:r>
            <a:r>
              <a:rPr lang="en-US" altLang="zh-CN">
                <a:latin typeface="Times New Roman" panose="02020603050405020304" pitchFamily="18" charset="0"/>
                <a:ea typeface="宋体" panose="02010600030101010101" pitchFamily="2" charset="-122"/>
                <a:sym typeface="Symbol" panose="05050102010706020507" pitchFamily="18" charset="2"/>
              </a:rPr>
              <a:t>=0.0267</a:t>
            </a:r>
            <a:r>
              <a:rPr lang="en-US" altLang="zh-CN">
                <a:latin typeface="Times New Roman" panose="02020603050405020304" pitchFamily="18" charset="0"/>
                <a:ea typeface="宋体" panose="02010600030101010101" pitchFamily="2" charset="-122"/>
              </a:rPr>
              <a:t>50=1.335Hz</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nSpc>
                <a:spcPct val="130000"/>
              </a:lnSpc>
            </a:pPr>
            <a:r>
              <a:rPr lang="en-US" altLang="zh-CN">
                <a:latin typeface="Times New Roman" panose="02020603050405020304" pitchFamily="18" charset="0"/>
                <a:ea typeface="宋体" panose="02010600030101010101" pitchFamily="2" charset="-122"/>
                <a:sym typeface="Symbol" panose="05050102010706020507" pitchFamily="18" charset="2"/>
              </a:rPr>
              <a:t>                        </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矩形 93185"/>
          <p:cNvSpPr/>
          <p:nvPr/>
        </p:nvSpPr>
        <p:spPr>
          <a:xfrm>
            <a:off x="323850" y="476250"/>
            <a:ext cx="7632700" cy="1735138"/>
          </a:xfrm>
          <a:prstGeom prst="rect">
            <a:avLst/>
          </a:prstGeom>
          <a:noFill/>
          <a:ln w="9525">
            <a:noFill/>
          </a:ln>
        </p:spPr>
        <p:txBody>
          <a:bodyPr anchor="t" anchorCtr="0">
            <a:spAutoFit/>
          </a:bodyPr>
          <a:p>
            <a:pPr>
              <a:lnSpc>
                <a:spcPct val="150000"/>
              </a:lnSpc>
            </a:pPr>
            <a:r>
              <a:rPr lang="en-US" altLang="zh-CN" dirty="0">
                <a:latin typeface="Times New Roman" panose="02020603050405020304" pitchFamily="18" charset="0"/>
                <a:ea typeface="宋体" panose="02010600030101010101" pitchFamily="2" charset="-122"/>
                <a:sym typeface="Symbol" panose="05050102010706020507" pitchFamily="18" charset="2"/>
              </a:rPr>
              <a:t>   (5) </a:t>
            </a:r>
            <a:r>
              <a:rPr lang="zh-CN" altLang="en-US" dirty="0">
                <a:latin typeface="Times New Roman" panose="02020603050405020304" pitchFamily="18" charset="0"/>
                <a:ea typeface="宋体" panose="02010600030101010101" pitchFamily="2" charset="-122"/>
                <a:sym typeface="Symbol" panose="05050102010706020507" pitchFamily="18" charset="2"/>
              </a:rPr>
              <a:t>转子磁势相对转子速度</a:t>
            </a:r>
            <a:r>
              <a:rPr lang="en-US" altLang="zh-CN">
                <a:latin typeface="Times New Roman" panose="02020603050405020304" pitchFamily="18" charset="0"/>
                <a:ea typeface="宋体" panose="02010600030101010101" pitchFamily="2" charset="-122"/>
                <a:sym typeface="Symbol" panose="05050102010706020507" pitchFamily="18" charset="2"/>
              </a:rPr>
              <a:t>:n</a:t>
            </a:r>
            <a:r>
              <a:rPr lang="en-US" altLang="zh-CN" baseline="-25000">
                <a:latin typeface="Times New Roman" panose="02020603050405020304" pitchFamily="18" charset="0"/>
                <a:ea typeface="宋体" panose="02010600030101010101" pitchFamily="2" charset="-122"/>
                <a:sym typeface="Symbol" panose="05050102010706020507" pitchFamily="18" charset="2"/>
              </a:rPr>
              <a:t>2r</a:t>
            </a:r>
            <a:r>
              <a:rPr lang="en-US" altLang="zh-CN">
                <a:latin typeface="Times New Roman" panose="02020603050405020304" pitchFamily="18" charset="0"/>
                <a:ea typeface="宋体" panose="02010600030101010101" pitchFamily="2" charset="-122"/>
                <a:sym typeface="Symbol" panose="05050102010706020507" pitchFamily="18" charset="2"/>
              </a:rPr>
              <a:t>=sn</a:t>
            </a:r>
            <a:r>
              <a:rPr lang="en-US" altLang="zh-CN" baseline="-25000">
                <a:latin typeface="Times New Roman" panose="02020603050405020304" pitchFamily="18" charset="0"/>
                <a:ea typeface="宋体" panose="02010600030101010101" pitchFamily="2" charset="-122"/>
                <a:sym typeface="Symbol" panose="05050102010706020507" pitchFamily="18" charset="2"/>
              </a:rPr>
              <a:t>1</a:t>
            </a:r>
            <a:r>
              <a:rPr lang="en-US" altLang="zh-CN">
                <a:latin typeface="Times New Roman" panose="02020603050405020304" pitchFamily="18" charset="0"/>
                <a:ea typeface="宋体" panose="02010600030101010101" pitchFamily="2" charset="-122"/>
                <a:sym typeface="Symbol" panose="05050102010706020507" pitchFamily="18" charset="2"/>
              </a:rPr>
              <a:t>=40</a:t>
            </a:r>
            <a:r>
              <a:rPr lang="en-US" altLang="zh-CN" i="1">
                <a:latin typeface="Times New Roman" panose="02020603050405020304" pitchFamily="18" charset="0"/>
                <a:ea typeface="宋体" panose="02010600030101010101" pitchFamily="2" charset="-122"/>
                <a:sym typeface="Symbol" panose="05050102010706020507" pitchFamily="18" charset="2"/>
              </a:rPr>
              <a:t>rpm</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a:lnSpc>
                <a:spcPct val="15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转子磁势相对定子速度</a:t>
            </a:r>
            <a:r>
              <a:rPr lang="en-US" altLang="zh-CN">
                <a:latin typeface="Times New Roman" panose="02020603050405020304" pitchFamily="18" charset="0"/>
                <a:ea typeface="宋体" panose="02010600030101010101" pitchFamily="2" charset="-122"/>
                <a:sym typeface="Symbol" panose="05050102010706020507" pitchFamily="18" charset="2"/>
              </a:rPr>
              <a:t>:1460+40=1500</a:t>
            </a:r>
            <a:r>
              <a:rPr lang="en-US" altLang="zh-CN" i="1">
                <a:latin typeface="Times New Roman" panose="02020603050405020304" pitchFamily="18" charset="0"/>
                <a:ea typeface="宋体" panose="02010600030101010101" pitchFamily="2" charset="-122"/>
                <a:sym typeface="Symbol" panose="05050102010706020507" pitchFamily="18" charset="2"/>
              </a:rPr>
              <a:t>rpm</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a:lnSpc>
                <a:spcPct val="150000"/>
              </a:lnSpc>
            </a:pPr>
            <a:r>
              <a:rPr lang="en-US" altLang="zh-CN" dirty="0">
                <a:latin typeface="Times New Roman" panose="02020603050405020304" pitchFamily="18" charset="0"/>
                <a:ea typeface="宋体" panose="02010600030101010101" pitchFamily="2" charset="-122"/>
                <a:sym typeface="Symbol" panose="05050102010706020507" pitchFamily="18" charset="2"/>
              </a:rPr>
              <a:t>  (6) </a:t>
            </a:r>
            <a:r>
              <a:rPr lang="zh-CN" altLang="en-US" dirty="0">
                <a:latin typeface="Times New Roman" panose="02020603050405020304" pitchFamily="18" charset="0"/>
                <a:ea typeface="宋体" panose="02010600030101010101" pitchFamily="2" charset="-122"/>
                <a:sym typeface="Symbol" panose="05050102010706020507" pitchFamily="18" charset="2"/>
              </a:rPr>
              <a:t>定子磁势的转速</a:t>
            </a:r>
            <a:r>
              <a:rPr lang="en-US" altLang="zh-CN">
                <a:latin typeface="Times New Roman" panose="02020603050405020304" pitchFamily="18" charset="0"/>
                <a:ea typeface="宋体" panose="02010600030101010101" pitchFamily="2" charset="-122"/>
                <a:sym typeface="Symbol" panose="05050102010706020507" pitchFamily="18" charset="2"/>
              </a:rPr>
              <a:t>:1500</a:t>
            </a:r>
            <a:r>
              <a:rPr lang="en-US" altLang="zh-CN" i="1">
                <a:latin typeface="Times New Roman" panose="02020603050405020304" pitchFamily="18" charset="0"/>
                <a:ea typeface="宋体" panose="02010600030101010101" pitchFamily="2" charset="-122"/>
                <a:sym typeface="Symbol" panose="05050102010706020507" pitchFamily="18" charset="2"/>
              </a:rPr>
              <a:t>rpm</a:t>
            </a:r>
            <a:endParaRPr lang="en-US" altLang="zh-CN" i="1">
              <a:latin typeface="Times New Roman" panose="02020603050405020304" pitchFamily="18" charset="0"/>
              <a:ea typeface="宋体" panose="02010600030101010101" pitchFamily="2" charset="-122"/>
              <a:sym typeface="Symbol" panose="05050102010706020507" pitchFamily="18" charset="2"/>
            </a:endParaRPr>
          </a:p>
        </p:txBody>
      </p:sp>
      <p:sp>
        <p:nvSpPr>
          <p:cNvPr id="56322" name="矩形 93186"/>
          <p:cNvSpPr/>
          <p:nvPr/>
        </p:nvSpPr>
        <p:spPr>
          <a:xfrm>
            <a:off x="250825" y="2492375"/>
            <a:ext cx="6276975" cy="2830513"/>
          </a:xfrm>
          <a:prstGeom prst="rect">
            <a:avLst/>
          </a:prstGeom>
          <a:noFill/>
          <a:ln w="9525">
            <a:noFill/>
          </a:ln>
        </p:spPr>
        <p:txBody>
          <a:bodyPr anchor="ctr" anchorCtr="0">
            <a:spAutoFit/>
          </a:bodyPr>
          <a:p>
            <a:pPr>
              <a:lnSpc>
                <a:spcPct val="150000"/>
              </a:lnSpc>
            </a:pPr>
            <a:r>
              <a:rPr lang="en-US" altLang="zh-CN" dirty="0">
                <a:latin typeface="Times New Roman" panose="02020603050405020304" pitchFamily="18" charset="0"/>
                <a:ea typeface="宋体" panose="02010600030101010101" pitchFamily="2" charset="-122"/>
              </a:rPr>
              <a:t>(7) </a:t>
            </a:r>
            <a:r>
              <a:rPr lang="zh-CN" altLang="en-US" dirty="0">
                <a:latin typeface="Times New Roman" panose="02020603050405020304" pitchFamily="18" charset="0"/>
                <a:ea typeface="宋体" panose="02010600030101010101" pitchFamily="2" charset="-122"/>
              </a:rPr>
              <a:t>忽略空载功率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总机械功率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输出功率</a:t>
            </a:r>
            <a:endParaRPr lang="zh-CN" altLang="en-US" dirty="0">
              <a:latin typeface="Times New Roman" panose="02020603050405020304" pitchFamily="18" charset="0"/>
              <a:ea typeface="宋体" panose="02010600030101010101" pitchFamily="2" charset="-122"/>
            </a:endParaRPr>
          </a:p>
          <a:p>
            <a:pPr>
              <a:lnSpc>
                <a:spcPct val="150000"/>
              </a:lnSpc>
            </a:pPr>
            <a:r>
              <a:rPr lang="zh-CN" altLang="en-US">
                <a:latin typeface="Times New Roman" panose="02020603050405020304" pitchFamily="18" charset="0"/>
                <a:ea typeface="宋体" panose="02010600030101010101" pitchFamily="2" charset="-122"/>
              </a:rPr>
              <a:t>  </a:t>
            </a:r>
            <a:r>
              <a:rPr lang="en-US" altLang="zh-CN" i="1" err="1">
                <a:latin typeface="Times New Roman" panose="02020603050405020304" pitchFamily="18" charset="0"/>
                <a:ea typeface="宋体" panose="02010600030101010101" pitchFamily="2" charset="-122"/>
              </a:rPr>
              <a:t>P</a:t>
            </a:r>
            <a:r>
              <a:rPr lang="en-US" altLang="zh-CN" baseline="-25000" err="1">
                <a:latin typeface="Times New Roman" panose="02020603050405020304" pitchFamily="18" charset="0"/>
                <a:ea typeface="宋体" panose="02010600030101010101" pitchFamily="2" charset="-122"/>
              </a:rPr>
              <a:t>em</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mec</a:t>
            </a:r>
            <a:r>
              <a:rPr lang="en-US" altLang="zh-CN">
                <a:latin typeface="Times New Roman" panose="02020603050405020304" pitchFamily="18" charset="0"/>
                <a:ea typeface="宋体" panose="02010600030101010101" pitchFamily="2" charset="-122"/>
              </a:rPr>
              <a:t>/(1-s)=17kW/(1-0.0267)=17.466kW</a:t>
            </a:r>
            <a:endParaRPr lang="en-US" altLang="zh-CN">
              <a:latin typeface="Times New Roman" panose="02020603050405020304" pitchFamily="18" charset="0"/>
              <a:ea typeface="宋体" panose="02010600030101010101" pitchFamily="2" charset="-122"/>
            </a:endParaRPr>
          </a:p>
          <a:p>
            <a:pPr>
              <a:lnSpc>
                <a:spcPct val="150000"/>
              </a:lnSpc>
            </a:pP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cu2</a:t>
            </a:r>
            <a:r>
              <a:rPr lang="en-US" altLang="zh-CN" err="1">
                <a:latin typeface="Times New Roman" panose="02020603050405020304" pitchFamily="18" charset="0"/>
                <a:ea typeface="宋体" panose="02010600030101010101" pitchFamily="2" charset="-122"/>
              </a:rPr>
              <a:t>=s</a:t>
            </a:r>
            <a:r>
              <a:rPr lang="en-US" altLang="zh-CN" i="1" err="1">
                <a:latin typeface="Times New Roman" panose="02020603050405020304" pitchFamily="18" charset="0"/>
                <a:ea typeface="宋体" panose="02010600030101010101" pitchFamily="2" charset="-122"/>
              </a:rPr>
              <a:t>P</a:t>
            </a:r>
            <a:r>
              <a:rPr lang="en-US" altLang="zh-CN" baseline="-25000" err="1">
                <a:latin typeface="Times New Roman" panose="02020603050405020304" pitchFamily="18" charset="0"/>
                <a:ea typeface="宋体" panose="02010600030101010101" pitchFamily="2" charset="-122"/>
              </a:rPr>
              <a:t>em</a:t>
            </a:r>
            <a:r>
              <a:rPr lang="en-US" altLang="zh-CN">
                <a:latin typeface="Times New Roman" panose="02020603050405020304" pitchFamily="18" charset="0"/>
                <a:ea typeface="宋体" panose="02010600030101010101" pitchFamily="2" charset="-122"/>
              </a:rPr>
              <a:t>=0.0267</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17.466kW=0.466kW;</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nSpc>
                <a:spcPct val="150000"/>
              </a:lnSpc>
            </a:pP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cu1</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cu2</a:t>
            </a:r>
            <a:r>
              <a:rPr lang="en-US" altLang="zh-CN">
                <a:latin typeface="Times New Roman" panose="02020603050405020304" pitchFamily="18" charset="0"/>
                <a:ea typeface="宋体" panose="02010600030101010101" pitchFamily="2" charset="-122"/>
                <a:sym typeface="Symbol" panose="05050102010706020507" pitchFamily="18" charset="2"/>
              </a:rPr>
              <a:t>=0.466kW;</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nSpc>
                <a:spcPct val="150000"/>
              </a:lnSpc>
            </a:pP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Fe</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1</a:t>
            </a:r>
            <a:r>
              <a:rPr lang="zh-CN" altLang="en-US" dirty="0">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cu1</a:t>
            </a:r>
            <a:r>
              <a:rPr lang="zh-CN" altLang="en-US" dirty="0">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em</a:t>
            </a:r>
            <a:r>
              <a:rPr lang="en-US" altLang="zh-CN">
                <a:latin typeface="Times New Roman" panose="02020603050405020304" pitchFamily="18" charset="0"/>
                <a:ea typeface="宋体" panose="02010600030101010101" pitchFamily="2" charset="-122"/>
                <a:sym typeface="Symbol" panose="05050102010706020507" pitchFamily="18" charset="2"/>
              </a:rPr>
              <a:t>=1.124kW;</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grpSp>
        <p:nvGrpSpPr>
          <p:cNvPr id="56323" name="组合 93202"/>
          <p:cNvGrpSpPr/>
          <p:nvPr/>
        </p:nvGrpSpPr>
        <p:grpSpPr>
          <a:xfrm>
            <a:off x="6156325" y="3716338"/>
            <a:ext cx="2630488" cy="2665412"/>
            <a:chOff x="3878" y="2341"/>
            <a:chExt cx="1657" cy="1679"/>
          </a:xfrm>
        </p:grpSpPr>
        <p:sp>
          <p:nvSpPr>
            <p:cNvPr id="56324" name="椭圆 93188"/>
            <p:cNvSpPr/>
            <p:nvPr/>
          </p:nvSpPr>
          <p:spPr>
            <a:xfrm>
              <a:off x="3878" y="2387"/>
              <a:ext cx="1633" cy="1633"/>
            </a:xfrm>
            <a:prstGeom prst="ellipse">
              <a:avLst/>
            </a:prstGeom>
            <a:noFill/>
            <a:ln w="38100"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56325" name="椭圆 93189"/>
            <p:cNvSpPr/>
            <p:nvPr/>
          </p:nvSpPr>
          <p:spPr>
            <a:xfrm>
              <a:off x="4172" y="2681"/>
              <a:ext cx="1037" cy="1037"/>
            </a:xfrm>
            <a:prstGeom prst="ellipse">
              <a:avLst/>
            </a:prstGeom>
            <a:noFill/>
            <a:ln w="38100"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56326" name="任意多边形 93190"/>
            <p:cNvSpPr/>
            <p:nvPr/>
          </p:nvSpPr>
          <p:spPr>
            <a:xfrm flipH="1">
              <a:off x="4820" y="2568"/>
              <a:ext cx="530" cy="554"/>
            </a:xfrm>
            <a:custGeom>
              <a:avLst/>
              <a:gdLst/>
              <a:ahLst/>
              <a:cxnLst>
                <a:cxn ang="90">
                  <a:pos x="35" y="22539"/>
                </a:cxn>
                <a:cxn ang="270">
                  <a:pos x="18004" y="0"/>
                </a:cxn>
                <a:cxn ang="0">
                  <a:pos x="21600" y="21299"/>
                </a:cxn>
              </a:cxnLst>
              <a:pathLst>
                <a:path w="21600" h="22539" fill="none">
                  <a:moveTo>
                    <a:pt x="35" y="22539"/>
                  </a:moveTo>
                  <a:cubicBezTo>
                    <a:pt x="11" y="22129"/>
                    <a:pt x="-1" y="21715"/>
                    <a:pt x="-1" y="21299"/>
                  </a:cubicBezTo>
                  <a:cubicBezTo>
                    <a:pt x="-1" y="10596"/>
                    <a:pt x="7783" y="1711"/>
                    <a:pt x="17993" y="-1"/>
                  </a:cubicBezTo>
                </a:path>
                <a:path w="21600" h="22539" stroke="0">
                  <a:moveTo>
                    <a:pt x="35" y="22539"/>
                  </a:moveTo>
                  <a:cubicBezTo>
                    <a:pt x="11" y="22129"/>
                    <a:pt x="-1" y="21715"/>
                    <a:pt x="-1" y="21299"/>
                  </a:cubicBezTo>
                  <a:cubicBezTo>
                    <a:pt x="-1" y="10596"/>
                    <a:pt x="7783" y="1711"/>
                    <a:pt x="17993" y="-1"/>
                  </a:cubicBezTo>
                  <a:lnTo>
                    <a:pt x="21600" y="21299"/>
                  </a:lnTo>
                  <a:close/>
                </a:path>
              </a:pathLst>
            </a:custGeom>
            <a:noFill/>
            <a:ln w="38100" cap="flat" cmpd="sng">
              <a:solidFill>
                <a:srgbClr val="FF0000"/>
              </a:solidFill>
              <a:prstDash val="solid"/>
              <a:round/>
              <a:headEnd type="none" w="sm" len="med"/>
              <a:tailEnd type="triangle" w="med" len="med"/>
            </a:ln>
          </p:spPr>
          <p:txBody>
            <a:bodyPr/>
            <a:p>
              <a:endParaRPr lang="zh-CN" altLang="en-US"/>
            </a:p>
          </p:txBody>
        </p:sp>
        <p:sp>
          <p:nvSpPr>
            <p:cNvPr id="56327" name="椭圆 93191"/>
            <p:cNvSpPr/>
            <p:nvPr/>
          </p:nvSpPr>
          <p:spPr>
            <a:xfrm>
              <a:off x="4336" y="2846"/>
              <a:ext cx="726" cy="726"/>
            </a:xfrm>
            <a:prstGeom prst="ellipse">
              <a:avLst/>
            </a:prstGeom>
            <a:noFill/>
            <a:ln w="38100"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56328" name="任意多边形 93192"/>
            <p:cNvSpPr/>
            <p:nvPr/>
          </p:nvSpPr>
          <p:spPr>
            <a:xfrm>
              <a:off x="4427" y="2750"/>
              <a:ext cx="531" cy="363"/>
            </a:xfrm>
            <a:custGeom>
              <a:avLst/>
              <a:gdLst/>
              <a:ahLst/>
              <a:cxnLst>
                <a:cxn ang="180">
                  <a:pos x="0" y="7364"/>
                </a:cxn>
                <a:cxn ang="0">
                  <a:pos x="31541" y="6349"/>
                </a:cxn>
                <a:cxn ang="90">
                  <a:pos x="16245" y="21600"/>
                </a:cxn>
              </a:cxnLst>
              <a:pathLst>
                <a:path w="31541" h="21600" fill="none">
                  <a:moveTo>
                    <a:pt x="0" y="7364"/>
                  </a:moveTo>
                  <a:cubicBezTo>
                    <a:pt x="3959" y="2850"/>
                    <a:pt x="9769" y="0"/>
                    <a:pt x="16245" y="0"/>
                  </a:cubicBezTo>
                  <a:cubicBezTo>
                    <a:pt x="22221" y="0"/>
                    <a:pt x="27630" y="2427"/>
                    <a:pt x="31541" y="6349"/>
                  </a:cubicBezTo>
                </a:path>
                <a:path w="31541" h="21600" stroke="0">
                  <a:moveTo>
                    <a:pt x="0" y="7364"/>
                  </a:moveTo>
                  <a:cubicBezTo>
                    <a:pt x="3959" y="2850"/>
                    <a:pt x="9769" y="0"/>
                    <a:pt x="16245" y="0"/>
                  </a:cubicBezTo>
                  <a:cubicBezTo>
                    <a:pt x="22221" y="0"/>
                    <a:pt x="27630" y="2427"/>
                    <a:pt x="31541" y="6349"/>
                  </a:cubicBezTo>
                  <a:lnTo>
                    <a:pt x="16245" y="21600"/>
                  </a:lnTo>
                  <a:close/>
                </a:path>
              </a:pathLst>
            </a:custGeom>
            <a:noFill/>
            <a:ln w="38100" cap="flat" cmpd="sng">
              <a:solidFill>
                <a:srgbClr val="0000FF"/>
              </a:solidFill>
              <a:prstDash val="solid"/>
              <a:round/>
              <a:headEnd type="triangle" w="med" len="med"/>
              <a:tailEnd type="none" w="sm" len="med"/>
            </a:ln>
          </p:spPr>
          <p:txBody>
            <a:bodyPr/>
            <a:p>
              <a:endParaRPr lang="zh-CN" altLang="en-US"/>
            </a:p>
          </p:txBody>
        </p:sp>
        <p:sp>
          <p:nvSpPr>
            <p:cNvPr id="56329" name="任意多边形 93193"/>
            <p:cNvSpPr/>
            <p:nvPr/>
          </p:nvSpPr>
          <p:spPr>
            <a:xfrm flipH="1" flipV="1">
              <a:off x="4336" y="2846"/>
              <a:ext cx="726" cy="726"/>
            </a:xfrm>
            <a:custGeom>
              <a:avLst/>
              <a:gdLst/>
              <a:ahLst/>
              <a:cxnLst>
                <a:cxn ang="270">
                  <a:pos x="21600" y="0"/>
                </a:cxn>
                <a:cxn ang="270">
                  <a:pos x="20265" y="41"/>
                </a:cxn>
                <a:cxn ang="90">
                  <a:pos x="21600" y="21600"/>
                </a:cxn>
              </a:cxnLst>
              <a:pathLst>
                <a:path w="43200" h="43200" fill="none">
                  <a:moveTo>
                    <a:pt x="21600" y="0"/>
                  </a:moveTo>
                  <a:cubicBezTo>
                    <a:pt x="33529" y="0"/>
                    <a:pt x="43200" y="9671"/>
                    <a:pt x="43200" y="21600"/>
                  </a:cubicBezTo>
                  <a:cubicBezTo>
                    <a:pt x="43200" y="33529"/>
                    <a:pt x="33529" y="43200"/>
                    <a:pt x="21600" y="43200"/>
                  </a:cubicBezTo>
                  <a:cubicBezTo>
                    <a:pt x="9671" y="43200"/>
                    <a:pt x="0" y="33529"/>
                    <a:pt x="0" y="21600"/>
                  </a:cubicBezTo>
                  <a:cubicBezTo>
                    <a:pt x="0" y="10119"/>
                    <a:pt x="8957" y="731"/>
                    <a:pt x="20259" y="41"/>
                  </a:cubicBezTo>
                </a:path>
                <a:path w="43200" h="43200" stroke="0">
                  <a:moveTo>
                    <a:pt x="21600" y="0"/>
                  </a:moveTo>
                  <a:cubicBezTo>
                    <a:pt x="33529" y="0"/>
                    <a:pt x="43200" y="9671"/>
                    <a:pt x="43200" y="21600"/>
                  </a:cubicBezTo>
                  <a:cubicBezTo>
                    <a:pt x="43200" y="33529"/>
                    <a:pt x="33529" y="43200"/>
                    <a:pt x="21600" y="43200"/>
                  </a:cubicBezTo>
                  <a:cubicBezTo>
                    <a:pt x="9671" y="43200"/>
                    <a:pt x="0" y="33529"/>
                    <a:pt x="0" y="21600"/>
                  </a:cubicBezTo>
                  <a:cubicBezTo>
                    <a:pt x="0" y="10119"/>
                    <a:pt x="8957" y="731"/>
                    <a:pt x="20259" y="41"/>
                  </a:cubicBezTo>
                  <a:lnTo>
                    <a:pt x="21600"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56330" name="任意多边形 93194"/>
            <p:cNvSpPr/>
            <p:nvPr/>
          </p:nvSpPr>
          <p:spPr>
            <a:xfrm flipH="1" flipV="1">
              <a:off x="4180" y="2681"/>
              <a:ext cx="1037" cy="1037"/>
            </a:xfrm>
            <a:custGeom>
              <a:avLst/>
              <a:gdLst/>
              <a:ahLst/>
              <a:cxnLst>
                <a:cxn ang="0">
                  <a:pos x="43188" y="22291"/>
                </a:cxn>
                <a:cxn ang="0">
                  <a:pos x="43200" y="21600"/>
                </a:cxn>
                <a:cxn ang="90">
                  <a:pos x="21600" y="21600"/>
                </a:cxn>
              </a:cxnLst>
              <a:pathLst>
                <a:path w="43200" h="43200" fill="none">
                  <a:moveTo>
                    <a:pt x="43188" y="22291"/>
                  </a:moveTo>
                  <a:cubicBezTo>
                    <a:pt x="42821" y="33902"/>
                    <a:pt x="33296" y="43200"/>
                    <a:pt x="21599" y="43200"/>
                  </a:cubicBezTo>
                  <a:cubicBezTo>
                    <a:pt x="9670" y="43200"/>
                    <a:pt x="-1" y="33529"/>
                    <a:pt x="-1" y="21600"/>
                  </a:cubicBezTo>
                  <a:cubicBezTo>
                    <a:pt x="-1" y="9671"/>
                    <a:pt x="9670" y="0"/>
                    <a:pt x="21599" y="0"/>
                  </a:cubicBezTo>
                  <a:cubicBezTo>
                    <a:pt x="33528" y="0"/>
                    <a:pt x="43199" y="9671"/>
                    <a:pt x="43199" y="21600"/>
                  </a:cubicBezTo>
                </a:path>
                <a:path w="43200" h="43200" stroke="0">
                  <a:moveTo>
                    <a:pt x="43188" y="22291"/>
                  </a:moveTo>
                  <a:cubicBezTo>
                    <a:pt x="42821" y="33902"/>
                    <a:pt x="33296" y="43200"/>
                    <a:pt x="21599" y="43200"/>
                  </a:cubicBezTo>
                  <a:cubicBezTo>
                    <a:pt x="9670" y="43200"/>
                    <a:pt x="-1" y="33529"/>
                    <a:pt x="-1" y="21600"/>
                  </a:cubicBezTo>
                  <a:cubicBezTo>
                    <a:pt x="-1" y="9671"/>
                    <a:pt x="9670" y="0"/>
                    <a:pt x="21599" y="0"/>
                  </a:cubicBezTo>
                  <a:cubicBezTo>
                    <a:pt x="33528" y="0"/>
                    <a:pt x="43199" y="9671"/>
                    <a:pt x="43199" y="21600"/>
                  </a:cubicBezTo>
                  <a:lnTo>
                    <a:pt x="21600"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56331" name="文本框 93195"/>
            <p:cNvSpPr txBox="1"/>
            <p:nvPr/>
          </p:nvSpPr>
          <p:spPr>
            <a:xfrm>
              <a:off x="5193" y="3067"/>
              <a:ext cx="342" cy="365"/>
            </a:xfrm>
            <a:prstGeom prst="rect">
              <a:avLst/>
            </a:prstGeom>
            <a:noFill/>
            <a:ln w="9525">
              <a:noFill/>
            </a:ln>
          </p:spPr>
          <p:txBody>
            <a:bodyPr wrap="none" anchor="t" anchorCtr="0">
              <a:spAutoFit/>
            </a:bodyPr>
            <a:p>
              <a:pPr algn="ctr"/>
              <a:r>
                <a:rPr lang="en-US" altLang="zh-CN" sz="3200">
                  <a:solidFill>
                    <a:srgbClr val="FF0000"/>
                  </a:solidFill>
                  <a:latin typeface="Times New Roman" panose="02020603050405020304" pitchFamily="18" charset="0"/>
                  <a:ea typeface="宋体" panose="02010600030101010101" pitchFamily="2" charset="-122"/>
                </a:rPr>
                <a:t>n</a:t>
              </a:r>
              <a:r>
                <a:rPr lang="en-US" altLang="zh-CN" sz="3200" baseline="-25000">
                  <a:solidFill>
                    <a:srgbClr val="FF0000"/>
                  </a:solidFill>
                  <a:latin typeface="Times New Roman" panose="02020603050405020304" pitchFamily="18" charset="0"/>
                  <a:ea typeface="宋体" panose="02010600030101010101" pitchFamily="2" charset="-122"/>
                </a:rPr>
                <a:t>1</a:t>
              </a:r>
              <a:endParaRPr lang="en-US" altLang="zh-CN" sz="3200">
                <a:solidFill>
                  <a:srgbClr val="FF0000"/>
                </a:solidFill>
                <a:latin typeface="Times New Roman" panose="02020603050405020304" pitchFamily="18" charset="0"/>
                <a:ea typeface="宋体" panose="02010600030101010101" pitchFamily="2" charset="-122"/>
              </a:endParaRPr>
            </a:p>
          </p:txBody>
        </p:sp>
        <p:sp>
          <p:nvSpPr>
            <p:cNvPr id="56332" name="文本框 93196"/>
            <p:cNvSpPr txBox="1"/>
            <p:nvPr/>
          </p:nvSpPr>
          <p:spPr>
            <a:xfrm>
              <a:off x="4913" y="2704"/>
              <a:ext cx="258" cy="365"/>
            </a:xfrm>
            <a:prstGeom prst="rect">
              <a:avLst/>
            </a:prstGeom>
            <a:noFill/>
            <a:ln w="9525">
              <a:noFill/>
            </a:ln>
          </p:spPr>
          <p:txBody>
            <a:bodyPr wrap="none" anchor="t" anchorCtr="0">
              <a:spAutoFit/>
            </a:bodyPr>
            <a:p>
              <a:pPr algn="ctr"/>
              <a:r>
                <a:rPr lang="en-US" altLang="zh-CN" sz="3200">
                  <a:solidFill>
                    <a:schemeClr val="accent2"/>
                  </a:solidFill>
                  <a:latin typeface="Times New Roman" panose="02020603050405020304" pitchFamily="18" charset="0"/>
                  <a:ea typeface="宋体" panose="02010600030101010101" pitchFamily="2" charset="-122"/>
                </a:rPr>
                <a:t>n</a:t>
              </a:r>
              <a:endParaRPr lang="en-US" altLang="zh-CN" sz="3200">
                <a:solidFill>
                  <a:schemeClr val="accent2"/>
                </a:solidFill>
                <a:latin typeface="Times New Roman" panose="02020603050405020304" pitchFamily="18" charset="0"/>
                <a:ea typeface="宋体" panose="02010600030101010101" pitchFamily="2" charset="-122"/>
              </a:endParaRPr>
            </a:p>
          </p:txBody>
        </p:sp>
        <p:sp>
          <p:nvSpPr>
            <p:cNvPr id="56333" name="任意多边形 93197"/>
            <p:cNvSpPr/>
            <p:nvPr/>
          </p:nvSpPr>
          <p:spPr>
            <a:xfrm>
              <a:off x="4422" y="2931"/>
              <a:ext cx="297" cy="411"/>
            </a:xfrm>
            <a:custGeom>
              <a:avLst/>
              <a:gdLst/>
              <a:ahLst/>
              <a:cxnLst>
                <a:cxn ang="90">
                  <a:pos x="2132" y="30129"/>
                </a:cxn>
                <a:cxn ang="270">
                  <a:pos x="15675" y="0"/>
                </a:cxn>
                <a:cxn ang="0">
                  <a:pos x="21600" y="20772"/>
                </a:cxn>
              </a:cxnLst>
              <a:pathLst>
                <a:path w="21600" h="30130" fill="none">
                  <a:moveTo>
                    <a:pt x="2132" y="30129"/>
                  </a:moveTo>
                  <a:cubicBezTo>
                    <a:pt x="764" y="27301"/>
                    <a:pt x="0" y="24126"/>
                    <a:pt x="0" y="20772"/>
                  </a:cubicBezTo>
                  <a:cubicBezTo>
                    <a:pt x="0" y="10899"/>
                    <a:pt x="6624" y="2573"/>
                    <a:pt x="15665" y="-2"/>
                  </a:cubicBezTo>
                </a:path>
                <a:path w="21600" h="30130" stroke="0">
                  <a:moveTo>
                    <a:pt x="2132" y="30129"/>
                  </a:moveTo>
                  <a:cubicBezTo>
                    <a:pt x="764" y="27301"/>
                    <a:pt x="0" y="24126"/>
                    <a:pt x="0" y="20772"/>
                  </a:cubicBezTo>
                  <a:cubicBezTo>
                    <a:pt x="0" y="10899"/>
                    <a:pt x="6624" y="2573"/>
                    <a:pt x="15665" y="-2"/>
                  </a:cubicBezTo>
                  <a:lnTo>
                    <a:pt x="21600" y="20772"/>
                  </a:lnTo>
                  <a:close/>
                </a:path>
              </a:pathLst>
            </a:custGeom>
            <a:noFill/>
            <a:ln w="38100" cap="flat" cmpd="sng">
              <a:solidFill>
                <a:schemeClr val="accent2"/>
              </a:solidFill>
              <a:prstDash val="solid"/>
              <a:round/>
              <a:headEnd type="triangle" w="med" len="med"/>
              <a:tailEnd type="none" w="sm" len="med"/>
            </a:ln>
          </p:spPr>
          <p:txBody>
            <a:bodyPr/>
            <a:p>
              <a:endParaRPr lang="zh-CN" altLang="en-US"/>
            </a:p>
          </p:txBody>
        </p:sp>
        <p:sp>
          <p:nvSpPr>
            <p:cNvPr id="56334" name="文本框 93198"/>
            <p:cNvSpPr txBox="1"/>
            <p:nvPr/>
          </p:nvSpPr>
          <p:spPr>
            <a:xfrm>
              <a:off x="4469" y="2884"/>
              <a:ext cx="417" cy="365"/>
            </a:xfrm>
            <a:prstGeom prst="rect">
              <a:avLst/>
            </a:prstGeom>
            <a:noFill/>
            <a:ln w="9525">
              <a:noFill/>
            </a:ln>
          </p:spPr>
          <p:txBody>
            <a:bodyPr wrap="none" anchor="t" anchorCtr="0">
              <a:spAutoFit/>
            </a:bodyPr>
            <a:p>
              <a:pPr algn="ctr"/>
              <a:r>
                <a:rPr lang="en-US" altLang="zh-CN" sz="3200">
                  <a:solidFill>
                    <a:schemeClr val="accent2"/>
                  </a:solidFill>
                  <a:latin typeface="Times New Roman" panose="02020603050405020304" pitchFamily="18" charset="0"/>
                  <a:ea typeface="宋体" panose="02010600030101010101" pitchFamily="2" charset="-122"/>
                </a:rPr>
                <a:t>n</a:t>
              </a:r>
              <a:r>
                <a:rPr lang="en-US" altLang="zh-CN" sz="3200" baseline="-25000">
                  <a:solidFill>
                    <a:schemeClr val="accent2"/>
                  </a:solidFill>
                  <a:latin typeface="Times New Roman" panose="02020603050405020304" pitchFamily="18" charset="0"/>
                  <a:ea typeface="宋体" panose="02010600030101010101" pitchFamily="2" charset="-122"/>
                </a:rPr>
                <a:t>2r</a:t>
              </a:r>
              <a:endParaRPr lang="en-US" altLang="zh-CN" sz="3200">
                <a:solidFill>
                  <a:schemeClr val="accent2"/>
                </a:solidFill>
                <a:latin typeface="Times New Roman" panose="02020603050405020304" pitchFamily="18" charset="0"/>
                <a:ea typeface="Times New Roman" panose="02020603050405020304" pitchFamily="18" charset="0"/>
              </a:endParaRPr>
            </a:p>
          </p:txBody>
        </p:sp>
        <p:sp>
          <p:nvSpPr>
            <p:cNvPr id="56335" name="文本框 93200"/>
            <p:cNvSpPr txBox="1"/>
            <p:nvPr/>
          </p:nvSpPr>
          <p:spPr>
            <a:xfrm>
              <a:off x="4604" y="2341"/>
              <a:ext cx="371" cy="365"/>
            </a:xfrm>
            <a:prstGeom prst="rect">
              <a:avLst/>
            </a:prstGeom>
            <a:noFill/>
            <a:ln w="9525">
              <a:noFill/>
            </a:ln>
          </p:spPr>
          <p:txBody>
            <a:bodyPr wrap="none" anchor="t" anchorCtr="0">
              <a:spAutoFit/>
            </a:bodyPr>
            <a:p>
              <a:pPr algn="ctr"/>
              <a:r>
                <a:rPr lang="en-US" altLang="zh-CN" sz="3200" i="1">
                  <a:solidFill>
                    <a:srgbClr val="FF0000"/>
                  </a:solidFill>
                  <a:latin typeface="Times New Roman" panose="02020603050405020304" pitchFamily="18" charset="0"/>
                  <a:ea typeface="宋体" panose="02010600030101010101" pitchFamily="2" charset="-122"/>
                </a:rPr>
                <a:t>F</a:t>
              </a:r>
              <a:r>
                <a:rPr lang="en-US" altLang="zh-CN" sz="3200" baseline="-25000">
                  <a:solidFill>
                    <a:srgbClr val="FF0000"/>
                  </a:solidFill>
                  <a:latin typeface="Times New Roman" panose="02020603050405020304" pitchFamily="18" charset="0"/>
                  <a:ea typeface="宋体" panose="02010600030101010101" pitchFamily="2" charset="-122"/>
                </a:rPr>
                <a:t>1</a:t>
              </a:r>
              <a:endParaRPr lang="en-US" altLang="zh-CN" sz="3200">
                <a:solidFill>
                  <a:srgbClr val="FF0000"/>
                </a:solidFill>
                <a:latin typeface="Times New Roman" panose="02020603050405020304" pitchFamily="18" charset="0"/>
                <a:ea typeface="宋体" panose="02010600030101010101" pitchFamily="2" charset="-122"/>
              </a:endParaRPr>
            </a:p>
          </p:txBody>
        </p:sp>
        <p:sp>
          <p:nvSpPr>
            <p:cNvPr id="56336" name="文本框 93201"/>
            <p:cNvSpPr txBox="1"/>
            <p:nvPr/>
          </p:nvSpPr>
          <p:spPr>
            <a:xfrm>
              <a:off x="4422" y="3158"/>
              <a:ext cx="371" cy="365"/>
            </a:xfrm>
            <a:prstGeom prst="rect">
              <a:avLst/>
            </a:prstGeom>
            <a:noFill/>
            <a:ln w="9525">
              <a:noFill/>
            </a:ln>
          </p:spPr>
          <p:txBody>
            <a:bodyPr wrap="none" anchor="t" anchorCtr="0">
              <a:spAutoFit/>
            </a:bodyPr>
            <a:p>
              <a:pPr algn="ctr"/>
              <a:r>
                <a:rPr lang="en-US" altLang="zh-CN" sz="3200" i="1">
                  <a:solidFill>
                    <a:schemeClr val="accent2"/>
                  </a:solidFill>
                  <a:latin typeface="Times New Roman" panose="02020603050405020304" pitchFamily="18" charset="0"/>
                  <a:ea typeface="宋体" panose="02010600030101010101" pitchFamily="2" charset="-122"/>
                </a:rPr>
                <a:t>F</a:t>
              </a:r>
              <a:r>
                <a:rPr lang="en-US" altLang="zh-CN" sz="3200" baseline="-25000">
                  <a:solidFill>
                    <a:schemeClr val="accent2"/>
                  </a:solidFill>
                  <a:latin typeface="Times New Roman" panose="02020603050405020304" pitchFamily="18" charset="0"/>
                  <a:ea typeface="宋体" panose="02010600030101010101" pitchFamily="2" charset="-122"/>
                </a:rPr>
                <a:t>2</a:t>
              </a:r>
              <a:endParaRPr lang="en-US" altLang="zh-CN" sz="3200">
                <a:solidFill>
                  <a:schemeClr val="accent2"/>
                </a:solidFill>
                <a:latin typeface="Times New Roman" panose="02020603050405020304" pitchFamily="18" charset="0"/>
                <a:ea typeface="Times New Roman" panose="02020603050405020304" pitchFamily="18" charset="0"/>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矩形 92161"/>
          <p:cNvSpPr/>
          <p:nvPr/>
        </p:nvSpPr>
        <p:spPr>
          <a:xfrm>
            <a:off x="250825" y="404813"/>
            <a:ext cx="8604250" cy="191770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7-12 </a:t>
            </a:r>
            <a:r>
              <a:rPr lang="zh-CN" altLang="en-US" dirty="0">
                <a:latin typeface="Times New Roman" panose="02020603050405020304" pitchFamily="18" charset="0"/>
                <a:ea typeface="宋体" panose="02010600030101010101" pitchFamily="2" charset="-122"/>
              </a:rPr>
              <a:t>三相六极绕线转子异步机，转子绕组</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开路时，转子集电环间的感应电势</a:t>
            </a:r>
            <a:r>
              <a:rPr lang="en-US" altLang="zh-CN" dirty="0">
                <a:latin typeface="Times New Roman" panose="02020603050405020304" pitchFamily="18" charset="0"/>
                <a:ea typeface="宋体" panose="02010600030101010101" pitchFamily="2" charset="-122"/>
              </a:rPr>
              <a:t>210V</a:t>
            </a:r>
            <a:r>
              <a:rPr lang="zh-CN" altLang="en-US" dirty="0">
                <a:latin typeface="Times New Roman" panose="02020603050405020304" pitchFamily="18" charset="0"/>
                <a:ea typeface="宋体" panose="02010600030101010101" pitchFamily="2" charset="-122"/>
              </a:rPr>
              <a:t>。转子不转时每相漏阻抗</a:t>
            </a:r>
            <a:r>
              <a:rPr lang="en-US" altLang="zh-CN">
                <a:latin typeface="Times New Roman" panose="02020603050405020304" pitchFamily="18" charset="0"/>
                <a:ea typeface="宋体" panose="02010600030101010101" pitchFamily="2" charset="-122"/>
              </a:rPr>
              <a:t>Z</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+jx</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=0.05+j0.2(Ω)</a:t>
            </a:r>
            <a:r>
              <a:rPr lang="zh-CN" altLang="en-US" dirty="0">
                <a:latin typeface="Times New Roman" panose="02020603050405020304" pitchFamily="18" charset="0"/>
                <a:ea typeface="宋体" panose="02010600030101010101" pitchFamily="2" charset="-122"/>
              </a:rPr>
              <a:t>。额定转速运行时，转速</a:t>
            </a:r>
            <a:r>
              <a:rPr lang="en-US" altLang="zh-CN" dirty="0">
                <a:latin typeface="Times New Roman" panose="02020603050405020304" pitchFamily="18" charset="0"/>
                <a:ea typeface="宋体" panose="02010600030101010101" pitchFamily="2" charset="-122"/>
              </a:rPr>
              <a:t>960r/min</a:t>
            </a:r>
            <a:r>
              <a:rPr lang="zh-CN" altLang="en-US" dirty="0">
                <a:latin typeface="Times New Roman" panose="02020603050405020304" pitchFamily="18" charset="0"/>
                <a:ea typeface="宋体" panose="02010600030101010101" pitchFamily="2" charset="-122"/>
              </a:rPr>
              <a:t>，计算额定负载时转子相电势</a:t>
            </a:r>
            <a:r>
              <a:rPr lang="en-US" altLang="zh-CN">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2s</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2s</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cosφ</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及输出功率</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，忽略损耗。</a:t>
            </a:r>
            <a:endParaRPr lang="zh-CN" altLang="en-US" dirty="0">
              <a:latin typeface="Times New Roman" panose="02020603050405020304" pitchFamily="18" charset="0"/>
              <a:ea typeface="宋体" panose="02010600030101010101" pitchFamily="2" charset="-122"/>
            </a:endParaRPr>
          </a:p>
        </p:txBody>
      </p:sp>
      <p:sp>
        <p:nvSpPr>
          <p:cNvPr id="57346" name="矩形 92162"/>
          <p:cNvSpPr/>
          <p:nvPr/>
        </p:nvSpPr>
        <p:spPr>
          <a:xfrm>
            <a:off x="1800225" y="2205038"/>
            <a:ext cx="5665788" cy="4035425"/>
          </a:xfrm>
          <a:prstGeom prst="rect">
            <a:avLst/>
          </a:prstGeom>
          <a:noFill/>
          <a:ln w="9525">
            <a:noFill/>
          </a:ln>
        </p:spPr>
        <p:txBody>
          <a:bodyPr wrap="none" anchor="ctr" anchorCtr="0">
            <a:spAutoFit/>
          </a:bodyPr>
          <a:p>
            <a:pPr algn="ctr">
              <a:lnSpc>
                <a:spcPct val="120000"/>
              </a:lnSpc>
            </a:pPr>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转子开路相电势为</a:t>
            </a:r>
            <a:r>
              <a:rPr lang="en-US" altLang="zh-CN">
                <a:latin typeface="Times New Roman" panose="02020603050405020304" pitchFamily="18" charset="0"/>
                <a:ea typeface="宋体" panose="02010600030101010101" pitchFamily="2" charset="-122"/>
              </a:rPr>
              <a:t>:210/1.732=121.2V</a:t>
            </a:r>
            <a:endParaRPr lang="en-US" altLang="zh-CN">
              <a:latin typeface="Times New Roman" panose="02020603050405020304" pitchFamily="18" charset="0"/>
              <a:ea typeface="宋体" panose="02010600030101010101" pitchFamily="2" charset="-122"/>
            </a:endParaRPr>
          </a:p>
          <a:p>
            <a:pPr algn="ctr">
              <a:lnSpc>
                <a:spcPct val="120000"/>
              </a:lnSpc>
            </a:pP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=(1000-960)/1000=0.04</a:t>
            </a:r>
            <a:endParaRPr lang="en-US" altLang="zh-CN">
              <a:latin typeface="Times New Roman" panose="02020603050405020304" pitchFamily="18" charset="0"/>
              <a:ea typeface="宋体" panose="02010600030101010101" pitchFamily="2" charset="-122"/>
            </a:endParaRPr>
          </a:p>
          <a:p>
            <a:pPr algn="ctr">
              <a:lnSpc>
                <a:spcPct val="120000"/>
              </a:lnSpc>
            </a:pP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2s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 E</a:t>
            </a:r>
            <a:r>
              <a:rPr lang="en-US" altLang="zh-CN" baseline="-25000">
                <a:latin typeface="Times New Roman" panose="02020603050405020304" pitchFamily="18" charset="0"/>
                <a:ea typeface="宋体" panose="02010600030101010101" pitchFamily="2" charset="-122"/>
              </a:rPr>
              <a:t>20 </a:t>
            </a:r>
            <a:r>
              <a:rPr lang="en-US" altLang="zh-CN">
                <a:latin typeface="Times New Roman" panose="02020603050405020304" pitchFamily="18" charset="0"/>
                <a:ea typeface="宋体" panose="02010600030101010101" pitchFamily="2" charset="-122"/>
              </a:rPr>
              <a:t>=0.04</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121.2=4.85V</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a:lnSpc>
                <a:spcPct val="120000"/>
              </a:lnSpc>
            </a:pPr>
            <a:r>
              <a:rPr lang="en-US" altLang="zh-CN">
                <a:latin typeface="Times New Roman" panose="02020603050405020304" pitchFamily="18" charset="0"/>
                <a:ea typeface="宋体" panose="02010600030101010101" pitchFamily="2" charset="-122"/>
                <a:sym typeface="Symbol" panose="05050102010706020507" pitchFamily="18" charset="2"/>
              </a:rPr>
              <a:t>Z</a:t>
            </a:r>
            <a:r>
              <a:rPr lang="en-US" altLang="zh-CN" baseline="-25000">
                <a:latin typeface="Times New Roman" panose="02020603050405020304" pitchFamily="18" charset="0"/>
                <a:ea typeface="宋体" panose="02010600030101010101" pitchFamily="2" charset="-122"/>
                <a:sym typeface="Symbol" panose="05050102010706020507" pitchFamily="18" charset="2"/>
              </a:rPr>
              <a:t>2s</a:t>
            </a:r>
            <a:r>
              <a:rPr lang="en-US" altLang="zh-CN">
                <a:latin typeface="Times New Roman" panose="02020603050405020304" pitchFamily="18" charset="0"/>
                <a:ea typeface="宋体" panose="02010600030101010101" pitchFamily="2" charset="-122"/>
                <a:sym typeface="Symbol" panose="05050102010706020507" pitchFamily="18" charset="2"/>
              </a:rPr>
              <a:t>=r</a:t>
            </a:r>
            <a:r>
              <a:rPr lang="en-US" altLang="zh-CN" baseline="-25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+jsx</a:t>
            </a:r>
            <a:r>
              <a:rPr lang="en-US" altLang="zh-CN" baseline="-25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 =0.05+j0.008</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a:lnSpc>
                <a:spcPct val="120000"/>
              </a:lnSpc>
            </a:pPr>
            <a:r>
              <a:rPr lang="en-US" altLang="zh-CN">
                <a:latin typeface="Times New Roman" panose="02020603050405020304" pitchFamily="18" charset="0"/>
                <a:ea typeface="宋体" panose="02010600030101010101" pitchFamily="2" charset="-122"/>
                <a:sym typeface="Symbol" panose="05050102010706020507" pitchFamily="18" charset="2"/>
              </a:rPr>
              <a:t>I</a:t>
            </a:r>
            <a:r>
              <a:rPr lang="en-US" altLang="zh-CN" baseline="-25000">
                <a:latin typeface="Times New Roman" panose="02020603050405020304" pitchFamily="18" charset="0"/>
                <a:ea typeface="宋体" panose="02010600030101010101" pitchFamily="2" charset="-122"/>
                <a:sym typeface="Symbol" panose="05050102010706020507" pitchFamily="18" charset="2"/>
              </a:rPr>
              <a:t>2s</a:t>
            </a:r>
            <a:r>
              <a:rPr lang="en-US" altLang="zh-CN">
                <a:latin typeface="Times New Roman" panose="02020603050405020304" pitchFamily="18" charset="0"/>
                <a:ea typeface="宋体" panose="02010600030101010101" pitchFamily="2" charset="-122"/>
                <a:sym typeface="Symbol" panose="05050102010706020507" pitchFamily="18" charset="2"/>
              </a:rPr>
              <a:t>= E</a:t>
            </a:r>
            <a:r>
              <a:rPr lang="en-US" altLang="zh-CN" baseline="-25000">
                <a:latin typeface="Times New Roman" panose="02020603050405020304" pitchFamily="18" charset="0"/>
                <a:ea typeface="宋体" panose="02010600030101010101" pitchFamily="2" charset="-122"/>
                <a:sym typeface="Symbol" panose="05050102010706020507" pitchFamily="18" charset="2"/>
              </a:rPr>
              <a:t>2s</a:t>
            </a:r>
            <a:r>
              <a:rPr lang="en-US" altLang="zh-CN">
                <a:latin typeface="Times New Roman" panose="02020603050405020304" pitchFamily="18" charset="0"/>
                <a:ea typeface="宋体" panose="02010600030101010101" pitchFamily="2" charset="-122"/>
                <a:sym typeface="Symbol" panose="05050102010706020507" pitchFamily="18" charset="2"/>
              </a:rPr>
              <a:t>/ Z</a:t>
            </a:r>
            <a:r>
              <a:rPr lang="en-US" altLang="zh-CN" baseline="-25000">
                <a:latin typeface="Times New Roman" panose="02020603050405020304" pitchFamily="18" charset="0"/>
                <a:ea typeface="宋体" panose="02010600030101010101" pitchFamily="2" charset="-122"/>
                <a:sym typeface="Symbol" panose="05050102010706020507" pitchFamily="18" charset="2"/>
              </a:rPr>
              <a:t>2s</a:t>
            </a:r>
            <a:r>
              <a:rPr lang="en-US" altLang="zh-CN">
                <a:latin typeface="Times New Roman" panose="02020603050405020304" pitchFamily="18" charset="0"/>
                <a:ea typeface="宋体" panose="02010600030101010101" pitchFamily="2" charset="-122"/>
                <a:sym typeface="Symbol" panose="05050102010706020507" pitchFamily="18" charset="2"/>
              </a:rPr>
              <a:t>=95.8A</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a:lnSpc>
                <a:spcPct val="120000"/>
              </a:lnSpc>
            </a:pPr>
            <a:r>
              <a:rPr lang="en-US" altLang="zh-CN">
                <a:latin typeface="Times New Roman" panose="02020603050405020304" pitchFamily="18" charset="0"/>
                <a:ea typeface="宋体" panose="02010600030101010101" pitchFamily="2" charset="-122"/>
                <a:sym typeface="Symbol" panose="05050102010706020507" pitchFamily="18" charset="2"/>
              </a:rPr>
              <a:t>cos</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sym typeface="Symbol" panose="05050102010706020507" pitchFamily="18" charset="2"/>
              </a:rPr>
              <a:t>=0.987</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a:lnSpc>
                <a:spcPct val="120000"/>
              </a:lnSpc>
            </a:pP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cu2</a:t>
            </a:r>
            <a:r>
              <a:rPr lang="en-US" altLang="zh-CN">
                <a:latin typeface="Times New Roman" panose="02020603050405020304" pitchFamily="18" charset="0"/>
                <a:ea typeface="宋体" panose="02010600030101010101" pitchFamily="2" charset="-122"/>
                <a:sym typeface="Symbol" panose="05050102010706020507" pitchFamily="18" charset="2"/>
              </a:rPr>
              <a:t>=3</a:t>
            </a:r>
            <a:r>
              <a:rPr lang="en-US" altLang="zh-CN">
                <a:latin typeface="Times New Roman" panose="02020603050405020304" pitchFamily="18" charset="0"/>
                <a:ea typeface="宋体" panose="02010600030101010101" pitchFamily="2" charset="-122"/>
              </a:rPr>
              <a:t> I</a:t>
            </a:r>
            <a:r>
              <a:rPr lang="en-US" altLang="zh-CN" baseline="-25000">
                <a:latin typeface="Times New Roman" panose="02020603050405020304" pitchFamily="18" charset="0"/>
                <a:ea typeface="宋体" panose="02010600030101010101" pitchFamily="2" charset="-122"/>
                <a:sym typeface="Symbol" panose="05050102010706020507" pitchFamily="18" charset="2"/>
              </a:rPr>
              <a:t>2s</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r</a:t>
            </a:r>
            <a:r>
              <a:rPr lang="en-US" altLang="zh-CN" baseline="-25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=1376.7W</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a:lnSpc>
                <a:spcPct val="120000"/>
              </a:lnSpc>
            </a:pP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em</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cu2</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s</a:t>
            </a:r>
            <a:r>
              <a:rPr lang="en-US" altLang="zh-CN">
                <a:latin typeface="Times New Roman" panose="02020603050405020304" pitchFamily="18" charset="0"/>
                <a:ea typeface="宋体" panose="02010600030101010101" pitchFamily="2" charset="-122"/>
                <a:sym typeface="Symbol" panose="05050102010706020507" pitchFamily="18" charset="2"/>
              </a:rPr>
              <a:t>=1376.7/0.04=34417.5W</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a:lnSpc>
                <a:spcPct val="120000"/>
              </a:lnSpc>
            </a:pP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mec</a:t>
            </a:r>
            <a:r>
              <a:rPr lang="en-US" altLang="zh-CN">
                <a:latin typeface="Times New Roman" panose="02020603050405020304" pitchFamily="18" charset="0"/>
                <a:ea typeface="宋体" panose="02010600030101010101" pitchFamily="2" charset="-122"/>
                <a:sym typeface="Symbol" panose="05050102010706020507" pitchFamily="18" charset="2"/>
              </a:rPr>
              <a:t>=(1-</a:t>
            </a:r>
            <a:r>
              <a:rPr lang="en-US" altLang="zh-CN" i="1">
                <a:latin typeface="Times New Roman" panose="02020603050405020304" pitchFamily="18" charset="0"/>
                <a:ea typeface="宋体" panose="02010600030101010101" pitchFamily="2" charset="-122"/>
                <a:sym typeface="Symbol" panose="05050102010706020507" pitchFamily="18" charset="2"/>
              </a:rPr>
              <a:t>s</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baseline="-25000">
                <a:latin typeface="Times New Roman" panose="02020603050405020304" pitchFamily="18" charset="0"/>
                <a:ea typeface="宋体" panose="02010600030101010101" pitchFamily="2" charset="-122"/>
                <a:sym typeface="Symbol" panose="05050102010706020507" pitchFamily="18" charset="2"/>
              </a:rPr>
              <a:t>em</a:t>
            </a:r>
            <a:r>
              <a:rPr lang="en-US" altLang="zh-CN">
                <a:latin typeface="Times New Roman" panose="02020603050405020304" pitchFamily="18" charset="0"/>
                <a:ea typeface="宋体" panose="02010600030101010101" pitchFamily="2" charset="-122"/>
                <a:sym typeface="Symbol" panose="05050102010706020507" pitchFamily="18" charset="2"/>
              </a:rPr>
              <a:t>=33040.8W</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矩形 91137"/>
          <p:cNvSpPr/>
          <p:nvPr/>
        </p:nvSpPr>
        <p:spPr>
          <a:xfrm>
            <a:off x="323850" y="333375"/>
            <a:ext cx="8207375" cy="264795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7-13 </a:t>
            </a:r>
            <a:r>
              <a:rPr lang="zh-CN" altLang="en-US" dirty="0">
                <a:latin typeface="Times New Roman" panose="02020603050405020304" pitchFamily="18" charset="0"/>
                <a:ea typeface="宋体" panose="02010600030101010101" pitchFamily="2" charset="-122"/>
              </a:rPr>
              <a:t>三相绕线转子异步机，定子绕组：</a:t>
            </a:r>
            <a:r>
              <a:rPr lang="en-US" altLang="zh-CN">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=168</a:t>
            </a:r>
            <a:r>
              <a:rPr lang="zh-CN" altLang="en-US" dirty="0">
                <a:latin typeface="Times New Roman" panose="02020603050405020304" pitchFamily="18" charset="0"/>
                <a:ea typeface="宋体" panose="02010600030101010101" pitchFamily="2" charset="-122"/>
              </a:rPr>
              <a:t>匝</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相；</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W11</a:t>
            </a:r>
            <a:r>
              <a:rPr lang="en-US" altLang="zh-CN" dirty="0">
                <a:latin typeface="Times New Roman" panose="02020603050405020304" pitchFamily="18" charset="0"/>
                <a:ea typeface="宋体" panose="02010600030101010101" pitchFamily="2" charset="-122"/>
              </a:rPr>
              <a:t>=0.94</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=1.43Ω</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=1.38Ω</a:t>
            </a:r>
            <a:r>
              <a:rPr lang="zh-CN" altLang="en-US" dirty="0">
                <a:latin typeface="Times New Roman" panose="02020603050405020304" pitchFamily="18" charset="0"/>
                <a:ea typeface="宋体" panose="02010600030101010101" pitchFamily="2" charset="-122"/>
              </a:rPr>
              <a:t>。转子绕组：</a:t>
            </a:r>
            <a:r>
              <a:rPr lang="en-US" altLang="zh-CN">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=80</a:t>
            </a:r>
            <a:r>
              <a:rPr lang="zh-CN" altLang="en-US" dirty="0">
                <a:latin typeface="Times New Roman" panose="02020603050405020304" pitchFamily="18" charset="0"/>
                <a:ea typeface="宋体" panose="02010600030101010101" pitchFamily="2" charset="-122"/>
              </a:rPr>
              <a:t>匝</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相，</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W21</a:t>
            </a:r>
            <a:r>
              <a:rPr lang="en-US" altLang="zh-CN" dirty="0">
                <a:latin typeface="Times New Roman" panose="02020603050405020304" pitchFamily="18" charset="0"/>
                <a:ea typeface="宋体" panose="02010600030101010101" pitchFamily="2" charset="-122"/>
              </a:rPr>
              <a:t>=0.97</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=0.229Ω</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=0.523Ω</a:t>
            </a:r>
            <a:r>
              <a:rPr lang="zh-CN" altLang="en-US" dirty="0">
                <a:latin typeface="Times New Roman" panose="02020603050405020304" pitchFamily="18" charset="0"/>
                <a:ea typeface="宋体" panose="02010600030101010101" pitchFamily="2" charset="-122"/>
              </a:rPr>
              <a:t>。励磁阻抗：</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=10+</a:t>
            </a:r>
            <a:r>
              <a:rPr lang="en-US" altLang="zh-CN" i="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73.3Ω</a:t>
            </a:r>
            <a:r>
              <a:rPr lang="zh-CN" altLang="en-US" dirty="0">
                <a:latin typeface="Times New Roman" panose="02020603050405020304" pitchFamily="18" charset="0"/>
                <a:ea typeface="宋体" panose="02010600030101010101" pitchFamily="2" charset="-122"/>
              </a:rPr>
              <a:t>。当以</a:t>
            </a:r>
            <a:r>
              <a:rPr lang="en-US" altLang="zh-CN" dirty="0">
                <a:latin typeface="Times New Roman" panose="02020603050405020304" pitchFamily="18" charset="0"/>
                <a:ea typeface="宋体" panose="02010600030101010101" pitchFamily="2" charset="-122"/>
              </a:rPr>
              <a:t>50Hz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的电压接到定子绕组</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上时，电机额定速</a:t>
            </a:r>
            <a:r>
              <a:rPr lang="en-US" altLang="zh-CN" dirty="0">
                <a:latin typeface="Times New Roman" panose="02020603050405020304" pitchFamily="18" charset="0"/>
                <a:ea typeface="宋体" panose="02010600030101010101" pitchFamily="2" charset="-122"/>
              </a:rPr>
              <a:t>1450r/min</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画</a:t>
            </a:r>
            <a:r>
              <a:rPr lang="en-US" altLang="zh-CN" dirty="0">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形等效电路。</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计算</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1N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2N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8370" name="矩形 91140"/>
          <p:cNvSpPr/>
          <p:nvPr/>
        </p:nvSpPr>
        <p:spPr>
          <a:xfrm>
            <a:off x="0" y="227647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58371" name="对象 91139"/>
          <p:cNvGraphicFramePr/>
          <p:nvPr/>
        </p:nvGraphicFramePr>
        <p:xfrm>
          <a:off x="1692275" y="2997200"/>
          <a:ext cx="5400675" cy="1800225"/>
        </p:xfrm>
        <a:graphic>
          <a:graphicData uri="http://schemas.openxmlformats.org/presentationml/2006/ole">
            <mc:AlternateContent xmlns:mc="http://schemas.openxmlformats.org/markup-compatibility/2006">
              <mc:Choice xmlns:v="urn:schemas-microsoft-com:vml" Requires="v">
                <p:oleObj spid="_x0000_s3162" name="" r:id="rId1" imgW="5812155" imgH="2663825" progId="Visio.Drawing.11">
                  <p:embed/>
                </p:oleObj>
              </mc:Choice>
              <mc:Fallback>
                <p:oleObj name="" r:id="rId1" imgW="5812155" imgH="2663825" progId="Visio.Drawing.11">
                  <p:embed/>
                  <p:pic>
                    <p:nvPicPr>
                      <p:cNvPr id="0" name="图片 3161"/>
                      <p:cNvPicPr/>
                      <p:nvPr/>
                    </p:nvPicPr>
                    <p:blipFill>
                      <a:blip r:embed="rId2"/>
                      <a:stretch>
                        <a:fillRect/>
                      </a:stretch>
                    </p:blipFill>
                    <p:spPr>
                      <a:xfrm>
                        <a:off x="1692275" y="2997200"/>
                        <a:ext cx="5400675" cy="1800225"/>
                      </a:xfrm>
                      <a:prstGeom prst="rect">
                        <a:avLst/>
                      </a:prstGeom>
                      <a:noFill/>
                      <a:ln w="38100">
                        <a:noFill/>
                        <a:miter/>
                      </a:ln>
                    </p:spPr>
                  </p:pic>
                </p:oleObj>
              </mc:Fallback>
            </mc:AlternateContent>
          </a:graphicData>
        </a:graphic>
      </p:graphicFrame>
      <p:sp>
        <p:nvSpPr>
          <p:cNvPr id="58372" name="矩形 91141"/>
          <p:cNvSpPr/>
          <p:nvPr/>
        </p:nvSpPr>
        <p:spPr>
          <a:xfrm>
            <a:off x="539750" y="3141663"/>
            <a:ext cx="922338"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解</a:t>
            </a:r>
            <a:r>
              <a:rPr lang="zh-CN" altLang="en-US">
                <a:latin typeface="Times New Roman" panose="02020603050405020304" pitchFamily="18" charset="0"/>
                <a:ea typeface="宋体" panose="02010600030101010101" pitchFamily="2" charset="-122"/>
                <a:sym typeface="Wingdings" panose="05000000000000000000" pitchFamily="2" charset="2"/>
              </a:rPr>
              <a:t> </a:t>
            </a:r>
            <a:r>
              <a:rPr lang="en-US" altLang="zh-CN">
                <a:latin typeface="Times New Roman" panose="02020603050405020304" pitchFamily="18" charset="0"/>
                <a:ea typeface="宋体" panose="02010600030101010101" pitchFamily="2" charset="-122"/>
                <a:sym typeface="Wingdings" panose="05000000000000000000" pitchFamily="2" charset="2"/>
              </a:rPr>
              <a:t>(</a:t>
            </a:r>
            <a:r>
              <a:rPr lang="en-US" altLang="zh-CN">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graphicFrame>
        <p:nvGraphicFramePr>
          <p:cNvPr id="58373" name="对象 91142"/>
          <p:cNvGraphicFramePr/>
          <p:nvPr/>
        </p:nvGraphicFramePr>
        <p:xfrm>
          <a:off x="1619250" y="4941888"/>
          <a:ext cx="5591175" cy="455612"/>
        </p:xfrm>
        <a:graphic>
          <a:graphicData uri="http://schemas.openxmlformats.org/presentationml/2006/ole">
            <mc:AlternateContent xmlns:mc="http://schemas.openxmlformats.org/markup-compatibility/2006">
              <mc:Choice xmlns:v="urn:schemas-microsoft-com:vml" Requires="v">
                <p:oleObj spid="_x0000_s3160" name="" r:id="rId3" imgW="2794000" imgH="228600" progId="Equation.DSMT4">
                  <p:embed/>
                </p:oleObj>
              </mc:Choice>
              <mc:Fallback>
                <p:oleObj name="" r:id="rId3" imgW="2794000" imgH="228600" progId="Equation.DSMT4">
                  <p:embed/>
                  <p:pic>
                    <p:nvPicPr>
                      <p:cNvPr id="0" name="图片 3159"/>
                      <p:cNvPicPr/>
                      <p:nvPr/>
                    </p:nvPicPr>
                    <p:blipFill>
                      <a:blip r:embed="rId4"/>
                      <a:stretch>
                        <a:fillRect/>
                      </a:stretch>
                    </p:blipFill>
                    <p:spPr>
                      <a:xfrm>
                        <a:off x="1619250" y="4941888"/>
                        <a:ext cx="5591175" cy="455612"/>
                      </a:xfrm>
                      <a:prstGeom prst="rect">
                        <a:avLst/>
                      </a:prstGeom>
                      <a:noFill/>
                      <a:ln w="38100">
                        <a:noFill/>
                        <a:miter/>
                      </a:ln>
                    </p:spPr>
                  </p:pic>
                </p:oleObj>
              </mc:Fallback>
            </mc:AlternateContent>
          </a:graphicData>
        </a:graphic>
      </p:graphicFrame>
      <p:sp>
        <p:nvSpPr>
          <p:cNvPr id="58374" name="文本框 91144"/>
          <p:cNvSpPr txBox="1"/>
          <p:nvPr/>
        </p:nvSpPr>
        <p:spPr>
          <a:xfrm>
            <a:off x="6208713" y="2152650"/>
            <a:ext cx="2693987" cy="822325"/>
          </a:xfrm>
          <a:prstGeom prst="rect">
            <a:avLst/>
          </a:prstGeom>
          <a:noFill/>
          <a:ln w="9525">
            <a:noFill/>
          </a:ln>
        </p:spPr>
        <p:txBody>
          <a:bodyPr wrap="none" anchor="t" anchorCtr="0">
            <a:spAutoFit/>
          </a:bodyPr>
          <a:p>
            <a:r>
              <a:rPr lang="en-US" altLang="zh-CN">
                <a:solidFill>
                  <a:srgbClr val="FF0000"/>
                </a:solidFill>
                <a:latin typeface="Times New Roman" panose="02020603050405020304" pitchFamily="18" charset="0"/>
                <a:ea typeface="宋体" panose="02010600030101010101" pitchFamily="2" charset="-122"/>
              </a:rPr>
              <a:t>s=(1500-1450)/1500</a:t>
            </a:r>
            <a:endParaRPr lang="en-US" altLang="zh-CN">
              <a:solidFill>
                <a:srgbClr val="FF0000"/>
              </a:solidFill>
              <a:latin typeface="Times New Roman" panose="02020603050405020304" pitchFamily="18" charset="0"/>
              <a:ea typeface="宋体" panose="02010600030101010101" pitchFamily="2" charset="-122"/>
            </a:endParaRPr>
          </a:p>
          <a:p>
            <a:r>
              <a:rPr lang="en-US" altLang="zh-CN">
                <a:solidFill>
                  <a:srgbClr val="FF0000"/>
                </a:solidFill>
                <a:latin typeface="Times New Roman" panose="02020603050405020304" pitchFamily="18" charset="0"/>
                <a:ea typeface="宋体" panose="02010600030101010101" pitchFamily="2" charset="-122"/>
              </a:rPr>
              <a:t>  =0.033</a:t>
            </a:r>
            <a:endParaRPr lang="en-US" altLang="zh-CN">
              <a:solidFill>
                <a:srgbClr val="FF0000"/>
              </a:solidFill>
              <a:latin typeface="Times New Roman" panose="02020603050405020304" pitchFamily="18" charset="0"/>
              <a:ea typeface="宋体" panose="02010600030101010101" pitchFamily="2" charset="-122"/>
            </a:endParaRPr>
          </a:p>
        </p:txBody>
      </p:sp>
      <p:sp>
        <p:nvSpPr>
          <p:cNvPr id="58375" name="矩形 91145"/>
          <p:cNvSpPr/>
          <p:nvPr/>
        </p:nvSpPr>
        <p:spPr>
          <a:xfrm>
            <a:off x="1042988" y="5300663"/>
            <a:ext cx="6337300" cy="1187450"/>
          </a:xfrm>
          <a:prstGeom prst="rect">
            <a:avLst/>
          </a:prstGeom>
          <a:noFill/>
          <a:ln w="9525">
            <a:noFill/>
          </a:ln>
        </p:spPr>
        <p:txBody>
          <a:bodyPr anchor="ctr" anchorCtr="0">
            <a:spAutoFit/>
          </a:bodyPr>
          <a:p>
            <a:pPr algn="ctr">
              <a:lnSpc>
                <a:spcPct val="150000"/>
              </a:lnSpc>
            </a:pPr>
            <a:r>
              <a:rPr lang="en-US" altLang="zh-CN" i="1" err="1">
                <a:latin typeface="Times New Roman" panose="02020603050405020304" pitchFamily="18" charset="0"/>
                <a:ea typeface="宋体" panose="02010600030101010101" pitchFamily="2" charset="-122"/>
              </a:rPr>
              <a:t>k</a:t>
            </a:r>
            <a:r>
              <a:rPr lang="en-US" altLang="zh-CN" baseline="-25000" err="1">
                <a:latin typeface="Times New Roman" panose="02020603050405020304" pitchFamily="18" charset="0"/>
                <a:ea typeface="宋体" panose="02010600030101010101" pitchFamily="2" charset="-122"/>
              </a:rPr>
              <a:t>e</a:t>
            </a:r>
            <a:r>
              <a:rPr lang="en-US" altLang="zh-CN">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k</a:t>
            </a:r>
            <a:r>
              <a:rPr lang="en-US" altLang="zh-CN" baseline="-25000" err="1">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w11</a:t>
            </a:r>
            <a:r>
              <a:rPr lang="en-US" altLang="zh-CN">
                <a:latin typeface="Times New Roman" panose="02020603050405020304" pitchFamily="18" charset="0"/>
                <a:ea typeface="宋体" panose="02010600030101010101" pitchFamily="2" charset="-122"/>
              </a:rPr>
              <a:t>/ N</a:t>
            </a:r>
            <a:r>
              <a:rPr lang="en-US" altLang="zh-CN" baseline="-25000">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w21</a:t>
            </a:r>
            <a:r>
              <a:rPr lang="en-US" altLang="zh-CN">
                <a:latin typeface="Times New Roman" panose="02020603050405020304" pitchFamily="18" charset="0"/>
                <a:ea typeface="宋体" panose="02010600030101010101" pitchFamily="2" charset="-122"/>
              </a:rPr>
              <a:t>=2.035</a:t>
            </a:r>
            <a:endParaRPr lang="en-US" altLang="zh-CN">
              <a:latin typeface="Times New Roman" panose="02020603050405020304" pitchFamily="18" charset="0"/>
              <a:ea typeface="宋体" panose="02010600030101010101" pitchFamily="2" charset="-122"/>
            </a:endParaRPr>
          </a:p>
          <a:p>
            <a:pPr algn="ctr">
              <a:lnSpc>
                <a:spcPct val="150000"/>
              </a:lnSpc>
            </a:pP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e</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=0.95</a:t>
            </a:r>
            <a:r>
              <a:rPr lang="zh-CN" altLang="en-US" dirty="0">
                <a:latin typeface="Times New Roman" panose="02020603050405020304" pitchFamily="18" charset="0"/>
                <a:ea typeface="宋体" panose="02010600030101010101" pitchFamily="2" charset="-122"/>
              </a:rPr>
              <a:t>欧</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e</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=2.17</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9393" name="对象 120836"/>
          <p:cNvGraphicFramePr/>
          <p:nvPr/>
        </p:nvGraphicFramePr>
        <p:xfrm>
          <a:off x="827088" y="127000"/>
          <a:ext cx="6337300" cy="4021138"/>
        </p:xfrm>
        <a:graphic>
          <a:graphicData uri="http://schemas.openxmlformats.org/presentationml/2006/ole">
            <mc:AlternateContent xmlns:mc="http://schemas.openxmlformats.org/markup-compatibility/2006">
              <mc:Choice xmlns:v="urn:schemas-microsoft-com:vml" Requires="v">
                <p:oleObj spid="_x0000_s3161" name="" r:id="rId1" imgW="3086100" imgH="2095500" progId="Equation.DSMT4">
                  <p:embed/>
                </p:oleObj>
              </mc:Choice>
              <mc:Fallback>
                <p:oleObj name="" r:id="rId1" imgW="3086100" imgH="2095500" progId="Equation.DSMT4">
                  <p:embed/>
                  <p:pic>
                    <p:nvPicPr>
                      <p:cNvPr id="0" name="图片 3160"/>
                      <p:cNvPicPr/>
                      <p:nvPr/>
                    </p:nvPicPr>
                    <p:blipFill>
                      <a:blip r:embed="rId2"/>
                      <a:stretch>
                        <a:fillRect/>
                      </a:stretch>
                    </p:blipFill>
                    <p:spPr>
                      <a:xfrm>
                        <a:off x="827088" y="127000"/>
                        <a:ext cx="6337300" cy="4021138"/>
                      </a:xfrm>
                      <a:prstGeom prst="rect">
                        <a:avLst/>
                      </a:prstGeom>
                      <a:noFill/>
                      <a:ln w="38100">
                        <a:noFill/>
                        <a:miter/>
                      </a:ln>
                    </p:spPr>
                  </p:pic>
                </p:oleObj>
              </mc:Fallback>
            </mc:AlternateContent>
          </a:graphicData>
        </a:graphic>
      </p:graphicFrame>
      <p:graphicFrame>
        <p:nvGraphicFramePr>
          <p:cNvPr id="59394" name="对象 120837"/>
          <p:cNvGraphicFramePr/>
          <p:nvPr/>
        </p:nvGraphicFramePr>
        <p:xfrm>
          <a:off x="827088" y="4175125"/>
          <a:ext cx="7345362" cy="2617788"/>
        </p:xfrm>
        <a:graphic>
          <a:graphicData uri="http://schemas.openxmlformats.org/presentationml/2006/ole">
            <mc:AlternateContent xmlns:mc="http://schemas.openxmlformats.org/markup-compatibility/2006">
              <mc:Choice xmlns:v="urn:schemas-microsoft-com:vml" Requires="v">
                <p:oleObj spid="_x0000_s3163" name="" r:id="rId3" imgW="4025900" imgH="1435100" progId="Equation.DSMT4">
                  <p:embed/>
                </p:oleObj>
              </mc:Choice>
              <mc:Fallback>
                <p:oleObj name="" r:id="rId3" imgW="4025900" imgH="1435100" progId="Equation.DSMT4">
                  <p:embed/>
                  <p:pic>
                    <p:nvPicPr>
                      <p:cNvPr id="0" name="图片 3162"/>
                      <p:cNvPicPr/>
                      <p:nvPr/>
                    </p:nvPicPr>
                    <p:blipFill>
                      <a:blip r:embed="rId4"/>
                      <a:stretch>
                        <a:fillRect/>
                      </a:stretch>
                    </p:blipFill>
                    <p:spPr>
                      <a:xfrm>
                        <a:off x="827088" y="4175125"/>
                        <a:ext cx="7345362" cy="2617788"/>
                      </a:xfrm>
                      <a:prstGeom prst="rect">
                        <a:avLst/>
                      </a:prstGeom>
                      <a:noFill/>
                      <a:ln w="38100">
                        <a:noFill/>
                        <a:miter/>
                      </a:ln>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矩形 90113"/>
          <p:cNvSpPr/>
          <p:nvPr/>
        </p:nvSpPr>
        <p:spPr>
          <a:xfrm>
            <a:off x="179388" y="333375"/>
            <a:ext cx="8821737" cy="1698625"/>
          </a:xfrm>
          <a:prstGeom prst="rect">
            <a:avLst/>
          </a:prstGeom>
          <a:noFill/>
          <a:ln w="9525">
            <a:noFill/>
          </a:ln>
        </p:spPr>
        <p:txBody>
          <a:bodyPr anchor="ctr" anchorCtr="0">
            <a:spAutoFit/>
          </a:bodyPr>
          <a:p>
            <a:pPr>
              <a:lnSpc>
                <a:spcPct val="110000"/>
              </a:lnSpc>
            </a:pPr>
            <a:r>
              <a:rPr lang="en-US" altLang="zh-CN" dirty="0">
                <a:latin typeface="Times New Roman" panose="02020603050405020304" pitchFamily="18" charset="0"/>
                <a:ea typeface="宋体" panose="02010600030101010101" pitchFamily="2" charset="-122"/>
              </a:rPr>
              <a:t>7-15 </a:t>
            </a:r>
            <a:r>
              <a:rPr lang="zh-CN" altLang="en-US" dirty="0">
                <a:latin typeface="Times New Roman" panose="02020603050405020304" pitchFamily="18" charset="0"/>
                <a:ea typeface="宋体" panose="02010600030101010101" pitchFamily="2" charset="-122"/>
              </a:rPr>
              <a:t>三相异步机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1N</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1N</a:t>
            </a:r>
            <a:r>
              <a:rPr lang="en-US" altLang="zh-CN" dirty="0">
                <a:latin typeface="Times New Roman" panose="02020603050405020304" pitchFamily="18" charset="0"/>
                <a:ea typeface="宋体" panose="02010600030101010101" pitchFamily="2" charset="-122"/>
              </a:rPr>
              <a:t>=19.8A</a:t>
            </a:r>
            <a:r>
              <a:rPr lang="zh-CN" altLang="en-US" dirty="0">
                <a:latin typeface="Times New Roman" panose="02020603050405020304" pitchFamily="18" charset="0"/>
                <a:ea typeface="宋体" panose="02010600030101010101" pitchFamily="2" charset="-122"/>
              </a:rPr>
              <a:t>，四极，定子</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接，</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=0.5Ω</a:t>
            </a:r>
            <a:r>
              <a:rPr lang="zh-CN" altLang="en-US" dirty="0">
                <a:latin typeface="Times New Roman" panose="02020603050405020304" pitchFamily="18" charset="0"/>
                <a:ea typeface="宋体" panose="02010600030101010101" pitchFamily="2" charset="-122"/>
              </a:rPr>
              <a:t>。空载试验得出</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=5.4A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=425W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i="1" baseline="-2500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=80W</a:t>
            </a:r>
            <a:r>
              <a:rPr lang="zh-CN" altLang="en-US" dirty="0">
                <a:latin typeface="Times New Roman" panose="02020603050405020304" pitchFamily="18" charset="0"/>
                <a:ea typeface="宋体" panose="02010600030101010101" pitchFamily="2" charset="-122"/>
              </a:rPr>
              <a:t>。由堵转试验</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=120V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=18.1A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=920W</a:t>
            </a:r>
            <a:r>
              <a:rPr lang="zh-CN" altLang="en-US" dirty="0">
                <a:latin typeface="Times New Roman" panose="02020603050405020304" pitchFamily="18" charset="0"/>
                <a:ea typeface="宋体" panose="02010600030101010101" pitchFamily="2" charset="-122"/>
              </a:rPr>
              <a:t>，认为</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，求等效电路中的</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60418" name="对象 90115"/>
          <p:cNvGraphicFramePr/>
          <p:nvPr/>
        </p:nvGraphicFramePr>
        <p:xfrm>
          <a:off x="827088" y="3789363"/>
          <a:ext cx="2995612" cy="576262"/>
        </p:xfrm>
        <a:graphic>
          <a:graphicData uri="http://schemas.openxmlformats.org/presentationml/2006/ole">
            <mc:AlternateContent xmlns:mc="http://schemas.openxmlformats.org/markup-compatibility/2006">
              <mc:Choice xmlns:v="urn:schemas-microsoft-com:vml" Requires="v">
                <p:oleObj spid="_x0000_s3165" name="" r:id="rId1" imgW="1523365" imgH="292100" progId="Equation.DSMT4">
                  <p:embed/>
                </p:oleObj>
              </mc:Choice>
              <mc:Fallback>
                <p:oleObj name="" r:id="rId1" imgW="1523365" imgH="292100" progId="Equation.DSMT4">
                  <p:embed/>
                  <p:pic>
                    <p:nvPicPr>
                      <p:cNvPr id="0" name="图片 3164"/>
                      <p:cNvPicPr/>
                      <p:nvPr/>
                    </p:nvPicPr>
                    <p:blipFill>
                      <a:blip r:embed="rId2"/>
                      <a:stretch>
                        <a:fillRect/>
                      </a:stretch>
                    </p:blipFill>
                    <p:spPr>
                      <a:xfrm>
                        <a:off x="827088" y="3789363"/>
                        <a:ext cx="2995612" cy="576262"/>
                      </a:xfrm>
                      <a:prstGeom prst="rect">
                        <a:avLst/>
                      </a:prstGeom>
                      <a:noFill/>
                      <a:ln w="38100">
                        <a:noFill/>
                        <a:miter/>
                      </a:ln>
                    </p:spPr>
                  </p:pic>
                </p:oleObj>
              </mc:Fallback>
            </mc:AlternateContent>
          </a:graphicData>
        </a:graphic>
      </p:graphicFrame>
      <p:graphicFrame>
        <p:nvGraphicFramePr>
          <p:cNvPr id="60419" name="对象 90114"/>
          <p:cNvGraphicFramePr/>
          <p:nvPr/>
        </p:nvGraphicFramePr>
        <p:xfrm>
          <a:off x="1116013" y="6092825"/>
          <a:ext cx="3087687" cy="598488"/>
        </p:xfrm>
        <a:graphic>
          <a:graphicData uri="http://schemas.openxmlformats.org/presentationml/2006/ole">
            <mc:AlternateContent xmlns:mc="http://schemas.openxmlformats.org/markup-compatibility/2006">
              <mc:Choice xmlns:v="urn:schemas-microsoft-com:vml" Requires="v">
                <p:oleObj spid="_x0000_s3164" name="" r:id="rId3" imgW="1523365" imgH="292100" progId="Equation.DSMT4">
                  <p:embed/>
                </p:oleObj>
              </mc:Choice>
              <mc:Fallback>
                <p:oleObj name="" r:id="rId3" imgW="1523365" imgH="292100" progId="Equation.DSMT4">
                  <p:embed/>
                  <p:pic>
                    <p:nvPicPr>
                      <p:cNvPr id="0" name="图片 3163"/>
                      <p:cNvPicPr/>
                      <p:nvPr/>
                    </p:nvPicPr>
                    <p:blipFill>
                      <a:blip r:embed="rId4"/>
                      <a:stretch>
                        <a:fillRect/>
                      </a:stretch>
                    </p:blipFill>
                    <p:spPr>
                      <a:xfrm>
                        <a:off x="1116013" y="6092825"/>
                        <a:ext cx="3087687" cy="598488"/>
                      </a:xfrm>
                      <a:prstGeom prst="rect">
                        <a:avLst/>
                      </a:prstGeom>
                      <a:noFill/>
                      <a:ln w="38100">
                        <a:noFill/>
                        <a:miter/>
                      </a:ln>
                    </p:spPr>
                  </p:pic>
                </p:oleObj>
              </mc:Fallback>
            </mc:AlternateContent>
          </a:graphicData>
        </a:graphic>
      </p:graphicFrame>
      <p:sp>
        <p:nvSpPr>
          <p:cNvPr id="60420" name="矩形 90116"/>
          <p:cNvSpPr/>
          <p:nvPr/>
        </p:nvSpPr>
        <p:spPr>
          <a:xfrm>
            <a:off x="250825" y="1987550"/>
            <a:ext cx="6767513" cy="1698625"/>
          </a:xfrm>
          <a:prstGeom prst="rect">
            <a:avLst/>
          </a:prstGeom>
          <a:noFill/>
          <a:ln w="9525">
            <a:noFill/>
          </a:ln>
        </p:spPr>
        <p:txBody>
          <a:bodyPr wrap="none" anchor="ctr" anchorCtr="0">
            <a:spAutoFit/>
          </a:bodyPr>
          <a:p>
            <a:pPr>
              <a:lnSpc>
                <a:spcPct val="110000"/>
              </a:lnSpc>
            </a:pPr>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空载试验时</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eaLnBrk="0" hangingPunct="0">
              <a:lnSpc>
                <a:spcPct val="110000"/>
              </a:lnSpc>
            </a:pP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rPr>
              <a:t>0ph</a:t>
            </a:r>
            <a:r>
              <a:rPr lang="en-US" altLang="zh-CN">
                <a:latin typeface="Times New Roman" panose="02020603050405020304" pitchFamily="18" charset="0"/>
                <a:ea typeface="宋体" panose="02010600030101010101" pitchFamily="2" charset="-122"/>
              </a:rPr>
              <a:t> =380/1.732=220V; </a:t>
            </a:r>
            <a:r>
              <a:rPr lang="en-US" altLang="zh-CN" i="1">
                <a:latin typeface="Times New Roman" panose="02020603050405020304" pitchFamily="18" charset="0"/>
                <a:ea typeface="宋体" panose="02010600030101010101" pitchFamily="2" charset="-122"/>
              </a:rPr>
              <a:t>I</a:t>
            </a:r>
            <a:r>
              <a:rPr lang="en-US" altLang="zh-CN" baseline="-30000">
                <a:latin typeface="Times New Roman" panose="02020603050405020304" pitchFamily="18" charset="0"/>
                <a:ea typeface="宋体" panose="02010600030101010101" pitchFamily="2" charset="-122"/>
              </a:rPr>
              <a:t>0ph</a:t>
            </a:r>
            <a:r>
              <a:rPr lang="en-US" altLang="zh-CN">
                <a:latin typeface="Times New Roman" panose="02020603050405020304" pitchFamily="18" charset="0"/>
                <a:ea typeface="宋体" panose="02010600030101010101" pitchFamily="2" charset="-122"/>
              </a:rPr>
              <a:t> =5.4A;</a:t>
            </a:r>
            <a:endParaRPr lang="en-US" altLang="zh-CN">
              <a:latin typeface="Times New Roman" panose="02020603050405020304" pitchFamily="18" charset="0"/>
              <a:ea typeface="宋体" panose="02010600030101010101" pitchFamily="2" charset="-122"/>
            </a:endParaRPr>
          </a:p>
          <a:p>
            <a:pPr eaLnBrk="0" hangingPunct="0">
              <a:lnSpc>
                <a:spcPct val="110000"/>
              </a:lnSpc>
            </a:pP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 = </a:t>
            </a:r>
            <a:r>
              <a:rPr lang="en-US" altLang="zh-CN" i="1">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rPr>
              <a:t>0ph</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I</a:t>
            </a:r>
            <a:r>
              <a:rPr lang="en-US" altLang="zh-CN" baseline="-30000">
                <a:latin typeface="Times New Roman" panose="02020603050405020304" pitchFamily="18" charset="0"/>
                <a:ea typeface="宋体" panose="02010600030101010101" pitchFamily="2" charset="-122"/>
              </a:rPr>
              <a:t>0ph</a:t>
            </a:r>
            <a:r>
              <a:rPr lang="en-US" altLang="zh-CN" dirty="0">
                <a:latin typeface="Times New Roman" panose="02020603050405020304" pitchFamily="18" charset="0"/>
                <a:ea typeface="宋体" panose="02010600030101010101" pitchFamily="2" charset="-122"/>
              </a:rPr>
              <a:t> =220/5.4=40.74</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p</a:t>
            </a:r>
            <a:r>
              <a:rPr lang="en-US" altLang="zh-CN" baseline="-30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p</a:t>
            </a:r>
            <a:r>
              <a:rPr lang="en-US" altLang="zh-CN" baseline="-30000">
                <a:latin typeface="Times New Roman" panose="02020603050405020304" pitchFamily="18" charset="0"/>
                <a:ea typeface="宋体" panose="02010600030101010101" pitchFamily="2" charset="-122"/>
              </a:rPr>
              <a:t>j</a:t>
            </a:r>
            <a:r>
              <a:rPr lang="en-US" altLang="zh-CN">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I</a:t>
            </a:r>
            <a:r>
              <a:rPr lang="en-US" altLang="zh-CN" baseline="-30000">
                <a:latin typeface="Times New Roman" panose="02020603050405020304" pitchFamily="18" charset="0"/>
                <a:ea typeface="宋体" panose="02010600030101010101" pitchFamily="2" charset="-122"/>
                <a:sym typeface="Symbol" panose="05050102010706020507" pitchFamily="18" charset="2"/>
              </a:rPr>
              <a:t>0ph</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)=(425-80)/(3</a:t>
            </a:r>
            <a:r>
              <a:rPr lang="en-US" altLang="zh-CN">
                <a:latin typeface="Times New Roman" panose="02020603050405020304" pitchFamily="18" charset="0"/>
                <a:ea typeface="宋体" panose="02010600030101010101" pitchFamily="2" charset="-122"/>
              </a:rPr>
              <a:t>5.4</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dirty="0">
                <a:latin typeface="Times New Roman" panose="02020603050405020304" pitchFamily="18" charset="0"/>
                <a:ea typeface="宋体" panose="02010600030101010101" pitchFamily="2" charset="-122"/>
                <a:sym typeface="Symbol" panose="05050102010706020507" pitchFamily="18" charset="2"/>
              </a:rPr>
              <a:t>)=3.944</a:t>
            </a:r>
            <a:r>
              <a:rPr lang="zh-CN" altLang="en-US" dirty="0">
                <a:latin typeface="Times New Roman" panose="02020603050405020304" pitchFamily="18" charset="0"/>
                <a:ea typeface="宋体" panose="02010600030101010101" pitchFamily="2" charset="-122"/>
                <a:sym typeface="Symbol" panose="05050102010706020507" pitchFamily="18" charset="2"/>
              </a:rPr>
              <a:t>欧</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p:txBody>
      </p:sp>
      <p:sp>
        <p:nvSpPr>
          <p:cNvPr id="60421" name="矩形 90117"/>
          <p:cNvSpPr/>
          <p:nvPr/>
        </p:nvSpPr>
        <p:spPr>
          <a:xfrm>
            <a:off x="250825" y="4364038"/>
            <a:ext cx="5284788" cy="1698625"/>
          </a:xfrm>
          <a:prstGeom prst="rect">
            <a:avLst/>
          </a:prstGeom>
          <a:noFill/>
          <a:ln w="9525">
            <a:noFill/>
          </a:ln>
        </p:spPr>
        <p:txBody>
          <a:bodyPr wrap="none" anchor="ctr" anchorCtr="0">
            <a:spAutoFit/>
          </a:bodyPr>
          <a:p>
            <a:pPr>
              <a:lnSpc>
                <a:spcPct val="110000"/>
              </a:lnSpc>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短路堵转试验时</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eaLnBrk="0" hangingPunct="0">
              <a:lnSpc>
                <a:spcPct val="110000"/>
              </a:lnSpc>
            </a:pPr>
            <a:r>
              <a:rPr lang="en-US" altLang="zh-CN" i="1">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rPr>
              <a:t>kph</a:t>
            </a:r>
            <a:r>
              <a:rPr lang="en-US" altLang="zh-CN">
                <a:latin typeface="Times New Roman" panose="02020603050405020304" pitchFamily="18" charset="0"/>
                <a:ea typeface="宋体" panose="02010600030101010101" pitchFamily="2" charset="-122"/>
              </a:rPr>
              <a:t> =120/1.732=69.28V; </a:t>
            </a:r>
            <a:r>
              <a:rPr lang="en-US" altLang="zh-CN" i="1">
                <a:latin typeface="Times New Roman" panose="02020603050405020304" pitchFamily="18" charset="0"/>
                <a:ea typeface="宋体" panose="02010600030101010101" pitchFamily="2" charset="-122"/>
              </a:rPr>
              <a:t>I</a:t>
            </a:r>
            <a:r>
              <a:rPr lang="en-US" altLang="zh-CN" baseline="-30000">
                <a:latin typeface="Times New Roman" panose="02020603050405020304" pitchFamily="18" charset="0"/>
                <a:ea typeface="宋体" panose="02010600030101010101" pitchFamily="2" charset="-122"/>
              </a:rPr>
              <a:t>kph</a:t>
            </a:r>
            <a:r>
              <a:rPr lang="en-US" altLang="zh-CN">
                <a:latin typeface="Times New Roman" panose="02020603050405020304" pitchFamily="18" charset="0"/>
                <a:ea typeface="宋体" panose="02010600030101010101" pitchFamily="2" charset="-122"/>
              </a:rPr>
              <a:t> =18.1A;</a:t>
            </a:r>
            <a:endParaRPr lang="en-US" altLang="zh-CN">
              <a:latin typeface="Times New Roman" panose="02020603050405020304" pitchFamily="18" charset="0"/>
              <a:ea typeface="宋体" panose="02010600030101010101" pitchFamily="2" charset="-122"/>
            </a:endParaRPr>
          </a:p>
          <a:p>
            <a:pPr eaLnBrk="0" hangingPunct="0">
              <a:lnSpc>
                <a:spcPct val="110000"/>
              </a:lnSpc>
            </a:pPr>
            <a:r>
              <a:rPr lang="en-US" altLang="zh-CN" i="1">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 </a:t>
            </a:r>
            <a:r>
              <a:rPr lang="en-US" altLang="zh-CN" i="1">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rPr>
              <a:t>kph</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I</a:t>
            </a:r>
            <a:r>
              <a:rPr lang="en-US" altLang="zh-CN" baseline="-30000">
                <a:latin typeface="Times New Roman" panose="02020603050405020304" pitchFamily="18" charset="0"/>
                <a:ea typeface="宋体" panose="02010600030101010101" pitchFamily="2" charset="-122"/>
              </a:rPr>
              <a:t>kph</a:t>
            </a:r>
            <a:r>
              <a:rPr lang="en-US" altLang="zh-CN" dirty="0">
                <a:latin typeface="Times New Roman" panose="02020603050405020304" pitchFamily="18" charset="0"/>
                <a:ea typeface="宋体" panose="02010600030101010101" pitchFamily="2" charset="-122"/>
              </a:rPr>
              <a:t> =69.28/18.1=3.828</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p</a:t>
            </a:r>
            <a:r>
              <a:rPr lang="en-US" altLang="zh-CN"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I</a:t>
            </a:r>
            <a:r>
              <a:rPr lang="en-US" altLang="zh-CN" baseline="-30000">
                <a:latin typeface="Times New Roman" panose="02020603050405020304" pitchFamily="18" charset="0"/>
                <a:ea typeface="宋体" panose="02010600030101010101" pitchFamily="2" charset="-122"/>
                <a:sym typeface="Symbol" panose="05050102010706020507" pitchFamily="18" charset="2"/>
              </a:rPr>
              <a:t>kph</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)=920/(3</a:t>
            </a:r>
            <a:r>
              <a:rPr lang="en-US" altLang="zh-CN">
                <a:latin typeface="Times New Roman" panose="02020603050405020304" pitchFamily="18" charset="0"/>
                <a:ea typeface="宋体" panose="02010600030101010101" pitchFamily="2" charset="-122"/>
              </a:rPr>
              <a:t>18.1</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r>
              <a:rPr lang="en-US" altLang="zh-CN" dirty="0">
                <a:latin typeface="Times New Roman" panose="02020603050405020304" pitchFamily="18" charset="0"/>
                <a:ea typeface="宋体" panose="02010600030101010101" pitchFamily="2" charset="-122"/>
                <a:sym typeface="Symbol" panose="05050102010706020507" pitchFamily="18" charset="2"/>
              </a:rPr>
              <a:t>)=0.936</a:t>
            </a:r>
            <a:r>
              <a:rPr lang="zh-CN" altLang="en-US" dirty="0">
                <a:latin typeface="Times New Roman" panose="02020603050405020304" pitchFamily="18" charset="0"/>
                <a:ea typeface="宋体" panose="02010600030101010101" pitchFamily="2" charset="-122"/>
                <a:sym typeface="Symbol" panose="05050102010706020507" pitchFamily="18" charset="2"/>
              </a:rPr>
              <a:t>欧</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p:txBody>
      </p:sp>
      <p:sp>
        <p:nvSpPr>
          <p:cNvPr id="60422" name="矩形 90118"/>
          <p:cNvSpPr/>
          <p:nvPr/>
        </p:nvSpPr>
        <p:spPr>
          <a:xfrm>
            <a:off x="5795963" y="4418013"/>
            <a:ext cx="3146425" cy="2100262"/>
          </a:xfrm>
          <a:prstGeom prst="rect">
            <a:avLst/>
          </a:prstGeom>
          <a:noFill/>
          <a:ln w="9525">
            <a:noFill/>
          </a:ln>
        </p:spPr>
        <p:txBody>
          <a:bodyPr wrap="none" anchor="ctr" anchorCtr="0">
            <a:spAutoFit/>
          </a:bodyPr>
          <a:p>
            <a:pPr>
              <a:lnSpc>
                <a:spcPct val="110000"/>
              </a:lnSpc>
            </a:pPr>
            <a:r>
              <a:rPr lang="en-US" altLang="zh-CN" i="1">
                <a:latin typeface="Times New Roman" panose="02020603050405020304" pitchFamily="18" charset="0"/>
                <a:ea typeface="宋体" panose="02010600030101010101" pitchFamily="2" charset="-122"/>
              </a:rPr>
              <a:t>x</a:t>
            </a:r>
            <a:r>
              <a:rPr lang="en-US" altLang="zh-CN" baseline="-30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x</a:t>
            </a:r>
            <a:r>
              <a:rPr lang="en-US" altLang="zh-CN" baseline="-30000">
                <a:latin typeface="Times New Roman" panose="02020603050405020304" pitchFamily="18" charset="0"/>
                <a:ea typeface="宋体" panose="02010600030101010101" pitchFamily="2" charset="-122"/>
              </a:rPr>
              <a:t>2</a:t>
            </a:r>
            <a:r>
              <a:rPr lang="en-US" altLang="zh-CN" baseline="3000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=0.5</a:t>
            </a:r>
            <a:r>
              <a:rPr lang="en-US" altLang="zh-CN" i="1">
                <a:latin typeface="Times New Roman" panose="02020603050405020304" pitchFamily="18" charset="0"/>
                <a:ea typeface="宋体" panose="02010600030101010101" pitchFamily="2" charset="-122"/>
              </a:rPr>
              <a:t>x</a:t>
            </a:r>
            <a:r>
              <a:rPr lang="en-US" altLang="zh-CN" baseline="-3000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 =1.856</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=0.5</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1</a:t>
            </a:r>
            <a:r>
              <a:rPr lang="en-US" altLang="zh-CN" baseline="3000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 </a:t>
            </a: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 </a:t>
            </a: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=0.436</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 = </a:t>
            </a: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 - </a:t>
            </a: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=3.444</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en-US" altLang="zh-CN" i="1">
                <a:latin typeface="Times New Roman" panose="02020603050405020304" pitchFamily="18" charset="0"/>
                <a:ea typeface="宋体" panose="02010600030101010101" pitchFamily="2" charset="-122"/>
              </a:rPr>
              <a:t>x</a:t>
            </a:r>
            <a:r>
              <a:rPr lang="en-US" altLang="zh-CN" baseline="-30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x</a:t>
            </a:r>
            <a:r>
              <a:rPr lang="en-US" altLang="zh-CN" baseline="-30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 - </a:t>
            </a:r>
            <a:r>
              <a:rPr lang="en-US" altLang="zh-CN" i="1">
                <a:latin typeface="Times New Roman" panose="02020603050405020304" pitchFamily="18" charset="0"/>
                <a:ea typeface="宋体" panose="02010600030101010101" pitchFamily="2" charset="-122"/>
              </a:rPr>
              <a:t>x</a:t>
            </a:r>
            <a:r>
              <a:rPr lang="en-US" altLang="zh-CN" baseline="-30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=38.69</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p:txBody>
      </p:sp>
      <p:sp>
        <p:nvSpPr>
          <p:cNvPr id="60423" name="直接连接符 90119"/>
          <p:cNvSpPr/>
          <p:nvPr/>
        </p:nvSpPr>
        <p:spPr>
          <a:xfrm>
            <a:off x="5508625" y="4149725"/>
            <a:ext cx="0" cy="2447925"/>
          </a:xfrm>
          <a:prstGeom prst="line">
            <a:avLst/>
          </a:prstGeom>
          <a:ln w="28575" cap="flat" cmpd="sng">
            <a:solidFill>
              <a:srgbClr val="FF0000"/>
            </a:solidFill>
            <a:prstDash val="solid"/>
            <a:round/>
            <a:headEnd type="none" w="med" len="med"/>
            <a:tailEnd type="none" w="med" len="med"/>
          </a:ln>
        </p:spPr>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矩形 89089"/>
          <p:cNvSpPr/>
          <p:nvPr/>
        </p:nvSpPr>
        <p:spPr>
          <a:xfrm>
            <a:off x="323850" y="404813"/>
            <a:ext cx="8351838" cy="1698625"/>
          </a:xfrm>
          <a:prstGeom prst="rect">
            <a:avLst/>
          </a:prstGeom>
          <a:noFill/>
          <a:ln w="9525">
            <a:noFill/>
          </a:ln>
        </p:spPr>
        <p:txBody>
          <a:bodyPr anchor="ctr" anchorCtr="0">
            <a:spAutoFit/>
          </a:bodyPr>
          <a:p>
            <a:pPr>
              <a:lnSpc>
                <a:spcPct val="110000"/>
              </a:lnSpc>
            </a:pPr>
            <a:r>
              <a:rPr lang="en-US" altLang="zh-CN" dirty="0">
                <a:latin typeface="Times New Roman" panose="02020603050405020304" pitchFamily="18" charset="0"/>
                <a:ea typeface="宋体" panose="02010600030101010101" pitchFamily="2" charset="-122"/>
              </a:rPr>
              <a:t>7-16 </a:t>
            </a:r>
            <a:r>
              <a:rPr lang="zh-CN" altLang="en-US" dirty="0">
                <a:latin typeface="Times New Roman" panose="02020603050405020304" pitchFamily="18" charset="0"/>
                <a:ea typeface="宋体" panose="02010600030101010101" pitchFamily="2" charset="-122"/>
              </a:rPr>
              <a:t>三相四极异步机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=5.5kW</a:t>
            </a:r>
            <a:r>
              <a:rPr lang="zh-CN" altLang="en-US" dirty="0">
                <a:latin typeface="Times New Roman" panose="02020603050405020304" pitchFamily="18" charset="0"/>
                <a:ea typeface="宋体" panose="02010600030101010101" pitchFamily="2" charset="-122"/>
              </a:rPr>
              <a:t>，接</a:t>
            </a:r>
            <a:r>
              <a:rPr lang="en-US" altLang="zh-CN" dirty="0">
                <a:latin typeface="Times New Roman" panose="02020603050405020304" pitchFamily="18" charset="0"/>
                <a:ea typeface="宋体" panose="02010600030101010101" pitchFamily="2" charset="-122"/>
              </a:rPr>
              <a:t>50Hz</a:t>
            </a:r>
            <a:r>
              <a:rPr lang="zh-CN" altLang="en-US" dirty="0">
                <a:latin typeface="Times New Roman" panose="02020603050405020304" pitchFamily="18" charset="0"/>
                <a:ea typeface="宋体" panose="02010600030101010101" pitchFamily="2" charset="-122"/>
              </a:rPr>
              <a:t>电源，</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=6.32kW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Cu1</a:t>
            </a:r>
            <a:r>
              <a:rPr lang="en-US" altLang="zh-CN" dirty="0">
                <a:latin typeface="Times New Roman" panose="02020603050405020304" pitchFamily="18" charset="0"/>
                <a:ea typeface="宋体" panose="02010600030101010101" pitchFamily="2" charset="-122"/>
              </a:rPr>
              <a:t>=341W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Cu2</a:t>
            </a:r>
            <a:r>
              <a:rPr lang="en-US" altLang="zh-CN" dirty="0">
                <a:latin typeface="Times New Roman" panose="02020603050405020304" pitchFamily="18" charset="0"/>
                <a:ea typeface="宋体" panose="02010600030101010101" pitchFamily="2" charset="-122"/>
              </a:rPr>
              <a:t>=237.5W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Fe</a:t>
            </a:r>
            <a:r>
              <a:rPr lang="en-US" altLang="zh-CN" dirty="0">
                <a:latin typeface="Times New Roman" panose="02020603050405020304" pitchFamily="18" charset="0"/>
                <a:ea typeface="宋体" panose="02010600030101010101" pitchFamily="2" charset="-122"/>
              </a:rPr>
              <a:t>=167.5W</a:t>
            </a:r>
            <a:r>
              <a:rPr lang="zh-CN" altLang="en-US" dirty="0">
                <a:latin typeface="Times New Roman" panose="02020603050405020304" pitchFamily="18" charset="0"/>
                <a:ea typeface="宋体" panose="02010600030101010101" pitchFamily="2" charset="-122"/>
              </a:rPr>
              <a:t>，风阻</a:t>
            </a:r>
            <a:r>
              <a:rPr lang="en-US" altLang="zh-CN" dirty="0">
                <a:latin typeface="Times New Roman" panose="02020603050405020304" pitchFamily="18" charset="0"/>
                <a:ea typeface="宋体" panose="02010600030101010101" pitchFamily="2" charset="-122"/>
              </a:rPr>
              <a:t>45W</a:t>
            </a:r>
            <a:r>
              <a:rPr lang="zh-CN" altLang="en-US" dirty="0">
                <a:latin typeface="Times New Roman" panose="02020603050405020304" pitchFamily="18" charset="0"/>
                <a:ea typeface="宋体" panose="02010600030101010101" pitchFamily="2" charset="-122"/>
              </a:rPr>
              <a:t>，附加</a:t>
            </a:r>
            <a:r>
              <a:rPr lang="en-US" altLang="zh-CN" dirty="0">
                <a:latin typeface="Times New Roman" panose="02020603050405020304" pitchFamily="18" charset="0"/>
                <a:ea typeface="宋体" panose="02010600030101010101" pitchFamily="2" charset="-122"/>
              </a:rPr>
              <a:t>29W</a:t>
            </a:r>
            <a:r>
              <a:rPr lang="zh-CN" altLang="en-US" dirty="0">
                <a:latin typeface="Times New Roman" panose="02020603050405020304" pitchFamily="18" charset="0"/>
                <a:ea typeface="宋体" panose="02010600030101010101" pitchFamily="2" charset="-122"/>
              </a:rPr>
              <a:t>，绘出功率流程图，标出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mec</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及各部分损耗，计算电机</a:t>
            </a:r>
            <a:r>
              <a:rPr lang="en-US" altLang="zh-CN" i="1">
                <a:latin typeface="Times New Roman" panose="02020603050405020304" pitchFamily="18" charset="0"/>
                <a:ea typeface="宋体" panose="02010600030101010101" pitchFamily="2" charset="-122"/>
              </a:rPr>
              <a:t>η</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1442" name="矩形 89090"/>
          <p:cNvSpPr/>
          <p:nvPr/>
        </p:nvSpPr>
        <p:spPr>
          <a:xfrm>
            <a:off x="684213" y="2492375"/>
            <a:ext cx="6756400" cy="2282825"/>
          </a:xfrm>
          <a:prstGeom prst="rect">
            <a:avLst/>
          </a:prstGeom>
          <a:noFill/>
          <a:ln w="9525">
            <a:noFill/>
          </a:ln>
        </p:spPr>
        <p:txBody>
          <a:bodyPr wrap="none" anchor="ctr" anchorCtr="0">
            <a:spAutoFit/>
          </a:bodyPr>
          <a:p>
            <a:pPr algn="ctr">
              <a:lnSpc>
                <a:spcPct val="150000"/>
              </a:lnSpc>
            </a:pPr>
            <a:r>
              <a:rPr lang="zh-CN" altLang="en-US" dirty="0">
                <a:latin typeface="Times New Roman" panose="02020603050405020304" pitchFamily="18" charset="0"/>
                <a:ea typeface="宋体" panose="02010600030101010101" pitchFamily="2" charset="-122"/>
              </a:rPr>
              <a:t>解：</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em</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Fe</a:t>
            </a:r>
            <a:r>
              <a:rPr lang="en-US" altLang="zh-CN">
                <a:latin typeface="Times New Roman" panose="02020603050405020304" pitchFamily="18" charset="0"/>
                <a:ea typeface="宋体" panose="02010600030101010101" pitchFamily="2" charset="-122"/>
              </a:rPr>
              <a:t>= 6320-341-167.5=5811.5W;</a:t>
            </a:r>
            <a:endParaRPr lang="en-US" altLang="zh-CN">
              <a:latin typeface="Times New Roman" panose="02020603050405020304" pitchFamily="18" charset="0"/>
              <a:ea typeface="宋体" panose="02010600030101010101" pitchFamily="2" charset="-122"/>
            </a:endParaRPr>
          </a:p>
          <a:p>
            <a:pPr algn="ctr">
              <a:lnSpc>
                <a:spcPct val="150000"/>
              </a:lnSpc>
            </a:pPr>
            <a:r>
              <a:rPr lang="en-US" altLang="zh-CN">
                <a:latin typeface="Times New Roman" panose="02020603050405020304" pitchFamily="18" charset="0"/>
                <a:ea typeface="宋体" panose="02010600030101010101" pitchFamily="2" charset="-122"/>
              </a:rPr>
              <a:t>s=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em</a:t>
            </a:r>
            <a:r>
              <a:rPr lang="en-US" altLang="zh-CN">
                <a:latin typeface="Times New Roman" panose="02020603050405020304" pitchFamily="18" charset="0"/>
                <a:ea typeface="宋体" panose="02010600030101010101" pitchFamily="2" charset="-122"/>
              </a:rPr>
              <a:t>= 237.5/5811.5=0.041</a:t>
            </a:r>
            <a:endParaRPr lang="en-US" altLang="zh-CN">
              <a:latin typeface="Times New Roman" panose="02020603050405020304" pitchFamily="18" charset="0"/>
              <a:ea typeface="宋体" panose="02010600030101010101" pitchFamily="2" charset="-122"/>
            </a:endParaRPr>
          </a:p>
          <a:p>
            <a:pPr algn="ctr">
              <a:lnSpc>
                <a:spcPct val="150000"/>
              </a:lnSpc>
            </a:pP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mec</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em</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cu2</a:t>
            </a:r>
            <a:r>
              <a:rPr lang="en-US" altLang="zh-CN">
                <a:latin typeface="Times New Roman" panose="02020603050405020304" pitchFamily="18" charset="0"/>
                <a:ea typeface="宋体" panose="02010600030101010101" pitchFamily="2" charset="-122"/>
              </a:rPr>
              <a:t>= 5811.5-237.5=5574W</a:t>
            </a:r>
            <a:endParaRPr lang="en-US" altLang="zh-CN">
              <a:latin typeface="Times New Roman" panose="02020603050405020304" pitchFamily="18" charset="0"/>
              <a:ea typeface="宋体" panose="02010600030101010101" pitchFamily="2" charset="-122"/>
            </a:endParaRPr>
          </a:p>
          <a:p>
            <a:pPr algn="ctr">
              <a:lnSpc>
                <a:spcPct val="150000"/>
              </a:lnSpc>
            </a:pP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mec</a:t>
            </a:r>
            <a:r>
              <a:rPr lang="zh-CN" altLang="en-US" dirty="0">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p</a:t>
            </a:r>
            <a:r>
              <a:rPr lang="en-US" altLang="zh-CN" baseline="-25000" err="1">
                <a:latin typeface="Times New Roman" panose="02020603050405020304" pitchFamily="18" charset="0"/>
                <a:ea typeface="宋体" panose="02010600030101010101" pitchFamily="2" charset="-122"/>
              </a:rPr>
              <a:t>mec</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s </a:t>
            </a:r>
            <a:r>
              <a:rPr lang="en-US" altLang="zh-CN">
                <a:latin typeface="Times New Roman" panose="02020603050405020304" pitchFamily="18" charset="0"/>
                <a:ea typeface="宋体" panose="02010600030101010101" pitchFamily="2" charset="-122"/>
              </a:rPr>
              <a:t>= 5574-45-29=5500W</a:t>
            </a:r>
            <a:endParaRPr lang="en-US" altLang="zh-CN">
              <a:latin typeface="Times New Roman" panose="02020603050405020304" pitchFamily="18" charset="0"/>
              <a:ea typeface="宋体" panose="02010600030101010101" pitchFamily="2" charset="-122"/>
            </a:endParaRPr>
          </a:p>
        </p:txBody>
      </p:sp>
      <p:sp>
        <p:nvSpPr>
          <p:cNvPr id="61443" name="文本框 89092"/>
          <p:cNvSpPr txBox="1"/>
          <p:nvPr/>
        </p:nvSpPr>
        <p:spPr>
          <a:xfrm>
            <a:off x="900113" y="5157788"/>
            <a:ext cx="2622550"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功率流程图如下：</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矩形 121859"/>
          <p:cNvSpPr/>
          <p:nvPr/>
        </p:nvSpPr>
        <p:spPr>
          <a:xfrm>
            <a:off x="1835150" y="3429000"/>
            <a:ext cx="5040313" cy="2282825"/>
          </a:xfrm>
          <a:prstGeom prst="rect">
            <a:avLst/>
          </a:prstGeom>
          <a:noFill/>
          <a:ln w="9525">
            <a:noFill/>
          </a:ln>
        </p:spPr>
        <p:txBody>
          <a:bodyPr anchor="t" anchorCtr="0">
            <a:spAutoFit/>
          </a:bodyPr>
          <a:p>
            <a:pPr algn="ctr">
              <a:lnSpc>
                <a:spcPct val="150000"/>
              </a:lnSpc>
            </a:pPr>
            <a:r>
              <a:rPr lang="en-US" altLang="zh-CN" i="1">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sym typeface="Symbol" panose="05050102010706020507" pitchFamily="18" charset="2"/>
              </a:rPr>
              <a:t>2/ </a:t>
            </a:r>
            <a:r>
              <a:rPr lang="en-US" altLang="zh-CN" i="1">
                <a:latin typeface="Times New Roman" panose="02020603050405020304" pitchFamily="18" charset="0"/>
                <a:ea typeface="宋体" panose="02010600030101010101" pitchFamily="2" charset="-122"/>
                <a:sym typeface="Symbol" panose="05050102010706020507" pitchFamily="18" charset="2"/>
              </a:rPr>
              <a:t>P</a:t>
            </a:r>
            <a:r>
              <a:rPr lang="en-US" altLang="zh-CN">
                <a:latin typeface="Times New Roman" panose="02020603050405020304" pitchFamily="18" charset="0"/>
                <a:ea typeface="宋体" panose="02010600030101010101" pitchFamily="2" charset="-122"/>
                <a:sym typeface="Symbol" panose="05050102010706020507" pitchFamily="18" charset="2"/>
              </a:rPr>
              <a:t>1= 5500/6320=87.03%</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a:lnSpc>
                <a:spcPct val="150000"/>
              </a:lnSpc>
            </a:pPr>
            <a:r>
              <a:rPr lang="en-US" altLang="zh-CN" i="1">
                <a:latin typeface="Times New Roman" panose="02020603050405020304" pitchFamily="18" charset="0"/>
                <a:ea typeface="宋体" panose="02010600030101010101" pitchFamily="2" charset="-122"/>
                <a:sym typeface="Symbol" panose="05050102010706020507" pitchFamily="18" charset="2"/>
              </a:rPr>
              <a:t>n</a:t>
            </a:r>
            <a:r>
              <a:rPr lang="en-US" altLang="zh-CN">
                <a:latin typeface="Times New Roman" panose="02020603050405020304" pitchFamily="18" charset="0"/>
                <a:ea typeface="宋体" panose="02010600030101010101" pitchFamily="2" charset="-122"/>
                <a:sym typeface="Symbol" panose="05050102010706020507" pitchFamily="18" charset="2"/>
              </a:rPr>
              <a:t>=(1-s)</a:t>
            </a:r>
            <a:r>
              <a:rPr lang="en-US" altLang="zh-CN" i="1">
                <a:latin typeface="Times New Roman" panose="02020603050405020304" pitchFamily="18" charset="0"/>
                <a:ea typeface="宋体" panose="02010600030101010101" pitchFamily="2" charset="-122"/>
                <a:sym typeface="Symbol" panose="05050102010706020507" pitchFamily="18" charset="2"/>
              </a:rPr>
              <a:t>n</a:t>
            </a:r>
            <a:r>
              <a:rPr lang="en-US" altLang="zh-CN" baseline="-25000">
                <a:latin typeface="Times New Roman" panose="02020603050405020304" pitchFamily="18" charset="0"/>
                <a:ea typeface="宋体" panose="02010600030101010101" pitchFamily="2" charset="-122"/>
                <a:sym typeface="Symbol" panose="05050102010706020507" pitchFamily="18" charset="2"/>
              </a:rPr>
              <a:t>1</a:t>
            </a:r>
            <a:r>
              <a:rPr lang="en-US" altLang="zh-CN">
                <a:latin typeface="Times New Roman" panose="02020603050405020304" pitchFamily="18" charset="0"/>
                <a:ea typeface="宋体" panose="02010600030101010101" pitchFamily="2" charset="-122"/>
                <a:sym typeface="Symbol" panose="05050102010706020507" pitchFamily="18" charset="2"/>
              </a:rPr>
              <a:t>=(1-0.041)</a:t>
            </a:r>
            <a:r>
              <a:rPr lang="en-US" altLang="zh-CN">
                <a:latin typeface="Times New Roman" panose="02020603050405020304" pitchFamily="18" charset="0"/>
                <a:ea typeface="宋体" panose="02010600030101010101" pitchFamily="2" charset="-122"/>
              </a:rPr>
              <a:t>1500=1439</a:t>
            </a:r>
            <a:r>
              <a:rPr lang="en-US" altLang="zh-CN" i="1">
                <a:latin typeface="Times New Roman" panose="02020603050405020304" pitchFamily="18" charset="0"/>
                <a:ea typeface="宋体" panose="02010600030101010101" pitchFamily="2" charset="-122"/>
              </a:rPr>
              <a:t>rpm</a:t>
            </a:r>
            <a:endParaRPr lang="en-US" altLang="zh-CN" i="1">
              <a:latin typeface="Times New Roman" panose="02020603050405020304" pitchFamily="18" charset="0"/>
              <a:ea typeface="宋体" panose="02010600030101010101" pitchFamily="2" charset="-122"/>
              <a:sym typeface="Symbol" panose="05050102010706020507" pitchFamily="18" charset="2"/>
            </a:endParaRPr>
          </a:p>
          <a:p>
            <a:pPr algn="ctr">
              <a:lnSpc>
                <a:spcPct val="150000"/>
              </a:lnSpc>
            </a:pPr>
            <a:r>
              <a:rPr lang="en-US" altLang="zh-CN" i="1">
                <a:latin typeface="Times New Roman" panose="02020603050405020304" pitchFamily="18" charset="0"/>
                <a:ea typeface="宋体" panose="02010600030101010101" pitchFamily="2" charset="-122"/>
                <a:sym typeface="Symbol" panose="05050102010706020507" pitchFamily="18" charset="2"/>
              </a:rPr>
              <a:t>T</a:t>
            </a:r>
            <a:r>
              <a:rPr lang="en-US" altLang="zh-CN" baseline="-25000">
                <a:latin typeface="Times New Roman" panose="02020603050405020304" pitchFamily="18" charset="0"/>
                <a:ea typeface="宋体" panose="02010600030101010101" pitchFamily="2" charset="-122"/>
                <a:sym typeface="Symbol" panose="05050102010706020507" pitchFamily="18" charset="2"/>
              </a:rPr>
              <a:t>em</a:t>
            </a:r>
            <a:r>
              <a:rPr lang="en-US" altLang="zh-CN">
                <a:latin typeface="Times New Roman" panose="02020603050405020304" pitchFamily="18" charset="0"/>
                <a:ea typeface="宋体" panose="02010600030101010101" pitchFamily="2" charset="-122"/>
                <a:sym typeface="Symbol" panose="05050102010706020507" pitchFamily="18" charset="2"/>
              </a:rPr>
              <a:t>=9.55</a:t>
            </a:r>
            <a:r>
              <a:rPr lang="en-US" altLang="zh-CN">
                <a:latin typeface="Times New Roman" panose="02020603050405020304" pitchFamily="18" charset="0"/>
                <a:ea typeface="宋体" panose="02010600030101010101" pitchFamily="2" charset="-122"/>
              </a:rPr>
              <a:t>5811.5/1500=37N·m</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algn="ctr">
              <a:lnSpc>
                <a:spcPct val="150000"/>
              </a:lnSpc>
            </a:pPr>
            <a:r>
              <a:rPr lang="en-US" altLang="zh-CN" i="1">
                <a:latin typeface="Times New Roman" panose="02020603050405020304" pitchFamily="18" charset="0"/>
                <a:ea typeface="宋体" panose="02010600030101010101" pitchFamily="2" charset="-122"/>
                <a:sym typeface="Symbol" panose="05050102010706020507" pitchFamily="18" charset="2"/>
              </a:rPr>
              <a:t>T</a:t>
            </a:r>
            <a:r>
              <a:rPr lang="en-US" altLang="zh-CN" baseline="-25000">
                <a:latin typeface="Times New Roman" panose="02020603050405020304" pitchFamily="18" charset="0"/>
                <a:ea typeface="宋体" panose="02010600030101010101" pitchFamily="2" charset="-122"/>
                <a:sym typeface="Symbol" panose="05050102010706020507" pitchFamily="18" charset="2"/>
              </a:rPr>
              <a:t>2</a:t>
            </a:r>
            <a:r>
              <a:rPr lang="en-US" altLang="zh-CN">
                <a:latin typeface="Times New Roman" panose="02020603050405020304" pitchFamily="18" charset="0"/>
                <a:ea typeface="宋体" panose="02010600030101010101" pitchFamily="2" charset="-122"/>
                <a:sym typeface="Symbol" panose="05050102010706020507" pitchFamily="18" charset="2"/>
              </a:rPr>
              <a:t>=9.55</a:t>
            </a:r>
            <a:r>
              <a:rPr lang="en-US" altLang="zh-CN">
                <a:latin typeface="Times New Roman" panose="02020603050405020304" pitchFamily="18" charset="0"/>
                <a:ea typeface="宋体" panose="02010600030101010101" pitchFamily="2" charset="-122"/>
              </a:rPr>
              <a:t>5500/1439=36.5N·m</a:t>
            </a:r>
            <a:endParaRPr lang="en-US" altLang="zh-CN">
              <a:latin typeface="Times New Roman" panose="02020603050405020304" pitchFamily="18" charset="0"/>
              <a:ea typeface="宋体" panose="02010600030101010101" pitchFamily="2" charset="-122"/>
            </a:endParaRPr>
          </a:p>
        </p:txBody>
      </p:sp>
      <p:graphicFrame>
        <p:nvGraphicFramePr>
          <p:cNvPr id="62466" name="对象 121860"/>
          <p:cNvGraphicFramePr/>
          <p:nvPr/>
        </p:nvGraphicFramePr>
        <p:xfrm>
          <a:off x="323850" y="476250"/>
          <a:ext cx="8172450" cy="2592388"/>
        </p:xfrm>
        <a:graphic>
          <a:graphicData uri="http://schemas.openxmlformats.org/presentationml/2006/ole">
            <mc:AlternateContent xmlns:mc="http://schemas.openxmlformats.org/markup-compatibility/2006">
              <mc:Choice xmlns:v="urn:schemas-microsoft-com:vml" Requires="v">
                <p:oleObj spid="_x0000_s3178" name="" r:id="rId1" imgW="3928110" imgH="1169035" progId="Visio.Drawing.11">
                  <p:embed/>
                </p:oleObj>
              </mc:Choice>
              <mc:Fallback>
                <p:oleObj name="" r:id="rId1" imgW="3928110" imgH="1169035" progId="Visio.Drawing.11">
                  <p:embed/>
                  <p:pic>
                    <p:nvPicPr>
                      <p:cNvPr id="0" name="图片 3177"/>
                      <p:cNvPicPr/>
                      <p:nvPr/>
                    </p:nvPicPr>
                    <p:blipFill>
                      <a:blip r:embed="rId2"/>
                      <a:stretch>
                        <a:fillRect/>
                      </a:stretch>
                    </p:blipFill>
                    <p:spPr>
                      <a:xfrm>
                        <a:off x="323850" y="476250"/>
                        <a:ext cx="8172450" cy="2592388"/>
                      </a:xfrm>
                      <a:prstGeom prst="rect">
                        <a:avLst/>
                      </a:prstGeom>
                      <a:noFill/>
                      <a:ln w="38100">
                        <a:noFill/>
                        <a:miter/>
                      </a:ln>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文本框 95235"/>
          <p:cNvSpPr txBox="1"/>
          <p:nvPr/>
        </p:nvSpPr>
        <p:spPr>
          <a:xfrm>
            <a:off x="1187450" y="333375"/>
            <a:ext cx="6284913" cy="519113"/>
          </a:xfrm>
          <a:prstGeom prst="rect">
            <a:avLst/>
          </a:prstGeom>
          <a:noFill/>
          <a:ln w="9525">
            <a:noFill/>
          </a:ln>
        </p:spPr>
        <p:txBody>
          <a:bodyPr anchor="t" anchorCtr="0">
            <a:spAutoFit/>
          </a:bodyPr>
          <a:p>
            <a:pPr algn="ctr"/>
            <a:r>
              <a:rPr lang="zh-CN" altLang="en-US" sz="2800" dirty="0">
                <a:solidFill>
                  <a:srgbClr val="FF0000"/>
                </a:solidFill>
                <a:latin typeface="Times New Roman" panose="02020603050405020304" pitchFamily="18" charset="0"/>
                <a:ea typeface="宋体" panose="02010600030101010101" pitchFamily="2" charset="-122"/>
              </a:rPr>
              <a:t>第八章 三相异步电机的电力拖动</a:t>
            </a:r>
            <a:endParaRPr lang="zh-CN" altLang="en-US" sz="2800" dirty="0">
              <a:solidFill>
                <a:srgbClr val="FF0000"/>
              </a:solidFill>
              <a:latin typeface="Times New Roman" panose="02020603050405020304" pitchFamily="18" charset="0"/>
              <a:ea typeface="宋体" panose="02010600030101010101" pitchFamily="2" charset="-122"/>
            </a:endParaRPr>
          </a:p>
        </p:txBody>
      </p:sp>
      <p:sp>
        <p:nvSpPr>
          <p:cNvPr id="63490" name="矩形 95236"/>
          <p:cNvSpPr/>
          <p:nvPr/>
        </p:nvSpPr>
        <p:spPr>
          <a:xfrm>
            <a:off x="323850" y="836613"/>
            <a:ext cx="8607425" cy="82232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8-17 </a:t>
            </a:r>
            <a:r>
              <a:rPr lang="zh-CN" altLang="en-US" dirty="0">
                <a:latin typeface="Times New Roman" panose="02020603050405020304" pitchFamily="18" charset="0"/>
                <a:ea typeface="宋体" panose="02010600030101010101" pitchFamily="2" charset="-122"/>
              </a:rPr>
              <a:t>异步机</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max</a:t>
            </a:r>
            <a:r>
              <a:rPr lang="en-US" altLang="zh-CN">
                <a:latin typeface="Times New Roman" panose="02020603050405020304" pitchFamily="18" charset="0"/>
                <a:ea typeface="宋体" panose="02010600030101010101" pitchFamily="2" charset="-122"/>
              </a:rPr>
              <a:t>=2.4</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，转速</a:t>
            </a:r>
            <a:r>
              <a:rPr lang="en-US" altLang="zh-CN">
                <a:latin typeface="Times New Roman" panose="02020603050405020304" pitchFamily="18" charset="0"/>
                <a:ea typeface="宋体" panose="02010600030101010101" pitchFamily="2" charset="-122"/>
              </a:rPr>
              <a:t>0.4</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，转子侧电阻</a:t>
            </a:r>
            <a:r>
              <a:rPr lang="en-US" altLang="zh-CN" i="1">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=0.8</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。转子回路应串入</a:t>
            </a:r>
            <a:r>
              <a:rPr lang="en-US" altLang="zh-CN" dirty="0">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的多少倍才能使制动开始的转矩为</a:t>
            </a:r>
            <a:r>
              <a:rPr lang="en-US" altLang="zh-CN">
                <a:latin typeface="Times New Roman" panose="02020603050405020304" pitchFamily="18" charset="0"/>
                <a:ea typeface="宋体" panose="02010600030101010101" pitchFamily="2" charset="-122"/>
              </a:rPr>
              <a:t>1.2</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3491" name="矩形 95237"/>
          <p:cNvSpPr/>
          <p:nvPr/>
        </p:nvSpPr>
        <p:spPr>
          <a:xfrm>
            <a:off x="395288" y="1773238"/>
            <a:ext cx="3816350" cy="4108450"/>
          </a:xfrm>
          <a:prstGeom prst="rect">
            <a:avLst/>
          </a:prstGeom>
          <a:noFill/>
          <a:ln w="9525">
            <a:noFill/>
          </a:ln>
        </p:spPr>
        <p:txBody>
          <a:bodyPr anchor="ctr" anchorCtr="0">
            <a:spAutoFit/>
          </a:bodyPr>
          <a:p>
            <a:pPr>
              <a:lnSpc>
                <a:spcPct val="110000"/>
              </a:lnSpc>
            </a:pPr>
            <a:r>
              <a:rPr lang="zh-CN" altLang="en-US" dirty="0">
                <a:latin typeface="Times New Roman" panose="02020603050405020304" pitchFamily="18" charset="0"/>
                <a:ea typeface="宋体" panose="02010600030101010101" pitchFamily="2" charset="-122"/>
              </a:rPr>
              <a:t>解：不串电阻电动时工作</a:t>
            </a:r>
            <a:endParaRPr lang="zh-CN" altLang="en-US" dirty="0">
              <a:latin typeface="Times New Roman" panose="02020603050405020304" pitchFamily="18" charset="0"/>
              <a:ea typeface="宋体" panose="02010600030101010101" pitchFamily="2" charset="-122"/>
            </a:endParaRPr>
          </a:p>
          <a:p>
            <a:pPr>
              <a:lnSpc>
                <a:spcPct val="110000"/>
              </a:lnSpc>
            </a:pPr>
            <a:r>
              <a:rPr lang="zh-CN" altLang="en-US" dirty="0">
                <a:latin typeface="Times New Roman" panose="02020603050405020304" pitchFamily="18" charset="0"/>
                <a:ea typeface="宋体" panose="02010600030101010101" pitchFamily="2" charset="-122"/>
              </a:rPr>
              <a:t>于图中</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点。此时电动时</a:t>
            </a:r>
            <a:endParaRPr lang="zh-CN" altLang="en-US" dirty="0">
              <a:latin typeface="Times New Roman" panose="02020603050405020304" pitchFamily="18" charset="0"/>
              <a:ea typeface="宋体" panose="02010600030101010101" pitchFamily="2" charset="-122"/>
            </a:endParaRPr>
          </a:p>
          <a:p>
            <a:pPr>
              <a:lnSpc>
                <a:spcPct val="110000"/>
              </a:lnSpc>
            </a:pPr>
            <a:r>
              <a:rPr lang="zh-CN" altLang="en-US" dirty="0">
                <a:latin typeface="Times New Roman" panose="02020603050405020304" pitchFamily="18" charset="0"/>
                <a:ea typeface="宋体" panose="02010600030101010101" pitchFamily="2" charset="-122"/>
              </a:rPr>
              <a:t>工作于图中</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点。</a:t>
            </a:r>
            <a:endParaRPr lang="zh-CN" altLang="en-US" dirty="0">
              <a:latin typeface="Times New Roman" panose="02020603050405020304" pitchFamily="18" charset="0"/>
              <a:ea typeface="宋体" panose="02010600030101010101" pitchFamily="2" charset="-122"/>
            </a:endParaRPr>
          </a:p>
          <a:p>
            <a:pPr>
              <a:lnSpc>
                <a:spcPct val="110000"/>
              </a:lnSpc>
            </a:pPr>
            <a:r>
              <a:rPr lang="zh-CN" altLang="en-US" dirty="0">
                <a:latin typeface="Times New Roman" panose="02020603050405020304" pitchFamily="18" charset="0"/>
                <a:ea typeface="宋体" panose="02010600030101010101" pitchFamily="2" charset="-122"/>
              </a:rPr>
              <a:t>      为了停车</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再串电阻进行反接制动</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工作点从</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跳至图中</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点。为了便于计算</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考虑反接制动的对称特性中的</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点。对</a:t>
            </a:r>
            <a:r>
              <a:rPr lang="en-US" altLang="zh-CN" dirty="0">
                <a:latin typeface="Times New Roman" panose="02020603050405020304" pitchFamily="18" charset="0"/>
                <a:ea typeface="宋体" panose="02010600030101010101" pitchFamily="2" charset="-122"/>
              </a:rPr>
              <a:t>BD</a:t>
            </a:r>
            <a:r>
              <a:rPr lang="zh-CN" altLang="en-US" dirty="0">
                <a:latin typeface="Times New Roman" panose="02020603050405020304" pitchFamily="18" charset="0"/>
                <a:ea typeface="宋体" panose="02010600030101010101" pitchFamily="2" charset="-122"/>
              </a:rPr>
              <a:t>两点使用转矩实用公式可以求出两条特性的</a:t>
            </a:r>
            <a:r>
              <a:rPr lang="en-US" altLang="zh-CN">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m</a:t>
            </a:r>
            <a:endParaRPr lang="en-US" altLang="zh-CN" baseline="-25000">
              <a:latin typeface="Times New Roman" panose="02020603050405020304" pitchFamily="18" charset="0"/>
              <a:ea typeface="宋体" panose="02010600030101010101" pitchFamily="2" charset="-122"/>
            </a:endParaRPr>
          </a:p>
        </p:txBody>
      </p:sp>
      <p:grpSp>
        <p:nvGrpSpPr>
          <p:cNvPr id="63492" name="组合 95238"/>
          <p:cNvGrpSpPr/>
          <p:nvPr/>
        </p:nvGrpSpPr>
        <p:grpSpPr>
          <a:xfrm>
            <a:off x="4787900" y="1484313"/>
            <a:ext cx="2808288" cy="2520950"/>
            <a:chOff x="5217" y="2220"/>
            <a:chExt cx="3600" cy="3276"/>
          </a:xfrm>
        </p:grpSpPr>
        <p:sp>
          <p:nvSpPr>
            <p:cNvPr id="63493" name="文本框 95239"/>
            <p:cNvSpPr txBox="1"/>
            <p:nvPr/>
          </p:nvSpPr>
          <p:spPr>
            <a:xfrm>
              <a:off x="6837" y="4092"/>
              <a:ext cx="36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0</a:t>
              </a:r>
              <a:endParaRPr lang="en-US" altLang="zh-CN" sz="2000">
                <a:latin typeface="Times New Roman" panose="02020603050405020304" pitchFamily="18" charset="0"/>
                <a:ea typeface="宋体" panose="02010600030101010101" pitchFamily="2" charset="-122"/>
              </a:endParaRPr>
            </a:p>
          </p:txBody>
        </p:sp>
        <p:sp>
          <p:nvSpPr>
            <p:cNvPr id="63494" name="文本框 95240"/>
            <p:cNvSpPr txBox="1"/>
            <p:nvPr/>
          </p:nvSpPr>
          <p:spPr>
            <a:xfrm>
              <a:off x="5487" y="3126"/>
              <a:ext cx="36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C</a:t>
              </a:r>
              <a:endParaRPr lang="en-US" altLang="zh-CN" sz="2000">
                <a:latin typeface="Times New Roman" panose="02020603050405020304" pitchFamily="18" charset="0"/>
                <a:ea typeface="宋体" panose="02010600030101010101" pitchFamily="2" charset="-122"/>
              </a:endParaRPr>
            </a:p>
          </p:txBody>
        </p:sp>
        <p:sp>
          <p:nvSpPr>
            <p:cNvPr id="63495" name="文本框 95241"/>
            <p:cNvSpPr txBox="1"/>
            <p:nvPr/>
          </p:nvSpPr>
          <p:spPr>
            <a:xfrm>
              <a:off x="7767" y="3156"/>
              <a:ext cx="36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B</a:t>
              </a:r>
              <a:endParaRPr lang="en-US" altLang="zh-CN" sz="2000">
                <a:latin typeface="Times New Roman" panose="02020603050405020304" pitchFamily="18" charset="0"/>
                <a:ea typeface="宋体" panose="02010600030101010101" pitchFamily="2" charset="-122"/>
              </a:endParaRPr>
            </a:p>
          </p:txBody>
        </p:sp>
        <p:sp>
          <p:nvSpPr>
            <p:cNvPr id="63496" name="文本框 95242"/>
            <p:cNvSpPr txBox="1"/>
            <p:nvPr/>
          </p:nvSpPr>
          <p:spPr>
            <a:xfrm>
              <a:off x="7737" y="2688"/>
              <a:ext cx="36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A</a:t>
              </a:r>
              <a:endParaRPr lang="en-US" altLang="zh-CN" sz="2000">
                <a:latin typeface="Times New Roman" panose="02020603050405020304" pitchFamily="18" charset="0"/>
                <a:ea typeface="宋体" panose="02010600030101010101" pitchFamily="2" charset="-122"/>
              </a:endParaRPr>
            </a:p>
          </p:txBody>
        </p:sp>
        <p:sp>
          <p:nvSpPr>
            <p:cNvPr id="63497" name="文本框 95243"/>
            <p:cNvSpPr txBox="1"/>
            <p:nvPr/>
          </p:nvSpPr>
          <p:spPr>
            <a:xfrm>
              <a:off x="7737" y="4092"/>
              <a:ext cx="54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T</a:t>
              </a:r>
              <a:r>
                <a:rPr lang="en-US" altLang="zh-CN" sz="2000" baseline="-25000">
                  <a:latin typeface="Times New Roman" panose="02020603050405020304" pitchFamily="18" charset="0"/>
                  <a:ea typeface="宋体" panose="02010600030101010101" pitchFamily="2" charset="-122"/>
                </a:rPr>
                <a:t>L</a:t>
              </a:r>
              <a:endParaRPr lang="en-US" altLang="zh-CN" sz="2000">
                <a:latin typeface="Times New Roman" panose="02020603050405020304" pitchFamily="18" charset="0"/>
                <a:ea typeface="宋体" panose="02010600030101010101" pitchFamily="2" charset="-122"/>
              </a:endParaRPr>
            </a:p>
          </p:txBody>
        </p:sp>
        <p:sp>
          <p:nvSpPr>
            <p:cNvPr id="63498" name="文本框 95244"/>
            <p:cNvSpPr txBox="1"/>
            <p:nvPr/>
          </p:nvSpPr>
          <p:spPr>
            <a:xfrm>
              <a:off x="8277" y="3780"/>
              <a:ext cx="54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T</a:t>
              </a:r>
              <a:r>
                <a:rPr lang="en-US" altLang="zh-CN" sz="2000" baseline="-25000">
                  <a:latin typeface="Times New Roman" panose="02020603050405020304" pitchFamily="18" charset="0"/>
                  <a:ea typeface="宋体" panose="02010600030101010101" pitchFamily="2" charset="-122"/>
                </a:rPr>
                <a:t>em</a:t>
              </a:r>
              <a:endParaRPr lang="en-US" altLang="zh-CN" sz="2000">
                <a:latin typeface="Times New Roman" panose="02020603050405020304" pitchFamily="18" charset="0"/>
                <a:ea typeface="宋体" panose="02010600030101010101" pitchFamily="2" charset="-122"/>
              </a:endParaRPr>
            </a:p>
          </p:txBody>
        </p:sp>
        <p:sp>
          <p:nvSpPr>
            <p:cNvPr id="63499" name="文本框 95245"/>
            <p:cNvSpPr txBox="1"/>
            <p:nvPr/>
          </p:nvSpPr>
          <p:spPr>
            <a:xfrm>
              <a:off x="6657" y="2220"/>
              <a:ext cx="360" cy="309"/>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p:txBody>
        </p:sp>
        <p:sp>
          <p:nvSpPr>
            <p:cNvPr id="63500" name="直接连接符 95246"/>
            <p:cNvSpPr/>
            <p:nvPr/>
          </p:nvSpPr>
          <p:spPr>
            <a:xfrm>
              <a:off x="5217" y="4092"/>
              <a:ext cx="3240" cy="0"/>
            </a:xfrm>
            <a:prstGeom prst="line">
              <a:avLst/>
            </a:prstGeom>
            <a:ln w="9525" cap="flat" cmpd="sng">
              <a:solidFill>
                <a:srgbClr val="000000"/>
              </a:solidFill>
              <a:prstDash val="solid"/>
              <a:round/>
              <a:headEnd type="none" w="med" len="med"/>
              <a:tailEnd type="triangle" w="med" len="med"/>
            </a:ln>
          </p:spPr>
        </p:sp>
        <p:sp>
          <p:nvSpPr>
            <p:cNvPr id="63501" name="直接连接符 95247"/>
            <p:cNvSpPr/>
            <p:nvPr/>
          </p:nvSpPr>
          <p:spPr>
            <a:xfrm flipV="1">
              <a:off x="6657" y="2532"/>
              <a:ext cx="0" cy="2964"/>
            </a:xfrm>
            <a:prstGeom prst="line">
              <a:avLst/>
            </a:prstGeom>
            <a:ln w="9525" cap="flat" cmpd="sng">
              <a:solidFill>
                <a:srgbClr val="000000"/>
              </a:solidFill>
              <a:prstDash val="solid"/>
              <a:round/>
              <a:headEnd type="none" w="med" len="med"/>
              <a:tailEnd type="triangle" w="med" len="med"/>
            </a:ln>
          </p:spPr>
        </p:sp>
        <p:sp>
          <p:nvSpPr>
            <p:cNvPr id="63502" name="直接连接符 95248"/>
            <p:cNvSpPr/>
            <p:nvPr/>
          </p:nvSpPr>
          <p:spPr>
            <a:xfrm>
              <a:off x="6657" y="2844"/>
              <a:ext cx="1440" cy="156"/>
            </a:xfrm>
            <a:prstGeom prst="line">
              <a:avLst/>
            </a:prstGeom>
            <a:ln w="9525" cap="flat" cmpd="sng">
              <a:solidFill>
                <a:srgbClr val="000000"/>
              </a:solidFill>
              <a:prstDash val="solid"/>
              <a:round/>
              <a:headEnd type="none" w="med" len="med"/>
              <a:tailEnd type="none" w="med" len="med"/>
            </a:ln>
          </p:spPr>
        </p:sp>
        <p:sp>
          <p:nvSpPr>
            <p:cNvPr id="63503" name="直接连接符 95249"/>
            <p:cNvSpPr/>
            <p:nvPr/>
          </p:nvSpPr>
          <p:spPr>
            <a:xfrm>
              <a:off x="6657" y="2844"/>
              <a:ext cx="1620" cy="780"/>
            </a:xfrm>
            <a:prstGeom prst="line">
              <a:avLst/>
            </a:prstGeom>
            <a:ln w="9525" cap="flat" cmpd="sng">
              <a:solidFill>
                <a:srgbClr val="000000"/>
              </a:solidFill>
              <a:prstDash val="solid"/>
              <a:round/>
              <a:headEnd type="none" w="med" len="med"/>
              <a:tailEnd type="none" w="med" len="med"/>
            </a:ln>
          </p:spPr>
        </p:sp>
        <p:sp>
          <p:nvSpPr>
            <p:cNvPr id="63504" name="直接连接符 95250"/>
            <p:cNvSpPr/>
            <p:nvPr/>
          </p:nvSpPr>
          <p:spPr>
            <a:xfrm>
              <a:off x="6657" y="2844"/>
              <a:ext cx="1440" cy="2340"/>
            </a:xfrm>
            <a:prstGeom prst="line">
              <a:avLst/>
            </a:prstGeom>
            <a:ln w="9525" cap="flat" cmpd="sng">
              <a:solidFill>
                <a:srgbClr val="000000"/>
              </a:solidFill>
              <a:prstDash val="solid"/>
              <a:round/>
              <a:headEnd type="none" w="med" len="med"/>
              <a:tailEnd type="none" w="med" len="med"/>
            </a:ln>
          </p:spPr>
        </p:sp>
        <p:sp>
          <p:nvSpPr>
            <p:cNvPr id="63505" name="直接连接符 95251"/>
            <p:cNvSpPr/>
            <p:nvPr/>
          </p:nvSpPr>
          <p:spPr>
            <a:xfrm>
              <a:off x="5217" y="3000"/>
              <a:ext cx="1440" cy="2340"/>
            </a:xfrm>
            <a:prstGeom prst="line">
              <a:avLst/>
            </a:prstGeom>
            <a:ln w="9525" cap="flat" cmpd="sng">
              <a:solidFill>
                <a:srgbClr val="000000"/>
              </a:solidFill>
              <a:prstDash val="solid"/>
              <a:round/>
              <a:headEnd type="none" w="med" len="med"/>
              <a:tailEnd type="none" w="med" len="med"/>
            </a:ln>
          </p:spPr>
        </p:sp>
        <p:sp>
          <p:nvSpPr>
            <p:cNvPr id="63506" name="直接连接符 95252"/>
            <p:cNvSpPr/>
            <p:nvPr/>
          </p:nvSpPr>
          <p:spPr>
            <a:xfrm>
              <a:off x="7737" y="2532"/>
              <a:ext cx="0" cy="1560"/>
            </a:xfrm>
            <a:prstGeom prst="line">
              <a:avLst/>
            </a:prstGeom>
            <a:ln w="9525" cap="flat" cmpd="sng">
              <a:solidFill>
                <a:srgbClr val="000000"/>
              </a:solidFill>
              <a:prstDash val="solid"/>
              <a:round/>
              <a:headEnd type="none" w="med" len="med"/>
              <a:tailEnd type="none" w="med" len="med"/>
            </a:ln>
          </p:spPr>
        </p:sp>
        <p:sp>
          <p:nvSpPr>
            <p:cNvPr id="63507" name="直接连接符 95253"/>
            <p:cNvSpPr/>
            <p:nvPr/>
          </p:nvSpPr>
          <p:spPr>
            <a:xfrm flipH="1">
              <a:off x="5427" y="3372"/>
              <a:ext cx="2340" cy="0"/>
            </a:xfrm>
            <a:prstGeom prst="line">
              <a:avLst/>
            </a:prstGeom>
            <a:ln w="9525" cap="rnd" cmpd="sng">
              <a:solidFill>
                <a:srgbClr val="000000"/>
              </a:solidFill>
              <a:prstDash val="sysDot"/>
              <a:round/>
              <a:headEnd type="none" w="med" len="med"/>
              <a:tailEnd type="none" w="med" len="med"/>
            </a:ln>
          </p:spPr>
        </p:sp>
        <p:sp>
          <p:nvSpPr>
            <p:cNvPr id="63508" name="直接连接符 95254"/>
            <p:cNvSpPr/>
            <p:nvPr/>
          </p:nvSpPr>
          <p:spPr>
            <a:xfrm>
              <a:off x="6657" y="4872"/>
              <a:ext cx="1260" cy="0"/>
            </a:xfrm>
            <a:prstGeom prst="line">
              <a:avLst/>
            </a:prstGeom>
            <a:ln w="9525" cap="rnd" cmpd="sng">
              <a:solidFill>
                <a:srgbClr val="000000"/>
              </a:solidFill>
              <a:prstDash val="sysDot"/>
              <a:round/>
              <a:headEnd type="none" w="med" len="med"/>
              <a:tailEnd type="none" w="med" len="med"/>
            </a:ln>
          </p:spPr>
        </p:sp>
        <p:sp>
          <p:nvSpPr>
            <p:cNvPr id="63509" name="文本框 95255"/>
            <p:cNvSpPr txBox="1"/>
            <p:nvPr/>
          </p:nvSpPr>
          <p:spPr>
            <a:xfrm>
              <a:off x="8097" y="2844"/>
              <a:ext cx="54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r</a:t>
              </a:r>
              <a:r>
                <a:rPr lang="en-US" altLang="zh-CN" sz="2000" baseline="-25000">
                  <a:latin typeface="Times New Roman" panose="02020603050405020304" pitchFamily="18" charset="0"/>
                  <a:ea typeface="宋体" panose="02010600030101010101" pitchFamily="2" charset="-122"/>
                </a:rPr>
                <a:t>e2</a:t>
              </a:r>
              <a:endParaRPr lang="en-US" altLang="zh-CN" sz="2000">
                <a:latin typeface="Times New Roman" panose="02020603050405020304" pitchFamily="18" charset="0"/>
                <a:ea typeface="宋体" panose="02010600030101010101" pitchFamily="2" charset="-122"/>
              </a:endParaRPr>
            </a:p>
          </p:txBody>
        </p:sp>
        <p:sp>
          <p:nvSpPr>
            <p:cNvPr id="63510" name="文本框 95256"/>
            <p:cNvSpPr txBox="1"/>
            <p:nvPr/>
          </p:nvSpPr>
          <p:spPr>
            <a:xfrm>
              <a:off x="8277" y="3468"/>
              <a:ext cx="54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R</a:t>
              </a:r>
              <a:r>
                <a:rPr lang="en-US" altLang="zh-CN" sz="2000" baseline="-25000">
                  <a:latin typeface="Times New Roman" panose="02020603050405020304" pitchFamily="18" charset="0"/>
                  <a:ea typeface="宋体" panose="02010600030101010101" pitchFamily="2" charset="-122"/>
                </a:rPr>
                <a:t>1</a:t>
              </a:r>
              <a:endParaRPr lang="en-US" altLang="zh-CN" sz="2000">
                <a:latin typeface="Times New Roman" panose="02020603050405020304" pitchFamily="18" charset="0"/>
                <a:ea typeface="宋体" panose="02010600030101010101" pitchFamily="2" charset="-122"/>
              </a:endParaRPr>
            </a:p>
          </p:txBody>
        </p:sp>
        <p:sp>
          <p:nvSpPr>
            <p:cNvPr id="63511" name="文本框 95257"/>
            <p:cNvSpPr txBox="1"/>
            <p:nvPr/>
          </p:nvSpPr>
          <p:spPr>
            <a:xfrm>
              <a:off x="8097" y="5184"/>
              <a:ext cx="54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R</a:t>
              </a:r>
              <a:r>
                <a:rPr lang="en-US" altLang="zh-CN" sz="2000" baseline="-25000">
                  <a:latin typeface="Times New Roman" panose="02020603050405020304" pitchFamily="18" charset="0"/>
                  <a:ea typeface="宋体" panose="02010600030101010101" pitchFamily="2" charset="-122"/>
                </a:rPr>
                <a:t>2</a:t>
              </a:r>
              <a:endParaRPr lang="en-US" altLang="zh-CN" sz="2000">
                <a:latin typeface="Times New Roman" panose="02020603050405020304" pitchFamily="18" charset="0"/>
                <a:ea typeface="宋体" panose="02010600030101010101" pitchFamily="2" charset="-122"/>
              </a:endParaRPr>
            </a:p>
          </p:txBody>
        </p:sp>
        <p:sp>
          <p:nvSpPr>
            <p:cNvPr id="63512" name="文本框 95258"/>
            <p:cNvSpPr txBox="1"/>
            <p:nvPr/>
          </p:nvSpPr>
          <p:spPr>
            <a:xfrm>
              <a:off x="5217" y="2688"/>
              <a:ext cx="54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R</a:t>
              </a:r>
              <a:r>
                <a:rPr lang="en-US" altLang="zh-CN" sz="2000" baseline="-25000">
                  <a:latin typeface="Times New Roman" panose="02020603050405020304" pitchFamily="18" charset="0"/>
                  <a:ea typeface="宋体" panose="02010600030101010101" pitchFamily="2" charset="-122"/>
                </a:rPr>
                <a:t>2</a:t>
              </a:r>
              <a:endParaRPr lang="en-US" altLang="zh-CN" sz="2000">
                <a:latin typeface="Times New Roman" panose="02020603050405020304" pitchFamily="18" charset="0"/>
                <a:ea typeface="宋体" panose="02010600030101010101" pitchFamily="2" charset="-122"/>
              </a:endParaRPr>
            </a:p>
          </p:txBody>
        </p:sp>
        <p:sp>
          <p:nvSpPr>
            <p:cNvPr id="63513" name="文本框 95259"/>
            <p:cNvSpPr txBox="1"/>
            <p:nvPr/>
          </p:nvSpPr>
          <p:spPr>
            <a:xfrm>
              <a:off x="7977" y="4716"/>
              <a:ext cx="36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D</a:t>
              </a:r>
              <a:endParaRPr lang="en-US" altLang="zh-CN" sz="2000">
                <a:latin typeface="Times New Roman" panose="02020603050405020304" pitchFamily="18" charset="0"/>
                <a:ea typeface="宋体" panose="02010600030101010101" pitchFamily="2" charset="-122"/>
              </a:endParaRPr>
            </a:p>
          </p:txBody>
        </p:sp>
      </p:grpSp>
      <p:sp>
        <p:nvSpPr>
          <p:cNvPr id="63514" name="矩形 95260"/>
          <p:cNvSpPr/>
          <p:nvPr/>
        </p:nvSpPr>
        <p:spPr>
          <a:xfrm>
            <a:off x="539750" y="5949950"/>
            <a:ext cx="2906713"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其中</a:t>
            </a:r>
            <a:r>
              <a:rPr lang="en-US" altLang="zh-CN">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=0.6; S</a:t>
            </a:r>
            <a:r>
              <a:rPr lang="en-US" altLang="zh-CN" baseline="-25000">
                <a:latin typeface="Times New Roman" panose="02020603050405020304" pitchFamily="18" charset="0"/>
                <a:ea typeface="宋体" panose="02010600030101010101" pitchFamily="2" charset="-122"/>
              </a:rPr>
              <a:t>D</a:t>
            </a:r>
            <a:r>
              <a:rPr lang="en-US" altLang="zh-CN">
                <a:latin typeface="Times New Roman" panose="02020603050405020304" pitchFamily="18" charset="0"/>
                <a:ea typeface="宋体" panose="02010600030101010101" pitchFamily="2" charset="-122"/>
              </a:rPr>
              <a:t>=1.4;</a:t>
            </a:r>
            <a:endParaRPr lang="en-US" altLang="zh-CN">
              <a:latin typeface="Times New Roman" panose="02020603050405020304" pitchFamily="18" charset="0"/>
              <a:ea typeface="宋体" panose="02010600030101010101" pitchFamily="2" charset="-122"/>
            </a:endParaRPr>
          </a:p>
        </p:txBody>
      </p:sp>
      <p:graphicFrame>
        <p:nvGraphicFramePr>
          <p:cNvPr id="63515" name="对象 95262"/>
          <p:cNvGraphicFramePr/>
          <p:nvPr/>
        </p:nvGraphicFramePr>
        <p:xfrm>
          <a:off x="4140200" y="4005263"/>
          <a:ext cx="4679950" cy="1104900"/>
        </p:xfrm>
        <a:graphic>
          <a:graphicData uri="http://schemas.openxmlformats.org/presentationml/2006/ole">
            <mc:AlternateContent xmlns:mc="http://schemas.openxmlformats.org/markup-compatibility/2006">
              <mc:Choice xmlns:v="urn:schemas-microsoft-com:vml" Requires="v">
                <p:oleObj spid="_x0000_s3183" name="" r:id="rId1" imgW="2882900" imgH="647700" progId="Equation.DSMT4">
                  <p:embed/>
                </p:oleObj>
              </mc:Choice>
              <mc:Fallback>
                <p:oleObj name="" r:id="rId1" imgW="2882900" imgH="647700" progId="Equation.DSMT4">
                  <p:embed/>
                  <p:pic>
                    <p:nvPicPr>
                      <p:cNvPr id="0" name="图片 3182"/>
                      <p:cNvPicPr/>
                      <p:nvPr/>
                    </p:nvPicPr>
                    <p:blipFill>
                      <a:blip r:embed="rId2"/>
                      <a:stretch>
                        <a:fillRect/>
                      </a:stretch>
                    </p:blipFill>
                    <p:spPr>
                      <a:xfrm>
                        <a:off x="4140200" y="4005263"/>
                        <a:ext cx="4679950" cy="1104900"/>
                      </a:xfrm>
                      <a:prstGeom prst="rect">
                        <a:avLst/>
                      </a:prstGeom>
                      <a:noFill/>
                      <a:ln w="38100">
                        <a:noFill/>
                        <a:miter/>
                      </a:ln>
                    </p:spPr>
                  </p:pic>
                </p:oleObj>
              </mc:Fallback>
            </mc:AlternateContent>
          </a:graphicData>
        </a:graphic>
      </p:graphicFrame>
      <p:graphicFrame>
        <p:nvGraphicFramePr>
          <p:cNvPr id="63516" name="对象 95261"/>
          <p:cNvGraphicFramePr/>
          <p:nvPr/>
        </p:nvGraphicFramePr>
        <p:xfrm>
          <a:off x="4067175" y="5157788"/>
          <a:ext cx="4826000" cy="1104900"/>
        </p:xfrm>
        <a:graphic>
          <a:graphicData uri="http://schemas.openxmlformats.org/presentationml/2006/ole">
            <mc:AlternateContent xmlns:mc="http://schemas.openxmlformats.org/markup-compatibility/2006">
              <mc:Choice xmlns:v="urn:schemas-microsoft-com:vml" Requires="v">
                <p:oleObj spid="_x0000_s3182" name="" r:id="rId3" imgW="2832100" imgH="647700" progId="Equation.DSMT4">
                  <p:embed/>
                </p:oleObj>
              </mc:Choice>
              <mc:Fallback>
                <p:oleObj name="" r:id="rId3" imgW="2832100" imgH="647700" progId="Equation.DSMT4">
                  <p:embed/>
                  <p:pic>
                    <p:nvPicPr>
                      <p:cNvPr id="0" name="图片 3181"/>
                      <p:cNvPicPr/>
                      <p:nvPr/>
                    </p:nvPicPr>
                    <p:blipFill>
                      <a:blip r:embed="rId4"/>
                      <a:stretch>
                        <a:fillRect/>
                      </a:stretch>
                    </p:blipFill>
                    <p:spPr>
                      <a:xfrm>
                        <a:off x="4067175" y="5157788"/>
                        <a:ext cx="4826000" cy="1104900"/>
                      </a:xfrm>
                      <a:prstGeom prst="rect">
                        <a:avLst/>
                      </a:prstGeom>
                      <a:noFill/>
                      <a:ln w="38100">
                        <a:noFill/>
                        <a:miter/>
                      </a:ln>
                    </p:spPr>
                  </p:pic>
                </p:oleObj>
              </mc:Fallback>
            </mc:AlternateContent>
          </a:graphicData>
        </a:graphic>
      </p:graphicFrame>
      <p:sp>
        <p:nvSpPr>
          <p:cNvPr id="63517" name="矩形 95263"/>
          <p:cNvSpPr/>
          <p:nvPr/>
        </p:nvSpPr>
        <p:spPr>
          <a:xfrm>
            <a:off x="0" y="278130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3518" name="矩形 95264"/>
          <p:cNvSpPr/>
          <p:nvPr/>
        </p:nvSpPr>
        <p:spPr>
          <a:xfrm>
            <a:off x="0" y="3429000"/>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3519" name="矩形 95265"/>
          <p:cNvSpPr/>
          <p:nvPr/>
        </p:nvSpPr>
        <p:spPr>
          <a:xfrm>
            <a:off x="4203700" y="6237288"/>
            <a:ext cx="4406900" cy="457200"/>
          </a:xfrm>
          <a:prstGeom prst="rect">
            <a:avLst/>
          </a:prstGeom>
          <a:noFill/>
          <a:ln w="9525">
            <a:noFill/>
          </a:ln>
        </p:spPr>
        <p:txBody>
          <a:bodyPr wrap="none" anchor="ctr" anchorCtr="0">
            <a:spAutoFit/>
          </a:bodyPr>
          <a:p>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S</a:t>
            </a:r>
            <a:r>
              <a:rPr lang="en-US" altLang="zh-CN" i="1" baseline="-25000">
                <a:latin typeface="Times New Roman" panose="02020603050405020304" pitchFamily="18" charset="0"/>
                <a:ea typeface="宋体" panose="02010600030101010101" pitchFamily="2" charset="-122"/>
              </a:rPr>
              <a:t>m2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i="1" baseline="-25000">
                <a:latin typeface="Times New Roman" panose="02020603050405020304" pitchFamily="18" charset="0"/>
                <a:ea typeface="宋体" panose="02010600030101010101" pitchFamily="2" charset="-122"/>
              </a:rPr>
              <a:t>m1</a:t>
            </a:r>
            <a:r>
              <a:rPr lang="en-US" altLang="zh-CN">
                <a:latin typeface="Times New Roman" panose="02020603050405020304" pitchFamily="18" charset="0"/>
                <a:ea typeface="宋体" panose="02010600030101010101" pitchFamily="2" charset="-122"/>
              </a:rPr>
              <a:t>=5.22/3.394=1.538</a:t>
            </a:r>
            <a:endParaRPr lang="en-US" altLang="zh-CN">
              <a:latin typeface="Times New Roman" panose="02020603050405020304" pitchFamily="18" charset="0"/>
              <a:ea typeface="宋体" panose="02010600030101010101" pitchFamily="2" charset="-122"/>
            </a:endParaRPr>
          </a:p>
        </p:txBody>
      </p:sp>
      <p:sp>
        <p:nvSpPr>
          <p:cNvPr id="63520" name="直接连接符 95266"/>
          <p:cNvSpPr/>
          <p:nvPr/>
        </p:nvSpPr>
        <p:spPr>
          <a:xfrm flipH="1">
            <a:off x="3995738" y="3933825"/>
            <a:ext cx="0" cy="2735263"/>
          </a:xfrm>
          <a:prstGeom prst="line">
            <a:avLst/>
          </a:prstGeom>
          <a:ln w="28575" cap="flat" cmpd="sng">
            <a:solidFill>
              <a:srgbClr val="FF0000"/>
            </a:solidFill>
            <a:prstDash val="solid"/>
            <a:round/>
            <a:headEnd type="none" w="med" len="med"/>
            <a:tailEnd type="none" w="med" len="med"/>
          </a:ln>
        </p:spPr>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矩形 108545"/>
          <p:cNvSpPr/>
          <p:nvPr/>
        </p:nvSpPr>
        <p:spPr>
          <a:xfrm>
            <a:off x="323850" y="404813"/>
            <a:ext cx="8424863" cy="264795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8-22 </a:t>
            </a:r>
            <a:r>
              <a:rPr lang="zh-CN" altLang="en-US" dirty="0">
                <a:latin typeface="Times New Roman" panose="02020603050405020304" pitchFamily="18" charset="0"/>
                <a:ea typeface="宋体" panose="02010600030101010101" pitchFamily="2" charset="-122"/>
              </a:rPr>
              <a:t>题</a:t>
            </a:r>
            <a:r>
              <a:rPr lang="en-US" altLang="zh-CN" dirty="0">
                <a:latin typeface="Times New Roman" panose="02020603050405020304" pitchFamily="18" charset="0"/>
                <a:ea typeface="宋体" panose="02010600030101010101" pitchFamily="2" charset="-122"/>
              </a:rPr>
              <a:t>7-13</a:t>
            </a:r>
            <a:r>
              <a:rPr lang="zh-CN" altLang="en-US" dirty="0">
                <a:latin typeface="Times New Roman" panose="02020603050405020304" pitchFamily="18" charset="0"/>
                <a:ea typeface="宋体" panose="02010600030101010101" pitchFamily="2" charset="-122"/>
              </a:rPr>
              <a:t>中，定子绕组：</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=168</a:t>
            </a:r>
            <a:r>
              <a:rPr lang="zh-CN" altLang="en-US" dirty="0">
                <a:latin typeface="Times New Roman" panose="02020603050405020304" pitchFamily="18" charset="0"/>
                <a:ea typeface="宋体" panose="02010600030101010101" pitchFamily="2" charset="-122"/>
              </a:rPr>
              <a:t>匝</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相；</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W11</a:t>
            </a:r>
            <a:r>
              <a:rPr lang="en-US" altLang="zh-CN" dirty="0">
                <a:latin typeface="Times New Roman" panose="02020603050405020304" pitchFamily="18" charset="0"/>
                <a:ea typeface="宋体" panose="02010600030101010101" pitchFamily="2" charset="-122"/>
              </a:rPr>
              <a:t>=0.94</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=1.43Ω</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=1.38Ω</a:t>
            </a:r>
            <a:r>
              <a:rPr lang="zh-CN" altLang="en-US" dirty="0">
                <a:latin typeface="Times New Roman" panose="02020603050405020304" pitchFamily="18" charset="0"/>
                <a:ea typeface="宋体" panose="02010600030101010101" pitchFamily="2" charset="-122"/>
              </a:rPr>
              <a:t>。转子绕组：</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=80</a:t>
            </a:r>
            <a:r>
              <a:rPr lang="zh-CN" altLang="en-US" dirty="0">
                <a:latin typeface="Times New Roman" panose="02020603050405020304" pitchFamily="18" charset="0"/>
                <a:ea typeface="宋体" panose="02010600030101010101" pitchFamily="2" charset="-122"/>
              </a:rPr>
              <a:t>匝</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相，</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W21</a:t>
            </a:r>
            <a:r>
              <a:rPr lang="en-US" altLang="zh-CN" dirty="0">
                <a:latin typeface="Times New Roman" panose="02020603050405020304" pitchFamily="18" charset="0"/>
                <a:ea typeface="宋体" panose="02010600030101010101" pitchFamily="2" charset="-122"/>
              </a:rPr>
              <a:t>=0.97</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=0.229Ω</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=0.523Ω</a:t>
            </a:r>
            <a:r>
              <a:rPr lang="zh-CN" altLang="en-US" dirty="0">
                <a:latin typeface="Times New Roman" panose="02020603050405020304" pitchFamily="18" charset="0"/>
                <a:ea typeface="宋体" panose="02010600030101010101" pitchFamily="2" charset="-122"/>
              </a:rPr>
              <a:t>。励磁阻抗：</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jx</a:t>
            </a:r>
            <a:r>
              <a:rPr lang="en-US" altLang="zh-CN" baseline="-25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=10+</a:t>
            </a:r>
            <a:r>
              <a:rPr lang="en-US" altLang="zh-CN" i="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73.3Ω</a:t>
            </a:r>
            <a:r>
              <a:rPr lang="zh-CN" altLang="en-US" dirty="0">
                <a:latin typeface="Times New Roman" panose="02020603050405020304" pitchFamily="18" charset="0"/>
                <a:ea typeface="宋体" panose="02010600030101010101" pitchFamily="2" charset="-122"/>
              </a:rPr>
              <a:t>。当以</a:t>
            </a:r>
            <a:r>
              <a:rPr lang="en-US" altLang="zh-CN" dirty="0">
                <a:latin typeface="Times New Roman" panose="02020603050405020304" pitchFamily="18" charset="0"/>
                <a:ea typeface="宋体" panose="02010600030101010101" pitchFamily="2" charset="-122"/>
              </a:rPr>
              <a:t>50Hz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的电压接到定子绕组</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上时，电机额定速</a:t>
            </a:r>
            <a:r>
              <a:rPr lang="en-US" altLang="zh-CN" dirty="0">
                <a:latin typeface="Times New Roman" panose="02020603050405020304" pitchFamily="18" charset="0"/>
                <a:ea typeface="宋体" panose="02010600030101010101" pitchFamily="2" charset="-122"/>
              </a:rPr>
              <a:t>1450r/min</a:t>
            </a:r>
            <a:r>
              <a:rPr lang="zh-CN" altLang="en-US" dirty="0">
                <a:latin typeface="Times New Roman" panose="02020603050405020304" pitchFamily="18" charset="0"/>
                <a:ea typeface="宋体" panose="02010600030101010101" pitchFamily="2" charset="-122"/>
              </a:rPr>
              <a:t>。计算</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max</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s</a:t>
            </a:r>
            <a:r>
              <a:rPr lang="en-US" altLang="zh-CN" baseline="-25000" err="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、绘固有特性曲线，绘转子回路串</a:t>
            </a:r>
            <a:r>
              <a:rPr lang="en-US" altLang="zh-CN" i="1">
                <a:latin typeface="Times New Roman" panose="02020603050405020304" pitchFamily="18" charset="0"/>
                <a:ea typeface="宋体" panose="02010600030101010101" pitchFamily="2" charset="-122"/>
              </a:rPr>
              <a:t>R</a:t>
            </a:r>
            <a:r>
              <a:rPr lang="en-US" altLang="zh-CN" i="1" baseline="-25000">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=0.229Ω/</a:t>
            </a:r>
            <a:r>
              <a:rPr lang="zh-CN" altLang="en-US" dirty="0">
                <a:latin typeface="Times New Roman" panose="02020603050405020304" pitchFamily="18" charset="0"/>
                <a:ea typeface="宋体" panose="02010600030101010101" pitchFamily="2" charset="-122"/>
              </a:rPr>
              <a:t>相</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时人为特性曲线，若</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max</a:t>
            </a:r>
            <a:r>
              <a:rPr lang="zh-CN" altLang="en-US" dirty="0">
                <a:latin typeface="Times New Roman" panose="02020603050405020304" pitchFamily="18" charset="0"/>
                <a:ea typeface="宋体" panose="02010600030101010101" pitchFamily="2" charset="-122"/>
              </a:rPr>
              <a:t>，外接附加电阻？</a:t>
            </a:r>
            <a:endParaRPr lang="zh-CN" altLang="en-US" dirty="0">
              <a:latin typeface="Times New Roman" panose="02020603050405020304" pitchFamily="18" charset="0"/>
              <a:ea typeface="宋体" panose="02010600030101010101" pitchFamily="2" charset="-122"/>
            </a:endParaRPr>
          </a:p>
        </p:txBody>
      </p:sp>
      <p:sp>
        <p:nvSpPr>
          <p:cNvPr id="64514" name="矩形 108547"/>
          <p:cNvSpPr/>
          <p:nvPr/>
        </p:nvSpPr>
        <p:spPr>
          <a:xfrm>
            <a:off x="395288" y="3017838"/>
            <a:ext cx="5545137" cy="566737"/>
          </a:xfrm>
          <a:prstGeom prst="rect">
            <a:avLst/>
          </a:prstGeom>
          <a:noFill/>
          <a:ln w="9525">
            <a:noFill/>
          </a:ln>
        </p:spPr>
        <p:txBody>
          <a:bodyPr anchor="ctr" anchorCtr="0">
            <a:spAutoFit/>
          </a:bodyPr>
          <a:p>
            <a:pPr>
              <a:lnSpc>
                <a:spcPct val="130000"/>
              </a:lnSpc>
            </a:pPr>
            <a:r>
              <a:rPr lang="zh-CN" altLang="en-US"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sym typeface="Wingdings" panose="05000000000000000000" pitchFamily="2" charset="2"/>
              </a:rPr>
              <a:t> </a:t>
            </a:r>
            <a:r>
              <a:rPr lang="en-US" altLang="zh-CN">
                <a:latin typeface="Times New Roman" panose="02020603050405020304" pitchFamily="18" charset="0"/>
                <a:ea typeface="宋体" panose="02010600030101010101" pitchFamily="2" charset="-122"/>
                <a:sym typeface="Wingdings" panose="05000000000000000000" pitchFamily="2" charset="2"/>
              </a:rPr>
              <a:t>(1)</a:t>
            </a:r>
            <a:r>
              <a:rPr lang="zh-CN" altLang="en-US" dirty="0">
                <a:latin typeface="Times New Roman" panose="02020603050405020304" pitchFamily="18" charset="0"/>
                <a:ea typeface="宋体" panose="02010600030101010101" pitchFamily="2" charset="-122"/>
              </a:rPr>
              <a:t>利用转矩参数表达式进行计算</a:t>
            </a:r>
            <a:endParaRPr lang="zh-CN" altLang="en-US" dirty="0">
              <a:latin typeface="Times New Roman" panose="02020603050405020304" pitchFamily="18" charset="0"/>
              <a:ea typeface="宋体" panose="02010600030101010101" pitchFamily="2" charset="-122"/>
            </a:endParaRPr>
          </a:p>
        </p:txBody>
      </p:sp>
      <p:graphicFrame>
        <p:nvGraphicFramePr>
          <p:cNvPr id="64515" name="对象 108551"/>
          <p:cNvGraphicFramePr/>
          <p:nvPr/>
        </p:nvGraphicFramePr>
        <p:xfrm>
          <a:off x="144463" y="3644900"/>
          <a:ext cx="8820150" cy="2884488"/>
        </p:xfrm>
        <a:graphic>
          <a:graphicData uri="http://schemas.openxmlformats.org/presentationml/2006/ole">
            <mc:AlternateContent xmlns:mc="http://schemas.openxmlformats.org/markup-compatibility/2006">
              <mc:Choice xmlns:v="urn:schemas-microsoft-com:vml" Requires="v">
                <p:oleObj spid="_x0000_s3184" name="" r:id="rId1" imgW="5283200" imgH="1612900" progId="Equation.DSMT4">
                  <p:embed/>
                </p:oleObj>
              </mc:Choice>
              <mc:Fallback>
                <p:oleObj name="" r:id="rId1" imgW="5283200" imgH="1612900" progId="Equation.DSMT4">
                  <p:embed/>
                  <p:pic>
                    <p:nvPicPr>
                      <p:cNvPr id="0" name="图片 3183"/>
                      <p:cNvPicPr/>
                      <p:nvPr/>
                    </p:nvPicPr>
                    <p:blipFill>
                      <a:blip r:embed="rId2"/>
                      <a:stretch>
                        <a:fillRect/>
                      </a:stretch>
                    </p:blipFill>
                    <p:spPr>
                      <a:xfrm>
                        <a:off x="144463" y="3644900"/>
                        <a:ext cx="8820150" cy="2884488"/>
                      </a:xfrm>
                      <a:prstGeom prst="rect">
                        <a:avLst/>
                      </a:prstGeom>
                      <a:noFill/>
                      <a:ln w="38100">
                        <a:noFill/>
                        <a:miter/>
                      </a:ln>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5537" name="对象 122883"/>
          <p:cNvGraphicFramePr/>
          <p:nvPr/>
        </p:nvGraphicFramePr>
        <p:xfrm>
          <a:off x="107950" y="196850"/>
          <a:ext cx="9036050" cy="1647825"/>
        </p:xfrm>
        <a:graphic>
          <a:graphicData uri="http://schemas.openxmlformats.org/presentationml/2006/ole">
            <mc:AlternateContent xmlns:mc="http://schemas.openxmlformats.org/markup-compatibility/2006">
              <mc:Choice xmlns:v="urn:schemas-microsoft-com:vml" Requires="v">
                <p:oleObj spid="_x0000_s3180" name="" r:id="rId1" imgW="5156200" imgH="939800" progId="Equation.DSMT4">
                  <p:embed/>
                </p:oleObj>
              </mc:Choice>
              <mc:Fallback>
                <p:oleObj name="" r:id="rId1" imgW="5156200" imgH="939800" progId="Equation.DSMT4">
                  <p:embed/>
                  <p:pic>
                    <p:nvPicPr>
                      <p:cNvPr id="0" name="图片 3179"/>
                      <p:cNvPicPr/>
                      <p:nvPr/>
                    </p:nvPicPr>
                    <p:blipFill>
                      <a:blip r:embed="rId2"/>
                      <a:stretch>
                        <a:fillRect/>
                      </a:stretch>
                    </p:blipFill>
                    <p:spPr>
                      <a:xfrm>
                        <a:off x="107950" y="196850"/>
                        <a:ext cx="9036050" cy="1647825"/>
                      </a:xfrm>
                      <a:prstGeom prst="rect">
                        <a:avLst/>
                      </a:prstGeom>
                      <a:noFill/>
                      <a:ln w="38100">
                        <a:noFill/>
                        <a:miter/>
                      </a:ln>
                    </p:spPr>
                  </p:pic>
                </p:oleObj>
              </mc:Fallback>
            </mc:AlternateContent>
          </a:graphicData>
        </a:graphic>
      </p:graphicFrame>
      <p:sp>
        <p:nvSpPr>
          <p:cNvPr id="65538" name="文本框 122884"/>
          <p:cNvSpPr txBox="1"/>
          <p:nvPr/>
        </p:nvSpPr>
        <p:spPr>
          <a:xfrm>
            <a:off x="323850" y="1916113"/>
            <a:ext cx="8407400"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同步点</a:t>
            </a:r>
            <a:r>
              <a:rPr lang="en-US" altLang="zh-CN" dirty="0">
                <a:latin typeface="Times New Roman" panose="02020603050405020304" pitchFamily="18" charset="0"/>
                <a:ea typeface="宋体" panose="02010600030101010101" pitchFamily="2" charset="-122"/>
              </a:rPr>
              <a:t>(0,0);</a:t>
            </a:r>
            <a:r>
              <a:rPr lang="zh-CN" altLang="en-US" dirty="0">
                <a:latin typeface="Times New Roman" panose="02020603050405020304" pitchFamily="18" charset="0"/>
                <a:ea typeface="宋体" panose="02010600030101010101" pitchFamily="2" charset="-122"/>
              </a:rPr>
              <a:t>额定点</a:t>
            </a:r>
            <a:r>
              <a:rPr lang="en-US" altLang="zh-CN" dirty="0">
                <a:latin typeface="Times New Roman" panose="02020603050405020304" pitchFamily="18" charset="0"/>
                <a:ea typeface="宋体" panose="02010600030101010101" pitchFamily="2" charset="-122"/>
              </a:rPr>
              <a:t>(0.03,26.23);</a:t>
            </a:r>
            <a:r>
              <a:rPr lang="zh-CN" altLang="en-US" dirty="0">
                <a:latin typeface="Times New Roman" panose="02020603050405020304" pitchFamily="18" charset="0"/>
                <a:ea typeface="宋体" panose="02010600030101010101" pitchFamily="2" charset="-122"/>
              </a:rPr>
              <a:t>最大点</a:t>
            </a:r>
            <a:r>
              <a:rPr lang="en-US" altLang="zh-CN" dirty="0">
                <a:latin typeface="Times New Roman" panose="02020603050405020304" pitchFamily="18" charset="0"/>
                <a:ea typeface="宋体" panose="02010600030101010101" pitchFamily="2" charset="-122"/>
              </a:rPr>
              <a:t>(0.2,74.6);</a:t>
            </a:r>
            <a:r>
              <a:rPr lang="zh-CN" altLang="en-US" dirty="0">
                <a:latin typeface="Times New Roman" panose="02020603050405020304" pitchFamily="18" charset="0"/>
                <a:ea typeface="宋体" panose="02010600030101010101" pitchFamily="2" charset="-122"/>
              </a:rPr>
              <a:t>起动点</a:t>
            </a:r>
            <a:r>
              <a:rPr lang="en-US" altLang="zh-CN">
                <a:latin typeface="Times New Roman" panose="02020603050405020304" pitchFamily="18" charset="0"/>
                <a:ea typeface="宋体" panose="02010600030101010101" pitchFamily="2" charset="-122"/>
              </a:rPr>
              <a:t>(1,33.3)</a:t>
            </a:r>
            <a:endParaRPr lang="en-US" altLang="zh-CN">
              <a:latin typeface="Times New Roman" panose="02020603050405020304" pitchFamily="18" charset="0"/>
              <a:ea typeface="宋体" panose="02010600030101010101" pitchFamily="2" charset="-122"/>
            </a:endParaRPr>
          </a:p>
        </p:txBody>
      </p:sp>
      <p:sp>
        <p:nvSpPr>
          <p:cNvPr id="65539" name="文本框 122885"/>
          <p:cNvSpPr txBox="1"/>
          <p:nvPr/>
        </p:nvSpPr>
        <p:spPr>
          <a:xfrm>
            <a:off x="376238" y="2708275"/>
            <a:ext cx="2760662" cy="457200"/>
          </a:xfrm>
          <a:prstGeom prst="rect">
            <a:avLst/>
          </a:prstGeom>
          <a:noFill/>
          <a:ln w="9525">
            <a:noFill/>
          </a:ln>
        </p:spPr>
        <p:txBody>
          <a:bodyPr wrap="none" anchor="t" anchorCtr="0">
            <a:spAutoFit/>
          </a:bodyPr>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串入电阻后有：</a:t>
            </a:r>
            <a:endParaRPr lang="zh-CN" altLang="en-US" dirty="0">
              <a:latin typeface="Times New Roman" panose="02020603050405020304" pitchFamily="18" charset="0"/>
              <a:ea typeface="宋体" panose="02010600030101010101" pitchFamily="2" charset="-122"/>
            </a:endParaRPr>
          </a:p>
        </p:txBody>
      </p:sp>
      <p:graphicFrame>
        <p:nvGraphicFramePr>
          <p:cNvPr id="65540" name="对象 122886"/>
          <p:cNvGraphicFramePr/>
          <p:nvPr/>
        </p:nvGraphicFramePr>
        <p:xfrm>
          <a:off x="3348038" y="2492375"/>
          <a:ext cx="2087562" cy="915988"/>
        </p:xfrm>
        <a:graphic>
          <a:graphicData uri="http://schemas.openxmlformats.org/presentationml/2006/ole">
            <mc:AlternateContent xmlns:mc="http://schemas.openxmlformats.org/markup-compatibility/2006">
              <mc:Choice xmlns:v="urn:schemas-microsoft-com:vml" Requires="v">
                <p:oleObj spid="_x0000_s3185" name="" r:id="rId3" imgW="1040765" imgH="457200" progId="Equation.DSMT4">
                  <p:embed/>
                </p:oleObj>
              </mc:Choice>
              <mc:Fallback>
                <p:oleObj name="" r:id="rId3" imgW="1040765" imgH="457200" progId="Equation.DSMT4">
                  <p:embed/>
                  <p:pic>
                    <p:nvPicPr>
                      <p:cNvPr id="0" name="图片 3184"/>
                      <p:cNvPicPr/>
                      <p:nvPr/>
                    </p:nvPicPr>
                    <p:blipFill>
                      <a:blip r:embed="rId4"/>
                      <a:stretch>
                        <a:fillRect/>
                      </a:stretch>
                    </p:blipFill>
                    <p:spPr>
                      <a:xfrm>
                        <a:off x="3348038" y="2492375"/>
                        <a:ext cx="2087562" cy="915988"/>
                      </a:xfrm>
                      <a:prstGeom prst="rect">
                        <a:avLst/>
                      </a:prstGeom>
                      <a:noFill/>
                      <a:ln w="38100">
                        <a:noFill/>
                        <a:miter/>
                      </a:ln>
                    </p:spPr>
                  </p:pic>
                </p:oleObj>
              </mc:Fallback>
            </mc:AlternateContent>
          </a:graphicData>
        </a:graphic>
      </p:graphicFrame>
      <p:sp>
        <p:nvSpPr>
          <p:cNvPr id="65541" name="文本框 122887"/>
          <p:cNvSpPr txBox="1"/>
          <p:nvPr/>
        </p:nvSpPr>
        <p:spPr>
          <a:xfrm>
            <a:off x="808038" y="3376613"/>
            <a:ext cx="6184900"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四个点为 </a:t>
            </a:r>
            <a:r>
              <a:rPr lang="en-US" altLang="zh-CN">
                <a:latin typeface="Times New Roman" panose="02020603050405020304" pitchFamily="18" charset="0"/>
                <a:ea typeface="宋体" panose="02010600030101010101" pitchFamily="2" charset="-122"/>
              </a:rPr>
              <a:t>(0,0), (0.06,26.23), (0.4,74.6), (2,33.3)</a:t>
            </a:r>
            <a:endParaRPr lang="en-US" altLang="zh-CN">
              <a:latin typeface="Times New Roman" panose="02020603050405020304" pitchFamily="18" charset="0"/>
              <a:ea typeface="宋体" panose="02010600030101010101" pitchFamily="2" charset="-122"/>
            </a:endParaRPr>
          </a:p>
        </p:txBody>
      </p:sp>
      <p:sp>
        <p:nvSpPr>
          <p:cNvPr id="65542" name="文本框 122888"/>
          <p:cNvSpPr txBox="1"/>
          <p:nvPr/>
        </p:nvSpPr>
        <p:spPr>
          <a:xfrm>
            <a:off x="323850" y="4076700"/>
            <a:ext cx="3986213" cy="457200"/>
          </a:xfrm>
          <a:prstGeom prst="rect">
            <a:avLst/>
          </a:prstGeom>
          <a:noFill/>
          <a:ln w="9525">
            <a:noFill/>
          </a:ln>
        </p:spPr>
        <p:txBody>
          <a:bodyPr wrap="none" anchor="t" anchorCtr="0">
            <a:spAutoFit/>
          </a:bodyPr>
          <a:p>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若启动力矩等于最大力矩</a:t>
            </a:r>
            <a:endParaRPr lang="zh-CN" altLang="en-US" dirty="0">
              <a:latin typeface="Times New Roman" panose="02020603050405020304" pitchFamily="18" charset="0"/>
              <a:ea typeface="宋体" panose="02010600030101010101" pitchFamily="2" charset="-122"/>
            </a:endParaRPr>
          </a:p>
        </p:txBody>
      </p:sp>
      <p:graphicFrame>
        <p:nvGraphicFramePr>
          <p:cNvPr id="65543" name="对象 122889"/>
          <p:cNvGraphicFramePr/>
          <p:nvPr/>
        </p:nvGraphicFramePr>
        <p:xfrm>
          <a:off x="714375" y="4797425"/>
          <a:ext cx="7210425" cy="979488"/>
        </p:xfrm>
        <a:graphic>
          <a:graphicData uri="http://schemas.openxmlformats.org/presentationml/2006/ole">
            <mc:AlternateContent xmlns:mc="http://schemas.openxmlformats.org/markup-compatibility/2006">
              <mc:Choice xmlns:v="urn:schemas-microsoft-com:vml" Requires="v">
                <p:oleObj spid="_x0000_s3179" name="" r:id="rId5" imgW="3643630" imgH="495300" progId="Equation.DSMT4">
                  <p:embed/>
                </p:oleObj>
              </mc:Choice>
              <mc:Fallback>
                <p:oleObj name="" r:id="rId5" imgW="3643630" imgH="495300" progId="Equation.DSMT4">
                  <p:embed/>
                  <p:pic>
                    <p:nvPicPr>
                      <p:cNvPr id="0" name="图片 3178"/>
                      <p:cNvPicPr/>
                      <p:nvPr/>
                    </p:nvPicPr>
                    <p:blipFill>
                      <a:blip r:embed="rId6"/>
                      <a:stretch>
                        <a:fillRect/>
                      </a:stretch>
                    </p:blipFill>
                    <p:spPr>
                      <a:xfrm>
                        <a:off x="714375" y="4797425"/>
                        <a:ext cx="7210425" cy="979488"/>
                      </a:xfrm>
                      <a:prstGeom prst="rect">
                        <a:avLst/>
                      </a:prstGeom>
                      <a:noFill/>
                      <a:ln w="38100">
                        <a:noFill/>
                        <a:miter/>
                      </a:ln>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矩形 109569"/>
          <p:cNvSpPr/>
          <p:nvPr/>
        </p:nvSpPr>
        <p:spPr>
          <a:xfrm>
            <a:off x="539750" y="1989138"/>
            <a:ext cx="3887788"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同步点</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em</a:t>
            </a:r>
            <a:r>
              <a:rPr lang="en-US" altLang="zh-CN">
                <a:latin typeface="Times New Roman" panose="02020603050405020304" pitchFamily="18" charset="0"/>
                <a:ea typeface="宋体" panose="02010600030101010101" pitchFamily="2" charset="-122"/>
              </a:rPr>
              <a:t>=0</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sp>
        <p:nvSpPr>
          <p:cNvPr id="66562" name="文本框 109570"/>
          <p:cNvSpPr txBox="1"/>
          <p:nvPr/>
        </p:nvSpPr>
        <p:spPr>
          <a:xfrm>
            <a:off x="395288" y="404813"/>
            <a:ext cx="8280400" cy="1406525"/>
          </a:xfrm>
          <a:prstGeom prst="rect">
            <a:avLst/>
          </a:prstGeom>
          <a:noFill/>
          <a:ln w="9525">
            <a:noFill/>
          </a:ln>
        </p:spPr>
        <p:txBody>
          <a:bodyPr anchor="t" anchorCtr="0">
            <a:spAutoFit/>
          </a:bodyPr>
          <a:p>
            <a:pPr>
              <a:lnSpc>
                <a:spcPct val="120000"/>
              </a:lnSpc>
            </a:pPr>
            <a:r>
              <a:rPr lang="en-US" altLang="zh-CN" dirty="0">
                <a:latin typeface="Times New Roman" panose="02020603050405020304" pitchFamily="18" charset="0"/>
                <a:ea typeface="宋体" panose="02010600030101010101" pitchFamily="2" charset="-122"/>
              </a:rPr>
              <a:t>8-23 </a:t>
            </a:r>
            <a:r>
              <a:rPr lang="zh-CN" altLang="en-US" dirty="0">
                <a:latin typeface="Times New Roman" panose="02020603050405020304" pitchFamily="18" charset="0"/>
                <a:ea typeface="宋体" panose="02010600030101010101" pitchFamily="2" charset="-122"/>
              </a:rPr>
              <a:t>一台</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型三相异步机，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=40kW;</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=380V(Y</a:t>
            </a:r>
            <a:r>
              <a:rPr lang="zh-CN" altLang="en-US" dirty="0">
                <a:latin typeface="Times New Roman" panose="02020603050405020304" pitchFamily="18" charset="0"/>
                <a:ea typeface="宋体" panose="02010600030101010101" pitchFamily="2" charset="-122"/>
              </a:rPr>
              <a:t>接</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=75.1A; </a:t>
            </a:r>
            <a:r>
              <a:rPr lang="en-US" altLang="zh-CN" i="1" err="1">
                <a:latin typeface="Times New Roman" panose="02020603050405020304" pitchFamily="18" charset="0"/>
                <a:ea typeface="宋体" panose="02010600030101010101" pitchFamily="2" charset="-122"/>
              </a:rPr>
              <a:t>n</a:t>
            </a:r>
            <a:r>
              <a:rPr lang="en-US" altLang="zh-CN" baseline="-25000"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=1470r/min;cos</a:t>
            </a:r>
            <a:r>
              <a:rPr lang="en-US" altLang="zh-CN" i="1">
                <a:latin typeface="Times New Roman" panose="02020603050405020304" pitchFamily="18" charset="0"/>
                <a:ea typeface="宋体" panose="02010600030101010101" pitchFamily="2" charset="-122"/>
              </a:rPr>
              <a:t>φ</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=0.89, </a:t>
            </a:r>
            <a:r>
              <a:rPr lang="en-US" altLang="zh-CN" i="1" err="1">
                <a:latin typeface="Times New Roman" panose="02020603050405020304" pitchFamily="18" charset="0"/>
                <a:ea typeface="宋体" panose="02010600030101010101" pitchFamily="2" charset="-122"/>
              </a:rPr>
              <a:t>η</a:t>
            </a:r>
            <a:r>
              <a:rPr lang="en-US" altLang="zh-CN" baseline="-25000"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=0.91, </a:t>
            </a:r>
            <a:r>
              <a:rPr lang="en-US" altLang="zh-CN" i="1" err="1">
                <a:latin typeface="Times New Roman" panose="02020603050405020304" pitchFamily="18" charset="0"/>
                <a:ea typeface="宋体" panose="02010600030101010101" pitchFamily="2" charset="-122"/>
              </a:rPr>
              <a:t>λ</a:t>
            </a:r>
            <a:r>
              <a:rPr lang="en-US" altLang="zh-CN" baseline="-25000" err="1">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=6.5;</a:t>
            </a:r>
            <a:r>
              <a:rPr lang="en-US" altLang="zh-CN" i="1">
                <a:latin typeface="Times New Roman" panose="02020603050405020304" pitchFamily="18" charset="0"/>
                <a:ea typeface="宋体" panose="02010600030101010101" pitchFamily="2" charset="-122"/>
              </a:rPr>
              <a:t>λ</a:t>
            </a:r>
            <a:r>
              <a:rPr lang="en-US" altLang="zh-CN"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=1.2;</a:t>
            </a:r>
            <a:r>
              <a:rPr lang="en-US" altLang="zh-CN" i="1">
                <a:latin typeface="Times New Roman" panose="02020603050405020304" pitchFamily="18" charset="0"/>
                <a:ea typeface="宋体" panose="02010600030101010101" pitchFamily="2" charset="-122"/>
              </a:rPr>
              <a:t>λ</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。绘出</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em</a:t>
            </a:r>
            <a:r>
              <a:rPr lang="en-US" altLang="zh-CN">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f</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曲线的大致形状。</a:t>
            </a:r>
            <a:endParaRPr lang="zh-CN" altLang="en-US" dirty="0">
              <a:latin typeface="Times New Roman" panose="02020603050405020304" pitchFamily="18" charset="0"/>
              <a:ea typeface="宋体" panose="02010600030101010101" pitchFamily="2" charset="-122"/>
            </a:endParaRPr>
          </a:p>
        </p:txBody>
      </p:sp>
      <p:sp>
        <p:nvSpPr>
          <p:cNvPr id="66563" name="文本框 109571"/>
          <p:cNvSpPr txBox="1"/>
          <p:nvPr/>
        </p:nvSpPr>
        <p:spPr>
          <a:xfrm>
            <a:off x="34925" y="2708275"/>
            <a:ext cx="1409700"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额定点：</a:t>
            </a:r>
            <a:endParaRPr lang="zh-CN" altLang="en-US" dirty="0">
              <a:latin typeface="Times New Roman" panose="02020603050405020304" pitchFamily="18" charset="0"/>
              <a:ea typeface="宋体" panose="02010600030101010101" pitchFamily="2" charset="-122"/>
            </a:endParaRPr>
          </a:p>
        </p:txBody>
      </p:sp>
      <p:graphicFrame>
        <p:nvGraphicFramePr>
          <p:cNvPr id="66564" name="对象 109572"/>
          <p:cNvGraphicFramePr/>
          <p:nvPr/>
        </p:nvGraphicFramePr>
        <p:xfrm>
          <a:off x="1187450" y="2609850"/>
          <a:ext cx="4270375" cy="3178175"/>
        </p:xfrm>
        <a:graphic>
          <a:graphicData uri="http://schemas.openxmlformats.org/presentationml/2006/ole">
            <mc:AlternateContent xmlns:mc="http://schemas.openxmlformats.org/markup-compatibility/2006">
              <mc:Choice xmlns:v="urn:schemas-microsoft-com:vml" Requires="v">
                <p:oleObj spid="_x0000_s3181" name="" r:id="rId1" imgW="2184400" imgH="1625600" progId="Equation.DSMT4">
                  <p:embed/>
                </p:oleObj>
              </mc:Choice>
              <mc:Fallback>
                <p:oleObj name="" r:id="rId1" imgW="2184400" imgH="1625600" progId="Equation.DSMT4">
                  <p:embed/>
                  <p:pic>
                    <p:nvPicPr>
                      <p:cNvPr id="0" name="图片 3180"/>
                      <p:cNvPicPr/>
                      <p:nvPr/>
                    </p:nvPicPr>
                    <p:blipFill>
                      <a:blip r:embed="rId2"/>
                      <a:stretch>
                        <a:fillRect/>
                      </a:stretch>
                    </p:blipFill>
                    <p:spPr>
                      <a:xfrm>
                        <a:off x="1187450" y="2609850"/>
                        <a:ext cx="4270375" cy="3178175"/>
                      </a:xfrm>
                      <a:prstGeom prst="rect">
                        <a:avLst/>
                      </a:prstGeom>
                      <a:noFill/>
                      <a:ln w="38100">
                        <a:noFill/>
                        <a:miter/>
                      </a:ln>
                    </p:spPr>
                  </p:pic>
                </p:oleObj>
              </mc:Fallback>
            </mc:AlternateContent>
          </a:graphicData>
        </a:graphic>
      </p:graphicFrame>
      <p:sp>
        <p:nvSpPr>
          <p:cNvPr id="66565" name="文本框 109573"/>
          <p:cNvSpPr txBox="1"/>
          <p:nvPr/>
        </p:nvSpPr>
        <p:spPr>
          <a:xfrm>
            <a:off x="34925" y="5300663"/>
            <a:ext cx="1409700"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起动点：</a:t>
            </a:r>
            <a:endParaRPr lang="zh-CN" altLang="en-US" dirty="0">
              <a:latin typeface="Times New Roman" panose="02020603050405020304" pitchFamily="18" charset="0"/>
              <a:ea typeface="宋体" panose="02010600030101010101" pitchFamily="2" charset="-122"/>
            </a:endParaRPr>
          </a:p>
        </p:txBody>
      </p:sp>
      <p:grpSp>
        <p:nvGrpSpPr>
          <p:cNvPr id="66566" name="组合 109574"/>
          <p:cNvGrpSpPr>
            <a:grpSpLocks noChangeAspect="1"/>
          </p:cNvGrpSpPr>
          <p:nvPr/>
        </p:nvGrpSpPr>
        <p:grpSpPr>
          <a:xfrm>
            <a:off x="5003800" y="3290888"/>
            <a:ext cx="4067175" cy="2801937"/>
            <a:chOff x="2880" y="2458"/>
            <a:chExt cx="5220" cy="3596"/>
          </a:xfrm>
        </p:grpSpPr>
        <p:sp>
          <p:nvSpPr>
            <p:cNvPr id="66567" name="矩形 109575"/>
            <p:cNvSpPr>
              <a:spLocks noChangeAspect="1"/>
            </p:cNvSpPr>
            <p:nvPr/>
          </p:nvSpPr>
          <p:spPr>
            <a:xfrm>
              <a:off x="2880" y="2458"/>
              <a:ext cx="5220" cy="3596"/>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6568" name="直接连接符 109576"/>
            <p:cNvSpPr/>
            <p:nvPr/>
          </p:nvSpPr>
          <p:spPr>
            <a:xfrm flipV="1">
              <a:off x="3630" y="2614"/>
              <a:ext cx="1" cy="3432"/>
            </a:xfrm>
            <a:prstGeom prst="line">
              <a:avLst/>
            </a:prstGeom>
            <a:ln w="9525" cap="flat" cmpd="sng">
              <a:solidFill>
                <a:srgbClr val="000000"/>
              </a:solidFill>
              <a:prstDash val="solid"/>
              <a:round/>
              <a:headEnd type="none" w="med" len="med"/>
              <a:tailEnd type="triangle" w="med" len="med"/>
            </a:ln>
          </p:spPr>
        </p:sp>
        <p:sp>
          <p:nvSpPr>
            <p:cNvPr id="66569" name="直接连接符 109577"/>
            <p:cNvSpPr/>
            <p:nvPr/>
          </p:nvSpPr>
          <p:spPr>
            <a:xfrm>
              <a:off x="3450" y="5578"/>
              <a:ext cx="4320" cy="1"/>
            </a:xfrm>
            <a:prstGeom prst="line">
              <a:avLst/>
            </a:prstGeom>
            <a:ln w="9525" cap="flat" cmpd="sng">
              <a:solidFill>
                <a:srgbClr val="000000"/>
              </a:solidFill>
              <a:prstDash val="solid"/>
              <a:round/>
              <a:headEnd type="none" w="med" len="med"/>
              <a:tailEnd type="triangle" w="med" len="med"/>
            </a:ln>
          </p:spPr>
        </p:sp>
        <p:sp>
          <p:nvSpPr>
            <p:cNvPr id="66570" name="文本框 109578"/>
            <p:cNvSpPr txBox="1"/>
            <p:nvPr/>
          </p:nvSpPr>
          <p:spPr>
            <a:xfrm>
              <a:off x="2910" y="2458"/>
              <a:ext cx="1080" cy="624"/>
            </a:xfrm>
            <a:prstGeom prst="rect">
              <a:avLst/>
            </a:prstGeom>
            <a:noFill/>
            <a:ln w="9525">
              <a:noFill/>
            </a:ln>
          </p:spPr>
          <p:txBody>
            <a:bodyPr anchor="t" anchorCtr="0"/>
            <a:p>
              <a:pPr algn="just"/>
              <a:r>
                <a:rPr lang="en-US" altLang="zh-CN" sz="1200">
                  <a:latin typeface="Times New Roman" panose="02020603050405020304" pitchFamily="18" charset="0"/>
                  <a:ea typeface="宋体" panose="02010600030101010101" pitchFamily="2" charset="-122"/>
                </a:rPr>
                <a:t>Tem</a:t>
              </a:r>
              <a:endParaRPr lang="en-US" altLang="zh-CN">
                <a:latin typeface="Times New Roman" panose="02020603050405020304" pitchFamily="18" charset="0"/>
                <a:ea typeface="宋体" panose="02010600030101010101" pitchFamily="2" charset="-122"/>
              </a:endParaRPr>
            </a:p>
          </p:txBody>
        </p:sp>
        <p:sp>
          <p:nvSpPr>
            <p:cNvPr id="66571" name="文本框 109579"/>
            <p:cNvSpPr txBox="1"/>
            <p:nvPr/>
          </p:nvSpPr>
          <p:spPr>
            <a:xfrm>
              <a:off x="7380" y="5182"/>
              <a:ext cx="720" cy="468"/>
            </a:xfrm>
            <a:prstGeom prst="rect">
              <a:avLst/>
            </a:prstGeom>
            <a:noFill/>
            <a:ln w="9525">
              <a:noFill/>
            </a:ln>
          </p:spPr>
          <p:txBody>
            <a:bodyPr anchor="t" anchorCtr="0"/>
            <a:p>
              <a:pPr algn="just"/>
              <a:r>
                <a:rPr lang="en-US" altLang="zh-CN" sz="1200" i="1">
                  <a:latin typeface="Times New Roman" panose="02020603050405020304" pitchFamily="18" charset="0"/>
                  <a:ea typeface="宋体" panose="02010600030101010101" pitchFamily="2" charset="-122"/>
                </a:rPr>
                <a:t>S</a:t>
              </a:r>
              <a:endParaRPr lang="en-US" altLang="zh-CN">
                <a:latin typeface="Times New Roman" panose="02020603050405020304" pitchFamily="18" charset="0"/>
                <a:ea typeface="宋体" panose="02010600030101010101" pitchFamily="2" charset="-122"/>
              </a:endParaRPr>
            </a:p>
          </p:txBody>
        </p:sp>
        <p:sp>
          <p:nvSpPr>
            <p:cNvPr id="66572" name="文本框 109580"/>
            <p:cNvSpPr txBox="1"/>
            <p:nvPr/>
          </p:nvSpPr>
          <p:spPr>
            <a:xfrm>
              <a:off x="4470" y="5548"/>
              <a:ext cx="690" cy="383"/>
            </a:xfrm>
            <a:prstGeom prst="rect">
              <a:avLst/>
            </a:prstGeom>
            <a:noFill/>
            <a:ln w="9525">
              <a:noFill/>
            </a:ln>
          </p:spPr>
          <p:txBody>
            <a:bodyPr anchor="t" anchorCtr="0"/>
            <a:p>
              <a:pPr algn="just"/>
              <a:r>
                <a:rPr lang="en-US" altLang="zh-CN" sz="1000">
                  <a:latin typeface="Times New Roman" panose="02020603050405020304" pitchFamily="18" charset="0"/>
                  <a:ea typeface="宋体" panose="02010600030101010101" pitchFamily="2" charset="-122"/>
                </a:rPr>
                <a:t>Sm</a:t>
              </a:r>
              <a:endParaRPr lang="en-US" altLang="zh-CN">
                <a:latin typeface="Times New Roman" panose="02020603050405020304" pitchFamily="18" charset="0"/>
                <a:ea typeface="宋体" panose="02010600030101010101" pitchFamily="2" charset="-122"/>
              </a:endParaRPr>
            </a:p>
          </p:txBody>
        </p:sp>
        <p:sp>
          <p:nvSpPr>
            <p:cNvPr id="66573" name="文本框 109581"/>
            <p:cNvSpPr txBox="1"/>
            <p:nvPr/>
          </p:nvSpPr>
          <p:spPr>
            <a:xfrm>
              <a:off x="3810" y="5548"/>
              <a:ext cx="690" cy="383"/>
            </a:xfrm>
            <a:prstGeom prst="rect">
              <a:avLst/>
            </a:prstGeom>
            <a:noFill/>
            <a:ln w="9525">
              <a:noFill/>
            </a:ln>
          </p:spPr>
          <p:txBody>
            <a:bodyPr anchor="t" anchorCtr="0"/>
            <a:p>
              <a:pPr algn="just"/>
              <a:r>
                <a:rPr lang="en-US" altLang="zh-CN" sz="1000">
                  <a:latin typeface="Times New Roman" panose="02020603050405020304" pitchFamily="18" charset="0"/>
                  <a:ea typeface="宋体" panose="02010600030101010101" pitchFamily="2" charset="-122"/>
                </a:rPr>
                <a:t>S</a:t>
              </a:r>
              <a:r>
                <a:rPr lang="en-US" altLang="zh-CN" sz="1000" baseline="-25000">
                  <a:latin typeface="Times New Roman" panose="02020603050405020304" pitchFamily="18" charset="0"/>
                  <a:ea typeface="宋体" panose="02010600030101010101" pitchFamily="2" charset="-122"/>
                </a:rPr>
                <a:t>N</a:t>
              </a:r>
              <a:endParaRPr lang="en-US" altLang="zh-CN">
                <a:latin typeface="Times New Roman" panose="02020603050405020304" pitchFamily="18" charset="0"/>
                <a:ea typeface="宋体" panose="02010600030101010101" pitchFamily="2" charset="-122"/>
              </a:endParaRPr>
            </a:p>
          </p:txBody>
        </p:sp>
        <p:sp>
          <p:nvSpPr>
            <p:cNvPr id="66574" name="文本框 109582"/>
            <p:cNvSpPr txBox="1"/>
            <p:nvPr/>
          </p:nvSpPr>
          <p:spPr>
            <a:xfrm>
              <a:off x="3090" y="4234"/>
              <a:ext cx="540" cy="468"/>
            </a:xfrm>
            <a:prstGeom prst="rect">
              <a:avLst/>
            </a:prstGeom>
            <a:noFill/>
            <a:ln w="9525">
              <a:noFill/>
            </a:ln>
          </p:spPr>
          <p:txBody>
            <a:bodyPr anchor="t" anchorCtr="0"/>
            <a:p>
              <a:pPr algn="just"/>
              <a:r>
                <a:rPr lang="en-US" altLang="zh-CN" sz="1000">
                  <a:latin typeface="Times New Roman" panose="02020603050405020304" pitchFamily="18" charset="0"/>
                  <a:ea typeface="宋体" panose="02010600030101010101" pitchFamily="2" charset="-122"/>
                </a:rPr>
                <a:t>T</a:t>
              </a:r>
              <a:r>
                <a:rPr lang="en-US" altLang="zh-CN" sz="1000" baseline="-25000">
                  <a:latin typeface="Times New Roman" panose="02020603050405020304" pitchFamily="18" charset="0"/>
                  <a:ea typeface="宋体" panose="02010600030101010101" pitchFamily="2" charset="-122"/>
                </a:rPr>
                <a:t>N</a:t>
              </a:r>
              <a:endParaRPr lang="en-US" altLang="zh-CN">
                <a:latin typeface="Times New Roman" panose="02020603050405020304" pitchFamily="18" charset="0"/>
                <a:ea typeface="宋体" panose="02010600030101010101" pitchFamily="2" charset="-122"/>
              </a:endParaRPr>
            </a:p>
          </p:txBody>
        </p:sp>
        <p:sp>
          <p:nvSpPr>
            <p:cNvPr id="66575" name="文本框 109583"/>
            <p:cNvSpPr txBox="1"/>
            <p:nvPr/>
          </p:nvSpPr>
          <p:spPr>
            <a:xfrm>
              <a:off x="2880" y="2788"/>
              <a:ext cx="900" cy="468"/>
            </a:xfrm>
            <a:prstGeom prst="rect">
              <a:avLst/>
            </a:prstGeom>
            <a:noFill/>
            <a:ln w="9525">
              <a:noFill/>
            </a:ln>
          </p:spPr>
          <p:txBody>
            <a:bodyPr anchor="t" anchorCtr="0"/>
            <a:p>
              <a:pPr algn="just"/>
              <a:r>
                <a:rPr lang="en-US" altLang="zh-CN" sz="1000">
                  <a:latin typeface="Times New Roman" panose="02020603050405020304" pitchFamily="18" charset="0"/>
                  <a:ea typeface="宋体" panose="02010600030101010101" pitchFamily="2" charset="-122"/>
                </a:rPr>
                <a:t>Tmax</a:t>
              </a:r>
              <a:endParaRPr lang="en-US" altLang="zh-CN">
                <a:latin typeface="Times New Roman" panose="02020603050405020304" pitchFamily="18" charset="0"/>
                <a:ea typeface="宋体" panose="02010600030101010101" pitchFamily="2" charset="-122"/>
              </a:endParaRPr>
            </a:p>
          </p:txBody>
        </p:sp>
        <p:sp>
          <p:nvSpPr>
            <p:cNvPr id="66576" name="直接连接符 109584"/>
            <p:cNvSpPr/>
            <p:nvPr/>
          </p:nvSpPr>
          <p:spPr>
            <a:xfrm>
              <a:off x="7410" y="4330"/>
              <a:ext cx="1" cy="1248"/>
            </a:xfrm>
            <a:prstGeom prst="line">
              <a:avLst/>
            </a:prstGeom>
            <a:ln w="9525" cap="flat" cmpd="sng">
              <a:solidFill>
                <a:srgbClr val="FF0000"/>
              </a:solidFill>
              <a:prstDash val="dash"/>
              <a:round/>
              <a:headEnd type="none" w="med" len="med"/>
              <a:tailEnd type="none" w="med" len="med"/>
            </a:ln>
          </p:spPr>
        </p:sp>
        <p:sp>
          <p:nvSpPr>
            <p:cNvPr id="66577" name="任意多边形 109585"/>
            <p:cNvSpPr/>
            <p:nvPr/>
          </p:nvSpPr>
          <p:spPr>
            <a:xfrm>
              <a:off x="3630" y="2770"/>
              <a:ext cx="3780" cy="2808"/>
            </a:xfrm>
            <a:custGeom>
              <a:avLst/>
              <a:gdLst/>
              <a:ahLst/>
              <a:cxnLst/>
              <a:pathLst>
                <a:path w="3780" h="2808">
                  <a:moveTo>
                    <a:pt x="0" y="2808"/>
                  </a:moveTo>
                  <a:cubicBezTo>
                    <a:pt x="405" y="1716"/>
                    <a:pt x="810" y="624"/>
                    <a:pt x="1080" y="312"/>
                  </a:cubicBezTo>
                  <a:cubicBezTo>
                    <a:pt x="1350" y="0"/>
                    <a:pt x="1470" y="780"/>
                    <a:pt x="1620" y="936"/>
                  </a:cubicBezTo>
                  <a:cubicBezTo>
                    <a:pt x="1770" y="1092"/>
                    <a:pt x="1620" y="1144"/>
                    <a:pt x="1980" y="1248"/>
                  </a:cubicBezTo>
                  <a:cubicBezTo>
                    <a:pt x="2340" y="1352"/>
                    <a:pt x="3480" y="1508"/>
                    <a:pt x="3780" y="1560"/>
                  </a:cubicBez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66578" name="直接连接符 109586"/>
            <p:cNvSpPr/>
            <p:nvPr/>
          </p:nvSpPr>
          <p:spPr>
            <a:xfrm>
              <a:off x="4800" y="3082"/>
              <a:ext cx="1" cy="2496"/>
            </a:xfrm>
            <a:prstGeom prst="line">
              <a:avLst/>
            </a:prstGeom>
            <a:ln w="9525" cap="flat" cmpd="sng">
              <a:solidFill>
                <a:srgbClr val="FF0000"/>
              </a:solidFill>
              <a:prstDash val="dash"/>
              <a:round/>
              <a:headEnd type="none" w="med" len="med"/>
              <a:tailEnd type="none" w="med" len="med"/>
            </a:ln>
          </p:spPr>
        </p:sp>
        <p:sp>
          <p:nvSpPr>
            <p:cNvPr id="66579" name="直接连接符 109587"/>
            <p:cNvSpPr/>
            <p:nvPr/>
          </p:nvSpPr>
          <p:spPr>
            <a:xfrm flipH="1">
              <a:off x="3630" y="3001"/>
              <a:ext cx="1080" cy="1"/>
            </a:xfrm>
            <a:prstGeom prst="line">
              <a:avLst/>
            </a:prstGeom>
            <a:ln w="9525" cap="flat" cmpd="sng">
              <a:solidFill>
                <a:srgbClr val="FF0000"/>
              </a:solidFill>
              <a:prstDash val="dash"/>
              <a:round/>
              <a:headEnd type="none" w="med" len="med"/>
              <a:tailEnd type="none" w="med" len="med"/>
            </a:ln>
          </p:spPr>
        </p:sp>
        <p:sp>
          <p:nvSpPr>
            <p:cNvPr id="66580" name="直接连接符 109588"/>
            <p:cNvSpPr/>
            <p:nvPr/>
          </p:nvSpPr>
          <p:spPr>
            <a:xfrm>
              <a:off x="4035" y="4486"/>
              <a:ext cx="1" cy="1092"/>
            </a:xfrm>
            <a:prstGeom prst="line">
              <a:avLst/>
            </a:prstGeom>
            <a:ln w="9525" cap="flat" cmpd="sng">
              <a:solidFill>
                <a:srgbClr val="FF0000"/>
              </a:solidFill>
              <a:prstDash val="dash"/>
              <a:round/>
              <a:headEnd type="none" w="med" len="med"/>
              <a:tailEnd type="none" w="med" len="med"/>
            </a:ln>
          </p:spPr>
        </p:sp>
        <p:sp>
          <p:nvSpPr>
            <p:cNvPr id="66581" name="直接连接符 109589"/>
            <p:cNvSpPr/>
            <p:nvPr/>
          </p:nvSpPr>
          <p:spPr>
            <a:xfrm>
              <a:off x="3630" y="4516"/>
              <a:ext cx="360" cy="1"/>
            </a:xfrm>
            <a:prstGeom prst="line">
              <a:avLst/>
            </a:prstGeom>
            <a:ln w="9525" cap="flat" cmpd="sng">
              <a:solidFill>
                <a:srgbClr val="FF0000"/>
              </a:solidFill>
              <a:prstDash val="dash"/>
              <a:round/>
              <a:headEnd type="none" w="med" len="med"/>
              <a:tailEnd type="none" w="med" len="med"/>
            </a:ln>
          </p:spPr>
        </p:sp>
        <p:sp>
          <p:nvSpPr>
            <p:cNvPr id="66582" name="直接连接符 109590"/>
            <p:cNvSpPr/>
            <p:nvPr/>
          </p:nvSpPr>
          <p:spPr>
            <a:xfrm flipH="1">
              <a:off x="3630" y="4330"/>
              <a:ext cx="3780" cy="0"/>
            </a:xfrm>
            <a:prstGeom prst="line">
              <a:avLst/>
            </a:prstGeom>
            <a:ln w="9525" cap="flat" cmpd="sng">
              <a:solidFill>
                <a:srgbClr val="FF0000"/>
              </a:solidFill>
              <a:prstDash val="dash"/>
              <a:round/>
              <a:headEnd type="none" w="med" len="med"/>
              <a:tailEnd type="none" w="med" len="med"/>
            </a:ln>
          </p:spPr>
        </p:sp>
        <p:sp>
          <p:nvSpPr>
            <p:cNvPr id="66583" name="文本框 109591"/>
            <p:cNvSpPr txBox="1"/>
            <p:nvPr/>
          </p:nvSpPr>
          <p:spPr>
            <a:xfrm>
              <a:off x="3090" y="3901"/>
              <a:ext cx="720" cy="468"/>
            </a:xfrm>
            <a:prstGeom prst="rect">
              <a:avLst/>
            </a:prstGeom>
            <a:noFill/>
            <a:ln w="9525">
              <a:noFill/>
            </a:ln>
          </p:spPr>
          <p:txBody>
            <a:bodyPr anchor="t" anchorCtr="0"/>
            <a:p>
              <a:pPr algn="just"/>
              <a:r>
                <a:rPr lang="en-US" altLang="zh-CN" sz="1000">
                  <a:latin typeface="Times New Roman" panose="02020603050405020304" pitchFamily="18" charset="0"/>
                  <a:ea typeface="宋体" panose="02010600030101010101" pitchFamily="2" charset="-122"/>
                </a:rPr>
                <a:t>T</a:t>
              </a:r>
              <a:r>
                <a:rPr lang="en-US" altLang="zh-CN" sz="1000" baseline="-25000">
                  <a:latin typeface="Times New Roman" panose="02020603050405020304" pitchFamily="18" charset="0"/>
                  <a:ea typeface="宋体" panose="02010600030101010101" pitchFamily="2" charset="-122"/>
                </a:rPr>
                <a:t>k</a:t>
              </a:r>
              <a:endParaRPr lang="en-US" altLang="zh-CN">
                <a:latin typeface="Times New Roman" panose="02020603050405020304" pitchFamily="18" charset="0"/>
                <a:ea typeface="宋体" panose="02010600030101010101" pitchFamily="2" charset="-122"/>
              </a:endParaRPr>
            </a:p>
          </p:txBody>
        </p:sp>
        <p:sp>
          <p:nvSpPr>
            <p:cNvPr id="66584" name="文本框 109592"/>
            <p:cNvSpPr txBox="1"/>
            <p:nvPr/>
          </p:nvSpPr>
          <p:spPr>
            <a:xfrm>
              <a:off x="7020" y="5422"/>
              <a:ext cx="690" cy="412"/>
            </a:xfrm>
            <a:prstGeom prst="rect">
              <a:avLst/>
            </a:prstGeom>
            <a:noFill/>
            <a:ln w="9525">
              <a:noFill/>
            </a:ln>
          </p:spPr>
          <p:txBody>
            <a:bodyPr anchor="t" anchorCtr="0"/>
            <a:p>
              <a:pPr algn="just"/>
              <a:r>
                <a:rPr lang="en-US" altLang="zh-CN" sz="1000">
                  <a:latin typeface="Times New Roman" panose="02020603050405020304" pitchFamily="18" charset="0"/>
                  <a:ea typeface="宋体" panose="02010600030101010101" pitchFamily="2" charset="-122"/>
                </a:rPr>
                <a:t>s=1</a:t>
              </a:r>
              <a:endParaRPr lang="en-US" altLang="zh-CN">
                <a:latin typeface="Times New Roman" panose="02020603050405020304" pitchFamily="18" charset="0"/>
                <a:ea typeface="宋体" panose="02010600030101010101" pitchFamily="2" charset="-122"/>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矩形 107521"/>
          <p:cNvSpPr/>
          <p:nvPr/>
        </p:nvSpPr>
        <p:spPr>
          <a:xfrm>
            <a:off x="179388" y="404813"/>
            <a:ext cx="8785225" cy="191770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8-24 Y</a:t>
            </a:r>
            <a:r>
              <a:rPr lang="zh-CN" altLang="en-US" dirty="0">
                <a:latin typeface="Times New Roman" panose="02020603050405020304" pitchFamily="18" charset="0"/>
                <a:ea typeface="宋体" panose="02010600030101010101" pitchFamily="2" charset="-122"/>
              </a:rPr>
              <a:t>型三相鼠笼异步机，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=75kW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=136A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λ</a:t>
            </a:r>
            <a:r>
              <a:rPr lang="en-US" altLang="zh-CN" baseline="-2500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=6.5</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λ</a:t>
            </a:r>
            <a:r>
              <a:rPr lang="en-US" altLang="zh-CN" baseline="-2500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；直接启动时</a:t>
            </a:r>
            <a:r>
              <a:rPr lang="en-US" altLang="zh-CN" i="1">
                <a:latin typeface="Times New Roman" panose="02020603050405020304" pitchFamily="18" charset="0"/>
                <a:ea typeface="宋体" panose="02010600030101010101" pitchFamily="2" charset="-122"/>
              </a:rPr>
              <a:t>cosφ</a:t>
            </a:r>
            <a:r>
              <a:rPr lang="en-US" altLang="zh-CN" baseline="-2500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=0.32</a:t>
            </a:r>
            <a:r>
              <a:rPr lang="zh-CN" altLang="en-US" dirty="0">
                <a:latin typeface="Times New Roman" panose="02020603050405020304" pitchFamily="18" charset="0"/>
                <a:ea typeface="宋体" panose="02010600030101010101" pitchFamily="2" charset="-122"/>
              </a:rPr>
              <a:t>，定子</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，串联电抗器启动。</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启动电流为</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3.25</a:t>
            </a:r>
            <a:r>
              <a:rPr lang="zh-CN" altLang="en-US" dirty="0">
                <a:latin typeface="Times New Roman" panose="02020603050405020304" pitchFamily="18" charset="0"/>
                <a:ea typeface="宋体" panose="02010600030101010101" pitchFamily="2" charset="-122"/>
              </a:rPr>
              <a:t>倍，电抗值？</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启动力矩不低于额定力矩的</a:t>
            </a:r>
            <a:r>
              <a:rPr lang="en-US" altLang="zh-CN" dirty="0">
                <a:latin typeface="Times New Roman" panose="02020603050405020304" pitchFamily="18" charset="0"/>
                <a:ea typeface="宋体" panose="02010600030101010101" pitchFamily="2" charset="-122"/>
              </a:rPr>
              <a:t>0.55</a:t>
            </a:r>
            <a:r>
              <a:rPr lang="zh-CN" altLang="en-US" dirty="0">
                <a:latin typeface="Times New Roman" panose="02020603050405020304" pitchFamily="18" charset="0"/>
                <a:ea typeface="宋体" panose="02010600030101010101" pitchFamily="2" charset="-122"/>
              </a:rPr>
              <a:t>倍，电抗器的最大电抗值？</a:t>
            </a:r>
            <a:endParaRPr lang="zh-CN" altLang="en-US" dirty="0">
              <a:latin typeface="Times New Roman" panose="02020603050405020304" pitchFamily="18" charset="0"/>
              <a:ea typeface="宋体" panose="02010600030101010101" pitchFamily="2" charset="-122"/>
            </a:endParaRPr>
          </a:p>
        </p:txBody>
      </p:sp>
      <p:sp>
        <p:nvSpPr>
          <p:cNvPr id="67586" name="矩形 107523"/>
          <p:cNvSpPr/>
          <p:nvPr/>
        </p:nvSpPr>
        <p:spPr>
          <a:xfrm>
            <a:off x="250825" y="2420938"/>
            <a:ext cx="5329238" cy="2647950"/>
          </a:xfrm>
          <a:prstGeom prst="rect">
            <a:avLst/>
          </a:prstGeom>
          <a:noFill/>
          <a:ln w="9525">
            <a:noFill/>
          </a:ln>
        </p:spPr>
        <p:txBody>
          <a:bodyPr anchor="ctr" anchorCtr="0">
            <a:spAutoFit/>
          </a:bodyPr>
          <a:p>
            <a:pPr>
              <a:lnSpc>
                <a:spcPct val="140000"/>
              </a:lnSpc>
            </a:pPr>
            <a:r>
              <a:rPr lang="zh-CN" altLang="en-US" dirty="0">
                <a:latin typeface="Times New Roman" panose="02020603050405020304" pitchFamily="18" charset="0"/>
                <a:ea typeface="宋体" panose="02010600030101010101" pitchFamily="2" charset="-122"/>
              </a:rPr>
              <a:t>解</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I</a:t>
            </a:r>
            <a:r>
              <a:rPr lang="en-US" altLang="zh-CN"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=6.5</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136=</a:t>
            </a:r>
            <a:r>
              <a:rPr lang="en-US" altLang="zh-CN">
                <a:latin typeface="Times New Roman" panose="02020603050405020304" pitchFamily="18" charset="0"/>
                <a:ea typeface="宋体" panose="02010600030101010101" pitchFamily="2" charset="-122"/>
                <a:sym typeface="Symbol" panose="05050102010706020507" pitchFamily="18" charset="2"/>
              </a:rPr>
              <a:t>884A</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40000"/>
              </a:lnSpc>
            </a:pPr>
            <a:r>
              <a:rPr lang="en-US" altLang="zh-CN">
                <a:latin typeface="Times New Roman" panose="02020603050405020304" pitchFamily="18" charset="0"/>
                <a:ea typeface="宋体" panose="02010600030101010101" pitchFamily="2" charset="-122"/>
                <a:sym typeface="Symbol" panose="05050102010706020507" pitchFamily="18" charset="2"/>
              </a:rPr>
              <a:t>        Z</a:t>
            </a:r>
            <a:r>
              <a:rPr lang="en-US" altLang="zh-CN" baseline="-30000">
                <a:latin typeface="Times New Roman" panose="02020603050405020304" pitchFamily="18" charset="0"/>
                <a:ea typeface="宋体" panose="02010600030101010101" pitchFamily="2" charset="-122"/>
                <a:sym typeface="Symbol" panose="05050102010706020507" pitchFamily="18" charset="2"/>
              </a:rPr>
              <a:t>k</a:t>
            </a:r>
            <a:r>
              <a:rPr lang="en-US" altLang="zh-CN">
                <a:latin typeface="Times New Roman" panose="02020603050405020304" pitchFamily="18" charset="0"/>
                <a:ea typeface="宋体" panose="02010600030101010101" pitchFamily="2" charset="-122"/>
                <a:sym typeface="Symbol" panose="05050102010706020507" pitchFamily="18" charset="2"/>
              </a:rPr>
              <a:t>=0.079+j0.235</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40000"/>
              </a:lnSpc>
            </a:pPr>
            <a:r>
              <a:rPr lang="en-US" altLang="zh-CN">
                <a:latin typeface="Times New Roman" panose="02020603050405020304" pitchFamily="18" charset="0"/>
                <a:ea typeface="宋体" panose="02010600030101010101" pitchFamily="2" charset="-122"/>
                <a:sym typeface="Symbol" panose="05050102010706020507" pitchFamily="18" charset="2"/>
              </a:rPr>
              <a:t>(1)   I</a:t>
            </a:r>
            <a:r>
              <a:rPr lang="en-US" altLang="zh-CN" baseline="-30000">
                <a:latin typeface="Times New Roman" panose="02020603050405020304" pitchFamily="18" charset="0"/>
                <a:ea typeface="宋体" panose="02010600030101010101" pitchFamily="2" charset="-122"/>
                <a:sym typeface="Symbol" panose="05050102010706020507" pitchFamily="18" charset="2"/>
              </a:rPr>
              <a:t>k</a:t>
            </a:r>
            <a:r>
              <a:rPr lang="en-US" altLang="zh-CN">
                <a:latin typeface="Times New Roman" panose="02020603050405020304" pitchFamily="18" charset="0"/>
                <a:ea typeface="宋体" panose="02010600030101010101" pitchFamily="2" charset="-122"/>
                <a:sym typeface="Symbol" panose="05050102010706020507" pitchFamily="18" charset="2"/>
              </a:rPr>
              <a:t>=3.25 I</a:t>
            </a:r>
            <a:r>
              <a:rPr lang="en-US" altLang="zh-CN" baseline="-30000">
                <a:latin typeface="Times New Roman" panose="02020603050405020304" pitchFamily="18" charset="0"/>
                <a:ea typeface="宋体" panose="02010600030101010101" pitchFamily="2" charset="-122"/>
                <a:sym typeface="Symbol" panose="05050102010706020507" pitchFamily="18" charset="2"/>
              </a:rPr>
              <a:t>N</a:t>
            </a:r>
            <a:r>
              <a:rPr lang="zh-CN" altLang="en-US" dirty="0">
                <a:latin typeface="Times New Roman" panose="02020603050405020304" pitchFamily="18" charset="0"/>
                <a:ea typeface="宋体" panose="02010600030101010101" pitchFamily="2" charset="-122"/>
                <a:sym typeface="Symbol" panose="05050102010706020507" pitchFamily="18" charset="2"/>
              </a:rPr>
              <a:t>时</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zh-CN" altLang="en-US" dirty="0">
                <a:latin typeface="Times New Roman" panose="02020603050405020304" pitchFamily="18" charset="0"/>
                <a:ea typeface="宋体" panose="02010600030101010101" pitchFamily="2" charset="-122"/>
                <a:sym typeface="Symbol" panose="05050102010706020507" pitchFamily="18" charset="2"/>
              </a:rPr>
              <a:t>总起动电抗值为</a:t>
            </a:r>
            <a:r>
              <a:rPr lang="en-US" altLang="zh-CN">
                <a:latin typeface="Times New Roman" panose="02020603050405020304" pitchFamily="18" charset="0"/>
                <a:ea typeface="宋体" panose="02010600030101010101" pitchFamily="2" charset="-122"/>
                <a:sym typeface="Symbol" panose="05050102010706020507" pitchFamily="18" charset="2"/>
              </a:rPr>
              <a:t>:</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40000"/>
              </a:lnSpc>
            </a:pPr>
            <a:r>
              <a:rPr lang="en-US" altLang="zh-CN">
                <a:latin typeface="Times New Roman" panose="02020603050405020304" pitchFamily="18" charset="0"/>
                <a:ea typeface="宋体" panose="02010600030101010101" pitchFamily="2" charset="-122"/>
                <a:sym typeface="Symbol" panose="05050102010706020507" pitchFamily="18" charset="2"/>
              </a:rPr>
              <a:t>        Z=380/(1.732</a:t>
            </a:r>
            <a:r>
              <a:rPr lang="en-US" altLang="zh-CN">
                <a:latin typeface="Times New Roman" panose="02020603050405020304" pitchFamily="18" charset="0"/>
                <a:ea typeface="宋体" panose="02010600030101010101" pitchFamily="2" charset="-122"/>
              </a:rPr>
              <a:t>3.25</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136)=0.496</a:t>
            </a:r>
            <a:r>
              <a:rPr lang="zh-CN" altLang="en-US" dirty="0">
                <a:latin typeface="Times New Roman" panose="02020603050405020304" pitchFamily="18" charset="0"/>
                <a:ea typeface="宋体" panose="02010600030101010101" pitchFamily="2" charset="-122"/>
                <a:sym typeface="Symbol" panose="05050102010706020507" pitchFamily="18" charset="2"/>
              </a:rPr>
              <a:t>欧</a:t>
            </a:r>
            <a:endParaRPr lang="zh-CN" altLang="en-US" dirty="0">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40000"/>
              </a:lnSpc>
            </a:pPr>
            <a:r>
              <a:rPr lang="zh-CN" altLang="en-US" dirty="0">
                <a:latin typeface="Times New Roman" panose="02020603050405020304" pitchFamily="18" charset="0"/>
                <a:ea typeface="宋体" panose="02010600030101010101" pitchFamily="2" charset="-122"/>
                <a:sym typeface="Symbol" panose="05050102010706020507" pitchFamily="18" charset="2"/>
              </a:rPr>
              <a:t>        设外串电抗值为</a:t>
            </a:r>
            <a:r>
              <a:rPr lang="en-US" altLang="zh-CN">
                <a:latin typeface="Times New Roman" panose="02020603050405020304" pitchFamily="18" charset="0"/>
                <a:ea typeface="宋体" panose="02010600030101010101" pitchFamily="2" charset="-122"/>
                <a:sym typeface="Symbol" panose="05050102010706020507" pitchFamily="18" charset="2"/>
              </a:rPr>
              <a:t>x:</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67587" name="对象 107522"/>
          <p:cNvGraphicFramePr/>
          <p:nvPr/>
        </p:nvGraphicFramePr>
        <p:xfrm>
          <a:off x="1187450" y="5229225"/>
          <a:ext cx="6602413" cy="569913"/>
        </p:xfrm>
        <a:graphic>
          <a:graphicData uri="http://schemas.openxmlformats.org/presentationml/2006/ole">
            <mc:AlternateContent xmlns:mc="http://schemas.openxmlformats.org/markup-compatibility/2006">
              <mc:Choice xmlns:v="urn:schemas-microsoft-com:vml" Requires="v">
                <p:oleObj spid="_x0000_s3186" name="" r:id="rId1" imgW="3415030" imgH="292100" progId="Equation.DSMT4">
                  <p:embed/>
                </p:oleObj>
              </mc:Choice>
              <mc:Fallback>
                <p:oleObj name="" r:id="rId1" imgW="3415030" imgH="292100" progId="Equation.DSMT4">
                  <p:embed/>
                  <p:pic>
                    <p:nvPicPr>
                      <p:cNvPr id="0" name="图片 3185"/>
                      <p:cNvPicPr/>
                      <p:nvPr/>
                    </p:nvPicPr>
                    <p:blipFill>
                      <a:blip r:embed="rId2"/>
                      <a:stretch>
                        <a:fillRect/>
                      </a:stretch>
                    </p:blipFill>
                    <p:spPr>
                      <a:xfrm>
                        <a:off x="1187450" y="5229225"/>
                        <a:ext cx="6602413" cy="569913"/>
                      </a:xfrm>
                      <a:prstGeom prst="rect">
                        <a:avLst/>
                      </a:prstGeom>
                      <a:noFill/>
                      <a:ln w="38100">
                        <a:noFill/>
                        <a:miter/>
                      </a:ln>
                    </p:spPr>
                  </p:pic>
                </p:oleObj>
              </mc:Fallback>
            </mc:AlternateContent>
          </a:graphicData>
        </a:graphic>
      </p:graphicFrame>
      <p:sp>
        <p:nvSpPr>
          <p:cNvPr id="67588" name="矩形 107524"/>
          <p:cNvSpPr/>
          <p:nvPr/>
        </p:nvSpPr>
        <p:spPr>
          <a:xfrm>
            <a:off x="1042988" y="5949950"/>
            <a:ext cx="3994150"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外串最大电抗为</a:t>
            </a:r>
            <a:r>
              <a:rPr lang="en-US" altLang="zh-CN" dirty="0">
                <a:latin typeface="Times New Roman" panose="02020603050405020304" pitchFamily="18" charset="0"/>
                <a:ea typeface="宋体" panose="02010600030101010101" pitchFamily="2" charset="-122"/>
              </a:rPr>
              <a:t>:0.107</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p:txBody>
      </p:sp>
      <p:grpSp>
        <p:nvGrpSpPr>
          <p:cNvPr id="67589" name="组合 107570"/>
          <p:cNvGrpSpPr/>
          <p:nvPr/>
        </p:nvGrpSpPr>
        <p:grpSpPr>
          <a:xfrm>
            <a:off x="5724525" y="2924175"/>
            <a:ext cx="2941638" cy="1865313"/>
            <a:chOff x="3334" y="1560"/>
            <a:chExt cx="1853" cy="1175"/>
          </a:xfrm>
        </p:grpSpPr>
        <p:grpSp>
          <p:nvGrpSpPr>
            <p:cNvPr id="67590" name="组合 107527"/>
            <p:cNvGrpSpPr/>
            <p:nvPr/>
          </p:nvGrpSpPr>
          <p:grpSpPr>
            <a:xfrm>
              <a:off x="4542" y="1721"/>
              <a:ext cx="645" cy="123"/>
              <a:chOff x="2256" y="2208"/>
              <a:chExt cx="864" cy="163"/>
            </a:xfrm>
          </p:grpSpPr>
          <p:sp>
            <p:nvSpPr>
              <p:cNvPr id="67591" name="任意多边形 107528"/>
              <p:cNvSpPr/>
              <p:nvPr/>
            </p:nvSpPr>
            <p:spPr>
              <a:xfrm flipH="1">
                <a:off x="2406" y="2208"/>
                <a:ext cx="181" cy="163"/>
              </a:xfrm>
              <a:custGeom>
                <a:avLst/>
                <a:gdLst/>
                <a:ahLst/>
                <a:cxnLst>
                  <a:cxn ang="180">
                    <a:pos x="0" y="14535"/>
                  </a:cxn>
                  <a:cxn ang="0">
                    <a:pos x="40506" y="13676"/>
                  </a:cxn>
                  <a:cxn ang="90">
                    <a:pos x="20412" y="21600"/>
                  </a:cxn>
                </a:cxnLst>
                <a:pathLst>
                  <a:path w="40506" h="21600" fill="none">
                    <a:moveTo>
                      <a:pt x="0" y="14535"/>
                    </a:moveTo>
                    <a:cubicBezTo>
                      <a:pt x="2926" y="6071"/>
                      <a:pt x="10960" y="0"/>
                      <a:pt x="20412" y="0"/>
                    </a:cubicBezTo>
                    <a:cubicBezTo>
                      <a:pt x="29542" y="0"/>
                      <a:pt x="37349" y="5665"/>
                      <a:pt x="40509" y="13668"/>
                    </a:cubicBezTo>
                  </a:path>
                  <a:path w="40506" h="21600" stroke="0">
                    <a:moveTo>
                      <a:pt x="0" y="14535"/>
                    </a:moveTo>
                    <a:cubicBezTo>
                      <a:pt x="2926" y="6071"/>
                      <a:pt x="10960" y="0"/>
                      <a:pt x="20412" y="0"/>
                    </a:cubicBezTo>
                    <a:cubicBezTo>
                      <a:pt x="29542" y="0"/>
                      <a:pt x="37349" y="5665"/>
                      <a:pt x="40509" y="13668"/>
                    </a:cubicBezTo>
                    <a:lnTo>
                      <a:pt x="20412"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67592" name="任意多边形 107529"/>
              <p:cNvSpPr/>
              <p:nvPr/>
            </p:nvSpPr>
            <p:spPr>
              <a:xfrm flipH="1">
                <a:off x="2592" y="2208"/>
                <a:ext cx="181" cy="163"/>
              </a:xfrm>
              <a:custGeom>
                <a:avLst/>
                <a:gdLst/>
                <a:ahLst/>
                <a:cxnLst>
                  <a:cxn ang="180">
                    <a:pos x="0" y="14535"/>
                  </a:cxn>
                  <a:cxn ang="0">
                    <a:pos x="40506" y="13676"/>
                  </a:cxn>
                  <a:cxn ang="90">
                    <a:pos x="20412" y="21600"/>
                  </a:cxn>
                </a:cxnLst>
                <a:pathLst>
                  <a:path w="40506" h="21600" fill="none">
                    <a:moveTo>
                      <a:pt x="0" y="14535"/>
                    </a:moveTo>
                    <a:cubicBezTo>
                      <a:pt x="2926" y="6071"/>
                      <a:pt x="10960" y="0"/>
                      <a:pt x="20412" y="0"/>
                    </a:cubicBezTo>
                    <a:cubicBezTo>
                      <a:pt x="29542" y="0"/>
                      <a:pt x="37349" y="5665"/>
                      <a:pt x="40509" y="13668"/>
                    </a:cubicBezTo>
                  </a:path>
                  <a:path w="40506" h="21600" stroke="0">
                    <a:moveTo>
                      <a:pt x="0" y="14535"/>
                    </a:moveTo>
                    <a:cubicBezTo>
                      <a:pt x="2926" y="6071"/>
                      <a:pt x="10960" y="0"/>
                      <a:pt x="20412" y="0"/>
                    </a:cubicBezTo>
                    <a:cubicBezTo>
                      <a:pt x="29542" y="0"/>
                      <a:pt x="37349" y="5665"/>
                      <a:pt x="40509" y="13668"/>
                    </a:cubicBezTo>
                    <a:lnTo>
                      <a:pt x="20412"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67593" name="任意多边形 107530"/>
              <p:cNvSpPr/>
              <p:nvPr/>
            </p:nvSpPr>
            <p:spPr>
              <a:xfrm flipH="1">
                <a:off x="2784" y="2208"/>
                <a:ext cx="181" cy="163"/>
              </a:xfrm>
              <a:custGeom>
                <a:avLst/>
                <a:gdLst/>
                <a:ahLst/>
                <a:cxnLst>
                  <a:cxn ang="180">
                    <a:pos x="0" y="14535"/>
                  </a:cxn>
                  <a:cxn ang="0">
                    <a:pos x="40506" y="13676"/>
                  </a:cxn>
                  <a:cxn ang="90">
                    <a:pos x="20412" y="21600"/>
                  </a:cxn>
                </a:cxnLst>
                <a:pathLst>
                  <a:path w="40506" h="21600" fill="none">
                    <a:moveTo>
                      <a:pt x="0" y="14535"/>
                    </a:moveTo>
                    <a:cubicBezTo>
                      <a:pt x="2926" y="6071"/>
                      <a:pt x="10960" y="0"/>
                      <a:pt x="20412" y="0"/>
                    </a:cubicBezTo>
                    <a:cubicBezTo>
                      <a:pt x="29542" y="0"/>
                      <a:pt x="37349" y="5665"/>
                      <a:pt x="40509" y="13668"/>
                    </a:cubicBezTo>
                  </a:path>
                  <a:path w="40506" h="21600" stroke="0">
                    <a:moveTo>
                      <a:pt x="0" y="14535"/>
                    </a:moveTo>
                    <a:cubicBezTo>
                      <a:pt x="2926" y="6071"/>
                      <a:pt x="10960" y="0"/>
                      <a:pt x="20412" y="0"/>
                    </a:cubicBezTo>
                    <a:cubicBezTo>
                      <a:pt x="29542" y="0"/>
                      <a:pt x="37349" y="5665"/>
                      <a:pt x="40509" y="13668"/>
                    </a:cubicBezTo>
                    <a:lnTo>
                      <a:pt x="20412"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67594" name="直接连接符 107531"/>
              <p:cNvSpPr/>
              <p:nvPr/>
            </p:nvSpPr>
            <p:spPr>
              <a:xfrm>
                <a:off x="2256" y="2304"/>
                <a:ext cx="144" cy="0"/>
              </a:xfrm>
              <a:prstGeom prst="line">
                <a:avLst/>
              </a:prstGeom>
              <a:ln w="38100" cap="flat" cmpd="sng">
                <a:solidFill>
                  <a:schemeClr val="tx1"/>
                </a:solidFill>
                <a:prstDash val="solid"/>
                <a:round/>
                <a:headEnd type="none" w="med" len="med"/>
                <a:tailEnd type="none" w="med" len="med"/>
              </a:ln>
            </p:spPr>
          </p:sp>
          <p:sp>
            <p:nvSpPr>
              <p:cNvPr id="67595" name="直接连接符 107532"/>
              <p:cNvSpPr/>
              <p:nvPr/>
            </p:nvSpPr>
            <p:spPr>
              <a:xfrm>
                <a:off x="2976" y="2304"/>
                <a:ext cx="144" cy="0"/>
              </a:xfrm>
              <a:prstGeom prst="line">
                <a:avLst/>
              </a:prstGeom>
              <a:ln w="38100" cap="flat" cmpd="sng">
                <a:solidFill>
                  <a:schemeClr val="tx1"/>
                </a:solidFill>
                <a:prstDash val="solid"/>
                <a:round/>
                <a:headEnd type="none" w="med" len="med"/>
                <a:tailEnd type="none" w="med" len="med"/>
              </a:ln>
            </p:spPr>
          </p:sp>
        </p:grpSp>
        <p:sp>
          <p:nvSpPr>
            <p:cNvPr id="67596" name="直接连接符 107534"/>
            <p:cNvSpPr/>
            <p:nvPr/>
          </p:nvSpPr>
          <p:spPr>
            <a:xfrm flipH="1">
              <a:off x="4008" y="1792"/>
              <a:ext cx="181" cy="0"/>
            </a:xfrm>
            <a:prstGeom prst="line">
              <a:avLst/>
            </a:prstGeom>
            <a:ln w="38100" cap="flat" cmpd="sng">
              <a:solidFill>
                <a:schemeClr val="tx1"/>
              </a:solidFill>
              <a:prstDash val="solid"/>
              <a:round/>
              <a:headEnd type="none" w="med" len="med"/>
              <a:tailEnd type="none" w="med" len="med"/>
            </a:ln>
          </p:spPr>
        </p:sp>
        <p:sp>
          <p:nvSpPr>
            <p:cNvPr id="67597" name="文本框 107535"/>
            <p:cNvSpPr txBox="1"/>
            <p:nvPr/>
          </p:nvSpPr>
          <p:spPr>
            <a:xfrm>
              <a:off x="4286" y="1706"/>
              <a:ext cx="291" cy="327"/>
            </a:xfrm>
            <a:prstGeom prst="rect">
              <a:avLst/>
            </a:prstGeom>
            <a:noFill/>
            <a:ln w="9525">
              <a:noFill/>
            </a:ln>
          </p:spPr>
          <p:txBody>
            <a:bodyPr lIns="0" rIns="0" anchor="t" anchorCtr="0">
              <a:spAutoFit/>
            </a:bodyPr>
            <a:p>
              <a:r>
                <a:rPr lang="en-US" altLang="zh-CN" sz="2800" err="1">
                  <a:latin typeface="Times New Roman" panose="02020603050405020304" pitchFamily="18" charset="0"/>
                  <a:ea typeface="宋体" panose="02010600030101010101" pitchFamily="2" charset="-122"/>
                </a:rPr>
                <a:t>r</a:t>
              </a:r>
              <a:r>
                <a:rPr lang="en-US" altLang="zh-CN" sz="2800" baseline="-25000" err="1">
                  <a:latin typeface="Times New Roman" panose="02020603050405020304" pitchFamily="18" charset="0"/>
                  <a:ea typeface="宋体" panose="02010600030101010101" pitchFamily="2" charset="-122"/>
                </a:rPr>
                <a:t>k</a:t>
              </a:r>
              <a:endParaRPr lang="en-US" altLang="zh-CN" b="0">
                <a:latin typeface="Times New Roman" panose="02020603050405020304" pitchFamily="18" charset="0"/>
                <a:ea typeface="宋体" panose="02010600030101010101" pitchFamily="2" charset="-122"/>
              </a:endParaRPr>
            </a:p>
          </p:txBody>
        </p:sp>
        <p:sp>
          <p:nvSpPr>
            <p:cNvPr id="67598" name="文本框 107536"/>
            <p:cNvSpPr txBox="1"/>
            <p:nvPr/>
          </p:nvSpPr>
          <p:spPr>
            <a:xfrm>
              <a:off x="4740" y="1706"/>
              <a:ext cx="416" cy="327"/>
            </a:xfrm>
            <a:prstGeom prst="rect">
              <a:avLst/>
            </a:prstGeom>
            <a:noFill/>
            <a:ln w="9525">
              <a:noFill/>
            </a:ln>
          </p:spPr>
          <p:txBody>
            <a:bodyPr lIns="0" rIns="0" anchor="t" anchorCtr="0">
              <a:spAutoFit/>
            </a:bodyPr>
            <a:p>
              <a:r>
                <a:rPr lang="en-US" altLang="zh-CN" sz="2800" err="1">
                  <a:latin typeface="Times New Roman" panose="02020603050405020304" pitchFamily="18" charset="0"/>
                  <a:ea typeface="宋体" panose="02010600030101010101" pitchFamily="2" charset="-122"/>
                </a:rPr>
                <a:t>jx</a:t>
              </a:r>
              <a:r>
                <a:rPr lang="en-US" altLang="zh-CN" sz="2800" baseline="-25000" err="1">
                  <a:latin typeface="Times New Roman" panose="02020603050405020304" pitchFamily="18" charset="0"/>
                  <a:ea typeface="宋体" panose="02010600030101010101" pitchFamily="2" charset="-122"/>
                </a:rPr>
                <a:t>k</a:t>
              </a:r>
              <a:endParaRPr lang="en-US" altLang="zh-CN" sz="2800">
                <a:latin typeface="Times New Roman" panose="02020603050405020304" pitchFamily="18" charset="0"/>
                <a:ea typeface="宋体" panose="02010600030101010101" pitchFamily="2" charset="-122"/>
              </a:endParaRPr>
            </a:p>
          </p:txBody>
        </p:sp>
        <p:sp>
          <p:nvSpPr>
            <p:cNvPr id="67599" name="直接连接符 107538"/>
            <p:cNvSpPr/>
            <p:nvPr/>
          </p:nvSpPr>
          <p:spPr>
            <a:xfrm flipH="1">
              <a:off x="4054" y="1790"/>
              <a:ext cx="93" cy="7"/>
            </a:xfrm>
            <a:prstGeom prst="line">
              <a:avLst/>
            </a:prstGeom>
            <a:ln w="38100" cap="flat" cmpd="sng">
              <a:solidFill>
                <a:schemeClr val="tx1"/>
              </a:solidFill>
              <a:prstDash val="solid"/>
              <a:round/>
              <a:headEnd type="triangle" w="med" len="med"/>
              <a:tailEnd type="none" w="med" len="med"/>
            </a:ln>
          </p:spPr>
        </p:sp>
        <p:graphicFrame>
          <p:nvGraphicFramePr>
            <p:cNvPr id="67600" name="对象 107539"/>
            <p:cNvGraphicFramePr/>
            <p:nvPr/>
          </p:nvGraphicFramePr>
          <p:xfrm>
            <a:off x="4024" y="1560"/>
            <a:ext cx="192" cy="202"/>
          </p:xfrm>
          <a:graphic>
            <a:graphicData uri="http://schemas.openxmlformats.org/presentationml/2006/ole">
              <mc:AlternateContent xmlns:mc="http://schemas.openxmlformats.org/markup-compatibility/2006">
                <mc:Choice xmlns:v="urn:schemas-microsoft-com:vml" Requires="v">
                  <p:oleObj spid="_x0000_s3187" name="" r:id="rId3" imgW="177800" imgH="316865" progId="Equation.3">
                    <p:embed/>
                  </p:oleObj>
                </mc:Choice>
                <mc:Fallback>
                  <p:oleObj name="" r:id="rId3" imgW="177800" imgH="316865" progId="Equation.3">
                    <p:embed/>
                    <p:pic>
                      <p:nvPicPr>
                        <p:cNvPr id="0" name="图片 3186"/>
                        <p:cNvPicPr/>
                        <p:nvPr/>
                      </p:nvPicPr>
                      <p:blipFill>
                        <a:blip r:embed="rId4"/>
                        <a:stretch>
                          <a:fillRect/>
                        </a:stretch>
                      </p:blipFill>
                      <p:spPr>
                        <a:xfrm>
                          <a:off x="4024" y="1560"/>
                          <a:ext cx="192" cy="202"/>
                        </a:xfrm>
                        <a:prstGeom prst="rect">
                          <a:avLst/>
                        </a:prstGeom>
                        <a:noFill/>
                        <a:ln w="38100">
                          <a:noFill/>
                          <a:miter/>
                        </a:ln>
                      </p:spPr>
                    </p:pic>
                  </p:oleObj>
                </mc:Fallback>
              </mc:AlternateContent>
            </a:graphicData>
          </a:graphic>
        </p:graphicFrame>
        <p:sp>
          <p:nvSpPr>
            <p:cNvPr id="67601" name="直接连接符 107541"/>
            <p:cNvSpPr/>
            <p:nvPr/>
          </p:nvSpPr>
          <p:spPr>
            <a:xfrm>
              <a:off x="3424" y="2704"/>
              <a:ext cx="1763" cy="0"/>
            </a:xfrm>
            <a:prstGeom prst="line">
              <a:avLst/>
            </a:prstGeom>
            <a:ln w="38100" cap="flat" cmpd="sng">
              <a:solidFill>
                <a:schemeClr val="tx1"/>
              </a:solidFill>
              <a:prstDash val="solid"/>
              <a:round/>
              <a:headEnd type="none" w="med" len="med"/>
              <a:tailEnd type="none" w="med" len="med"/>
            </a:ln>
          </p:spPr>
        </p:sp>
        <p:graphicFrame>
          <p:nvGraphicFramePr>
            <p:cNvPr id="67602" name="对象 107542"/>
            <p:cNvGraphicFramePr/>
            <p:nvPr/>
          </p:nvGraphicFramePr>
          <p:xfrm>
            <a:off x="4105" y="2069"/>
            <a:ext cx="344" cy="269"/>
          </p:xfrm>
          <a:graphic>
            <a:graphicData uri="http://schemas.openxmlformats.org/presentationml/2006/ole">
              <mc:AlternateContent xmlns:mc="http://schemas.openxmlformats.org/markup-compatibility/2006">
                <mc:Choice xmlns:v="urn:schemas-microsoft-com:vml" Requires="v">
                  <p:oleObj spid="_x0000_s3188" name="" r:id="rId5" imgW="190500" imgH="228600" progId="Equation.3">
                    <p:embed/>
                  </p:oleObj>
                </mc:Choice>
                <mc:Fallback>
                  <p:oleObj name="" r:id="rId5" imgW="190500" imgH="228600" progId="Equation.3">
                    <p:embed/>
                    <p:pic>
                      <p:nvPicPr>
                        <p:cNvPr id="0" name="图片 3187"/>
                        <p:cNvPicPr/>
                        <p:nvPr/>
                      </p:nvPicPr>
                      <p:blipFill>
                        <a:blip r:embed="rId6"/>
                        <a:stretch>
                          <a:fillRect/>
                        </a:stretch>
                      </p:blipFill>
                      <p:spPr>
                        <a:xfrm>
                          <a:off x="4105" y="2069"/>
                          <a:ext cx="344" cy="269"/>
                        </a:xfrm>
                        <a:prstGeom prst="rect">
                          <a:avLst/>
                        </a:prstGeom>
                        <a:noFill/>
                        <a:ln w="38100">
                          <a:noFill/>
                          <a:miter/>
                        </a:ln>
                      </p:spPr>
                    </p:pic>
                  </p:oleObj>
                </mc:Fallback>
              </mc:AlternateContent>
            </a:graphicData>
          </a:graphic>
        </p:graphicFrame>
        <p:sp>
          <p:nvSpPr>
            <p:cNvPr id="67603" name="直接连接符 107543"/>
            <p:cNvSpPr/>
            <p:nvPr/>
          </p:nvSpPr>
          <p:spPr>
            <a:xfrm>
              <a:off x="5187" y="1802"/>
              <a:ext cx="0" cy="902"/>
            </a:xfrm>
            <a:prstGeom prst="line">
              <a:avLst/>
            </a:prstGeom>
            <a:ln w="38100" cap="flat" cmpd="sng">
              <a:solidFill>
                <a:schemeClr val="tx1"/>
              </a:solidFill>
              <a:prstDash val="solid"/>
              <a:round/>
              <a:headEnd type="none" w="med" len="med"/>
              <a:tailEnd type="none" w="med" len="med"/>
            </a:ln>
          </p:spPr>
        </p:sp>
        <p:sp>
          <p:nvSpPr>
            <p:cNvPr id="67604" name="直接连接符 107553"/>
            <p:cNvSpPr/>
            <p:nvPr/>
          </p:nvSpPr>
          <p:spPr>
            <a:xfrm>
              <a:off x="4059" y="1979"/>
              <a:ext cx="0" cy="510"/>
            </a:xfrm>
            <a:prstGeom prst="line">
              <a:avLst/>
            </a:prstGeom>
            <a:ln w="38100" cap="flat" cmpd="sng">
              <a:solidFill>
                <a:srgbClr val="FF0000"/>
              </a:solidFill>
              <a:prstDash val="solid"/>
              <a:round/>
              <a:headEnd type="none" w="med" len="med"/>
              <a:tailEnd type="triangle" w="med" len="med"/>
            </a:ln>
          </p:spPr>
        </p:sp>
        <p:sp>
          <p:nvSpPr>
            <p:cNvPr id="67605" name="矩形 107526"/>
            <p:cNvSpPr/>
            <p:nvPr/>
          </p:nvSpPr>
          <p:spPr>
            <a:xfrm>
              <a:off x="4183" y="1757"/>
              <a:ext cx="369" cy="60"/>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67606" name="组合 107555"/>
            <p:cNvGrpSpPr/>
            <p:nvPr/>
          </p:nvGrpSpPr>
          <p:grpSpPr>
            <a:xfrm>
              <a:off x="3418" y="1719"/>
              <a:ext cx="645" cy="123"/>
              <a:chOff x="2256" y="2208"/>
              <a:chExt cx="864" cy="163"/>
            </a:xfrm>
          </p:grpSpPr>
          <p:sp>
            <p:nvSpPr>
              <p:cNvPr id="67607" name="任意多边形 107556"/>
              <p:cNvSpPr/>
              <p:nvPr/>
            </p:nvSpPr>
            <p:spPr>
              <a:xfrm flipH="1">
                <a:off x="2406" y="2208"/>
                <a:ext cx="181" cy="163"/>
              </a:xfrm>
              <a:custGeom>
                <a:avLst/>
                <a:gdLst/>
                <a:ahLst/>
                <a:cxnLst>
                  <a:cxn ang="180">
                    <a:pos x="0" y="14535"/>
                  </a:cxn>
                  <a:cxn ang="0">
                    <a:pos x="40506" y="13676"/>
                  </a:cxn>
                  <a:cxn ang="90">
                    <a:pos x="20412" y="21600"/>
                  </a:cxn>
                </a:cxnLst>
                <a:pathLst>
                  <a:path w="40506" h="21600" fill="none">
                    <a:moveTo>
                      <a:pt x="0" y="14535"/>
                    </a:moveTo>
                    <a:cubicBezTo>
                      <a:pt x="2926" y="6071"/>
                      <a:pt x="10960" y="0"/>
                      <a:pt x="20412" y="0"/>
                    </a:cubicBezTo>
                    <a:cubicBezTo>
                      <a:pt x="29542" y="0"/>
                      <a:pt x="37349" y="5665"/>
                      <a:pt x="40509" y="13668"/>
                    </a:cubicBezTo>
                  </a:path>
                  <a:path w="40506" h="21600" stroke="0">
                    <a:moveTo>
                      <a:pt x="0" y="14535"/>
                    </a:moveTo>
                    <a:cubicBezTo>
                      <a:pt x="2926" y="6071"/>
                      <a:pt x="10960" y="0"/>
                      <a:pt x="20412" y="0"/>
                    </a:cubicBezTo>
                    <a:cubicBezTo>
                      <a:pt x="29542" y="0"/>
                      <a:pt x="37349" y="5665"/>
                      <a:pt x="40509" y="13668"/>
                    </a:cubicBezTo>
                    <a:lnTo>
                      <a:pt x="20412"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67608" name="任意多边形 107557"/>
              <p:cNvSpPr/>
              <p:nvPr/>
            </p:nvSpPr>
            <p:spPr>
              <a:xfrm flipH="1">
                <a:off x="2592" y="2208"/>
                <a:ext cx="181" cy="163"/>
              </a:xfrm>
              <a:custGeom>
                <a:avLst/>
                <a:gdLst/>
                <a:ahLst/>
                <a:cxnLst>
                  <a:cxn ang="180">
                    <a:pos x="0" y="14535"/>
                  </a:cxn>
                  <a:cxn ang="0">
                    <a:pos x="40506" y="13676"/>
                  </a:cxn>
                  <a:cxn ang="90">
                    <a:pos x="20412" y="21600"/>
                  </a:cxn>
                </a:cxnLst>
                <a:pathLst>
                  <a:path w="40506" h="21600" fill="none">
                    <a:moveTo>
                      <a:pt x="0" y="14535"/>
                    </a:moveTo>
                    <a:cubicBezTo>
                      <a:pt x="2926" y="6071"/>
                      <a:pt x="10960" y="0"/>
                      <a:pt x="20412" y="0"/>
                    </a:cubicBezTo>
                    <a:cubicBezTo>
                      <a:pt x="29542" y="0"/>
                      <a:pt x="37349" y="5665"/>
                      <a:pt x="40509" y="13668"/>
                    </a:cubicBezTo>
                  </a:path>
                  <a:path w="40506" h="21600" stroke="0">
                    <a:moveTo>
                      <a:pt x="0" y="14535"/>
                    </a:moveTo>
                    <a:cubicBezTo>
                      <a:pt x="2926" y="6071"/>
                      <a:pt x="10960" y="0"/>
                      <a:pt x="20412" y="0"/>
                    </a:cubicBezTo>
                    <a:cubicBezTo>
                      <a:pt x="29542" y="0"/>
                      <a:pt x="37349" y="5665"/>
                      <a:pt x="40509" y="13668"/>
                    </a:cubicBezTo>
                    <a:lnTo>
                      <a:pt x="20412"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67609" name="任意多边形 107558"/>
              <p:cNvSpPr/>
              <p:nvPr/>
            </p:nvSpPr>
            <p:spPr>
              <a:xfrm flipH="1">
                <a:off x="2784" y="2208"/>
                <a:ext cx="181" cy="163"/>
              </a:xfrm>
              <a:custGeom>
                <a:avLst/>
                <a:gdLst/>
                <a:ahLst/>
                <a:cxnLst>
                  <a:cxn ang="180">
                    <a:pos x="0" y="14535"/>
                  </a:cxn>
                  <a:cxn ang="0">
                    <a:pos x="40506" y="13676"/>
                  </a:cxn>
                  <a:cxn ang="90">
                    <a:pos x="20412" y="21600"/>
                  </a:cxn>
                </a:cxnLst>
                <a:pathLst>
                  <a:path w="40506" h="21600" fill="none">
                    <a:moveTo>
                      <a:pt x="0" y="14535"/>
                    </a:moveTo>
                    <a:cubicBezTo>
                      <a:pt x="2926" y="6071"/>
                      <a:pt x="10960" y="0"/>
                      <a:pt x="20412" y="0"/>
                    </a:cubicBezTo>
                    <a:cubicBezTo>
                      <a:pt x="29542" y="0"/>
                      <a:pt x="37349" y="5665"/>
                      <a:pt x="40509" y="13668"/>
                    </a:cubicBezTo>
                  </a:path>
                  <a:path w="40506" h="21600" stroke="0">
                    <a:moveTo>
                      <a:pt x="0" y="14535"/>
                    </a:moveTo>
                    <a:cubicBezTo>
                      <a:pt x="2926" y="6071"/>
                      <a:pt x="10960" y="0"/>
                      <a:pt x="20412" y="0"/>
                    </a:cubicBezTo>
                    <a:cubicBezTo>
                      <a:pt x="29542" y="0"/>
                      <a:pt x="37349" y="5665"/>
                      <a:pt x="40509" y="13668"/>
                    </a:cubicBezTo>
                    <a:lnTo>
                      <a:pt x="20412"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67610" name="直接连接符 107559"/>
              <p:cNvSpPr/>
              <p:nvPr/>
            </p:nvSpPr>
            <p:spPr>
              <a:xfrm>
                <a:off x="2256" y="2304"/>
                <a:ext cx="144" cy="0"/>
              </a:xfrm>
              <a:prstGeom prst="line">
                <a:avLst/>
              </a:prstGeom>
              <a:ln w="38100" cap="flat" cmpd="sng">
                <a:solidFill>
                  <a:schemeClr val="tx1"/>
                </a:solidFill>
                <a:prstDash val="solid"/>
                <a:round/>
                <a:headEnd type="none" w="med" len="med"/>
                <a:tailEnd type="none" w="med" len="med"/>
              </a:ln>
            </p:spPr>
          </p:sp>
          <p:sp>
            <p:nvSpPr>
              <p:cNvPr id="67611" name="直接连接符 107560"/>
              <p:cNvSpPr/>
              <p:nvPr/>
            </p:nvSpPr>
            <p:spPr>
              <a:xfrm>
                <a:off x="2976" y="2304"/>
                <a:ext cx="144" cy="0"/>
              </a:xfrm>
              <a:prstGeom prst="line">
                <a:avLst/>
              </a:prstGeom>
              <a:ln w="38100" cap="flat" cmpd="sng">
                <a:solidFill>
                  <a:schemeClr val="tx1"/>
                </a:solidFill>
                <a:prstDash val="solid"/>
                <a:round/>
                <a:headEnd type="none" w="med" len="med"/>
                <a:tailEnd type="none" w="med" len="med"/>
              </a:ln>
            </p:spPr>
          </p:sp>
        </p:grpSp>
        <p:sp>
          <p:nvSpPr>
            <p:cNvPr id="67612" name="椭圆 107561"/>
            <p:cNvSpPr/>
            <p:nvPr/>
          </p:nvSpPr>
          <p:spPr>
            <a:xfrm>
              <a:off x="4004" y="2679"/>
              <a:ext cx="46" cy="46"/>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7613" name="椭圆 107562"/>
            <p:cNvSpPr/>
            <p:nvPr/>
          </p:nvSpPr>
          <p:spPr>
            <a:xfrm>
              <a:off x="4014" y="1762"/>
              <a:ext cx="46" cy="46"/>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7614" name="椭圆 107564"/>
            <p:cNvSpPr/>
            <p:nvPr/>
          </p:nvSpPr>
          <p:spPr>
            <a:xfrm>
              <a:off x="3379" y="1752"/>
              <a:ext cx="68" cy="68"/>
            </a:xfrm>
            <a:prstGeom prst="ellipse">
              <a:avLst/>
            </a:prstGeom>
            <a:solidFill>
              <a:schemeClr val="bg1"/>
            </a:solidFill>
            <a:ln w="2857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7615" name="椭圆 107565"/>
            <p:cNvSpPr/>
            <p:nvPr/>
          </p:nvSpPr>
          <p:spPr>
            <a:xfrm>
              <a:off x="3389" y="2667"/>
              <a:ext cx="68" cy="68"/>
            </a:xfrm>
            <a:prstGeom prst="ellipse">
              <a:avLst/>
            </a:prstGeom>
            <a:solidFill>
              <a:schemeClr val="bg1"/>
            </a:solidFill>
            <a:ln w="2857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7616" name="直接连接符 107566"/>
            <p:cNvSpPr/>
            <p:nvPr/>
          </p:nvSpPr>
          <p:spPr>
            <a:xfrm>
              <a:off x="3424" y="1979"/>
              <a:ext cx="0" cy="510"/>
            </a:xfrm>
            <a:prstGeom prst="line">
              <a:avLst/>
            </a:prstGeom>
            <a:ln w="38100" cap="flat" cmpd="sng">
              <a:solidFill>
                <a:schemeClr val="tx1"/>
              </a:solidFill>
              <a:prstDash val="sysDot"/>
              <a:round/>
              <a:headEnd type="none" w="med" len="med"/>
              <a:tailEnd type="triangle" w="med" len="med"/>
            </a:ln>
          </p:spPr>
        </p:sp>
        <p:sp>
          <p:nvSpPr>
            <p:cNvPr id="67617" name="文本框 107567"/>
            <p:cNvSpPr txBox="1"/>
            <p:nvPr/>
          </p:nvSpPr>
          <p:spPr>
            <a:xfrm>
              <a:off x="3334" y="2069"/>
              <a:ext cx="499" cy="250"/>
            </a:xfrm>
            <a:prstGeom prst="rect">
              <a:avLst/>
            </a:prstGeom>
            <a:noFill/>
            <a:ln w="9525">
              <a:noFill/>
            </a:ln>
          </p:spPr>
          <p:txBody>
            <a:bodyPr lIns="0" rIns="0" anchor="t" anchorCtr="0">
              <a:spAutoFit/>
            </a:bodyPr>
            <a:p>
              <a:r>
                <a:rPr lang="en-US" altLang="zh-CN" sz="2000">
                  <a:solidFill>
                    <a:schemeClr val="accent2"/>
                  </a:solidFill>
                  <a:latin typeface="Times New Roman" panose="02020603050405020304" pitchFamily="18" charset="0"/>
                  <a:ea typeface="宋体" panose="02010600030101010101" pitchFamily="2" charset="-122"/>
                </a:rPr>
                <a:t>220V</a:t>
              </a:r>
              <a:endParaRPr lang="en-US" altLang="zh-CN" sz="2000" b="0">
                <a:solidFill>
                  <a:schemeClr val="accent2"/>
                </a:solidFill>
                <a:latin typeface="Times New Roman" panose="02020603050405020304" pitchFamily="18" charset="0"/>
                <a:ea typeface="宋体" panose="02010600030101010101" pitchFamily="2" charset="-122"/>
              </a:endParaRPr>
            </a:p>
          </p:txBody>
        </p:sp>
        <p:sp>
          <p:nvSpPr>
            <p:cNvPr id="67618" name="文本框 107568"/>
            <p:cNvSpPr txBox="1"/>
            <p:nvPr/>
          </p:nvSpPr>
          <p:spPr>
            <a:xfrm>
              <a:off x="3560" y="1706"/>
              <a:ext cx="416" cy="327"/>
            </a:xfrm>
            <a:prstGeom prst="rect">
              <a:avLst/>
            </a:prstGeom>
            <a:noFill/>
            <a:ln w="9525">
              <a:noFill/>
            </a:ln>
          </p:spPr>
          <p:txBody>
            <a:bodyPr lIns="0" rIns="0" anchor="t" anchorCtr="0">
              <a:spAutoFit/>
            </a:bodyPr>
            <a:p>
              <a:r>
                <a:rPr lang="en-US" altLang="zh-CN" sz="2800" err="1">
                  <a:solidFill>
                    <a:schemeClr val="accent2"/>
                  </a:solidFill>
                  <a:latin typeface="Times New Roman" panose="02020603050405020304" pitchFamily="18" charset="0"/>
                  <a:ea typeface="宋体" panose="02010600030101010101" pitchFamily="2" charset="-122"/>
                </a:rPr>
                <a:t>jx</a:t>
              </a:r>
              <a:endParaRPr lang="en-US" altLang="zh-CN" sz="2800">
                <a:solidFill>
                  <a:schemeClr val="accent2"/>
                </a:solidFill>
                <a:latin typeface="Times New Roman" panose="02020603050405020304" pitchFamily="18" charset="0"/>
                <a:ea typeface="宋体" panose="02010600030101010101" pitchFamily="2" charset="-122"/>
              </a:endParaRPr>
            </a:p>
          </p:txBody>
        </p:sp>
      </p:grpSp>
      <p:graphicFrame>
        <p:nvGraphicFramePr>
          <p:cNvPr id="67619" name="对象 107569"/>
          <p:cNvGraphicFramePr/>
          <p:nvPr/>
        </p:nvGraphicFramePr>
        <p:xfrm>
          <a:off x="5364163" y="5949950"/>
          <a:ext cx="2620962" cy="474663"/>
        </p:xfrm>
        <a:graphic>
          <a:graphicData uri="http://schemas.openxmlformats.org/presentationml/2006/ole">
            <mc:AlternateContent xmlns:mc="http://schemas.openxmlformats.org/markup-compatibility/2006">
              <mc:Choice xmlns:v="urn:schemas-microsoft-com:vml" Requires="v">
                <p:oleObj spid="_x0000_s3166" name="" r:id="rId7" imgW="913765" imgH="254000" progId="Equation.3">
                  <p:embed/>
                </p:oleObj>
              </mc:Choice>
              <mc:Fallback>
                <p:oleObj name="" r:id="rId7" imgW="913765" imgH="254000" progId="Equation.3">
                  <p:embed/>
                  <p:pic>
                    <p:nvPicPr>
                      <p:cNvPr id="0" name="图片 3165"/>
                      <p:cNvPicPr/>
                      <p:nvPr/>
                    </p:nvPicPr>
                    <p:blipFill>
                      <a:blip r:embed="rId8"/>
                      <a:stretch>
                        <a:fillRect/>
                      </a:stretch>
                    </p:blipFill>
                    <p:spPr>
                      <a:xfrm>
                        <a:off x="5364163" y="5949950"/>
                        <a:ext cx="2620962" cy="474663"/>
                      </a:xfrm>
                      <a:prstGeom prst="rect">
                        <a:avLst/>
                      </a:prstGeom>
                      <a:noFill/>
                      <a:ln w="38100">
                        <a:noFill/>
                        <a:miter/>
                      </a:ln>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矩形 106497"/>
          <p:cNvSpPr/>
          <p:nvPr/>
        </p:nvSpPr>
        <p:spPr>
          <a:xfrm>
            <a:off x="250825" y="222250"/>
            <a:ext cx="8569325" cy="155257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8-25 Y</a:t>
            </a:r>
            <a:r>
              <a:rPr lang="zh-CN" altLang="en-US" dirty="0">
                <a:latin typeface="Times New Roman" panose="02020603050405020304" pitchFamily="18" charset="0"/>
                <a:ea typeface="宋体" panose="02010600030101010101" pitchFamily="2" charset="-122"/>
              </a:rPr>
              <a:t>型笼形转子，</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=380/660V</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接，</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=55.6A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=1470r/min,</a:t>
            </a:r>
            <a:r>
              <a:rPr lang="en-US" altLang="zh-CN" i="1">
                <a:latin typeface="Times New Roman" panose="02020603050405020304" pitchFamily="18" charset="0"/>
                <a:ea typeface="宋体" panose="02010600030101010101" pitchFamily="2" charset="-122"/>
              </a:rPr>
              <a:t>λ</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max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=2.08,</a:t>
            </a:r>
            <a:r>
              <a:rPr lang="en-US" altLang="zh-CN" i="1">
                <a:latin typeface="Times New Roman" panose="02020603050405020304" pitchFamily="18" charset="0"/>
                <a:ea typeface="宋体" panose="02010600030101010101" pitchFamily="2" charset="-122"/>
              </a:rPr>
              <a:t>λ</a:t>
            </a:r>
            <a:r>
              <a:rPr lang="en-US" altLang="zh-CN"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=1.82</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λ</a:t>
            </a:r>
            <a:r>
              <a:rPr lang="en-US" altLang="zh-CN" baseline="-25000">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=6.86</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=166N·</a:t>
            </a:r>
            <a:r>
              <a:rPr lang="en-US" altLang="zh-CN"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。求最小容允电压系数</a:t>
            </a:r>
            <a:r>
              <a:rPr lang="en-US" altLang="zh-CN" i="1" err="1">
                <a:latin typeface="Times New Roman" panose="02020603050405020304" pitchFamily="18" charset="0"/>
                <a:ea typeface="宋体" panose="02010600030101010101" pitchFamily="2" charset="-122"/>
              </a:rPr>
              <a:t>α</a:t>
            </a:r>
            <a:r>
              <a:rPr lang="en-US" altLang="zh-CN" baseline="-25000" err="1">
                <a:latin typeface="Times New Roman" panose="02020603050405020304" pitchFamily="18" charset="0"/>
                <a:ea typeface="宋体" panose="02010600030101010101" pitchFamily="2" charset="-122"/>
              </a:rPr>
              <a:t>min</a:t>
            </a:r>
            <a:r>
              <a:rPr lang="zh-CN" altLang="en-US" dirty="0">
                <a:latin typeface="Times New Roman" panose="02020603050405020304" pitchFamily="18" charset="0"/>
                <a:ea typeface="宋体" panose="02010600030101010101" pitchFamily="2" charset="-122"/>
              </a:rPr>
              <a:t>及降压后的启动电流。</a:t>
            </a:r>
            <a:endParaRPr lang="zh-CN" altLang="en-US" dirty="0">
              <a:latin typeface="Times New Roman" panose="02020603050405020304" pitchFamily="18" charset="0"/>
              <a:ea typeface="宋体" panose="02010600030101010101" pitchFamily="2" charset="-122"/>
            </a:endParaRPr>
          </a:p>
        </p:txBody>
      </p:sp>
      <p:graphicFrame>
        <p:nvGraphicFramePr>
          <p:cNvPr id="68610" name="对象 106499"/>
          <p:cNvGraphicFramePr/>
          <p:nvPr/>
        </p:nvGraphicFramePr>
        <p:xfrm>
          <a:off x="1547813" y="3644900"/>
          <a:ext cx="3455987" cy="488950"/>
        </p:xfrm>
        <a:graphic>
          <a:graphicData uri="http://schemas.openxmlformats.org/presentationml/2006/ole">
            <mc:AlternateContent xmlns:mc="http://schemas.openxmlformats.org/markup-compatibility/2006">
              <mc:Choice xmlns:v="urn:schemas-microsoft-com:vml" Requires="v">
                <p:oleObj spid="_x0000_s3168" name="" r:id="rId1" imgW="1814830" imgH="254000" progId="Equation.DSMT4">
                  <p:embed/>
                </p:oleObj>
              </mc:Choice>
              <mc:Fallback>
                <p:oleObj name="" r:id="rId1" imgW="1814830" imgH="254000" progId="Equation.DSMT4">
                  <p:embed/>
                  <p:pic>
                    <p:nvPicPr>
                      <p:cNvPr id="0" name="图片 3167"/>
                      <p:cNvPicPr/>
                      <p:nvPr/>
                    </p:nvPicPr>
                    <p:blipFill>
                      <a:blip r:embed="rId2"/>
                      <a:stretch>
                        <a:fillRect/>
                      </a:stretch>
                    </p:blipFill>
                    <p:spPr>
                      <a:xfrm>
                        <a:off x="1547813" y="3644900"/>
                        <a:ext cx="3455987" cy="488950"/>
                      </a:xfrm>
                      <a:prstGeom prst="rect">
                        <a:avLst/>
                      </a:prstGeom>
                      <a:noFill/>
                      <a:ln w="38100">
                        <a:noFill/>
                        <a:miter/>
                      </a:ln>
                    </p:spPr>
                  </p:pic>
                </p:oleObj>
              </mc:Fallback>
            </mc:AlternateContent>
          </a:graphicData>
        </a:graphic>
      </p:graphicFrame>
      <p:graphicFrame>
        <p:nvGraphicFramePr>
          <p:cNvPr id="68611" name="对象 106498"/>
          <p:cNvGraphicFramePr/>
          <p:nvPr/>
        </p:nvGraphicFramePr>
        <p:xfrm>
          <a:off x="1547813" y="5084763"/>
          <a:ext cx="3976687" cy="485775"/>
        </p:xfrm>
        <a:graphic>
          <a:graphicData uri="http://schemas.openxmlformats.org/presentationml/2006/ole">
            <mc:AlternateContent xmlns:mc="http://schemas.openxmlformats.org/markup-compatibility/2006">
              <mc:Choice xmlns:v="urn:schemas-microsoft-com:vml" Requires="v">
                <p:oleObj spid="_x0000_s3169" name="" r:id="rId3" imgW="1942465" imgH="241300" progId="Equation.DSMT4">
                  <p:embed/>
                </p:oleObj>
              </mc:Choice>
              <mc:Fallback>
                <p:oleObj name="" r:id="rId3" imgW="1942465" imgH="241300" progId="Equation.DSMT4">
                  <p:embed/>
                  <p:pic>
                    <p:nvPicPr>
                      <p:cNvPr id="0" name="图片 3168"/>
                      <p:cNvPicPr/>
                      <p:nvPr/>
                    </p:nvPicPr>
                    <p:blipFill>
                      <a:blip r:embed="rId4"/>
                      <a:stretch>
                        <a:fillRect/>
                      </a:stretch>
                    </p:blipFill>
                    <p:spPr>
                      <a:xfrm>
                        <a:off x="1547813" y="5084763"/>
                        <a:ext cx="3976687" cy="485775"/>
                      </a:xfrm>
                      <a:prstGeom prst="rect">
                        <a:avLst/>
                      </a:prstGeom>
                      <a:noFill/>
                      <a:ln w="38100">
                        <a:noFill/>
                        <a:miter/>
                      </a:ln>
                    </p:spPr>
                  </p:pic>
                </p:oleObj>
              </mc:Fallback>
            </mc:AlternateContent>
          </a:graphicData>
        </a:graphic>
      </p:graphicFrame>
      <p:sp>
        <p:nvSpPr>
          <p:cNvPr id="68612" name="矩形 106500"/>
          <p:cNvSpPr/>
          <p:nvPr/>
        </p:nvSpPr>
        <p:spPr>
          <a:xfrm>
            <a:off x="755650" y="1773238"/>
            <a:ext cx="8150225" cy="1735137"/>
          </a:xfrm>
          <a:prstGeom prst="rect">
            <a:avLst/>
          </a:prstGeom>
          <a:noFill/>
          <a:ln w="9525">
            <a:noFill/>
          </a:ln>
        </p:spPr>
        <p:txBody>
          <a:bodyPr wrap="none" anchor="ctr" anchorCtr="0">
            <a:spAutoFit/>
          </a:bodyPr>
          <a:p>
            <a:pPr>
              <a:lnSpc>
                <a:spcPct val="150000"/>
              </a:lnSpc>
            </a:pPr>
            <a:r>
              <a:rPr lang="zh-CN" altLang="en-US" dirty="0">
                <a:latin typeface="Times New Roman" panose="02020603050405020304" pitchFamily="18" charset="0"/>
                <a:ea typeface="宋体" panose="02010600030101010101" pitchFamily="2" charset="-122"/>
              </a:rPr>
              <a:t>解：最小容允电压是产生启动力矩等于额定力矩时的电压。</a:t>
            </a:r>
            <a:endParaRPr lang="zh-CN" altLang="en-US" dirty="0">
              <a:latin typeface="Times New Roman" panose="02020603050405020304" pitchFamily="18" charset="0"/>
              <a:ea typeface="宋体" panose="02010600030101010101" pitchFamily="2" charset="-122"/>
            </a:endParaRPr>
          </a:p>
          <a:p>
            <a:pPr eaLnBrk="0" hangingPunct="0">
              <a:lnSpc>
                <a:spcPct val="150000"/>
              </a:lnSpc>
            </a:pP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T</a:t>
            </a:r>
            <a:r>
              <a:rPr lang="en-US" altLang="zh-CN" baseline="-30000">
                <a:latin typeface="Times New Roman" panose="02020603050405020304" pitchFamily="18" charset="0"/>
                <a:ea typeface="宋体" panose="02010600030101010101" pitchFamily="2" charset="-122"/>
              </a:rPr>
              <a:t>kN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30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=1.82; </a:t>
            </a:r>
            <a:r>
              <a:rPr lang="en-US" altLang="zh-CN" i="1">
                <a:latin typeface="Times New Roman" panose="02020603050405020304" pitchFamily="18" charset="0"/>
                <a:ea typeface="宋体" panose="02010600030101010101" pitchFamily="2" charset="-122"/>
              </a:rPr>
              <a:t>T</a:t>
            </a:r>
            <a:r>
              <a:rPr lang="en-US" altLang="zh-CN" baseline="-30000">
                <a:latin typeface="Times New Roman" panose="02020603050405020304" pitchFamily="18" charset="0"/>
                <a:ea typeface="宋体" panose="02010600030101010101" pitchFamily="2" charset="-122"/>
              </a:rPr>
              <a:t>kN</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sym typeface="Symbol" panose="05050102010706020507" pitchFamily="18" charset="2"/>
              </a:rPr>
              <a:t>1</a:t>
            </a:r>
            <a:r>
              <a:rPr lang="en-US" altLang="zh-CN" baseline="30000">
                <a:latin typeface="Times New Roman" panose="02020603050405020304" pitchFamily="18" charset="0"/>
                <a:ea typeface="宋体" panose="02010600030101010101" pitchFamily="2" charset="-122"/>
                <a:sym typeface="Symbol" panose="05050102010706020507" pitchFamily="18" charset="2"/>
              </a:rPr>
              <a:t>2</a:t>
            </a:r>
            <a:endParaRPr lang="en-US" altLang="zh-CN">
              <a:latin typeface="Times New Roman" panose="02020603050405020304" pitchFamily="18" charset="0"/>
              <a:ea typeface="宋体" panose="02010600030101010101" pitchFamily="2" charset="-122"/>
              <a:sym typeface="Symbol" panose="05050102010706020507" pitchFamily="18" charset="2"/>
            </a:endParaRPr>
          </a:p>
          <a:p>
            <a:pPr eaLnBrk="0" hangingPunct="0">
              <a:lnSpc>
                <a:spcPct val="150000"/>
              </a:lnSpc>
            </a:pPr>
            <a:r>
              <a:rPr lang="en-US" altLang="zh-CN" dirty="0">
                <a:latin typeface="Times New Roman" panose="02020603050405020304" pitchFamily="18" charset="0"/>
                <a:ea typeface="宋体" panose="02010600030101010101" pitchFamily="2" charset="-122"/>
                <a:sym typeface="Symbol" panose="05050102010706020507" pitchFamily="18" charset="2"/>
              </a:rPr>
              <a:t>        </a:t>
            </a:r>
            <a:r>
              <a:rPr lang="zh-CN" altLang="en-US" dirty="0">
                <a:latin typeface="Times New Roman" panose="02020603050405020304" pitchFamily="18" charset="0"/>
                <a:ea typeface="宋体" panose="02010600030101010101" pitchFamily="2" charset="-122"/>
                <a:sym typeface="Symbol" panose="05050102010706020507" pitchFamily="18" charset="2"/>
              </a:rPr>
              <a:t>最小容允电压</a:t>
            </a:r>
            <a:r>
              <a:rPr lang="en-US" altLang="zh-CN">
                <a:latin typeface="Times New Roman" panose="02020603050405020304" pitchFamily="18" charset="0"/>
                <a:ea typeface="宋体" panose="02010600030101010101" pitchFamily="2" charset="-122"/>
                <a:sym typeface="Symbol" panose="05050102010706020507" pitchFamily="18" charset="2"/>
              </a:rPr>
              <a:t>: </a:t>
            </a:r>
            <a:endParaRPr lang="en-US" altLang="zh-CN">
              <a:latin typeface="Times New Roman" panose="02020603050405020304" pitchFamily="18" charset="0"/>
              <a:ea typeface="宋体" panose="02010600030101010101" pitchFamily="2" charset="-122"/>
              <a:sym typeface="Symbol" panose="05050102010706020507" pitchFamily="18" charset="2"/>
            </a:endParaRPr>
          </a:p>
        </p:txBody>
      </p:sp>
      <p:sp>
        <p:nvSpPr>
          <p:cNvPr id="68613" name="矩形 106501"/>
          <p:cNvSpPr/>
          <p:nvPr/>
        </p:nvSpPr>
        <p:spPr>
          <a:xfrm>
            <a:off x="1476375" y="4365625"/>
            <a:ext cx="2736850"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降压后启动电流为</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pSp>
        <p:nvGrpSpPr>
          <p:cNvPr id="68614" name="组合 106532"/>
          <p:cNvGrpSpPr/>
          <p:nvPr/>
        </p:nvGrpSpPr>
        <p:grpSpPr>
          <a:xfrm>
            <a:off x="6192838" y="2852738"/>
            <a:ext cx="2473325" cy="1908175"/>
            <a:chOff x="3901" y="1797"/>
            <a:chExt cx="1558" cy="1202"/>
          </a:xfrm>
        </p:grpSpPr>
        <p:grpSp>
          <p:nvGrpSpPr>
            <p:cNvPr id="68615" name="组合 106503"/>
            <p:cNvGrpSpPr/>
            <p:nvPr/>
          </p:nvGrpSpPr>
          <p:grpSpPr>
            <a:xfrm>
              <a:off x="4814" y="2003"/>
              <a:ext cx="645" cy="123"/>
              <a:chOff x="2256" y="2208"/>
              <a:chExt cx="864" cy="163"/>
            </a:xfrm>
          </p:grpSpPr>
          <p:sp>
            <p:nvSpPr>
              <p:cNvPr id="68616" name="任意多边形 106504"/>
              <p:cNvSpPr/>
              <p:nvPr/>
            </p:nvSpPr>
            <p:spPr>
              <a:xfrm flipH="1">
                <a:off x="2406" y="2208"/>
                <a:ext cx="181" cy="163"/>
              </a:xfrm>
              <a:custGeom>
                <a:avLst/>
                <a:gdLst/>
                <a:ahLst/>
                <a:cxnLst>
                  <a:cxn ang="180">
                    <a:pos x="0" y="14535"/>
                  </a:cxn>
                  <a:cxn ang="0">
                    <a:pos x="40506" y="13676"/>
                  </a:cxn>
                  <a:cxn ang="90">
                    <a:pos x="20412" y="21600"/>
                  </a:cxn>
                </a:cxnLst>
                <a:pathLst>
                  <a:path w="40506" h="21600" fill="none">
                    <a:moveTo>
                      <a:pt x="0" y="14535"/>
                    </a:moveTo>
                    <a:cubicBezTo>
                      <a:pt x="2926" y="6071"/>
                      <a:pt x="10960" y="0"/>
                      <a:pt x="20412" y="0"/>
                    </a:cubicBezTo>
                    <a:cubicBezTo>
                      <a:pt x="29542" y="0"/>
                      <a:pt x="37349" y="5665"/>
                      <a:pt x="40509" y="13668"/>
                    </a:cubicBezTo>
                  </a:path>
                  <a:path w="40506" h="21600" stroke="0">
                    <a:moveTo>
                      <a:pt x="0" y="14535"/>
                    </a:moveTo>
                    <a:cubicBezTo>
                      <a:pt x="2926" y="6071"/>
                      <a:pt x="10960" y="0"/>
                      <a:pt x="20412" y="0"/>
                    </a:cubicBezTo>
                    <a:cubicBezTo>
                      <a:pt x="29542" y="0"/>
                      <a:pt x="37349" y="5665"/>
                      <a:pt x="40509" y="13668"/>
                    </a:cubicBezTo>
                    <a:lnTo>
                      <a:pt x="20412"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68617" name="任意多边形 106505"/>
              <p:cNvSpPr/>
              <p:nvPr/>
            </p:nvSpPr>
            <p:spPr>
              <a:xfrm flipH="1">
                <a:off x="2592" y="2208"/>
                <a:ext cx="181" cy="163"/>
              </a:xfrm>
              <a:custGeom>
                <a:avLst/>
                <a:gdLst/>
                <a:ahLst/>
                <a:cxnLst>
                  <a:cxn ang="180">
                    <a:pos x="0" y="14535"/>
                  </a:cxn>
                  <a:cxn ang="0">
                    <a:pos x="40506" y="13676"/>
                  </a:cxn>
                  <a:cxn ang="90">
                    <a:pos x="20412" y="21600"/>
                  </a:cxn>
                </a:cxnLst>
                <a:pathLst>
                  <a:path w="40506" h="21600" fill="none">
                    <a:moveTo>
                      <a:pt x="0" y="14535"/>
                    </a:moveTo>
                    <a:cubicBezTo>
                      <a:pt x="2926" y="6071"/>
                      <a:pt x="10960" y="0"/>
                      <a:pt x="20412" y="0"/>
                    </a:cubicBezTo>
                    <a:cubicBezTo>
                      <a:pt x="29542" y="0"/>
                      <a:pt x="37349" y="5665"/>
                      <a:pt x="40509" y="13668"/>
                    </a:cubicBezTo>
                  </a:path>
                  <a:path w="40506" h="21600" stroke="0">
                    <a:moveTo>
                      <a:pt x="0" y="14535"/>
                    </a:moveTo>
                    <a:cubicBezTo>
                      <a:pt x="2926" y="6071"/>
                      <a:pt x="10960" y="0"/>
                      <a:pt x="20412" y="0"/>
                    </a:cubicBezTo>
                    <a:cubicBezTo>
                      <a:pt x="29542" y="0"/>
                      <a:pt x="37349" y="5665"/>
                      <a:pt x="40509" y="13668"/>
                    </a:cubicBezTo>
                    <a:lnTo>
                      <a:pt x="20412"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68618" name="任意多边形 106506"/>
              <p:cNvSpPr/>
              <p:nvPr/>
            </p:nvSpPr>
            <p:spPr>
              <a:xfrm flipH="1">
                <a:off x="2784" y="2208"/>
                <a:ext cx="181" cy="163"/>
              </a:xfrm>
              <a:custGeom>
                <a:avLst/>
                <a:gdLst/>
                <a:ahLst/>
                <a:cxnLst>
                  <a:cxn ang="180">
                    <a:pos x="0" y="14535"/>
                  </a:cxn>
                  <a:cxn ang="0">
                    <a:pos x="40506" y="13676"/>
                  </a:cxn>
                  <a:cxn ang="90">
                    <a:pos x="20412" y="21600"/>
                  </a:cxn>
                </a:cxnLst>
                <a:pathLst>
                  <a:path w="40506" h="21600" fill="none">
                    <a:moveTo>
                      <a:pt x="0" y="14535"/>
                    </a:moveTo>
                    <a:cubicBezTo>
                      <a:pt x="2926" y="6071"/>
                      <a:pt x="10960" y="0"/>
                      <a:pt x="20412" y="0"/>
                    </a:cubicBezTo>
                    <a:cubicBezTo>
                      <a:pt x="29542" y="0"/>
                      <a:pt x="37349" y="5665"/>
                      <a:pt x="40509" y="13668"/>
                    </a:cubicBezTo>
                  </a:path>
                  <a:path w="40506" h="21600" stroke="0">
                    <a:moveTo>
                      <a:pt x="0" y="14535"/>
                    </a:moveTo>
                    <a:cubicBezTo>
                      <a:pt x="2926" y="6071"/>
                      <a:pt x="10960" y="0"/>
                      <a:pt x="20412" y="0"/>
                    </a:cubicBezTo>
                    <a:cubicBezTo>
                      <a:pt x="29542" y="0"/>
                      <a:pt x="37349" y="5665"/>
                      <a:pt x="40509" y="13668"/>
                    </a:cubicBezTo>
                    <a:lnTo>
                      <a:pt x="20412" y="2160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68619" name="直接连接符 106507"/>
              <p:cNvSpPr/>
              <p:nvPr/>
            </p:nvSpPr>
            <p:spPr>
              <a:xfrm>
                <a:off x="2256" y="2304"/>
                <a:ext cx="144" cy="0"/>
              </a:xfrm>
              <a:prstGeom prst="line">
                <a:avLst/>
              </a:prstGeom>
              <a:ln w="38100" cap="flat" cmpd="sng">
                <a:solidFill>
                  <a:schemeClr val="tx1"/>
                </a:solidFill>
                <a:prstDash val="solid"/>
                <a:round/>
                <a:headEnd type="none" w="med" len="med"/>
                <a:tailEnd type="none" w="med" len="med"/>
              </a:ln>
            </p:spPr>
          </p:sp>
          <p:sp>
            <p:nvSpPr>
              <p:cNvPr id="68620" name="直接连接符 106508"/>
              <p:cNvSpPr/>
              <p:nvPr/>
            </p:nvSpPr>
            <p:spPr>
              <a:xfrm>
                <a:off x="2976" y="2304"/>
                <a:ext cx="144" cy="0"/>
              </a:xfrm>
              <a:prstGeom prst="line">
                <a:avLst/>
              </a:prstGeom>
              <a:ln w="38100" cap="flat" cmpd="sng">
                <a:solidFill>
                  <a:schemeClr val="tx1"/>
                </a:solidFill>
                <a:prstDash val="solid"/>
                <a:round/>
                <a:headEnd type="none" w="med" len="med"/>
                <a:tailEnd type="none" w="med" len="med"/>
              </a:ln>
            </p:spPr>
          </p:sp>
        </p:grpSp>
        <p:sp>
          <p:nvSpPr>
            <p:cNvPr id="68621" name="直接连接符 106509"/>
            <p:cNvSpPr/>
            <p:nvPr/>
          </p:nvSpPr>
          <p:spPr>
            <a:xfrm flipH="1">
              <a:off x="4280" y="2074"/>
              <a:ext cx="181" cy="0"/>
            </a:xfrm>
            <a:prstGeom prst="line">
              <a:avLst/>
            </a:prstGeom>
            <a:ln w="38100" cap="flat" cmpd="sng">
              <a:solidFill>
                <a:schemeClr val="tx1"/>
              </a:solidFill>
              <a:prstDash val="solid"/>
              <a:round/>
              <a:headEnd type="none" w="med" len="med"/>
              <a:tailEnd type="none" w="med" len="med"/>
            </a:ln>
          </p:spPr>
        </p:sp>
        <p:sp>
          <p:nvSpPr>
            <p:cNvPr id="68622" name="文本框 106510"/>
            <p:cNvSpPr txBox="1"/>
            <p:nvPr/>
          </p:nvSpPr>
          <p:spPr>
            <a:xfrm>
              <a:off x="4558" y="1988"/>
              <a:ext cx="291" cy="327"/>
            </a:xfrm>
            <a:prstGeom prst="rect">
              <a:avLst/>
            </a:prstGeom>
            <a:noFill/>
            <a:ln w="9525">
              <a:noFill/>
            </a:ln>
          </p:spPr>
          <p:txBody>
            <a:bodyPr lIns="0" rIns="0" anchor="t" anchorCtr="0">
              <a:spAutoFit/>
            </a:bodyPr>
            <a:p>
              <a:r>
                <a:rPr lang="en-US" altLang="zh-CN" sz="2800" err="1">
                  <a:latin typeface="Times New Roman" panose="02020603050405020304" pitchFamily="18" charset="0"/>
                  <a:ea typeface="宋体" panose="02010600030101010101" pitchFamily="2" charset="-122"/>
                </a:rPr>
                <a:t>r</a:t>
              </a:r>
              <a:r>
                <a:rPr lang="en-US" altLang="zh-CN" sz="2800" baseline="-25000" err="1">
                  <a:latin typeface="Times New Roman" panose="02020603050405020304" pitchFamily="18" charset="0"/>
                  <a:ea typeface="宋体" panose="02010600030101010101" pitchFamily="2" charset="-122"/>
                </a:rPr>
                <a:t>k</a:t>
              </a:r>
              <a:endParaRPr lang="en-US" altLang="zh-CN" b="0">
                <a:latin typeface="Times New Roman" panose="02020603050405020304" pitchFamily="18" charset="0"/>
                <a:ea typeface="宋体" panose="02010600030101010101" pitchFamily="2" charset="-122"/>
              </a:endParaRPr>
            </a:p>
          </p:txBody>
        </p:sp>
        <p:sp>
          <p:nvSpPr>
            <p:cNvPr id="68623" name="文本框 106511"/>
            <p:cNvSpPr txBox="1"/>
            <p:nvPr/>
          </p:nvSpPr>
          <p:spPr>
            <a:xfrm>
              <a:off x="5012" y="1988"/>
              <a:ext cx="416" cy="327"/>
            </a:xfrm>
            <a:prstGeom prst="rect">
              <a:avLst/>
            </a:prstGeom>
            <a:noFill/>
            <a:ln w="9525">
              <a:noFill/>
            </a:ln>
          </p:spPr>
          <p:txBody>
            <a:bodyPr lIns="0" rIns="0" anchor="t" anchorCtr="0">
              <a:spAutoFit/>
            </a:bodyPr>
            <a:p>
              <a:r>
                <a:rPr lang="en-US" altLang="zh-CN" sz="2800" err="1">
                  <a:latin typeface="Times New Roman" panose="02020603050405020304" pitchFamily="18" charset="0"/>
                  <a:ea typeface="宋体" panose="02010600030101010101" pitchFamily="2" charset="-122"/>
                </a:rPr>
                <a:t>jx</a:t>
              </a:r>
              <a:r>
                <a:rPr lang="en-US" altLang="zh-CN" sz="2800" baseline="-25000" err="1">
                  <a:latin typeface="Times New Roman" panose="02020603050405020304" pitchFamily="18" charset="0"/>
                  <a:ea typeface="宋体" panose="02010600030101010101" pitchFamily="2" charset="-122"/>
                </a:rPr>
                <a:t>k</a:t>
              </a:r>
              <a:endParaRPr lang="en-US" altLang="zh-CN" sz="2800">
                <a:latin typeface="Times New Roman" panose="02020603050405020304" pitchFamily="18" charset="0"/>
                <a:ea typeface="宋体" panose="02010600030101010101" pitchFamily="2" charset="-122"/>
              </a:endParaRPr>
            </a:p>
          </p:txBody>
        </p:sp>
        <p:sp>
          <p:nvSpPr>
            <p:cNvPr id="68624" name="直接连接符 106512"/>
            <p:cNvSpPr/>
            <p:nvPr/>
          </p:nvSpPr>
          <p:spPr>
            <a:xfrm flipH="1" flipV="1">
              <a:off x="3969" y="2069"/>
              <a:ext cx="450" cy="3"/>
            </a:xfrm>
            <a:prstGeom prst="line">
              <a:avLst/>
            </a:prstGeom>
            <a:ln w="38100" cap="flat" cmpd="sng">
              <a:solidFill>
                <a:schemeClr val="tx1"/>
              </a:solidFill>
              <a:prstDash val="solid"/>
              <a:round/>
              <a:headEnd type="triangle" w="med" len="med"/>
              <a:tailEnd type="none" w="med" len="med"/>
            </a:ln>
          </p:spPr>
        </p:sp>
        <p:graphicFrame>
          <p:nvGraphicFramePr>
            <p:cNvPr id="68625" name="对象 106513"/>
            <p:cNvGraphicFramePr/>
            <p:nvPr/>
          </p:nvGraphicFramePr>
          <p:xfrm>
            <a:off x="4059" y="1797"/>
            <a:ext cx="259" cy="272"/>
          </p:xfrm>
          <a:graphic>
            <a:graphicData uri="http://schemas.openxmlformats.org/presentationml/2006/ole">
              <mc:AlternateContent xmlns:mc="http://schemas.openxmlformats.org/markup-compatibility/2006">
                <mc:Choice xmlns:v="urn:schemas-microsoft-com:vml" Requires="v">
                  <p:oleObj spid="_x0000_s3167" name="" r:id="rId5" imgW="177800" imgH="316865" progId="Equation.3">
                    <p:embed/>
                  </p:oleObj>
                </mc:Choice>
                <mc:Fallback>
                  <p:oleObj name="" r:id="rId5" imgW="177800" imgH="316865" progId="Equation.3">
                    <p:embed/>
                    <p:pic>
                      <p:nvPicPr>
                        <p:cNvPr id="0" name="图片 3166"/>
                        <p:cNvPicPr/>
                        <p:nvPr/>
                      </p:nvPicPr>
                      <p:blipFill>
                        <a:blip r:embed="rId6"/>
                        <a:stretch>
                          <a:fillRect/>
                        </a:stretch>
                      </p:blipFill>
                      <p:spPr>
                        <a:xfrm>
                          <a:off x="4059" y="1797"/>
                          <a:ext cx="259" cy="272"/>
                        </a:xfrm>
                        <a:prstGeom prst="rect">
                          <a:avLst/>
                        </a:prstGeom>
                        <a:noFill/>
                        <a:ln w="38100">
                          <a:noFill/>
                          <a:miter/>
                        </a:ln>
                      </p:spPr>
                    </p:pic>
                  </p:oleObj>
                </mc:Fallback>
              </mc:AlternateContent>
            </a:graphicData>
          </a:graphic>
        </p:graphicFrame>
        <p:sp>
          <p:nvSpPr>
            <p:cNvPr id="68626" name="直接连接符 106514"/>
            <p:cNvSpPr/>
            <p:nvPr/>
          </p:nvSpPr>
          <p:spPr>
            <a:xfrm>
              <a:off x="3969" y="2976"/>
              <a:ext cx="1490" cy="10"/>
            </a:xfrm>
            <a:prstGeom prst="line">
              <a:avLst/>
            </a:prstGeom>
            <a:ln w="38100" cap="flat" cmpd="sng">
              <a:solidFill>
                <a:schemeClr val="tx1"/>
              </a:solidFill>
              <a:prstDash val="solid"/>
              <a:round/>
              <a:headEnd type="none" w="med" len="med"/>
              <a:tailEnd type="none" w="med" len="med"/>
            </a:ln>
          </p:spPr>
        </p:sp>
        <p:graphicFrame>
          <p:nvGraphicFramePr>
            <p:cNvPr id="68627" name="对象 106515"/>
            <p:cNvGraphicFramePr/>
            <p:nvPr/>
          </p:nvGraphicFramePr>
          <p:xfrm>
            <a:off x="4014" y="2341"/>
            <a:ext cx="344" cy="269"/>
          </p:xfrm>
          <a:graphic>
            <a:graphicData uri="http://schemas.openxmlformats.org/presentationml/2006/ole">
              <mc:AlternateContent xmlns:mc="http://schemas.openxmlformats.org/markup-compatibility/2006">
                <mc:Choice xmlns:v="urn:schemas-microsoft-com:vml" Requires="v">
                  <p:oleObj spid="_x0000_s3173" name="" r:id="rId7" imgW="190500" imgH="228600" progId="Equation.3">
                    <p:embed/>
                  </p:oleObj>
                </mc:Choice>
                <mc:Fallback>
                  <p:oleObj name="" r:id="rId7" imgW="190500" imgH="228600" progId="Equation.3">
                    <p:embed/>
                    <p:pic>
                      <p:nvPicPr>
                        <p:cNvPr id="0" name="图片 3172"/>
                        <p:cNvPicPr/>
                        <p:nvPr/>
                      </p:nvPicPr>
                      <p:blipFill>
                        <a:blip r:embed="rId8"/>
                        <a:stretch>
                          <a:fillRect/>
                        </a:stretch>
                      </p:blipFill>
                      <p:spPr>
                        <a:xfrm>
                          <a:off x="4014" y="2341"/>
                          <a:ext cx="344" cy="269"/>
                        </a:xfrm>
                        <a:prstGeom prst="rect">
                          <a:avLst/>
                        </a:prstGeom>
                        <a:noFill/>
                        <a:ln w="38100">
                          <a:noFill/>
                          <a:miter/>
                        </a:ln>
                      </p:spPr>
                    </p:pic>
                  </p:oleObj>
                </mc:Fallback>
              </mc:AlternateContent>
            </a:graphicData>
          </a:graphic>
        </p:graphicFrame>
        <p:sp>
          <p:nvSpPr>
            <p:cNvPr id="68628" name="直接连接符 106516"/>
            <p:cNvSpPr/>
            <p:nvPr/>
          </p:nvSpPr>
          <p:spPr>
            <a:xfrm>
              <a:off x="5459" y="2084"/>
              <a:ext cx="0" cy="902"/>
            </a:xfrm>
            <a:prstGeom prst="line">
              <a:avLst/>
            </a:prstGeom>
            <a:ln w="38100" cap="flat" cmpd="sng">
              <a:solidFill>
                <a:schemeClr val="tx1"/>
              </a:solidFill>
              <a:prstDash val="solid"/>
              <a:round/>
              <a:headEnd type="none" w="med" len="med"/>
              <a:tailEnd type="none" w="med" len="med"/>
            </a:ln>
          </p:spPr>
        </p:sp>
        <p:sp>
          <p:nvSpPr>
            <p:cNvPr id="68629" name="直接连接符 106517"/>
            <p:cNvSpPr/>
            <p:nvPr/>
          </p:nvSpPr>
          <p:spPr>
            <a:xfrm>
              <a:off x="3969" y="2205"/>
              <a:ext cx="0" cy="510"/>
            </a:xfrm>
            <a:prstGeom prst="line">
              <a:avLst/>
            </a:prstGeom>
            <a:ln w="38100" cap="flat" cmpd="sng">
              <a:solidFill>
                <a:srgbClr val="FF0000"/>
              </a:solidFill>
              <a:prstDash val="solid"/>
              <a:round/>
              <a:headEnd type="none" w="med" len="med"/>
              <a:tailEnd type="triangle" w="med" len="med"/>
            </a:ln>
          </p:spPr>
        </p:sp>
        <p:sp>
          <p:nvSpPr>
            <p:cNvPr id="68630" name="矩形 106518"/>
            <p:cNvSpPr/>
            <p:nvPr/>
          </p:nvSpPr>
          <p:spPr>
            <a:xfrm>
              <a:off x="4455" y="2039"/>
              <a:ext cx="369" cy="60"/>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8631" name="椭圆 106527"/>
            <p:cNvSpPr/>
            <p:nvPr/>
          </p:nvSpPr>
          <p:spPr>
            <a:xfrm>
              <a:off x="3901" y="2024"/>
              <a:ext cx="68" cy="68"/>
            </a:xfrm>
            <a:prstGeom prst="ellipse">
              <a:avLst/>
            </a:prstGeom>
            <a:solidFill>
              <a:schemeClr val="bg1"/>
            </a:solidFill>
            <a:ln w="2857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8632" name="椭圆 106528"/>
            <p:cNvSpPr/>
            <p:nvPr/>
          </p:nvSpPr>
          <p:spPr>
            <a:xfrm>
              <a:off x="3901" y="2931"/>
              <a:ext cx="68" cy="68"/>
            </a:xfrm>
            <a:prstGeom prst="ellipse">
              <a:avLst/>
            </a:prstGeom>
            <a:solidFill>
              <a:schemeClr val="bg1"/>
            </a:solidFill>
            <a:ln w="2857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矩形 105473"/>
          <p:cNvSpPr/>
          <p:nvPr/>
        </p:nvSpPr>
        <p:spPr>
          <a:xfrm>
            <a:off x="179388" y="333375"/>
            <a:ext cx="8532812" cy="155257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8-26 </a:t>
            </a:r>
            <a:r>
              <a:rPr lang="zh-CN" altLang="en-US" dirty="0">
                <a:latin typeface="Times New Roman" panose="02020603050405020304" pitchFamily="18" charset="0"/>
                <a:ea typeface="宋体" panose="02010600030101010101" pitchFamily="2" charset="-122"/>
              </a:rPr>
              <a:t>已知</a:t>
            </a:r>
            <a:r>
              <a:rPr lang="en-US" altLang="zh-CN" dirty="0">
                <a:latin typeface="Times New Roman" panose="02020603050405020304" pitchFamily="18" charset="0"/>
                <a:ea typeface="宋体" panose="02010600030101010101" pitchFamily="2" charset="-122"/>
              </a:rPr>
              <a:t>YR-82-4</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=55kW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=108A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=1450r/min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=371V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=72A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λ</a:t>
            </a:r>
            <a:r>
              <a:rPr lang="en-US" altLang="zh-CN" baseline="-2500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=2.0</a:t>
            </a:r>
            <a:r>
              <a:rPr lang="zh-CN" altLang="en-US" dirty="0">
                <a:latin typeface="Times New Roman" panose="02020603050405020304" pitchFamily="18" charset="0"/>
                <a:ea typeface="宋体" panose="02010600030101010101" pitchFamily="2" charset="-122"/>
              </a:rPr>
              <a:t>，折算到负载转矩</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=330N·</a:t>
            </a:r>
            <a:r>
              <a:rPr lang="en-US" altLang="zh-CN"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级控制盘，预备级</a:t>
            </a:r>
            <a:r>
              <a:rPr lang="en-US" altLang="zh-CN" i="1">
                <a:latin typeface="Times New Roman" panose="02020603050405020304" pitchFamily="18" charset="0"/>
                <a:ea typeface="宋体" panose="02010600030101010101" pitchFamily="2" charset="-122"/>
              </a:rPr>
              <a:t>T</a:t>
            </a:r>
            <a:r>
              <a:rPr lang="en-US" altLang="zh-CN" i="1" baseline="-25000">
                <a:latin typeface="Times New Roman" panose="02020603050405020304" pitchFamily="18" charset="0"/>
                <a:ea typeface="宋体" panose="02010600030101010101" pitchFamily="2" charset="-122"/>
              </a:rPr>
              <a:t>pr</a:t>
            </a:r>
            <a:r>
              <a:rPr lang="en-US" altLang="zh-CN" i="1">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0.8</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(s=1)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=0.8</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max</a:t>
            </a:r>
            <a:r>
              <a:rPr lang="zh-CN" altLang="en-US" dirty="0">
                <a:latin typeface="Times New Roman" panose="02020603050405020304" pitchFamily="18" charset="0"/>
                <a:ea typeface="宋体" panose="02010600030101010101" pitchFamily="2" charset="-122"/>
              </a:rPr>
              <a:t>，计算各级启动电阻。</a:t>
            </a:r>
            <a:endParaRPr lang="zh-CN" altLang="en-US" dirty="0">
              <a:latin typeface="Times New Roman" panose="02020603050405020304" pitchFamily="18" charset="0"/>
              <a:ea typeface="宋体" panose="02010600030101010101" pitchFamily="2" charset="-122"/>
            </a:endParaRPr>
          </a:p>
        </p:txBody>
      </p:sp>
      <p:graphicFrame>
        <p:nvGraphicFramePr>
          <p:cNvPr id="69634" name="对象 105477"/>
          <p:cNvGraphicFramePr/>
          <p:nvPr/>
        </p:nvGraphicFramePr>
        <p:xfrm>
          <a:off x="1116013" y="2565400"/>
          <a:ext cx="2952750" cy="714375"/>
        </p:xfrm>
        <a:graphic>
          <a:graphicData uri="http://schemas.openxmlformats.org/presentationml/2006/ole">
            <mc:AlternateContent xmlns:mc="http://schemas.openxmlformats.org/markup-compatibility/2006">
              <mc:Choice xmlns:v="urn:schemas-microsoft-com:vml" Requires="v">
                <p:oleObj spid="_x0000_s3176" name="" r:id="rId1" imgW="1637665" imgH="393700" progId="Equation.DSMT4">
                  <p:embed/>
                </p:oleObj>
              </mc:Choice>
              <mc:Fallback>
                <p:oleObj name="" r:id="rId1" imgW="1637665" imgH="393700" progId="Equation.DSMT4">
                  <p:embed/>
                  <p:pic>
                    <p:nvPicPr>
                      <p:cNvPr id="0" name="图片 3175"/>
                      <p:cNvPicPr/>
                      <p:nvPr/>
                    </p:nvPicPr>
                    <p:blipFill>
                      <a:blip r:embed="rId2"/>
                      <a:stretch>
                        <a:fillRect/>
                      </a:stretch>
                    </p:blipFill>
                    <p:spPr>
                      <a:xfrm>
                        <a:off x="1116013" y="2565400"/>
                        <a:ext cx="2952750" cy="714375"/>
                      </a:xfrm>
                      <a:prstGeom prst="rect">
                        <a:avLst/>
                      </a:prstGeom>
                      <a:noFill/>
                      <a:ln w="38100">
                        <a:noFill/>
                        <a:miter/>
                      </a:ln>
                    </p:spPr>
                  </p:pic>
                </p:oleObj>
              </mc:Fallback>
            </mc:AlternateContent>
          </a:graphicData>
        </a:graphic>
      </p:graphicFrame>
      <p:graphicFrame>
        <p:nvGraphicFramePr>
          <p:cNvPr id="69635" name="对象 105476"/>
          <p:cNvGraphicFramePr/>
          <p:nvPr/>
        </p:nvGraphicFramePr>
        <p:xfrm>
          <a:off x="1265238" y="3357563"/>
          <a:ext cx="2722562" cy="1281112"/>
        </p:xfrm>
        <a:graphic>
          <a:graphicData uri="http://schemas.openxmlformats.org/presentationml/2006/ole">
            <mc:AlternateContent xmlns:mc="http://schemas.openxmlformats.org/markup-compatibility/2006">
              <mc:Choice xmlns:v="urn:schemas-microsoft-com:vml" Requires="v">
                <p:oleObj spid="_x0000_s3171" name="" r:id="rId3" imgW="1396365" imgH="660400" progId="Equation.DSMT4">
                  <p:embed/>
                </p:oleObj>
              </mc:Choice>
              <mc:Fallback>
                <p:oleObj name="" r:id="rId3" imgW="1396365" imgH="660400" progId="Equation.DSMT4">
                  <p:embed/>
                  <p:pic>
                    <p:nvPicPr>
                      <p:cNvPr id="0" name="图片 3170"/>
                      <p:cNvPicPr/>
                      <p:nvPr/>
                    </p:nvPicPr>
                    <p:blipFill>
                      <a:blip r:embed="rId4"/>
                      <a:stretch>
                        <a:fillRect/>
                      </a:stretch>
                    </p:blipFill>
                    <p:spPr>
                      <a:xfrm>
                        <a:off x="1265238" y="3357563"/>
                        <a:ext cx="2722562" cy="1281112"/>
                      </a:xfrm>
                      <a:prstGeom prst="rect">
                        <a:avLst/>
                      </a:prstGeom>
                      <a:noFill/>
                      <a:ln w="38100">
                        <a:noFill/>
                        <a:miter/>
                      </a:ln>
                    </p:spPr>
                  </p:pic>
                </p:oleObj>
              </mc:Fallback>
            </mc:AlternateContent>
          </a:graphicData>
        </a:graphic>
      </p:graphicFrame>
      <p:graphicFrame>
        <p:nvGraphicFramePr>
          <p:cNvPr id="69636" name="对象 105475"/>
          <p:cNvGraphicFramePr/>
          <p:nvPr/>
        </p:nvGraphicFramePr>
        <p:xfrm>
          <a:off x="1349375" y="5168900"/>
          <a:ext cx="2195513" cy="708025"/>
        </p:xfrm>
        <a:graphic>
          <a:graphicData uri="http://schemas.openxmlformats.org/presentationml/2006/ole">
            <mc:AlternateContent xmlns:mc="http://schemas.openxmlformats.org/markup-compatibility/2006">
              <mc:Choice xmlns:v="urn:schemas-microsoft-com:vml" Requires="v">
                <p:oleObj spid="_x0000_s3172" name="" r:id="rId5" imgW="1231265" imgH="393700" progId="Equation.DSMT4">
                  <p:embed/>
                </p:oleObj>
              </mc:Choice>
              <mc:Fallback>
                <p:oleObj name="" r:id="rId5" imgW="1231265" imgH="393700" progId="Equation.DSMT4">
                  <p:embed/>
                  <p:pic>
                    <p:nvPicPr>
                      <p:cNvPr id="0" name="图片 3171"/>
                      <p:cNvPicPr/>
                      <p:nvPr/>
                    </p:nvPicPr>
                    <p:blipFill>
                      <a:blip r:embed="rId6"/>
                      <a:stretch>
                        <a:fillRect/>
                      </a:stretch>
                    </p:blipFill>
                    <p:spPr>
                      <a:xfrm>
                        <a:off x="1349375" y="5168900"/>
                        <a:ext cx="2195513" cy="708025"/>
                      </a:xfrm>
                      <a:prstGeom prst="rect">
                        <a:avLst/>
                      </a:prstGeom>
                      <a:noFill/>
                      <a:ln w="38100">
                        <a:noFill/>
                        <a:miter/>
                      </a:ln>
                    </p:spPr>
                  </p:pic>
                </p:oleObj>
              </mc:Fallback>
            </mc:AlternateContent>
          </a:graphicData>
        </a:graphic>
      </p:graphicFrame>
      <p:graphicFrame>
        <p:nvGraphicFramePr>
          <p:cNvPr id="69637" name="对象 105474"/>
          <p:cNvGraphicFramePr/>
          <p:nvPr/>
        </p:nvGraphicFramePr>
        <p:xfrm>
          <a:off x="4643438" y="2565400"/>
          <a:ext cx="4321175" cy="1682750"/>
        </p:xfrm>
        <a:graphic>
          <a:graphicData uri="http://schemas.openxmlformats.org/presentationml/2006/ole">
            <mc:AlternateContent xmlns:mc="http://schemas.openxmlformats.org/markup-compatibility/2006">
              <mc:Choice xmlns:v="urn:schemas-microsoft-com:vml" Requires="v">
                <p:oleObj spid="_x0000_s3174" name="" r:id="rId7" imgW="2424430" imgH="862965" progId="Equation.DSMT4">
                  <p:embed/>
                </p:oleObj>
              </mc:Choice>
              <mc:Fallback>
                <p:oleObj name="" r:id="rId7" imgW="2424430" imgH="862965" progId="Equation.DSMT4">
                  <p:embed/>
                  <p:pic>
                    <p:nvPicPr>
                      <p:cNvPr id="0" name="图片 3173"/>
                      <p:cNvPicPr/>
                      <p:nvPr/>
                    </p:nvPicPr>
                    <p:blipFill>
                      <a:blip r:embed="rId8"/>
                      <a:stretch>
                        <a:fillRect/>
                      </a:stretch>
                    </p:blipFill>
                    <p:spPr>
                      <a:xfrm>
                        <a:off x="4643438" y="2565400"/>
                        <a:ext cx="4321175" cy="1682750"/>
                      </a:xfrm>
                      <a:prstGeom prst="rect">
                        <a:avLst/>
                      </a:prstGeom>
                      <a:noFill/>
                      <a:ln w="38100">
                        <a:noFill/>
                        <a:miter/>
                      </a:ln>
                    </p:spPr>
                  </p:pic>
                </p:oleObj>
              </mc:Fallback>
            </mc:AlternateContent>
          </a:graphicData>
        </a:graphic>
      </p:graphicFrame>
      <p:sp>
        <p:nvSpPr>
          <p:cNvPr id="69638" name="矩形 105478"/>
          <p:cNvSpPr/>
          <p:nvPr/>
        </p:nvSpPr>
        <p:spPr>
          <a:xfrm>
            <a:off x="0" y="1989138"/>
            <a:ext cx="6153150"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选</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级启动电阻</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预备级为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加速级为</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p:txBody>
      </p:sp>
      <p:sp>
        <p:nvSpPr>
          <p:cNvPr id="69639" name="矩形 105479"/>
          <p:cNvSpPr/>
          <p:nvPr/>
        </p:nvSpPr>
        <p:spPr>
          <a:xfrm>
            <a:off x="0" y="292417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69640" name="矩形 105480"/>
          <p:cNvSpPr/>
          <p:nvPr/>
        </p:nvSpPr>
        <p:spPr>
          <a:xfrm>
            <a:off x="395288" y="4724400"/>
            <a:ext cx="2603500"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预备级电阻为</a:t>
            </a:r>
            <a:r>
              <a:rPr lang="en-US" altLang="zh-CN">
                <a:latin typeface="Times New Roman" panose="02020603050405020304" pitchFamily="18" charset="0"/>
                <a:ea typeface="宋体" panose="02010600030101010101" pitchFamily="2" charset="-122"/>
              </a:rPr>
              <a:t>:</a:t>
            </a:r>
            <a:r>
              <a:rPr lang="en-US" altLang="zh-CN" sz="1500" b="0">
                <a:latin typeface="Times New Roman" panose="02020603050405020304" pitchFamily="18" charset="0"/>
                <a:ea typeface="宋体" panose="02010600030101010101" pitchFamily="2" charset="-122"/>
              </a:rPr>
              <a:t> </a:t>
            </a:r>
            <a:endParaRPr lang="en-US" altLang="zh-CN" b="0">
              <a:latin typeface="Times New Roman" panose="02020603050405020304" pitchFamily="18" charset="0"/>
              <a:ea typeface="宋体" panose="02010600030101010101" pitchFamily="2" charset="-122"/>
            </a:endParaRPr>
          </a:p>
        </p:txBody>
      </p:sp>
      <p:sp>
        <p:nvSpPr>
          <p:cNvPr id="69641" name="矩形 105481"/>
          <p:cNvSpPr/>
          <p:nvPr/>
        </p:nvSpPr>
        <p:spPr>
          <a:xfrm>
            <a:off x="395288" y="5949950"/>
            <a:ext cx="2401887"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第</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加速级为</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69642" name="矩形 105483"/>
          <p:cNvSpPr/>
          <p:nvPr/>
        </p:nvSpPr>
        <p:spPr>
          <a:xfrm>
            <a:off x="4500563" y="4581525"/>
            <a:ext cx="720725" cy="457200"/>
          </a:xfrm>
          <a:prstGeom prst="rect">
            <a:avLst/>
          </a:prstGeom>
          <a:noFill/>
          <a:ln w="9525">
            <a:noFill/>
          </a:ln>
        </p:spPr>
        <p:txBody>
          <a:bodyPr anchor="ctr" anchorCtr="0">
            <a:spAutoFit/>
          </a:bodyPr>
          <a:p>
            <a:r>
              <a:rPr lang="en-US" altLang="zh-CN">
                <a:latin typeface="Times New Roman" panose="02020603050405020304" pitchFamily="18" charset="0"/>
                <a:ea typeface="宋体" panose="02010600030101010101" pitchFamily="2" charset="-122"/>
              </a:rPr>
              <a:t>(5)</a:t>
            </a:r>
            <a:endParaRPr lang="en-US" altLang="zh-CN">
              <a:latin typeface="Times New Roman" panose="02020603050405020304" pitchFamily="18" charset="0"/>
              <a:ea typeface="宋体" panose="02010600030101010101" pitchFamily="2" charset="-122"/>
            </a:endParaRPr>
          </a:p>
        </p:txBody>
      </p:sp>
      <p:graphicFrame>
        <p:nvGraphicFramePr>
          <p:cNvPr id="69643" name="对象 105482"/>
          <p:cNvGraphicFramePr/>
          <p:nvPr/>
        </p:nvGraphicFramePr>
        <p:xfrm>
          <a:off x="5292725" y="4437063"/>
          <a:ext cx="3074988" cy="873125"/>
        </p:xfrm>
        <a:graphic>
          <a:graphicData uri="http://schemas.openxmlformats.org/presentationml/2006/ole">
            <mc:AlternateContent xmlns:mc="http://schemas.openxmlformats.org/markup-compatibility/2006">
              <mc:Choice xmlns:v="urn:schemas-microsoft-com:vml" Requires="v">
                <p:oleObj spid="_x0000_s3170" name="" r:id="rId9" imgW="1701165" imgH="482600" progId="Equation.DSMT4">
                  <p:embed/>
                </p:oleObj>
              </mc:Choice>
              <mc:Fallback>
                <p:oleObj name="" r:id="rId9" imgW="1701165" imgH="482600" progId="Equation.DSMT4">
                  <p:embed/>
                  <p:pic>
                    <p:nvPicPr>
                      <p:cNvPr id="0" name="图片 3169"/>
                      <p:cNvPicPr/>
                      <p:nvPr/>
                    </p:nvPicPr>
                    <p:blipFill>
                      <a:blip r:embed="rId10"/>
                      <a:stretch>
                        <a:fillRect/>
                      </a:stretch>
                    </p:blipFill>
                    <p:spPr>
                      <a:xfrm>
                        <a:off x="5292725" y="4437063"/>
                        <a:ext cx="3074988" cy="873125"/>
                      </a:xfrm>
                      <a:prstGeom prst="rect">
                        <a:avLst/>
                      </a:prstGeom>
                      <a:noFill/>
                      <a:ln w="38100">
                        <a:noFill/>
                        <a:miter/>
                      </a:ln>
                    </p:spPr>
                  </p:pic>
                </p:oleObj>
              </mc:Fallback>
            </mc:AlternateContent>
          </a:graphicData>
        </a:graphic>
      </p:graphicFrame>
      <p:sp>
        <p:nvSpPr>
          <p:cNvPr id="69644" name="矩形 105484"/>
          <p:cNvSpPr/>
          <p:nvPr/>
        </p:nvSpPr>
        <p:spPr>
          <a:xfrm>
            <a:off x="4489450" y="5372100"/>
            <a:ext cx="4627563" cy="968375"/>
          </a:xfrm>
          <a:prstGeom prst="rect">
            <a:avLst/>
          </a:prstGeom>
          <a:noFill/>
          <a:ln w="9525">
            <a:noFill/>
          </a:ln>
        </p:spPr>
        <p:txBody>
          <a:bodyPr wrap="none" anchor="ctr" anchorCtr="0">
            <a:spAutoFit/>
          </a:bodyPr>
          <a:p>
            <a:pPr>
              <a:lnSpc>
                <a:spcPct val="120000"/>
              </a:lnSpc>
            </a:pPr>
            <a:r>
              <a:rPr lang="en-US" altLang="zh-CN">
                <a:latin typeface="Times New Roman" panose="02020603050405020304" pitchFamily="18" charset="0"/>
                <a:ea typeface="宋体" panose="02010600030101010101" pitchFamily="2" charset="-122"/>
              </a:rPr>
              <a:t>(6) </a:t>
            </a: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4</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qr</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=0.197;  </a:t>
            </a: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qR</a:t>
            </a:r>
            <a:r>
              <a:rPr lang="en-US" altLang="zh-CN" baseline="-30000">
                <a:latin typeface="Times New Roman" panose="02020603050405020304" pitchFamily="18" charset="0"/>
                <a:ea typeface="宋体" panose="02010600030101010101" pitchFamily="2" charset="-122"/>
              </a:rPr>
              <a:t>4</a:t>
            </a:r>
            <a:r>
              <a:rPr lang="en-US" altLang="zh-CN">
                <a:latin typeface="Times New Roman" panose="02020603050405020304" pitchFamily="18" charset="0"/>
                <a:ea typeface="宋体" panose="02010600030101010101" pitchFamily="2" charset="-122"/>
              </a:rPr>
              <a:t>=0.396;  </a:t>
            </a:r>
            <a:endParaRPr lang="en-US" altLang="zh-CN">
              <a:latin typeface="Times New Roman" panose="02020603050405020304" pitchFamily="18" charset="0"/>
              <a:ea typeface="宋体" panose="02010600030101010101" pitchFamily="2" charset="-122"/>
            </a:endParaRPr>
          </a:p>
          <a:p>
            <a:pPr eaLnBrk="0" hangingPunct="0">
              <a:lnSpc>
                <a:spcPct val="120000"/>
              </a:lnSpc>
            </a:pPr>
            <a:r>
              <a:rPr lang="en-US" altLang="zh-CN" i="1">
                <a:latin typeface="Times New Roman" panose="02020603050405020304" pitchFamily="18" charset="0"/>
                <a:ea typeface="宋体" panose="02010600030101010101" pitchFamily="2" charset="-122"/>
              </a:rPr>
              <a:t>     R</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qR</a:t>
            </a:r>
            <a:r>
              <a:rPr lang="en-US" altLang="zh-CN" baseline="-30000">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rPr>
              <a:t>=0.796;  </a:t>
            </a: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qR</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=1.6;</a:t>
            </a:r>
            <a:r>
              <a:rPr lang="en-US" altLang="zh-CN" sz="1500" b="0">
                <a:latin typeface="Times New Roman" panose="02020603050405020304" pitchFamily="18" charset="0"/>
                <a:ea typeface="宋体" panose="02010600030101010101" pitchFamily="2" charset="-122"/>
              </a:rPr>
              <a:t> </a:t>
            </a:r>
            <a:endParaRPr lang="en-US" altLang="zh-CN" b="0">
              <a:latin typeface="Times New Roman" panose="02020603050405020304" pitchFamily="18" charset="0"/>
              <a:ea typeface="宋体" panose="02010600030101010101" pitchFamily="2" charset="-122"/>
            </a:endParaRPr>
          </a:p>
        </p:txBody>
      </p:sp>
      <p:sp>
        <p:nvSpPr>
          <p:cNvPr id="69645" name="文本框 105485"/>
          <p:cNvSpPr txBox="1"/>
          <p:nvPr/>
        </p:nvSpPr>
        <p:spPr>
          <a:xfrm>
            <a:off x="395288" y="2636838"/>
            <a:ext cx="539750" cy="457200"/>
          </a:xfrm>
          <a:prstGeom prst="rect">
            <a:avLst/>
          </a:prstGeom>
          <a:noFill/>
          <a:ln w="9525">
            <a:noFill/>
          </a:ln>
        </p:spPr>
        <p:txBody>
          <a:bodyPr wrap="none" anchor="t" anchorCtr="0">
            <a:spAutoFit/>
          </a:bodyPr>
          <a:p>
            <a:r>
              <a:rPr lang="en-US" altLang="zh-CN">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69646" name="直接连接符 105488"/>
          <p:cNvSpPr/>
          <p:nvPr/>
        </p:nvSpPr>
        <p:spPr>
          <a:xfrm>
            <a:off x="4356100" y="2636838"/>
            <a:ext cx="0" cy="3744912"/>
          </a:xfrm>
          <a:prstGeom prst="line">
            <a:avLst/>
          </a:prstGeom>
          <a:ln w="19050" cap="flat" cmpd="sng">
            <a:solidFill>
              <a:srgbClr val="FF0000"/>
            </a:solidFill>
            <a:prstDash val="lgDash"/>
            <a:round/>
            <a:headEnd type="none" w="med" len="med"/>
            <a:tailEnd type="none" w="med" len="med"/>
          </a:ln>
        </p:spPr>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矩形 104449"/>
          <p:cNvSpPr/>
          <p:nvPr/>
        </p:nvSpPr>
        <p:spPr>
          <a:xfrm>
            <a:off x="323850" y="333375"/>
            <a:ext cx="8351838" cy="155257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8-28 YZR41-8</a:t>
            </a:r>
            <a:r>
              <a:rPr lang="zh-CN" altLang="en-US" dirty="0">
                <a:latin typeface="Times New Roman" panose="02020603050405020304" pitchFamily="18" charset="0"/>
                <a:ea typeface="宋体" panose="02010600030101010101" pitchFamily="2" charset="-122"/>
              </a:rPr>
              <a:t>电机：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=11kW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1N</a:t>
            </a:r>
            <a:r>
              <a:rPr lang="en-US" altLang="zh-CN" dirty="0">
                <a:latin typeface="Times New Roman" panose="02020603050405020304" pitchFamily="18" charset="0"/>
                <a:ea typeface="宋体" panose="02010600030101010101" pitchFamily="2" charset="-122"/>
              </a:rPr>
              <a:t>=30.8A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=715r/min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λ</a:t>
            </a:r>
            <a:r>
              <a:rPr lang="en-US" altLang="zh-CN" dirty="0">
                <a:latin typeface="Times New Roman" panose="02020603050405020304" pitchFamily="18" charset="0"/>
                <a:ea typeface="宋体" panose="02010600030101010101" pitchFamily="2" charset="-122"/>
              </a:rPr>
              <a:t>=2.9</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=46.7A</a:t>
            </a:r>
            <a:r>
              <a:rPr lang="zh-CN" altLang="en-US" dirty="0">
                <a:latin typeface="Times New Roman" panose="02020603050405020304" pitchFamily="18" charset="0"/>
                <a:ea typeface="宋体" panose="02010600030101010101" pitchFamily="2" charset="-122"/>
              </a:rPr>
              <a:t>，回馈发电制动，</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=0.8</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，电机稳定转速？转子回路串入三倍的附加电阻，稳定转速？</a:t>
            </a:r>
            <a:endParaRPr lang="zh-CN" altLang="en-US" dirty="0">
              <a:latin typeface="Times New Roman" panose="02020603050405020304" pitchFamily="18" charset="0"/>
              <a:ea typeface="宋体" panose="02010600030101010101" pitchFamily="2" charset="-122"/>
            </a:endParaRPr>
          </a:p>
        </p:txBody>
      </p:sp>
      <p:graphicFrame>
        <p:nvGraphicFramePr>
          <p:cNvPr id="70658" name="对象 104450"/>
          <p:cNvGraphicFramePr/>
          <p:nvPr/>
        </p:nvGraphicFramePr>
        <p:xfrm>
          <a:off x="5651500" y="4005263"/>
          <a:ext cx="1800225" cy="901700"/>
        </p:xfrm>
        <a:graphic>
          <a:graphicData uri="http://schemas.openxmlformats.org/presentationml/2006/ole">
            <mc:AlternateContent xmlns:mc="http://schemas.openxmlformats.org/markup-compatibility/2006">
              <mc:Choice xmlns:v="urn:schemas-microsoft-com:vml" Requires="v">
                <p:oleObj spid="_x0000_s3175" name="" r:id="rId1" imgW="862965" imgH="431800" progId="Equation.DSMT4">
                  <p:embed/>
                </p:oleObj>
              </mc:Choice>
              <mc:Fallback>
                <p:oleObj name="" r:id="rId1" imgW="862965" imgH="431800" progId="Equation.DSMT4">
                  <p:embed/>
                  <p:pic>
                    <p:nvPicPr>
                      <p:cNvPr id="0" name="图片 3174"/>
                      <p:cNvPicPr/>
                      <p:nvPr/>
                    </p:nvPicPr>
                    <p:blipFill>
                      <a:blip r:embed="rId2"/>
                      <a:stretch>
                        <a:fillRect/>
                      </a:stretch>
                    </p:blipFill>
                    <p:spPr>
                      <a:xfrm>
                        <a:off x="5651500" y="4005263"/>
                        <a:ext cx="1800225" cy="901700"/>
                      </a:xfrm>
                      <a:prstGeom prst="rect">
                        <a:avLst/>
                      </a:prstGeom>
                      <a:noFill/>
                      <a:ln w="38100">
                        <a:noFill/>
                        <a:miter/>
                      </a:ln>
                    </p:spPr>
                  </p:pic>
                </p:oleObj>
              </mc:Fallback>
            </mc:AlternateContent>
          </a:graphicData>
        </a:graphic>
      </p:graphicFrame>
      <p:grpSp>
        <p:nvGrpSpPr>
          <p:cNvPr id="70659" name="组合 104451"/>
          <p:cNvGrpSpPr/>
          <p:nvPr/>
        </p:nvGrpSpPr>
        <p:grpSpPr>
          <a:xfrm>
            <a:off x="5435600" y="1484313"/>
            <a:ext cx="3097213" cy="2665412"/>
            <a:chOff x="5217" y="1440"/>
            <a:chExt cx="3780" cy="2964"/>
          </a:xfrm>
        </p:grpSpPr>
        <p:sp>
          <p:nvSpPr>
            <p:cNvPr id="70660" name="文本框 104470"/>
            <p:cNvSpPr txBox="1"/>
            <p:nvPr/>
          </p:nvSpPr>
          <p:spPr>
            <a:xfrm>
              <a:off x="5397" y="3624"/>
              <a:ext cx="900" cy="312"/>
            </a:xfrm>
            <a:prstGeom prst="rect">
              <a:avLst/>
            </a:prstGeom>
            <a:noFill/>
            <a:ln w="9525">
              <a:noFill/>
            </a:ln>
          </p:spPr>
          <p:txBody>
            <a:bodyPr lIns="0" tIns="0" rIns="0" bIns="0" anchor="t" anchorCtr="0"/>
            <a:p>
              <a:r>
                <a:rPr lang="en-US" altLang="zh-CN" sz="1600">
                  <a:latin typeface="Times New Roman" panose="02020603050405020304" pitchFamily="18" charset="0"/>
                  <a:ea typeface="宋体" panose="02010600030101010101" pitchFamily="2" charset="-122"/>
                </a:rPr>
                <a:t>-0.8T</a:t>
              </a:r>
              <a:r>
                <a:rPr lang="en-US" altLang="zh-CN" sz="1600" baseline="-30000">
                  <a:latin typeface="Times New Roman" panose="02020603050405020304" pitchFamily="18" charset="0"/>
                  <a:ea typeface="宋体" panose="02010600030101010101" pitchFamily="2" charset="-122"/>
                </a:rPr>
                <a:t>LN</a:t>
              </a:r>
              <a:endParaRPr lang="en-US" altLang="zh-CN" sz="1600" b="0">
                <a:latin typeface="Times New Roman" panose="02020603050405020304" pitchFamily="18" charset="0"/>
                <a:ea typeface="宋体" panose="02010600030101010101" pitchFamily="2" charset="-122"/>
              </a:endParaRPr>
            </a:p>
          </p:txBody>
        </p:sp>
        <p:sp>
          <p:nvSpPr>
            <p:cNvPr id="70661" name="文本框 104469"/>
            <p:cNvSpPr txBox="1"/>
            <p:nvPr/>
          </p:nvSpPr>
          <p:spPr>
            <a:xfrm>
              <a:off x="6657" y="3624"/>
              <a:ext cx="360" cy="312"/>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0</a:t>
              </a:r>
              <a:endParaRPr lang="en-US" altLang="zh-CN" b="0">
                <a:latin typeface="Times New Roman" panose="02020603050405020304" pitchFamily="18" charset="0"/>
                <a:ea typeface="宋体" panose="02010600030101010101" pitchFamily="2" charset="-122"/>
              </a:endParaRPr>
            </a:p>
          </p:txBody>
        </p:sp>
        <p:sp>
          <p:nvSpPr>
            <p:cNvPr id="70662" name="文本框 104468"/>
            <p:cNvSpPr txBox="1"/>
            <p:nvPr/>
          </p:nvSpPr>
          <p:spPr>
            <a:xfrm>
              <a:off x="5577" y="1908"/>
              <a:ext cx="360" cy="312"/>
            </a:xfrm>
            <a:prstGeom prst="rect">
              <a:avLst/>
            </a:prstGeom>
            <a:noFill/>
            <a:ln w="9525">
              <a:noFill/>
            </a:ln>
          </p:spPr>
          <p:txBody>
            <a:bodyPr lIns="0" tIns="0" rIns="0" bIns="0" anchor="t" anchorCtr="0"/>
            <a:p>
              <a:r>
                <a:rPr lang="en-US" altLang="zh-CN" sz="1800">
                  <a:latin typeface="Times New Roman" panose="02020603050405020304" pitchFamily="18" charset="0"/>
                  <a:ea typeface="宋体" panose="02010600030101010101" pitchFamily="2" charset="-122"/>
                </a:rPr>
                <a:t>C</a:t>
              </a:r>
              <a:endParaRPr lang="en-US" altLang="zh-CN" sz="1800" b="0">
                <a:latin typeface="Times New Roman" panose="02020603050405020304" pitchFamily="18" charset="0"/>
                <a:ea typeface="宋体" panose="02010600030101010101" pitchFamily="2" charset="-122"/>
              </a:endParaRPr>
            </a:p>
          </p:txBody>
        </p:sp>
        <p:sp>
          <p:nvSpPr>
            <p:cNvPr id="70663" name="文本框 104467"/>
            <p:cNvSpPr txBox="1"/>
            <p:nvPr/>
          </p:nvSpPr>
          <p:spPr>
            <a:xfrm>
              <a:off x="5397" y="2376"/>
              <a:ext cx="360" cy="312"/>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B</a:t>
              </a:r>
              <a:endParaRPr lang="en-US" altLang="zh-CN" b="0">
                <a:latin typeface="Times New Roman" panose="02020603050405020304" pitchFamily="18" charset="0"/>
                <a:ea typeface="宋体" panose="02010600030101010101" pitchFamily="2" charset="-122"/>
              </a:endParaRPr>
            </a:p>
          </p:txBody>
        </p:sp>
        <p:sp>
          <p:nvSpPr>
            <p:cNvPr id="70664" name="文本框 104466"/>
            <p:cNvSpPr txBox="1"/>
            <p:nvPr/>
          </p:nvSpPr>
          <p:spPr>
            <a:xfrm>
              <a:off x="7557" y="2532"/>
              <a:ext cx="360" cy="312"/>
            </a:xfrm>
            <a:prstGeom prst="rect">
              <a:avLst/>
            </a:prstGeom>
            <a:noFill/>
            <a:ln w="9525">
              <a:noFill/>
            </a:ln>
          </p:spPr>
          <p:txBody>
            <a:bodyPr lIns="0" tIns="0" rIns="0" bIns="0" anchor="t" anchorCtr="0"/>
            <a:p>
              <a:r>
                <a:rPr lang="en-US" altLang="zh-CN" sz="1800">
                  <a:latin typeface="Times New Roman" panose="02020603050405020304" pitchFamily="18" charset="0"/>
                  <a:ea typeface="宋体" panose="02010600030101010101" pitchFamily="2" charset="-122"/>
                </a:rPr>
                <a:t>A</a:t>
              </a:r>
              <a:endParaRPr lang="en-US" altLang="zh-CN" sz="1800" b="0">
                <a:latin typeface="Times New Roman" panose="02020603050405020304" pitchFamily="18" charset="0"/>
                <a:ea typeface="宋体" panose="02010600030101010101" pitchFamily="2" charset="-122"/>
              </a:endParaRPr>
            </a:p>
          </p:txBody>
        </p:sp>
        <p:sp>
          <p:nvSpPr>
            <p:cNvPr id="70665" name="文本框 104465"/>
            <p:cNvSpPr txBox="1"/>
            <p:nvPr/>
          </p:nvSpPr>
          <p:spPr>
            <a:xfrm>
              <a:off x="7377" y="3624"/>
              <a:ext cx="720" cy="312"/>
            </a:xfrm>
            <a:prstGeom prst="rect">
              <a:avLst/>
            </a:prstGeom>
            <a:noFill/>
            <a:ln w="9525">
              <a:noFill/>
            </a:ln>
          </p:spPr>
          <p:txBody>
            <a:bodyPr lIns="0" tIns="0" rIns="0" bIns="0" anchor="t" anchorCtr="0"/>
            <a:p>
              <a:r>
                <a:rPr lang="en-US" altLang="zh-CN" sz="1400">
                  <a:latin typeface="Times New Roman" panose="02020603050405020304" pitchFamily="18" charset="0"/>
                  <a:ea typeface="宋体" panose="02010600030101010101" pitchFamily="2" charset="-122"/>
                </a:rPr>
                <a:t>0.8T</a:t>
              </a:r>
              <a:r>
                <a:rPr lang="en-US" altLang="zh-CN" sz="1400" baseline="-30000">
                  <a:latin typeface="Times New Roman" panose="02020603050405020304" pitchFamily="18" charset="0"/>
                  <a:ea typeface="宋体" panose="02010600030101010101" pitchFamily="2" charset="-122"/>
                </a:rPr>
                <a:t>LN</a:t>
              </a:r>
              <a:endParaRPr lang="en-US" altLang="zh-CN" sz="1400" b="0">
                <a:latin typeface="Times New Roman" panose="02020603050405020304" pitchFamily="18" charset="0"/>
                <a:ea typeface="宋体" panose="02010600030101010101" pitchFamily="2" charset="-122"/>
              </a:endParaRPr>
            </a:p>
          </p:txBody>
        </p:sp>
        <p:sp>
          <p:nvSpPr>
            <p:cNvPr id="70666" name="文本框 104464"/>
            <p:cNvSpPr txBox="1"/>
            <p:nvPr/>
          </p:nvSpPr>
          <p:spPr>
            <a:xfrm>
              <a:off x="8457" y="3468"/>
              <a:ext cx="540" cy="312"/>
            </a:xfrm>
            <a:prstGeom prst="rect">
              <a:avLst/>
            </a:prstGeom>
            <a:noFill/>
            <a:ln w="9525">
              <a:noFill/>
            </a:ln>
          </p:spPr>
          <p:txBody>
            <a:bodyPr lIns="0" tIns="0" rIns="0" bIns="0" anchor="t" anchorCtr="0"/>
            <a:p>
              <a:r>
                <a:rPr lang="en-US" altLang="zh-CN" sz="1800">
                  <a:latin typeface="Times New Roman" panose="02020603050405020304" pitchFamily="18" charset="0"/>
                  <a:ea typeface="宋体" panose="02010600030101010101" pitchFamily="2" charset="-122"/>
                </a:rPr>
                <a:t>T</a:t>
              </a:r>
              <a:r>
                <a:rPr lang="en-US" altLang="zh-CN" sz="1800" baseline="-30000">
                  <a:latin typeface="Times New Roman" panose="02020603050405020304" pitchFamily="18" charset="0"/>
                  <a:ea typeface="宋体" panose="02010600030101010101" pitchFamily="2" charset="-122"/>
                </a:rPr>
                <a:t>em</a:t>
              </a:r>
              <a:endParaRPr lang="en-US" altLang="zh-CN" sz="1800" b="0">
                <a:latin typeface="Times New Roman" panose="02020603050405020304" pitchFamily="18" charset="0"/>
                <a:ea typeface="宋体" panose="02010600030101010101" pitchFamily="2" charset="-122"/>
              </a:endParaRPr>
            </a:p>
          </p:txBody>
        </p:sp>
        <p:sp>
          <p:nvSpPr>
            <p:cNvPr id="70667" name="文本框 104463"/>
            <p:cNvSpPr txBox="1"/>
            <p:nvPr/>
          </p:nvSpPr>
          <p:spPr>
            <a:xfrm>
              <a:off x="6657" y="1440"/>
              <a:ext cx="360" cy="309"/>
            </a:xfrm>
            <a:prstGeom prst="rect">
              <a:avLst/>
            </a:prstGeom>
            <a:noFill/>
            <a:ln w="9525">
              <a:noFill/>
            </a:ln>
          </p:spPr>
          <p:txBody>
            <a:bodyPr lIns="0" tIns="0" rIns="0" bIns="0" anchor="t" anchorCtr="0"/>
            <a:p>
              <a:r>
                <a:rPr lang="en-US" altLang="zh-CN" sz="1200">
                  <a:latin typeface="Times New Roman" panose="02020603050405020304" pitchFamily="18" charset="0"/>
                  <a:ea typeface="宋体" panose="02010600030101010101" pitchFamily="2" charset="-122"/>
                </a:rPr>
                <a:t>n</a:t>
              </a:r>
              <a:endParaRPr lang="en-US" altLang="zh-CN" b="0">
                <a:latin typeface="Times New Roman" panose="02020603050405020304" pitchFamily="18" charset="0"/>
                <a:ea typeface="宋体" panose="02010600030101010101" pitchFamily="2" charset="-122"/>
              </a:endParaRPr>
            </a:p>
          </p:txBody>
        </p:sp>
        <p:sp>
          <p:nvSpPr>
            <p:cNvPr id="70668" name="直接连接符 104462"/>
            <p:cNvSpPr/>
            <p:nvPr/>
          </p:nvSpPr>
          <p:spPr>
            <a:xfrm>
              <a:off x="5217" y="3624"/>
              <a:ext cx="3240" cy="0"/>
            </a:xfrm>
            <a:prstGeom prst="line">
              <a:avLst/>
            </a:prstGeom>
            <a:ln w="9525" cap="flat" cmpd="sng">
              <a:solidFill>
                <a:srgbClr val="000000"/>
              </a:solidFill>
              <a:prstDash val="solid"/>
              <a:round/>
              <a:headEnd type="none" w="med" len="med"/>
              <a:tailEnd type="triangle" w="med" len="med"/>
            </a:ln>
          </p:spPr>
        </p:sp>
        <p:sp>
          <p:nvSpPr>
            <p:cNvPr id="70669" name="直接连接符 104461"/>
            <p:cNvSpPr/>
            <p:nvPr/>
          </p:nvSpPr>
          <p:spPr>
            <a:xfrm flipV="1">
              <a:off x="6537" y="1440"/>
              <a:ext cx="0" cy="2964"/>
            </a:xfrm>
            <a:prstGeom prst="line">
              <a:avLst/>
            </a:prstGeom>
            <a:ln w="9525" cap="flat" cmpd="sng">
              <a:solidFill>
                <a:srgbClr val="000000"/>
              </a:solidFill>
              <a:prstDash val="solid"/>
              <a:round/>
              <a:headEnd type="none" w="med" len="med"/>
              <a:tailEnd type="triangle" w="med" len="med"/>
            </a:ln>
          </p:spPr>
        </p:sp>
        <p:sp>
          <p:nvSpPr>
            <p:cNvPr id="70670" name="直接连接符 104460"/>
            <p:cNvSpPr/>
            <p:nvPr/>
          </p:nvSpPr>
          <p:spPr>
            <a:xfrm>
              <a:off x="5217" y="2376"/>
              <a:ext cx="2880" cy="624"/>
            </a:xfrm>
            <a:prstGeom prst="line">
              <a:avLst/>
            </a:prstGeom>
            <a:ln w="12700" cap="flat" cmpd="sng">
              <a:solidFill>
                <a:srgbClr val="000000"/>
              </a:solidFill>
              <a:prstDash val="solid"/>
              <a:round/>
              <a:headEnd type="none" w="med" len="med"/>
              <a:tailEnd type="none" w="med" len="med"/>
            </a:ln>
          </p:spPr>
        </p:sp>
        <p:sp>
          <p:nvSpPr>
            <p:cNvPr id="70671" name="直接连接符 104459"/>
            <p:cNvSpPr/>
            <p:nvPr/>
          </p:nvSpPr>
          <p:spPr>
            <a:xfrm>
              <a:off x="7557" y="2064"/>
              <a:ext cx="0" cy="1560"/>
            </a:xfrm>
            <a:prstGeom prst="line">
              <a:avLst/>
            </a:prstGeom>
            <a:ln w="9525" cap="flat" cmpd="sng">
              <a:solidFill>
                <a:srgbClr val="000000"/>
              </a:solidFill>
              <a:prstDash val="solid"/>
              <a:round/>
              <a:headEnd type="none" w="med" len="med"/>
              <a:tailEnd type="none" w="med" len="med"/>
            </a:ln>
          </p:spPr>
        </p:sp>
        <p:sp>
          <p:nvSpPr>
            <p:cNvPr id="70672" name="直接连接符 104458"/>
            <p:cNvSpPr/>
            <p:nvPr/>
          </p:nvSpPr>
          <p:spPr>
            <a:xfrm flipH="1">
              <a:off x="5607" y="2451"/>
              <a:ext cx="900" cy="0"/>
            </a:xfrm>
            <a:prstGeom prst="line">
              <a:avLst/>
            </a:prstGeom>
            <a:ln w="19050" cap="rnd" cmpd="sng">
              <a:solidFill>
                <a:srgbClr val="993300"/>
              </a:solidFill>
              <a:prstDash val="sysDot"/>
              <a:round/>
              <a:headEnd type="none" w="med" len="med"/>
              <a:tailEnd type="none" w="med" len="med"/>
            </a:ln>
          </p:spPr>
        </p:sp>
        <p:sp>
          <p:nvSpPr>
            <p:cNvPr id="70673" name="直接连接符 104457"/>
            <p:cNvSpPr/>
            <p:nvPr/>
          </p:nvSpPr>
          <p:spPr>
            <a:xfrm>
              <a:off x="6522" y="2889"/>
              <a:ext cx="1080" cy="0"/>
            </a:xfrm>
            <a:prstGeom prst="line">
              <a:avLst/>
            </a:prstGeom>
            <a:ln w="19050" cap="rnd" cmpd="sng">
              <a:solidFill>
                <a:srgbClr val="993300"/>
              </a:solidFill>
              <a:prstDash val="sysDot"/>
              <a:round/>
              <a:headEnd type="none" w="med" len="med"/>
              <a:tailEnd type="none" w="med" len="med"/>
            </a:ln>
          </p:spPr>
        </p:sp>
        <p:sp>
          <p:nvSpPr>
            <p:cNvPr id="70674" name="文本框 104456"/>
            <p:cNvSpPr txBox="1"/>
            <p:nvPr/>
          </p:nvSpPr>
          <p:spPr>
            <a:xfrm>
              <a:off x="7917" y="3156"/>
              <a:ext cx="540" cy="312"/>
            </a:xfrm>
            <a:prstGeom prst="rect">
              <a:avLst/>
            </a:prstGeom>
            <a:noFill/>
            <a:ln w="9525">
              <a:noFill/>
            </a:ln>
          </p:spPr>
          <p:txBody>
            <a:bodyPr lIns="0" tIns="0" rIns="0" bIns="0" anchor="t" anchorCtr="0"/>
            <a:p>
              <a:r>
                <a:rPr lang="en-US" altLang="zh-CN" sz="1800">
                  <a:latin typeface="Times New Roman" panose="02020603050405020304" pitchFamily="18" charset="0"/>
                  <a:ea typeface="宋体" panose="02010600030101010101" pitchFamily="2" charset="-122"/>
                </a:rPr>
                <a:t>3r</a:t>
              </a:r>
              <a:r>
                <a:rPr lang="en-US" altLang="zh-CN" sz="1800" baseline="-30000">
                  <a:latin typeface="Times New Roman" panose="02020603050405020304" pitchFamily="18" charset="0"/>
                  <a:ea typeface="宋体" panose="02010600030101010101" pitchFamily="2" charset="-122"/>
                </a:rPr>
                <a:t>2</a:t>
              </a:r>
              <a:endParaRPr lang="en-US" altLang="zh-CN" sz="1800" b="0">
                <a:latin typeface="Times New Roman" panose="02020603050405020304" pitchFamily="18" charset="0"/>
                <a:ea typeface="宋体" panose="02010600030101010101" pitchFamily="2" charset="-122"/>
              </a:endParaRPr>
            </a:p>
          </p:txBody>
        </p:sp>
        <p:sp>
          <p:nvSpPr>
            <p:cNvPr id="70675" name="文本框 104455"/>
            <p:cNvSpPr txBox="1"/>
            <p:nvPr/>
          </p:nvSpPr>
          <p:spPr>
            <a:xfrm>
              <a:off x="6657" y="2376"/>
              <a:ext cx="360" cy="312"/>
            </a:xfrm>
            <a:prstGeom prst="rect">
              <a:avLst/>
            </a:prstGeom>
            <a:noFill/>
            <a:ln w="9525">
              <a:noFill/>
            </a:ln>
          </p:spPr>
          <p:txBody>
            <a:bodyPr lIns="0" tIns="0" rIns="0" bIns="0" anchor="t" anchorCtr="0"/>
            <a:p>
              <a:r>
                <a:rPr lang="en-US" altLang="zh-CN" sz="1800">
                  <a:latin typeface="Times New Roman" panose="02020603050405020304" pitchFamily="18" charset="0"/>
                  <a:ea typeface="宋体" panose="02010600030101010101" pitchFamily="2" charset="-122"/>
                </a:rPr>
                <a:t>n</a:t>
              </a:r>
              <a:r>
                <a:rPr lang="en-US" altLang="zh-CN" sz="1800" baseline="-30000">
                  <a:latin typeface="Times New Roman" panose="02020603050405020304" pitchFamily="18" charset="0"/>
                  <a:ea typeface="宋体" panose="02010600030101010101" pitchFamily="2" charset="-122"/>
                </a:rPr>
                <a:t>0</a:t>
              </a:r>
              <a:endParaRPr lang="en-US" altLang="zh-CN" sz="1800" b="0">
                <a:latin typeface="Times New Roman" panose="02020603050405020304" pitchFamily="18" charset="0"/>
                <a:ea typeface="宋体" panose="02010600030101010101" pitchFamily="2" charset="-122"/>
              </a:endParaRPr>
            </a:p>
          </p:txBody>
        </p:sp>
        <p:sp>
          <p:nvSpPr>
            <p:cNvPr id="70676" name="直接连接符 104454"/>
            <p:cNvSpPr/>
            <p:nvPr/>
          </p:nvSpPr>
          <p:spPr>
            <a:xfrm>
              <a:off x="5397" y="2064"/>
              <a:ext cx="2700" cy="1404"/>
            </a:xfrm>
            <a:prstGeom prst="line">
              <a:avLst/>
            </a:prstGeom>
            <a:ln w="12700" cap="flat" cmpd="sng">
              <a:solidFill>
                <a:srgbClr val="000000"/>
              </a:solidFill>
              <a:prstDash val="solid"/>
              <a:round/>
              <a:headEnd type="none" w="med" len="med"/>
              <a:tailEnd type="none" w="med" len="med"/>
            </a:ln>
          </p:spPr>
        </p:sp>
        <p:sp>
          <p:nvSpPr>
            <p:cNvPr id="70677" name="直接连接符 104453"/>
            <p:cNvSpPr/>
            <p:nvPr/>
          </p:nvSpPr>
          <p:spPr>
            <a:xfrm>
              <a:off x="5577" y="1752"/>
              <a:ext cx="0" cy="1872"/>
            </a:xfrm>
            <a:prstGeom prst="line">
              <a:avLst/>
            </a:prstGeom>
            <a:ln w="9525" cap="flat" cmpd="sng">
              <a:solidFill>
                <a:srgbClr val="000000"/>
              </a:solidFill>
              <a:prstDash val="solid"/>
              <a:round/>
              <a:headEnd type="none" w="med" len="med"/>
              <a:tailEnd type="none" w="med" len="med"/>
            </a:ln>
          </p:spPr>
        </p:sp>
        <p:sp>
          <p:nvSpPr>
            <p:cNvPr id="70678" name="直接连接符 104452"/>
            <p:cNvSpPr/>
            <p:nvPr/>
          </p:nvSpPr>
          <p:spPr>
            <a:xfrm>
              <a:off x="5532" y="2160"/>
              <a:ext cx="1065" cy="0"/>
            </a:xfrm>
            <a:prstGeom prst="line">
              <a:avLst/>
            </a:prstGeom>
            <a:ln w="19050" cap="rnd" cmpd="sng">
              <a:solidFill>
                <a:srgbClr val="993300"/>
              </a:solidFill>
              <a:prstDash val="sysDot"/>
              <a:round/>
              <a:headEnd type="none" w="med" len="med"/>
              <a:tailEnd type="none" w="med" len="med"/>
            </a:ln>
          </p:spPr>
        </p:sp>
      </p:grpSp>
      <p:sp>
        <p:nvSpPr>
          <p:cNvPr id="70679" name="矩形 104471"/>
          <p:cNvSpPr/>
          <p:nvPr/>
        </p:nvSpPr>
        <p:spPr>
          <a:xfrm>
            <a:off x="0" y="13160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0680" name="矩形 104482"/>
          <p:cNvSpPr/>
          <p:nvPr/>
        </p:nvSpPr>
        <p:spPr>
          <a:xfrm>
            <a:off x="179388" y="1916113"/>
            <a:ext cx="4679950" cy="4719637"/>
          </a:xfrm>
          <a:prstGeom prst="rect">
            <a:avLst/>
          </a:prstGeom>
          <a:noFill/>
          <a:ln w="9525">
            <a:noFill/>
          </a:ln>
        </p:spPr>
        <p:txBody>
          <a:bodyPr anchor="ctr" anchorCtr="0">
            <a:spAutoFit/>
          </a:bodyPr>
          <a:p>
            <a:pPr>
              <a:lnSpc>
                <a:spcPct val="115000"/>
              </a:lnSpc>
            </a:pPr>
            <a:r>
              <a:rPr lang="zh-CN" altLang="en-US" dirty="0">
                <a:latin typeface="Times New Roman" panose="02020603050405020304" pitchFamily="18" charset="0"/>
                <a:ea typeface="宋体" panose="02010600030101010101" pitchFamily="2" charset="-122"/>
              </a:rPr>
              <a:t>解： </a:t>
            </a:r>
            <a:r>
              <a:rPr lang="en-US" altLang="zh-CN">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=(750-715)/750=0.0467</a:t>
            </a:r>
            <a:endParaRPr lang="en-US" altLang="zh-CN">
              <a:latin typeface="Times New Roman" panose="02020603050405020304" pitchFamily="18" charset="0"/>
              <a:ea typeface="宋体" panose="02010600030101010101" pitchFamily="2" charset="-122"/>
            </a:endParaRPr>
          </a:p>
          <a:p>
            <a:pPr eaLnBrk="0" hangingPunct="0">
              <a:lnSpc>
                <a:spcPct val="115000"/>
              </a:lnSpc>
            </a:pPr>
            <a:r>
              <a:rPr lang="zh-CN" altLang="en-US" dirty="0">
                <a:latin typeface="Times New Roman" panose="02020603050405020304" pitchFamily="18" charset="0"/>
                <a:ea typeface="宋体" panose="02010600030101010101" pitchFamily="2" charset="-122"/>
              </a:rPr>
              <a:t>提升</a:t>
            </a:r>
            <a:r>
              <a:rPr lang="en-US" altLang="zh-CN" dirty="0">
                <a:latin typeface="Times New Roman" panose="02020603050405020304" pitchFamily="18" charset="0"/>
                <a:ea typeface="宋体" panose="02010600030101010101" pitchFamily="2" charset="-122"/>
              </a:rPr>
              <a:t>0.8</a:t>
            </a:r>
            <a:r>
              <a:rPr lang="zh-CN" altLang="en-US" dirty="0">
                <a:latin typeface="Times New Roman" panose="02020603050405020304" pitchFamily="18" charset="0"/>
                <a:ea typeface="宋体" panose="02010600030101010101" pitchFamily="2" charset="-122"/>
              </a:rPr>
              <a:t>倍额载时，工作于</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点，</a:t>
            </a:r>
            <a:endParaRPr lang="zh-CN" altLang="en-US" dirty="0">
              <a:latin typeface="Times New Roman" panose="02020603050405020304" pitchFamily="18" charset="0"/>
              <a:ea typeface="宋体" panose="02010600030101010101" pitchFamily="2" charset="-122"/>
            </a:endParaRPr>
          </a:p>
          <a:p>
            <a:pPr eaLnBrk="0" hangingPunct="0">
              <a:lnSpc>
                <a:spcPct val="115000"/>
              </a:lnSpc>
            </a:pPr>
            <a:r>
              <a:rPr lang="en-US" altLang="zh-CN">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=0.8 S</a:t>
            </a:r>
            <a:r>
              <a:rPr lang="en-US" altLang="zh-CN" baseline="-30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=0.8</a:t>
            </a:r>
            <a:r>
              <a:rPr lang="en-US" altLang="zh-CN">
                <a:latin typeface="宋体" panose="02010600030101010101" pitchFamily="2" charset="-122"/>
                <a:ea typeface="宋体" panose="02010600030101010101" pitchFamily="2" charset="-122"/>
              </a:rPr>
              <a:t>×</a:t>
            </a:r>
            <a:r>
              <a:rPr lang="en-US" altLang="zh-CN">
                <a:latin typeface="Times New Roman" panose="02020603050405020304" pitchFamily="18" charset="0"/>
                <a:ea typeface="宋体" panose="02010600030101010101" pitchFamily="2" charset="-122"/>
              </a:rPr>
              <a:t>0.0467=0.0373</a:t>
            </a:r>
            <a:endParaRPr lang="en-US" altLang="zh-CN">
              <a:latin typeface="Times New Roman" panose="02020603050405020304" pitchFamily="18" charset="0"/>
              <a:ea typeface="宋体" panose="02010600030101010101" pitchFamily="2" charset="-122"/>
            </a:endParaRPr>
          </a:p>
          <a:p>
            <a:pPr eaLnBrk="0" hangingPunct="0">
              <a:lnSpc>
                <a:spcPct val="115000"/>
              </a:lnSpc>
            </a:pPr>
            <a:r>
              <a:rPr lang="zh-CN" altLang="en-US" dirty="0">
                <a:latin typeface="Times New Roman" panose="02020603050405020304" pitchFamily="18" charset="0"/>
                <a:ea typeface="宋体" panose="02010600030101010101" pitchFamily="2" charset="-122"/>
              </a:rPr>
              <a:t>发电制动时，工作于</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点，</a:t>
            </a:r>
            <a:endParaRPr lang="zh-CN" altLang="en-US" dirty="0">
              <a:latin typeface="Times New Roman" panose="02020603050405020304" pitchFamily="18" charset="0"/>
              <a:ea typeface="宋体" panose="02010600030101010101" pitchFamily="2" charset="-122"/>
            </a:endParaRPr>
          </a:p>
          <a:p>
            <a:pPr eaLnBrk="0" hangingPunct="0">
              <a:lnSpc>
                <a:spcPct val="115000"/>
              </a:lnSpc>
            </a:pPr>
            <a:r>
              <a:rPr lang="en-US" altLang="zh-CN">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 S</a:t>
            </a:r>
            <a:r>
              <a:rPr lang="en-US" altLang="zh-CN" baseline="-30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=-0.0373</a:t>
            </a:r>
            <a:endParaRPr lang="en-US" altLang="zh-CN">
              <a:latin typeface="Times New Roman" panose="02020603050405020304" pitchFamily="18" charset="0"/>
              <a:ea typeface="宋体" panose="02010600030101010101" pitchFamily="2" charset="-122"/>
            </a:endParaRPr>
          </a:p>
          <a:p>
            <a:pPr eaLnBrk="0" hangingPunct="0">
              <a:lnSpc>
                <a:spcPct val="115000"/>
              </a:lnSpc>
            </a:pPr>
            <a:r>
              <a:rPr lang="zh-CN" altLang="en-US" dirty="0">
                <a:latin typeface="Times New Roman" panose="02020603050405020304" pitchFamily="18" charset="0"/>
                <a:ea typeface="宋体" panose="02010600030101010101" pitchFamily="2" charset="-122"/>
              </a:rPr>
              <a:t>发电制动转速：</a:t>
            </a:r>
            <a:endParaRPr lang="zh-CN" altLang="en-US" dirty="0">
              <a:latin typeface="Times New Roman" panose="02020603050405020304" pitchFamily="18" charset="0"/>
              <a:ea typeface="宋体" panose="02010600030101010101" pitchFamily="2" charset="-122"/>
            </a:endParaRPr>
          </a:p>
          <a:p>
            <a:pPr eaLnBrk="0" hangingPunct="0">
              <a:lnSpc>
                <a:spcPct val="115000"/>
              </a:lnSpc>
            </a:pP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=(1-S</a:t>
            </a:r>
            <a:r>
              <a:rPr lang="en-US" altLang="zh-CN" baseline="-30000">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0</a:t>
            </a:r>
            <a:endParaRPr lang="en-US" altLang="zh-CN" baseline="-30000">
              <a:latin typeface="Times New Roman" panose="02020603050405020304" pitchFamily="18" charset="0"/>
              <a:ea typeface="宋体" panose="02010600030101010101" pitchFamily="2" charset="-122"/>
            </a:endParaRPr>
          </a:p>
          <a:p>
            <a:pPr eaLnBrk="0" hangingPunct="0">
              <a:lnSpc>
                <a:spcPct val="115000"/>
              </a:lnSpc>
            </a:pPr>
            <a:r>
              <a:rPr lang="en-US" altLang="zh-CN" baseline="-3000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=(1+0.0373)</a:t>
            </a:r>
            <a:r>
              <a:rPr lang="en-US" altLang="zh-CN">
                <a:latin typeface="宋体" panose="02010600030101010101" pitchFamily="2" charset="-122"/>
                <a:ea typeface="宋体" panose="02010600030101010101" pitchFamily="2" charset="-122"/>
              </a:rPr>
              <a:t>×</a:t>
            </a:r>
            <a:r>
              <a:rPr lang="en-US" altLang="zh-CN">
                <a:latin typeface="Times New Roman" panose="02020603050405020304" pitchFamily="18" charset="0"/>
                <a:ea typeface="宋体" panose="02010600030101010101" pitchFamily="2" charset="-122"/>
              </a:rPr>
              <a:t>750=778rpm</a:t>
            </a:r>
            <a:endParaRPr lang="en-US" altLang="zh-CN">
              <a:latin typeface="Times New Roman" panose="02020603050405020304" pitchFamily="18" charset="0"/>
              <a:ea typeface="宋体" panose="02010600030101010101" pitchFamily="2" charset="-122"/>
            </a:endParaRPr>
          </a:p>
          <a:p>
            <a:pPr eaLnBrk="0" hangingPunct="0">
              <a:lnSpc>
                <a:spcPct val="115000"/>
              </a:lnSpc>
            </a:pPr>
            <a:r>
              <a:rPr lang="zh-CN" altLang="en-US" dirty="0">
                <a:latin typeface="Times New Roman" panose="02020603050405020304" pitchFamily="18" charset="0"/>
                <a:ea typeface="宋体" panose="02010600030101010101" pitchFamily="2" charset="-122"/>
              </a:rPr>
              <a:t>转子串电阻后，发电制动时，工作于图中</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点，由于</a:t>
            </a:r>
            <a:r>
              <a:rPr lang="en-US" altLang="zh-CN" dirty="0">
                <a:latin typeface="Times New Roman" panose="02020603050405020304" pitchFamily="18" charset="0"/>
                <a:ea typeface="宋体" panose="02010600030101010101" pitchFamily="2" charset="-122"/>
              </a:rPr>
              <a:t>BC</a:t>
            </a:r>
            <a:r>
              <a:rPr lang="zh-CN" altLang="en-US" dirty="0">
                <a:latin typeface="Times New Roman" panose="02020603050405020304" pitchFamily="18" charset="0"/>
                <a:ea typeface="宋体" panose="02010600030101010101" pitchFamily="2" charset="-122"/>
              </a:rPr>
              <a:t>点电机产生相同的电磁转矩，所以</a:t>
            </a:r>
            <a:endParaRPr lang="zh-CN" altLang="en-US" dirty="0">
              <a:latin typeface="Times New Roman" panose="02020603050405020304" pitchFamily="18" charset="0"/>
              <a:ea typeface="宋体" panose="02010600030101010101" pitchFamily="2" charset="-122"/>
            </a:endParaRPr>
          </a:p>
        </p:txBody>
      </p:sp>
      <p:sp>
        <p:nvSpPr>
          <p:cNvPr id="70681" name="矩形 104483"/>
          <p:cNvSpPr/>
          <p:nvPr/>
        </p:nvSpPr>
        <p:spPr>
          <a:xfrm>
            <a:off x="5076825" y="4797425"/>
            <a:ext cx="3829050" cy="1774825"/>
          </a:xfrm>
          <a:prstGeom prst="rect">
            <a:avLst/>
          </a:prstGeom>
          <a:noFill/>
          <a:ln w="9525">
            <a:noFill/>
          </a:ln>
        </p:spPr>
        <p:txBody>
          <a:bodyPr wrap="none" anchor="ctr" anchorCtr="0">
            <a:spAutoFit/>
          </a:bodyPr>
          <a:p>
            <a:pPr>
              <a:lnSpc>
                <a:spcPct val="115000"/>
              </a:lnSpc>
            </a:pPr>
            <a:r>
              <a:rPr lang="zh-CN" altLang="en-US" dirty="0">
                <a:latin typeface="Times New Roman" panose="02020603050405020304" pitchFamily="18" charset="0"/>
                <a:ea typeface="宋体" panose="02010600030101010101" pitchFamily="2" charset="-122"/>
              </a:rPr>
              <a:t>其中：</a:t>
            </a:r>
            <a:r>
              <a:rPr lang="en-US" altLang="zh-CN">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 S</a:t>
            </a:r>
            <a:r>
              <a:rPr lang="en-US" altLang="zh-CN" baseline="-30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=-0.0373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15000"/>
              </a:lnSpc>
            </a:pPr>
            <a:r>
              <a:rPr lang="zh-CN" altLang="en-US" dirty="0">
                <a:latin typeface="Times New Roman" panose="02020603050405020304" pitchFamily="18" charset="0"/>
                <a:ea typeface="宋体" panose="02010600030101010101" pitchFamily="2" charset="-122"/>
              </a:rPr>
              <a:t>所以：</a:t>
            </a:r>
            <a:r>
              <a:rPr lang="en-US" altLang="zh-CN">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=-0.149</a:t>
            </a:r>
            <a:endParaRPr lang="en-US" altLang="zh-CN">
              <a:latin typeface="Times New Roman" panose="02020603050405020304" pitchFamily="18" charset="0"/>
              <a:ea typeface="宋体" panose="02010600030101010101" pitchFamily="2" charset="-122"/>
            </a:endParaRPr>
          </a:p>
          <a:p>
            <a:pPr eaLnBrk="0" hangingPunct="0">
              <a:lnSpc>
                <a:spcPct val="115000"/>
              </a:lnSpc>
            </a:pP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=(1-S</a:t>
            </a:r>
            <a:r>
              <a:rPr lang="en-US" altLang="zh-CN" baseline="-30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0</a:t>
            </a:r>
            <a:endParaRPr lang="en-US" altLang="zh-CN" baseline="-30000">
              <a:latin typeface="Times New Roman" panose="02020603050405020304" pitchFamily="18" charset="0"/>
              <a:ea typeface="宋体" panose="02010600030101010101" pitchFamily="2" charset="-122"/>
            </a:endParaRPr>
          </a:p>
          <a:p>
            <a:pPr eaLnBrk="0" hangingPunct="0">
              <a:lnSpc>
                <a:spcPct val="115000"/>
              </a:lnSpc>
            </a:pPr>
            <a:r>
              <a:rPr lang="en-US" altLang="zh-CN">
                <a:latin typeface="Times New Roman" panose="02020603050405020304" pitchFamily="18" charset="0"/>
                <a:ea typeface="宋体" panose="02010600030101010101" pitchFamily="2" charset="-122"/>
              </a:rPr>
              <a:t>    =(1+0.149)</a:t>
            </a:r>
            <a:r>
              <a:rPr lang="en-US" altLang="zh-CN">
                <a:latin typeface="宋体" panose="02010600030101010101" pitchFamily="2" charset="-122"/>
                <a:ea typeface="宋体" panose="02010600030101010101" pitchFamily="2" charset="-122"/>
              </a:rPr>
              <a:t>×</a:t>
            </a:r>
            <a:r>
              <a:rPr lang="en-US" altLang="zh-CN">
                <a:latin typeface="Times New Roman" panose="02020603050405020304" pitchFamily="18" charset="0"/>
                <a:ea typeface="宋体" panose="02010600030101010101" pitchFamily="2" charset="-122"/>
              </a:rPr>
              <a:t>750=862rpm</a:t>
            </a:r>
            <a:endParaRPr lang="en-US" altLang="zh-CN">
              <a:latin typeface="Times New Roman" panose="02020603050405020304" pitchFamily="18" charset="0"/>
              <a:ea typeface="宋体" panose="02010600030101010101" pitchFamily="2" charset="-122"/>
            </a:endParaRPr>
          </a:p>
        </p:txBody>
      </p:sp>
      <p:sp>
        <p:nvSpPr>
          <p:cNvPr id="70682" name="直接连接符 104484"/>
          <p:cNvSpPr/>
          <p:nvPr/>
        </p:nvSpPr>
        <p:spPr>
          <a:xfrm>
            <a:off x="4787900" y="3213100"/>
            <a:ext cx="0" cy="3311525"/>
          </a:xfrm>
          <a:prstGeom prst="line">
            <a:avLst/>
          </a:prstGeom>
          <a:ln w="19050" cap="flat" cmpd="sng">
            <a:solidFill>
              <a:srgbClr val="FF0000"/>
            </a:solidFill>
            <a:prstDash val="lgDash"/>
            <a:round/>
            <a:headEnd type="none" w="med" len="med"/>
            <a:tailEnd type="none" w="med" len="me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矩形 103425"/>
          <p:cNvSpPr/>
          <p:nvPr/>
        </p:nvSpPr>
        <p:spPr>
          <a:xfrm>
            <a:off x="323850" y="333375"/>
            <a:ext cx="8424863" cy="82232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8-29 </a:t>
            </a:r>
            <a:r>
              <a:rPr lang="zh-CN" altLang="en-US" dirty="0">
                <a:latin typeface="Times New Roman" panose="02020603050405020304" pitchFamily="18" charset="0"/>
                <a:ea typeface="宋体" panose="02010600030101010101" pitchFamily="2" charset="-122"/>
              </a:rPr>
              <a:t>题</a:t>
            </a:r>
            <a:r>
              <a:rPr lang="en-US" altLang="zh-CN" dirty="0">
                <a:latin typeface="Times New Roman" panose="02020603050405020304" pitchFamily="18" charset="0"/>
                <a:ea typeface="宋体" panose="02010600030101010101" pitchFamily="2" charset="-122"/>
              </a:rPr>
              <a:t>8-28</a:t>
            </a:r>
            <a:r>
              <a:rPr lang="zh-CN" altLang="en-US" dirty="0">
                <a:latin typeface="Times New Roman" panose="02020603050405020304" pitchFamily="18" charset="0"/>
                <a:ea typeface="宋体" panose="02010600030101010101" pitchFamily="2" charset="-122"/>
              </a:rPr>
              <a:t>中，用倒拉反转制动，</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时，要使下放速度</a:t>
            </a:r>
            <a:r>
              <a:rPr lang="en-US" altLang="zh-CN" dirty="0">
                <a:latin typeface="Times New Roman" panose="02020603050405020304" pitchFamily="18" charset="0"/>
                <a:ea typeface="宋体" panose="02010600030101010101" pitchFamily="2" charset="-122"/>
              </a:rPr>
              <a:t>150r/min</a:t>
            </a:r>
            <a:r>
              <a:rPr lang="zh-CN" altLang="en-US" dirty="0">
                <a:latin typeface="Times New Roman" panose="02020603050405020304" pitchFamily="18" charset="0"/>
                <a:ea typeface="宋体" panose="02010600030101010101" pitchFamily="2" charset="-122"/>
              </a:rPr>
              <a:t>，问附加电阻？</a:t>
            </a:r>
            <a:endParaRPr lang="zh-CN" altLang="en-US" dirty="0">
              <a:latin typeface="Times New Roman" panose="02020603050405020304" pitchFamily="18" charset="0"/>
              <a:ea typeface="宋体" panose="02010600030101010101" pitchFamily="2" charset="-122"/>
            </a:endParaRPr>
          </a:p>
        </p:txBody>
      </p:sp>
      <p:grpSp>
        <p:nvGrpSpPr>
          <p:cNvPr id="71682" name="组合 103426"/>
          <p:cNvGrpSpPr/>
          <p:nvPr/>
        </p:nvGrpSpPr>
        <p:grpSpPr>
          <a:xfrm>
            <a:off x="4500563" y="1412875"/>
            <a:ext cx="4032250" cy="3455988"/>
            <a:chOff x="5937" y="10332"/>
            <a:chExt cx="3780" cy="2964"/>
          </a:xfrm>
        </p:grpSpPr>
        <p:sp>
          <p:nvSpPr>
            <p:cNvPr id="71683" name="文本框 103427"/>
            <p:cNvSpPr txBox="1"/>
            <p:nvPr/>
          </p:nvSpPr>
          <p:spPr>
            <a:xfrm>
              <a:off x="6912" y="10800"/>
              <a:ext cx="360" cy="312"/>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n</a:t>
              </a:r>
              <a:r>
                <a:rPr lang="en-US" altLang="zh-CN" sz="1200" baseline="-25000">
                  <a:latin typeface="Times New Roman" panose="02020603050405020304" pitchFamily="18" charset="0"/>
                  <a:ea typeface="宋体" panose="02010600030101010101" pitchFamily="2" charset="-122"/>
                </a:rPr>
                <a:t>0</a:t>
              </a:r>
              <a:endParaRPr lang="en-US" altLang="zh-CN">
                <a:latin typeface="Times New Roman" panose="02020603050405020304" pitchFamily="18" charset="0"/>
                <a:ea typeface="宋体" panose="02010600030101010101" pitchFamily="2" charset="-122"/>
              </a:endParaRPr>
            </a:p>
          </p:txBody>
        </p:sp>
        <p:sp>
          <p:nvSpPr>
            <p:cNvPr id="71684" name="直接连接符 103428"/>
            <p:cNvSpPr/>
            <p:nvPr/>
          </p:nvSpPr>
          <p:spPr>
            <a:xfrm>
              <a:off x="7197" y="10956"/>
              <a:ext cx="1980" cy="468"/>
            </a:xfrm>
            <a:prstGeom prst="line">
              <a:avLst/>
            </a:prstGeom>
            <a:ln w="12700" cap="flat" cmpd="sng">
              <a:solidFill>
                <a:srgbClr val="000000"/>
              </a:solidFill>
              <a:prstDash val="solid"/>
              <a:round/>
              <a:headEnd type="none" w="med" len="med"/>
              <a:tailEnd type="none" w="med" len="med"/>
            </a:ln>
          </p:spPr>
        </p:sp>
        <p:sp>
          <p:nvSpPr>
            <p:cNvPr id="71685" name="文本框 103429"/>
            <p:cNvSpPr txBox="1"/>
            <p:nvPr/>
          </p:nvSpPr>
          <p:spPr>
            <a:xfrm>
              <a:off x="7917" y="12828"/>
              <a:ext cx="540" cy="312"/>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T</a:t>
              </a:r>
              <a:r>
                <a:rPr lang="en-US" altLang="zh-CN" sz="1200" baseline="-25000">
                  <a:latin typeface="Times New Roman" panose="02020603050405020304" pitchFamily="18" charset="0"/>
                  <a:ea typeface="宋体" panose="02010600030101010101" pitchFamily="2" charset="-122"/>
                </a:rPr>
                <a:t>LN</a:t>
              </a:r>
              <a:endParaRPr lang="en-US" altLang="zh-CN">
                <a:latin typeface="Times New Roman" panose="02020603050405020304" pitchFamily="18" charset="0"/>
                <a:ea typeface="宋体" panose="02010600030101010101" pitchFamily="2" charset="-122"/>
              </a:endParaRPr>
            </a:p>
          </p:txBody>
        </p:sp>
        <p:sp>
          <p:nvSpPr>
            <p:cNvPr id="71686" name="文本框 103430"/>
            <p:cNvSpPr txBox="1"/>
            <p:nvPr/>
          </p:nvSpPr>
          <p:spPr>
            <a:xfrm>
              <a:off x="7197" y="12516"/>
              <a:ext cx="360" cy="312"/>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0</a:t>
              </a:r>
              <a:endParaRPr lang="en-US" altLang="zh-CN">
                <a:latin typeface="Times New Roman" panose="02020603050405020304" pitchFamily="18" charset="0"/>
                <a:ea typeface="宋体" panose="02010600030101010101" pitchFamily="2" charset="-122"/>
              </a:endParaRPr>
            </a:p>
          </p:txBody>
        </p:sp>
        <p:sp>
          <p:nvSpPr>
            <p:cNvPr id="71687" name="文本框 103431"/>
            <p:cNvSpPr txBox="1"/>
            <p:nvPr/>
          </p:nvSpPr>
          <p:spPr>
            <a:xfrm>
              <a:off x="8487" y="12813"/>
              <a:ext cx="360" cy="312"/>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71688" name="文本框 103432"/>
            <p:cNvSpPr txBox="1"/>
            <p:nvPr/>
          </p:nvSpPr>
          <p:spPr>
            <a:xfrm>
              <a:off x="8457" y="10956"/>
              <a:ext cx="360" cy="312"/>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A</a:t>
              </a:r>
              <a:endParaRPr lang="en-US" altLang="zh-CN">
                <a:latin typeface="Times New Roman" panose="02020603050405020304" pitchFamily="18" charset="0"/>
                <a:ea typeface="宋体" panose="02010600030101010101" pitchFamily="2" charset="-122"/>
              </a:endParaRPr>
            </a:p>
          </p:txBody>
        </p:sp>
        <p:sp>
          <p:nvSpPr>
            <p:cNvPr id="71689" name="文本框 103433"/>
            <p:cNvSpPr txBox="1"/>
            <p:nvPr/>
          </p:nvSpPr>
          <p:spPr>
            <a:xfrm>
              <a:off x="9177" y="12360"/>
              <a:ext cx="540" cy="312"/>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T</a:t>
              </a:r>
              <a:r>
                <a:rPr lang="en-US" altLang="zh-CN" sz="1200" baseline="-25000">
                  <a:latin typeface="Times New Roman" panose="02020603050405020304" pitchFamily="18" charset="0"/>
                  <a:ea typeface="宋体" panose="02010600030101010101" pitchFamily="2" charset="-122"/>
                </a:rPr>
                <a:t>em</a:t>
              </a:r>
              <a:endParaRPr lang="en-US" altLang="zh-CN">
                <a:latin typeface="Times New Roman" panose="02020603050405020304" pitchFamily="18" charset="0"/>
                <a:ea typeface="宋体" panose="02010600030101010101" pitchFamily="2" charset="-122"/>
              </a:endParaRPr>
            </a:p>
          </p:txBody>
        </p:sp>
        <p:sp>
          <p:nvSpPr>
            <p:cNvPr id="71690" name="文本框 103434"/>
            <p:cNvSpPr txBox="1"/>
            <p:nvPr/>
          </p:nvSpPr>
          <p:spPr>
            <a:xfrm>
              <a:off x="7377" y="10332"/>
              <a:ext cx="360" cy="309"/>
            </a:xfrm>
            <a:prstGeom prst="rect">
              <a:avLst/>
            </a:prstGeom>
            <a:noFill/>
            <a:ln w="9525">
              <a:noFill/>
            </a:ln>
          </p:spPr>
          <p:txBody>
            <a:bodyPr lIns="0" tIns="0" rIns="0" bIns="0" anchor="t" anchorCtr="0"/>
            <a:p>
              <a:pPr algn="just"/>
              <a:r>
                <a:rPr lang="en-US" altLang="zh-CN" sz="1200">
                  <a:latin typeface="Times New Roman" panose="02020603050405020304" pitchFamily="18" charset="0"/>
                  <a:ea typeface="宋体" panose="02010600030101010101" pitchFamily="2" charset="-122"/>
                </a:rPr>
                <a:t>n</a:t>
              </a:r>
              <a:endParaRPr lang="en-US" altLang="zh-CN">
                <a:latin typeface="Times New Roman" panose="02020603050405020304" pitchFamily="18" charset="0"/>
                <a:ea typeface="宋体" panose="02010600030101010101" pitchFamily="2" charset="-122"/>
              </a:endParaRPr>
            </a:p>
          </p:txBody>
        </p:sp>
        <p:sp>
          <p:nvSpPr>
            <p:cNvPr id="71691" name="直接连接符 103435"/>
            <p:cNvSpPr/>
            <p:nvPr/>
          </p:nvSpPr>
          <p:spPr>
            <a:xfrm>
              <a:off x="5937" y="12516"/>
              <a:ext cx="3240" cy="0"/>
            </a:xfrm>
            <a:prstGeom prst="line">
              <a:avLst/>
            </a:prstGeom>
            <a:ln w="9525" cap="flat" cmpd="sng">
              <a:solidFill>
                <a:srgbClr val="000000"/>
              </a:solidFill>
              <a:prstDash val="solid"/>
              <a:round/>
              <a:headEnd type="none" w="med" len="med"/>
              <a:tailEnd type="triangle" w="med" len="med"/>
            </a:ln>
          </p:spPr>
        </p:sp>
        <p:sp>
          <p:nvSpPr>
            <p:cNvPr id="71692" name="直接连接符 103436"/>
            <p:cNvSpPr/>
            <p:nvPr/>
          </p:nvSpPr>
          <p:spPr>
            <a:xfrm flipV="1">
              <a:off x="7197" y="10332"/>
              <a:ext cx="0" cy="2964"/>
            </a:xfrm>
            <a:prstGeom prst="line">
              <a:avLst/>
            </a:prstGeom>
            <a:ln w="9525" cap="flat" cmpd="sng">
              <a:solidFill>
                <a:srgbClr val="000000"/>
              </a:solidFill>
              <a:prstDash val="solid"/>
              <a:round/>
              <a:headEnd type="none" w="med" len="med"/>
              <a:tailEnd type="triangle" w="med" len="med"/>
            </a:ln>
          </p:spPr>
        </p:sp>
        <p:sp>
          <p:nvSpPr>
            <p:cNvPr id="71693" name="直接连接符 103437"/>
            <p:cNvSpPr/>
            <p:nvPr/>
          </p:nvSpPr>
          <p:spPr>
            <a:xfrm>
              <a:off x="8457" y="10800"/>
              <a:ext cx="0" cy="2496"/>
            </a:xfrm>
            <a:prstGeom prst="line">
              <a:avLst/>
            </a:prstGeom>
            <a:ln w="9525" cap="flat" cmpd="sng">
              <a:solidFill>
                <a:srgbClr val="000000"/>
              </a:solidFill>
              <a:prstDash val="solid"/>
              <a:round/>
              <a:headEnd type="none" w="med" len="med"/>
              <a:tailEnd type="none" w="med" len="med"/>
            </a:ln>
          </p:spPr>
        </p:sp>
        <p:sp>
          <p:nvSpPr>
            <p:cNvPr id="71694" name="直接连接符 103438"/>
            <p:cNvSpPr/>
            <p:nvPr/>
          </p:nvSpPr>
          <p:spPr>
            <a:xfrm>
              <a:off x="7197" y="10956"/>
              <a:ext cx="1440" cy="2340"/>
            </a:xfrm>
            <a:prstGeom prst="line">
              <a:avLst/>
            </a:prstGeom>
            <a:ln w="9525" cap="flat" cmpd="sng">
              <a:solidFill>
                <a:srgbClr val="000000"/>
              </a:solidFill>
              <a:prstDash val="solid"/>
              <a:round/>
              <a:headEnd type="none" w="med" len="med"/>
              <a:tailEnd type="none" w="med" len="med"/>
            </a:ln>
          </p:spPr>
        </p:sp>
      </p:grpSp>
      <p:sp>
        <p:nvSpPr>
          <p:cNvPr id="71695" name="矩形 103440"/>
          <p:cNvSpPr/>
          <p:nvPr/>
        </p:nvSpPr>
        <p:spPr>
          <a:xfrm>
            <a:off x="323850" y="1412875"/>
            <a:ext cx="4064000" cy="2282825"/>
          </a:xfrm>
          <a:prstGeom prst="rect">
            <a:avLst/>
          </a:prstGeom>
          <a:noFill/>
          <a:ln w="9525">
            <a:noFill/>
          </a:ln>
        </p:spPr>
        <p:txBody>
          <a:bodyPr wrap="none" anchor="ctr" anchorCtr="0">
            <a:spAutoFit/>
          </a:bodyPr>
          <a:p>
            <a:pPr>
              <a:lnSpc>
                <a:spcPct val="120000"/>
              </a:lnSpc>
            </a:pPr>
            <a:r>
              <a:rPr lang="zh-CN" altLang="en-US" dirty="0">
                <a:latin typeface="Times New Roman" panose="02020603050405020304" pitchFamily="18" charset="0"/>
                <a:ea typeface="宋体" panose="02010600030101010101" pitchFamily="2" charset="-122"/>
              </a:rPr>
              <a:t>解：倒拉反转时，工作于</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点</a:t>
            </a:r>
            <a:endParaRPr lang="zh-CN" altLang="en-US" dirty="0">
              <a:latin typeface="Times New Roman" panose="02020603050405020304" pitchFamily="18" charset="0"/>
              <a:ea typeface="宋体" panose="02010600030101010101" pitchFamily="2" charset="-122"/>
            </a:endParaRPr>
          </a:p>
          <a:p>
            <a:pPr eaLnBrk="0" hangingPunct="0">
              <a:lnSpc>
                <a:spcPct val="120000"/>
              </a:lnSpc>
            </a:pP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B</a:t>
            </a:r>
            <a:r>
              <a:rPr lang="en-US" altLang="zh-CN" dirty="0">
                <a:latin typeface="Times New Roman" panose="02020603050405020304" pitchFamily="18" charset="0"/>
                <a:ea typeface="宋体" panose="02010600030101010101" pitchFamily="2" charset="-122"/>
              </a:rPr>
              <a:t>=(750+150)/750=1.2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eaLnBrk="0" hangingPunct="0">
              <a:lnSpc>
                <a:spcPct val="120000"/>
              </a:lnSpc>
            </a:pPr>
            <a:r>
              <a:rPr lang="zh-CN" altLang="en-US" dirty="0">
                <a:latin typeface="Times New Roman" panose="02020603050405020304" pitchFamily="18" charset="0"/>
                <a:ea typeface="宋体" panose="02010600030101010101" pitchFamily="2" charset="-122"/>
              </a:rPr>
              <a:t>又</a:t>
            </a:r>
            <a:r>
              <a:rPr lang="en-US" altLang="zh-CN" i="1">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=(750-715)/750=0.0467</a:t>
            </a:r>
            <a:endParaRPr lang="en-US" altLang="zh-CN">
              <a:latin typeface="Times New Roman" panose="02020603050405020304" pitchFamily="18" charset="0"/>
              <a:ea typeface="宋体" panose="02010600030101010101" pitchFamily="2" charset="-122"/>
            </a:endParaRPr>
          </a:p>
          <a:p>
            <a:pPr eaLnBrk="0" hangingPunct="0">
              <a:lnSpc>
                <a:spcPct val="120000"/>
              </a:lnSpc>
            </a:pPr>
            <a:r>
              <a:rPr lang="zh-CN" altLang="en-US" dirty="0">
                <a:latin typeface="Times New Roman" panose="02020603050405020304" pitchFamily="18" charset="0"/>
                <a:ea typeface="宋体" panose="02010600030101010101" pitchFamily="2" charset="-122"/>
              </a:rPr>
              <a:t>由于</a:t>
            </a:r>
            <a:r>
              <a:rPr lang="en-US" altLang="zh-CN" dirty="0">
                <a:latin typeface="Times New Roman" panose="02020603050405020304" pitchFamily="18" charset="0"/>
                <a:ea typeface="宋体" panose="02010600030101010101" pitchFamily="2" charset="-122"/>
              </a:rPr>
              <a:t>AB</a:t>
            </a:r>
            <a:r>
              <a:rPr lang="zh-CN" altLang="en-US" dirty="0">
                <a:latin typeface="Times New Roman" panose="02020603050405020304" pitchFamily="18" charset="0"/>
                <a:ea typeface="宋体" panose="02010600030101010101" pitchFamily="2" charset="-122"/>
              </a:rPr>
              <a:t>点电机产生相同的</a:t>
            </a:r>
            <a:endParaRPr lang="zh-CN" altLang="en-US" dirty="0">
              <a:latin typeface="Times New Roman" panose="02020603050405020304" pitchFamily="18" charset="0"/>
              <a:ea typeface="宋体" panose="02010600030101010101" pitchFamily="2" charset="-122"/>
            </a:endParaRPr>
          </a:p>
          <a:p>
            <a:pPr eaLnBrk="0" hangingPunct="0">
              <a:lnSpc>
                <a:spcPct val="120000"/>
              </a:lnSpc>
            </a:pPr>
            <a:r>
              <a:rPr lang="zh-CN" altLang="en-US" dirty="0">
                <a:latin typeface="Times New Roman" panose="02020603050405020304" pitchFamily="18" charset="0"/>
                <a:ea typeface="宋体" panose="02010600030101010101" pitchFamily="2" charset="-122"/>
              </a:rPr>
              <a:t>电磁转矩，所以</a:t>
            </a:r>
            <a:endParaRPr lang="zh-CN" altLang="en-US" b="0" dirty="0">
              <a:latin typeface="Times New Roman" panose="02020603050405020304" pitchFamily="18" charset="0"/>
              <a:ea typeface="宋体" panose="02010600030101010101" pitchFamily="2" charset="-122"/>
            </a:endParaRPr>
          </a:p>
        </p:txBody>
      </p:sp>
      <p:graphicFrame>
        <p:nvGraphicFramePr>
          <p:cNvPr id="71696" name="对象 103439"/>
          <p:cNvGraphicFramePr/>
          <p:nvPr/>
        </p:nvGraphicFramePr>
        <p:xfrm>
          <a:off x="1042988" y="4005263"/>
          <a:ext cx="1801812" cy="915987"/>
        </p:xfrm>
        <a:graphic>
          <a:graphicData uri="http://schemas.openxmlformats.org/presentationml/2006/ole">
            <mc:AlternateContent xmlns:mc="http://schemas.openxmlformats.org/markup-compatibility/2006">
              <mc:Choice xmlns:v="urn:schemas-microsoft-com:vml" Requires="v">
                <p:oleObj spid="_x0000_s3177" name="" r:id="rId1" imgW="850265" imgH="431800" progId="Equation.DSMT4">
                  <p:embed/>
                </p:oleObj>
              </mc:Choice>
              <mc:Fallback>
                <p:oleObj name="" r:id="rId1" imgW="850265" imgH="431800" progId="Equation.DSMT4">
                  <p:embed/>
                  <p:pic>
                    <p:nvPicPr>
                      <p:cNvPr id="0" name="图片 3176"/>
                      <p:cNvPicPr/>
                      <p:nvPr/>
                    </p:nvPicPr>
                    <p:blipFill>
                      <a:blip r:embed="rId2"/>
                      <a:stretch>
                        <a:fillRect/>
                      </a:stretch>
                    </p:blipFill>
                    <p:spPr>
                      <a:xfrm>
                        <a:off x="1042988" y="4005263"/>
                        <a:ext cx="1801812" cy="915987"/>
                      </a:xfrm>
                      <a:prstGeom prst="rect">
                        <a:avLst/>
                      </a:prstGeom>
                      <a:noFill/>
                      <a:ln w="38100">
                        <a:noFill/>
                        <a:miter/>
                      </a:ln>
                    </p:spPr>
                  </p:pic>
                </p:oleObj>
              </mc:Fallback>
            </mc:AlternateContent>
          </a:graphicData>
        </a:graphic>
      </p:graphicFrame>
      <p:sp>
        <p:nvSpPr>
          <p:cNvPr id="71697" name="矩形 103441"/>
          <p:cNvSpPr/>
          <p:nvPr/>
        </p:nvSpPr>
        <p:spPr>
          <a:xfrm>
            <a:off x="1116013" y="5229225"/>
            <a:ext cx="1728787" cy="457200"/>
          </a:xfrm>
          <a:prstGeom prst="rect">
            <a:avLst/>
          </a:prstGeom>
          <a:noFill/>
          <a:ln w="9525">
            <a:noFill/>
          </a:ln>
        </p:spPr>
        <p:txBody>
          <a:bodyPr anchor="ctr" anchorCtr="0">
            <a:spAutoFit/>
          </a:bodyPr>
          <a:p>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=24.7</a:t>
            </a: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矩形 102401"/>
          <p:cNvSpPr/>
          <p:nvPr/>
        </p:nvSpPr>
        <p:spPr>
          <a:xfrm>
            <a:off x="323850" y="333375"/>
            <a:ext cx="8353425" cy="1187450"/>
          </a:xfrm>
          <a:prstGeom prst="rect">
            <a:avLst/>
          </a:prstGeom>
          <a:noFill/>
          <a:ln w="9525">
            <a:noFill/>
          </a:ln>
        </p:spPr>
        <p:txBody>
          <a:bodyPr anchor="ctr" anchorCtr="0">
            <a:spAutoFit/>
          </a:bodyPr>
          <a:p>
            <a:pPr marL="457200" indent="-457200">
              <a:buNone/>
            </a:pPr>
            <a:r>
              <a:rPr lang="en-US" altLang="zh-CN">
                <a:latin typeface="Times New Roman" panose="02020603050405020304" pitchFamily="18" charset="0"/>
                <a:ea typeface="宋体" panose="02010600030101010101" pitchFamily="2" charset="-122"/>
              </a:rPr>
              <a:t>8-31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=75kW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=980r/min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λ</a:t>
            </a:r>
            <a:r>
              <a:rPr lang="en-US" altLang="zh-CN" dirty="0">
                <a:latin typeface="Times New Roman" panose="02020603050405020304" pitchFamily="18" charset="0"/>
                <a:ea typeface="宋体" panose="02010600030101010101" pitchFamily="2" charset="-122"/>
              </a:rPr>
              <a:t>=2.15</a:t>
            </a:r>
            <a:r>
              <a:rPr lang="zh-CN" altLang="en-US" dirty="0">
                <a:latin typeface="Times New Roman" panose="02020603050405020304" pitchFamily="18" charset="0"/>
                <a:ea typeface="宋体" panose="02010600030101010101" pitchFamily="2" charset="-122"/>
              </a:rPr>
              <a:t>。变频调速，</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恒定，调速范围</a:t>
            </a:r>
            <a:r>
              <a:rPr lang="en-US" altLang="zh-CN" dirty="0">
                <a:latin typeface="Times New Roman" panose="02020603050405020304" pitchFamily="18" charset="0"/>
                <a:ea typeface="宋体" panose="02010600030101010101" pitchFamily="2" charset="-122"/>
              </a:rPr>
              <a:t>1.5</a:t>
            </a:r>
            <a:r>
              <a:rPr lang="zh-CN" altLang="en-US" dirty="0">
                <a:latin typeface="Times New Roman" panose="02020603050405020304" pitchFamily="18" charset="0"/>
                <a:ea typeface="宋体" panose="02010600030101010101" pitchFamily="2" charset="-122"/>
              </a:rPr>
              <a:t>，求：</a:t>
            </a:r>
            <a:endParaRPr lang="zh-CN" altLang="en-US" dirty="0">
              <a:latin typeface="Times New Roman" panose="02020603050405020304" pitchFamily="18" charset="0"/>
              <a:ea typeface="宋体" panose="02010600030101010101" pitchFamily="2" charset="-122"/>
            </a:endParaRPr>
          </a:p>
          <a:p>
            <a:pPr marL="457200" indent="-457200">
              <a:buAutoNum type="arabicParenBoth"/>
            </a:pPr>
            <a:r>
              <a:rPr lang="zh-CN" altLang="en-US" dirty="0">
                <a:latin typeface="Times New Roman" panose="02020603050405020304" pitchFamily="18" charset="0"/>
                <a:ea typeface="宋体" panose="02010600030101010101" pitchFamily="2" charset="-122"/>
              </a:rPr>
              <a:t>最大静差率。</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频率</a:t>
            </a:r>
            <a:r>
              <a:rPr lang="en-US" altLang="zh-CN" dirty="0">
                <a:latin typeface="Times New Roman" panose="02020603050405020304" pitchFamily="18" charset="0"/>
                <a:ea typeface="宋体" panose="02010600030101010101" pitchFamily="2" charset="-122"/>
              </a:rPr>
              <a:t>40Hz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30Hz</a:t>
            </a:r>
            <a:r>
              <a:rPr lang="zh-CN" altLang="en-US" dirty="0">
                <a:latin typeface="Times New Roman" panose="02020603050405020304" pitchFamily="18" charset="0"/>
                <a:ea typeface="宋体" panose="02010600030101010101" pitchFamily="2" charset="-122"/>
              </a:rPr>
              <a:t>时电机转速。</a:t>
            </a:r>
            <a:endParaRPr lang="zh-CN" altLang="en-US" dirty="0">
              <a:latin typeface="Times New Roman" panose="02020603050405020304" pitchFamily="18" charset="0"/>
              <a:ea typeface="宋体" panose="02010600030101010101" pitchFamily="2" charset="-122"/>
            </a:endParaRPr>
          </a:p>
        </p:txBody>
      </p:sp>
      <p:sp>
        <p:nvSpPr>
          <p:cNvPr id="72706" name="矩形 102402"/>
          <p:cNvSpPr/>
          <p:nvPr/>
        </p:nvSpPr>
        <p:spPr>
          <a:xfrm>
            <a:off x="395288" y="1554163"/>
            <a:ext cx="4843462" cy="4911725"/>
          </a:xfrm>
          <a:prstGeom prst="rect">
            <a:avLst/>
          </a:prstGeom>
          <a:noFill/>
          <a:ln w="9525">
            <a:noFill/>
          </a:ln>
        </p:spPr>
        <p:txBody>
          <a:bodyPr wrap="none" anchor="ctr" anchorCtr="0">
            <a:spAutoFit/>
          </a:bodyPr>
          <a:p>
            <a:pPr>
              <a:lnSpc>
                <a:spcPct val="110000"/>
              </a:lnSpc>
            </a:pPr>
            <a:r>
              <a:rPr lang="zh-CN" altLang="en-US" dirty="0">
                <a:latin typeface="Times New Roman" panose="02020603050405020304" pitchFamily="18" charset="0"/>
                <a:ea typeface="宋体" panose="02010600030101010101" pitchFamily="2" charset="-122"/>
              </a:rPr>
              <a:t>解：变频调速时，机械特性如图</a:t>
            </a:r>
            <a:endParaRPr lang="zh-CN" altLang="en-US" dirty="0">
              <a:latin typeface="Times New Roman" panose="02020603050405020304" pitchFamily="18" charset="0"/>
              <a:ea typeface="宋体" panose="02010600030101010101" pitchFamily="2" charset="-122"/>
            </a:endParaRPr>
          </a:p>
          <a:p>
            <a:pPr>
              <a:lnSpc>
                <a:spcPct val="110000"/>
              </a:lnSpc>
            </a:pPr>
            <a:r>
              <a:rPr lang="zh-CN" altLang="en-US" dirty="0">
                <a:latin typeface="Times New Roman" panose="02020603050405020304" pitchFamily="18" charset="0"/>
                <a:ea typeface="宋体" panose="02010600030101010101" pitchFamily="2" charset="-122"/>
              </a:rPr>
              <a:t>直线段平行，</a:t>
            </a:r>
            <a:r>
              <a:rPr lang="en-US" altLang="zh-CN">
                <a:latin typeface="Times New Roman" panose="02020603050405020304" pitchFamily="18" charset="0"/>
                <a:ea typeface="宋体" panose="02010600030101010101" pitchFamily="2" charset="-122"/>
              </a:rPr>
              <a:t>Δ</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不变</a:t>
            </a:r>
            <a:r>
              <a:rPr lang="en-US" altLang="zh-CN">
                <a:latin typeface="Times New Roman" panose="02020603050405020304" pitchFamily="18" charset="0"/>
                <a:ea typeface="宋体" panose="02010600030101010101" pitchFamily="2" charset="-122"/>
              </a:rPr>
              <a:t>,Δ</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=20</a:t>
            </a:r>
            <a:r>
              <a:rPr lang="en-US" altLang="zh-CN" i="1">
                <a:latin typeface="Times New Roman" panose="02020603050405020304" pitchFamily="18" charset="0"/>
                <a:ea typeface="宋体" panose="02010600030101010101" pitchFamily="2" charset="-122"/>
              </a:rPr>
              <a:t>rpm</a:t>
            </a:r>
            <a:endParaRPr lang="en-US" altLang="zh-CN" i="1">
              <a:latin typeface="Times New Roman" panose="02020603050405020304" pitchFamily="18" charset="0"/>
              <a:ea typeface="宋体" panose="02010600030101010101" pitchFamily="2" charset="-122"/>
            </a:endParaRPr>
          </a:p>
          <a:p>
            <a:pPr>
              <a:lnSpc>
                <a:spcPct val="110000"/>
              </a:lnSpc>
            </a:pPr>
            <a:r>
              <a:rPr lang="en-US" altLang="zh-CN" i="1">
                <a:latin typeface="Times New Roman" panose="02020603050405020304" pitchFamily="18" charset="0"/>
                <a:ea typeface="宋体" panose="02010600030101010101" pitchFamily="2" charset="-122"/>
              </a:rPr>
              <a:t>D</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max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min</a:t>
            </a:r>
            <a:r>
              <a:rPr lang="en-US" altLang="zh-CN">
                <a:latin typeface="Times New Roman" panose="02020603050405020304" pitchFamily="18" charset="0"/>
                <a:ea typeface="宋体" panose="02010600030101010101" pitchFamily="2" charset="-122"/>
              </a:rPr>
              <a:t>=980/</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min</a:t>
            </a:r>
            <a:r>
              <a:rPr lang="en-US" altLang="zh-CN">
                <a:latin typeface="Times New Roman" panose="02020603050405020304" pitchFamily="18" charset="0"/>
                <a:ea typeface="宋体" panose="02010600030101010101" pitchFamily="2" charset="-122"/>
              </a:rPr>
              <a:t>=1.5</a:t>
            </a:r>
            <a:endParaRPr lang="en-US" altLang="zh-CN">
              <a:latin typeface="Times New Roman" panose="02020603050405020304" pitchFamily="18" charset="0"/>
              <a:ea typeface="宋体" panose="02010600030101010101" pitchFamily="2" charset="-122"/>
            </a:endParaRPr>
          </a:p>
          <a:p>
            <a:pPr>
              <a:lnSpc>
                <a:spcPct val="110000"/>
              </a:lnSpc>
            </a:pPr>
            <a:r>
              <a:rPr lang="zh-CN" altLang="en-US" dirty="0">
                <a:latin typeface="Times New Roman" panose="02020603050405020304" pitchFamily="18" charset="0"/>
                <a:ea typeface="宋体" panose="02010600030101010101" pitchFamily="2" charset="-122"/>
              </a:rPr>
              <a:t>所以：</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min</a:t>
            </a:r>
            <a:r>
              <a:rPr lang="en-US" altLang="zh-CN">
                <a:latin typeface="Times New Roman" panose="02020603050405020304" pitchFamily="18" charset="0"/>
                <a:ea typeface="宋体" panose="02010600030101010101" pitchFamily="2" charset="-122"/>
              </a:rPr>
              <a:t> =653.3</a:t>
            </a:r>
            <a:r>
              <a:rPr lang="en-US" altLang="zh-CN" i="1">
                <a:latin typeface="Times New Roman" panose="02020603050405020304" pitchFamily="18" charset="0"/>
                <a:ea typeface="宋体" panose="02010600030101010101" pitchFamily="2" charset="-122"/>
              </a:rPr>
              <a:t>rpm</a:t>
            </a:r>
            <a:endParaRPr lang="en-US" altLang="zh-CN" i="1">
              <a:latin typeface="Times New Roman" panose="02020603050405020304" pitchFamily="18" charset="0"/>
              <a:ea typeface="宋体" panose="02010600030101010101" pitchFamily="2" charset="-122"/>
            </a:endParaRPr>
          </a:p>
          <a:p>
            <a:pPr>
              <a:lnSpc>
                <a:spcPct val="110000"/>
              </a:lnSpc>
            </a:pP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最大静差率为：</a:t>
            </a:r>
            <a:endParaRPr lang="zh-CN" altLang="en-US" dirty="0">
              <a:latin typeface="Times New Roman" panose="02020603050405020304" pitchFamily="18" charset="0"/>
              <a:ea typeface="宋体" panose="02010600030101010101" pitchFamily="2" charset="-122"/>
            </a:endParaRPr>
          </a:p>
          <a:p>
            <a:pPr>
              <a:lnSpc>
                <a:spcPct val="110000"/>
              </a:lnSpc>
            </a:pPr>
            <a:r>
              <a:rPr lang="en-US" altLang="zh-CN" i="1">
                <a:latin typeface="Times New Roman" panose="02020603050405020304" pitchFamily="18" charset="0"/>
                <a:ea typeface="宋体" panose="02010600030101010101" pitchFamily="2" charset="-122"/>
              </a:rPr>
              <a:t>δ</a:t>
            </a:r>
            <a:r>
              <a:rPr lang="en-US" altLang="zh-CN" baseline="-25000">
                <a:latin typeface="Times New Roman" panose="02020603050405020304" pitchFamily="18" charset="0"/>
                <a:ea typeface="宋体" panose="02010600030101010101" pitchFamily="2" charset="-122"/>
              </a:rPr>
              <a:t>max</a:t>
            </a:r>
            <a:r>
              <a:rPr lang="en-US" altLang="zh-CN">
                <a:latin typeface="Times New Roman" panose="02020603050405020304" pitchFamily="18" charset="0"/>
                <a:ea typeface="宋体" panose="02010600030101010101" pitchFamily="2" charset="-122"/>
              </a:rPr>
              <a:t>=Δ</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0min</a:t>
            </a:r>
            <a:r>
              <a:rPr lang="en-US" altLang="zh-CN">
                <a:latin typeface="Times New Roman" panose="02020603050405020304" pitchFamily="18" charset="0"/>
                <a:ea typeface="宋体" panose="02010600030101010101" pitchFamily="2" charset="-122"/>
              </a:rPr>
              <a:t>=20/(653.3+20)=0.03</a:t>
            </a:r>
            <a:endParaRPr lang="en-US" altLang="zh-CN">
              <a:latin typeface="Times New Roman" panose="02020603050405020304" pitchFamily="18" charset="0"/>
              <a:ea typeface="宋体" panose="02010600030101010101" pitchFamily="2" charset="-122"/>
            </a:endParaRPr>
          </a:p>
          <a:p>
            <a:pPr>
              <a:lnSpc>
                <a:spcPct val="110000"/>
              </a:lnSpc>
            </a:pP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频率为</a:t>
            </a:r>
            <a:r>
              <a:rPr lang="en-US" altLang="zh-CN" dirty="0">
                <a:latin typeface="Times New Roman" panose="02020603050405020304" pitchFamily="18" charset="0"/>
                <a:ea typeface="宋体" panose="02010600030101010101" pitchFamily="2" charset="-122"/>
              </a:rPr>
              <a:t>40Hz</a:t>
            </a:r>
            <a:r>
              <a:rPr lang="zh-CN" altLang="en-US" dirty="0">
                <a:latin typeface="Times New Roman" panose="02020603050405020304" pitchFamily="18" charset="0"/>
                <a:ea typeface="宋体" panose="02010600030101010101" pitchFamily="2" charset="-122"/>
              </a:rPr>
              <a:t>时，同步转速为：</a:t>
            </a:r>
            <a:endParaRPr lang="zh-CN" altLang="en-US" dirty="0">
              <a:latin typeface="Times New Roman" panose="02020603050405020304" pitchFamily="18" charset="0"/>
              <a:ea typeface="宋体" panose="02010600030101010101" pitchFamily="2" charset="-122"/>
            </a:endParaRPr>
          </a:p>
          <a:p>
            <a:pPr>
              <a:lnSpc>
                <a:spcPct val="110000"/>
              </a:lnSpc>
            </a:pP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01</a:t>
            </a:r>
            <a:r>
              <a:rPr lang="en-US" altLang="zh-CN">
                <a:latin typeface="Times New Roman" panose="02020603050405020304" pitchFamily="18" charset="0"/>
                <a:ea typeface="宋体" panose="02010600030101010101" pitchFamily="2" charset="-122"/>
              </a:rPr>
              <a:t>=1000×4/5=800</a:t>
            </a:r>
            <a:r>
              <a:rPr lang="en-US" altLang="zh-CN" i="1">
                <a:latin typeface="Times New Roman" panose="02020603050405020304" pitchFamily="18" charset="0"/>
                <a:ea typeface="宋体" panose="02010600030101010101" pitchFamily="2" charset="-122"/>
              </a:rPr>
              <a:t>rpm</a:t>
            </a:r>
            <a:endParaRPr lang="en-US" altLang="zh-CN" i="1">
              <a:latin typeface="Times New Roman" panose="02020603050405020304" pitchFamily="18" charset="0"/>
              <a:ea typeface="宋体" panose="02010600030101010101" pitchFamily="2" charset="-122"/>
            </a:endParaRPr>
          </a:p>
          <a:p>
            <a:pPr>
              <a:lnSpc>
                <a:spcPct val="110000"/>
              </a:lnSpc>
            </a:pPr>
            <a:r>
              <a:rPr lang="zh-CN" altLang="en-US" dirty="0">
                <a:latin typeface="Times New Roman" panose="02020603050405020304" pitchFamily="18" charset="0"/>
                <a:ea typeface="宋体" panose="02010600030101010101" pitchFamily="2" charset="-122"/>
              </a:rPr>
              <a:t>电机转速为：</a:t>
            </a:r>
            <a:r>
              <a:rPr lang="en-US" altLang="zh-CN">
                <a:latin typeface="Times New Roman" panose="02020603050405020304" pitchFamily="18" charset="0"/>
                <a:ea typeface="宋体" panose="02010600030101010101" pitchFamily="2" charset="-122"/>
              </a:rPr>
              <a:t>800-20=780</a:t>
            </a:r>
            <a:r>
              <a:rPr lang="en-US" altLang="zh-CN" i="1">
                <a:latin typeface="Times New Roman" panose="02020603050405020304" pitchFamily="18" charset="0"/>
                <a:ea typeface="宋体" panose="02010600030101010101" pitchFamily="2" charset="-122"/>
              </a:rPr>
              <a:t>rpm</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10000"/>
              </a:lnSpc>
            </a:pPr>
            <a:r>
              <a:rPr lang="zh-CN" altLang="en-US" dirty="0">
                <a:latin typeface="Times New Roman" panose="02020603050405020304" pitchFamily="18" charset="0"/>
                <a:ea typeface="宋体" panose="02010600030101010101" pitchFamily="2" charset="-122"/>
              </a:rPr>
              <a:t>频率为</a:t>
            </a:r>
            <a:r>
              <a:rPr lang="en-US" altLang="zh-CN" dirty="0">
                <a:latin typeface="Times New Roman" panose="02020603050405020304" pitchFamily="18" charset="0"/>
                <a:ea typeface="宋体" panose="02010600030101010101" pitchFamily="2" charset="-122"/>
              </a:rPr>
              <a:t>30Hz</a:t>
            </a:r>
            <a:r>
              <a:rPr lang="zh-CN" altLang="en-US" dirty="0">
                <a:latin typeface="Times New Roman" panose="02020603050405020304" pitchFamily="18" charset="0"/>
                <a:ea typeface="宋体" panose="02010600030101010101" pitchFamily="2" charset="-122"/>
              </a:rPr>
              <a:t>时，同步转速为：</a:t>
            </a:r>
            <a:endParaRPr lang="zh-CN" altLang="en-US" dirty="0">
              <a:latin typeface="Times New Roman" panose="02020603050405020304" pitchFamily="18" charset="0"/>
              <a:ea typeface="宋体" panose="02010600030101010101" pitchFamily="2" charset="-122"/>
            </a:endParaRPr>
          </a:p>
          <a:p>
            <a:pPr>
              <a:lnSpc>
                <a:spcPct val="110000"/>
              </a:lnSpc>
            </a:pPr>
            <a:r>
              <a:rPr lang="en-US" altLang="zh-CN">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01</a:t>
            </a:r>
            <a:r>
              <a:rPr lang="en-US" altLang="zh-CN">
                <a:latin typeface="Times New Roman" panose="02020603050405020304" pitchFamily="18" charset="0"/>
                <a:ea typeface="宋体" panose="02010600030101010101" pitchFamily="2" charset="-122"/>
              </a:rPr>
              <a:t>=1000×3/5=600</a:t>
            </a:r>
            <a:r>
              <a:rPr lang="en-US" altLang="zh-CN" i="1">
                <a:latin typeface="Times New Roman" panose="02020603050405020304" pitchFamily="18" charset="0"/>
                <a:ea typeface="宋体" panose="02010600030101010101" pitchFamily="2" charset="-122"/>
              </a:rPr>
              <a:t>rpm</a:t>
            </a:r>
            <a:endParaRPr lang="en-US" altLang="zh-CN" i="1">
              <a:latin typeface="Times New Roman" panose="02020603050405020304" pitchFamily="18" charset="0"/>
              <a:ea typeface="宋体" panose="02010600030101010101" pitchFamily="2" charset="-122"/>
            </a:endParaRPr>
          </a:p>
          <a:p>
            <a:pPr>
              <a:lnSpc>
                <a:spcPct val="110000"/>
              </a:lnSpc>
            </a:pPr>
            <a:r>
              <a:rPr lang="zh-CN" altLang="en-US" dirty="0">
                <a:latin typeface="Times New Roman" panose="02020603050405020304" pitchFamily="18" charset="0"/>
                <a:ea typeface="宋体" panose="02010600030101010101" pitchFamily="2" charset="-122"/>
              </a:rPr>
              <a:t>电机转速为：</a:t>
            </a:r>
            <a:r>
              <a:rPr lang="en-US" altLang="zh-CN">
                <a:latin typeface="Times New Roman" panose="02020603050405020304" pitchFamily="18" charset="0"/>
                <a:ea typeface="宋体" panose="02010600030101010101" pitchFamily="2" charset="-122"/>
              </a:rPr>
              <a:t>600-20=580</a:t>
            </a:r>
            <a:r>
              <a:rPr lang="en-US" altLang="zh-CN" i="1">
                <a:latin typeface="Times New Roman" panose="02020603050405020304" pitchFamily="18" charset="0"/>
                <a:ea typeface="宋体" panose="02010600030101010101" pitchFamily="2" charset="-122"/>
              </a:rPr>
              <a:t>rpm</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pSp>
        <p:nvGrpSpPr>
          <p:cNvPr id="72707" name="组合 102403"/>
          <p:cNvGrpSpPr/>
          <p:nvPr/>
        </p:nvGrpSpPr>
        <p:grpSpPr>
          <a:xfrm>
            <a:off x="5867400" y="1989138"/>
            <a:ext cx="2592388" cy="2879725"/>
            <a:chOff x="6732" y="3468"/>
            <a:chExt cx="2805" cy="2964"/>
          </a:xfrm>
        </p:grpSpPr>
        <p:sp>
          <p:nvSpPr>
            <p:cNvPr id="72708" name="文本框 102404"/>
            <p:cNvSpPr txBox="1"/>
            <p:nvPr/>
          </p:nvSpPr>
          <p:spPr>
            <a:xfrm>
              <a:off x="6732" y="3936"/>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n</a:t>
              </a:r>
              <a:r>
                <a:rPr lang="en-US" altLang="zh-CN" sz="1800" baseline="-25000">
                  <a:latin typeface="Times New Roman" panose="02020603050405020304" pitchFamily="18" charset="0"/>
                  <a:ea typeface="宋体" panose="02010600030101010101" pitchFamily="2" charset="-122"/>
                </a:rPr>
                <a:t>0</a:t>
              </a:r>
              <a:endParaRPr lang="en-US" altLang="zh-CN" sz="1800">
                <a:latin typeface="Times New Roman" panose="02020603050405020304" pitchFamily="18" charset="0"/>
                <a:ea typeface="宋体" panose="02010600030101010101" pitchFamily="2" charset="-122"/>
              </a:endParaRPr>
            </a:p>
          </p:txBody>
        </p:sp>
        <p:sp>
          <p:nvSpPr>
            <p:cNvPr id="72709" name="直接连接符 102405"/>
            <p:cNvSpPr/>
            <p:nvPr/>
          </p:nvSpPr>
          <p:spPr>
            <a:xfrm>
              <a:off x="7017" y="4092"/>
              <a:ext cx="1980" cy="468"/>
            </a:xfrm>
            <a:prstGeom prst="line">
              <a:avLst/>
            </a:prstGeom>
            <a:ln w="12700" cap="flat" cmpd="sng">
              <a:solidFill>
                <a:srgbClr val="000000"/>
              </a:solidFill>
              <a:prstDash val="solid"/>
              <a:round/>
              <a:headEnd type="none" w="med" len="med"/>
              <a:tailEnd type="none" w="med" len="med"/>
            </a:ln>
          </p:spPr>
        </p:sp>
        <p:sp>
          <p:nvSpPr>
            <p:cNvPr id="72710" name="文本框 102406"/>
            <p:cNvSpPr txBox="1"/>
            <p:nvPr/>
          </p:nvSpPr>
          <p:spPr>
            <a:xfrm>
              <a:off x="7737" y="5964"/>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LN</a:t>
              </a:r>
              <a:endParaRPr lang="en-US" altLang="zh-CN" sz="1800">
                <a:latin typeface="Times New Roman" panose="02020603050405020304" pitchFamily="18" charset="0"/>
                <a:ea typeface="宋体" panose="02010600030101010101" pitchFamily="2" charset="-122"/>
              </a:endParaRPr>
            </a:p>
          </p:txBody>
        </p:sp>
        <p:sp>
          <p:nvSpPr>
            <p:cNvPr id="72711" name="文本框 102407"/>
            <p:cNvSpPr txBox="1"/>
            <p:nvPr/>
          </p:nvSpPr>
          <p:spPr>
            <a:xfrm>
              <a:off x="7017" y="5652"/>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0</a:t>
              </a:r>
              <a:endParaRPr lang="en-US" altLang="zh-CN" sz="1800">
                <a:latin typeface="Times New Roman" panose="02020603050405020304" pitchFamily="18" charset="0"/>
                <a:ea typeface="宋体" panose="02010600030101010101" pitchFamily="2" charset="-122"/>
              </a:endParaRPr>
            </a:p>
          </p:txBody>
        </p:sp>
        <p:sp>
          <p:nvSpPr>
            <p:cNvPr id="72712" name="文本框 102408"/>
            <p:cNvSpPr txBox="1"/>
            <p:nvPr/>
          </p:nvSpPr>
          <p:spPr>
            <a:xfrm>
              <a:off x="8997" y="5496"/>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em</a:t>
              </a:r>
              <a:endParaRPr lang="en-US" altLang="zh-CN" sz="1800">
                <a:latin typeface="Times New Roman" panose="02020603050405020304" pitchFamily="18" charset="0"/>
                <a:ea typeface="宋体" panose="02010600030101010101" pitchFamily="2" charset="-122"/>
              </a:endParaRPr>
            </a:p>
          </p:txBody>
        </p:sp>
        <p:sp>
          <p:nvSpPr>
            <p:cNvPr id="72713" name="文本框 102409"/>
            <p:cNvSpPr txBox="1"/>
            <p:nvPr/>
          </p:nvSpPr>
          <p:spPr>
            <a:xfrm>
              <a:off x="7197" y="3468"/>
              <a:ext cx="360" cy="309"/>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n</a:t>
              </a:r>
              <a:endParaRPr lang="en-US" altLang="zh-CN" sz="1800">
                <a:latin typeface="Times New Roman" panose="02020603050405020304" pitchFamily="18" charset="0"/>
                <a:ea typeface="宋体" panose="02010600030101010101" pitchFamily="2" charset="-122"/>
              </a:endParaRPr>
            </a:p>
          </p:txBody>
        </p:sp>
        <p:sp>
          <p:nvSpPr>
            <p:cNvPr id="72714" name="直接连接符 102410"/>
            <p:cNvSpPr/>
            <p:nvPr/>
          </p:nvSpPr>
          <p:spPr>
            <a:xfrm>
              <a:off x="7017" y="5652"/>
              <a:ext cx="1980" cy="0"/>
            </a:xfrm>
            <a:prstGeom prst="line">
              <a:avLst/>
            </a:prstGeom>
            <a:ln w="9525" cap="flat" cmpd="sng">
              <a:solidFill>
                <a:srgbClr val="000000"/>
              </a:solidFill>
              <a:prstDash val="solid"/>
              <a:round/>
              <a:headEnd type="none" w="med" len="med"/>
              <a:tailEnd type="triangle" w="med" len="med"/>
            </a:ln>
          </p:spPr>
        </p:sp>
        <p:sp>
          <p:nvSpPr>
            <p:cNvPr id="72715" name="直接连接符 102411"/>
            <p:cNvSpPr/>
            <p:nvPr/>
          </p:nvSpPr>
          <p:spPr>
            <a:xfrm flipV="1">
              <a:off x="7017" y="3468"/>
              <a:ext cx="0" cy="2964"/>
            </a:xfrm>
            <a:prstGeom prst="line">
              <a:avLst/>
            </a:prstGeom>
            <a:ln w="9525" cap="flat" cmpd="sng">
              <a:solidFill>
                <a:srgbClr val="000000"/>
              </a:solidFill>
              <a:prstDash val="solid"/>
              <a:round/>
              <a:headEnd type="none" w="med" len="med"/>
              <a:tailEnd type="triangle" w="med" len="med"/>
            </a:ln>
          </p:spPr>
        </p:sp>
        <p:sp>
          <p:nvSpPr>
            <p:cNvPr id="72716" name="直接连接符 102412"/>
            <p:cNvSpPr/>
            <p:nvPr/>
          </p:nvSpPr>
          <p:spPr>
            <a:xfrm>
              <a:off x="8277" y="3936"/>
              <a:ext cx="0" cy="2496"/>
            </a:xfrm>
            <a:prstGeom prst="line">
              <a:avLst/>
            </a:prstGeom>
            <a:ln w="9525" cap="flat" cmpd="sng">
              <a:solidFill>
                <a:srgbClr val="000000"/>
              </a:solidFill>
              <a:prstDash val="solid"/>
              <a:round/>
              <a:headEnd type="none" w="med" len="med"/>
              <a:tailEnd type="none" w="med" len="med"/>
            </a:ln>
          </p:spPr>
        </p:sp>
        <p:sp>
          <p:nvSpPr>
            <p:cNvPr id="72717" name="直接连接符 102413"/>
            <p:cNvSpPr/>
            <p:nvPr/>
          </p:nvSpPr>
          <p:spPr>
            <a:xfrm>
              <a:off x="7017" y="4560"/>
              <a:ext cx="1980" cy="468"/>
            </a:xfrm>
            <a:prstGeom prst="line">
              <a:avLst/>
            </a:prstGeom>
            <a:ln w="12700" cap="flat" cmpd="sng">
              <a:solidFill>
                <a:srgbClr val="000000"/>
              </a:solidFill>
              <a:prstDash val="solid"/>
              <a:round/>
              <a:headEnd type="none" w="med" len="med"/>
              <a:tailEnd type="none" w="med" len="med"/>
            </a:ln>
          </p:spPr>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矩形 101377"/>
          <p:cNvSpPr/>
          <p:nvPr/>
        </p:nvSpPr>
        <p:spPr>
          <a:xfrm>
            <a:off x="250825" y="260350"/>
            <a:ext cx="8675688" cy="2282825"/>
          </a:xfrm>
          <a:prstGeom prst="rect">
            <a:avLst/>
          </a:prstGeom>
          <a:noFill/>
          <a:ln w="9525">
            <a:noFill/>
          </a:ln>
        </p:spPr>
        <p:txBody>
          <a:bodyPr anchor="ctr" anchorCtr="0">
            <a:spAutoFit/>
          </a:bodyPr>
          <a:p>
            <a:r>
              <a:rPr lang="en-US" altLang="zh-CN">
                <a:latin typeface="Times New Roman" panose="02020603050405020304" pitchFamily="18" charset="0"/>
                <a:ea typeface="宋体" panose="02010600030101010101" pitchFamily="2" charset="-122"/>
              </a:rPr>
              <a:t>8-32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1N</a:t>
            </a:r>
            <a:r>
              <a:rPr lang="en-US" altLang="zh-CN" dirty="0">
                <a:latin typeface="Times New Roman" panose="02020603050405020304" pitchFamily="18" charset="0"/>
                <a:ea typeface="宋体" panose="02010600030101010101" pitchFamily="2" charset="-122"/>
              </a:rPr>
              <a:t>=380V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=726r/min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=285V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=65A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λ</a:t>
            </a:r>
            <a:r>
              <a:rPr lang="en-US" altLang="zh-CN" dirty="0">
                <a:latin typeface="Times New Roman" panose="02020603050405020304" pitchFamily="18" charset="0"/>
                <a:ea typeface="宋体" panose="02010600030101010101" pitchFamily="2" charset="-122"/>
              </a:rPr>
              <a:t>=2.8</a:t>
            </a:r>
            <a:r>
              <a:rPr lang="zh-CN" altLang="en-US" dirty="0">
                <a:latin typeface="Times New Roman" panose="02020603050405020304" pitchFamily="18" charset="0"/>
                <a:ea typeface="宋体" panose="02010600030101010101" pitchFamily="2" charset="-122"/>
              </a:rPr>
              <a:t>。恒转矩负载</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=0.8</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在固有机械特性上运行，用反接制动停车，开始时在转子每相串入</a:t>
            </a:r>
            <a:r>
              <a:rPr lang="en-US" altLang="zh-CN" dirty="0">
                <a:latin typeface="Times New Roman" panose="02020603050405020304" pitchFamily="18" charset="0"/>
                <a:ea typeface="宋体" panose="02010600030101010101" pitchFamily="2" charset="-122"/>
              </a:rPr>
              <a:t>2.12Ω</a:t>
            </a:r>
            <a:r>
              <a:rPr lang="zh-CN" altLang="en-US" dirty="0">
                <a:latin typeface="Times New Roman" panose="02020603050405020304" pitchFamily="18" charset="0"/>
                <a:ea typeface="宋体" panose="02010600030101010101" pitchFamily="2" charset="-122"/>
              </a:rPr>
              <a:t>电阻，求：</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制动开始瞬间产生的电磁转矩。</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制动到</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，不断定子电源，不采用机械制动措施，求最后稳定转速。</a:t>
            </a:r>
            <a:endParaRPr lang="zh-CN" altLang="en-US" dirty="0">
              <a:latin typeface="Times New Roman" panose="02020603050405020304" pitchFamily="18" charset="0"/>
              <a:ea typeface="宋体" panose="02010600030101010101" pitchFamily="2" charset="-122"/>
            </a:endParaRPr>
          </a:p>
        </p:txBody>
      </p:sp>
      <p:grpSp>
        <p:nvGrpSpPr>
          <p:cNvPr id="73730" name="组合 101378"/>
          <p:cNvGrpSpPr/>
          <p:nvPr/>
        </p:nvGrpSpPr>
        <p:grpSpPr>
          <a:xfrm>
            <a:off x="5076825" y="2420938"/>
            <a:ext cx="3527425" cy="3024187"/>
            <a:chOff x="5037" y="1128"/>
            <a:chExt cx="3780" cy="3276"/>
          </a:xfrm>
        </p:grpSpPr>
        <p:sp>
          <p:nvSpPr>
            <p:cNvPr id="73731" name="文本框 101379"/>
            <p:cNvSpPr txBox="1"/>
            <p:nvPr/>
          </p:nvSpPr>
          <p:spPr>
            <a:xfrm>
              <a:off x="7197" y="2376"/>
              <a:ext cx="36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E</a:t>
              </a:r>
              <a:endParaRPr lang="en-US" altLang="zh-CN" sz="2000">
                <a:latin typeface="Times New Roman" panose="02020603050405020304" pitchFamily="18" charset="0"/>
                <a:ea typeface="宋体" panose="02010600030101010101" pitchFamily="2" charset="-122"/>
              </a:endParaRPr>
            </a:p>
          </p:txBody>
        </p:sp>
        <p:sp>
          <p:nvSpPr>
            <p:cNvPr id="73732" name="文本框 101380"/>
            <p:cNvSpPr txBox="1"/>
            <p:nvPr/>
          </p:nvSpPr>
          <p:spPr>
            <a:xfrm>
              <a:off x="6477" y="2688"/>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0</a:t>
              </a:r>
              <a:endParaRPr lang="en-US" altLang="zh-CN" sz="1800">
                <a:latin typeface="Times New Roman" panose="02020603050405020304" pitchFamily="18" charset="0"/>
                <a:ea typeface="宋体" panose="02010600030101010101" pitchFamily="2" charset="-122"/>
              </a:endParaRPr>
            </a:p>
          </p:txBody>
        </p:sp>
        <p:sp>
          <p:nvSpPr>
            <p:cNvPr id="73733" name="文本框 101381"/>
            <p:cNvSpPr txBox="1"/>
            <p:nvPr/>
          </p:nvSpPr>
          <p:spPr>
            <a:xfrm>
              <a:off x="5757" y="3312"/>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C</a:t>
              </a:r>
              <a:endParaRPr lang="en-US" altLang="zh-CN" sz="1800">
                <a:latin typeface="Times New Roman" panose="02020603050405020304" pitchFamily="18" charset="0"/>
                <a:ea typeface="宋体" panose="02010600030101010101" pitchFamily="2" charset="-122"/>
              </a:endParaRPr>
            </a:p>
          </p:txBody>
        </p:sp>
        <p:sp>
          <p:nvSpPr>
            <p:cNvPr id="73734" name="文本框 101382"/>
            <p:cNvSpPr txBox="1"/>
            <p:nvPr/>
          </p:nvSpPr>
          <p:spPr>
            <a:xfrm>
              <a:off x="5217" y="1596"/>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B</a:t>
              </a:r>
              <a:endParaRPr lang="en-US" altLang="zh-CN" sz="1800">
                <a:latin typeface="Times New Roman" panose="02020603050405020304" pitchFamily="18" charset="0"/>
                <a:ea typeface="宋体" panose="02010600030101010101" pitchFamily="2" charset="-122"/>
              </a:endParaRPr>
            </a:p>
          </p:txBody>
        </p:sp>
        <p:sp>
          <p:nvSpPr>
            <p:cNvPr id="73735" name="文本框 101383"/>
            <p:cNvSpPr txBox="1"/>
            <p:nvPr/>
          </p:nvSpPr>
          <p:spPr>
            <a:xfrm>
              <a:off x="7197" y="1596"/>
              <a:ext cx="360" cy="312"/>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A</a:t>
              </a:r>
              <a:endParaRPr lang="en-US" altLang="zh-CN" sz="2000">
                <a:latin typeface="Times New Roman" panose="02020603050405020304" pitchFamily="18" charset="0"/>
                <a:ea typeface="宋体" panose="02010600030101010101" pitchFamily="2" charset="-122"/>
              </a:endParaRPr>
            </a:p>
          </p:txBody>
        </p:sp>
        <p:sp>
          <p:nvSpPr>
            <p:cNvPr id="73736" name="文本框 101384"/>
            <p:cNvSpPr txBox="1"/>
            <p:nvPr/>
          </p:nvSpPr>
          <p:spPr>
            <a:xfrm>
              <a:off x="6837" y="3000"/>
              <a:ext cx="72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0.8T</a:t>
              </a:r>
              <a:r>
                <a:rPr lang="en-US" altLang="zh-CN" sz="1800" baseline="-25000">
                  <a:latin typeface="Times New Roman" panose="02020603050405020304" pitchFamily="18" charset="0"/>
                  <a:ea typeface="宋体" panose="02010600030101010101" pitchFamily="2" charset="-122"/>
                </a:rPr>
                <a:t>N</a:t>
              </a:r>
              <a:endParaRPr lang="en-US" altLang="zh-CN" sz="1800">
                <a:latin typeface="Times New Roman" panose="02020603050405020304" pitchFamily="18" charset="0"/>
                <a:ea typeface="宋体" panose="02010600030101010101" pitchFamily="2" charset="-122"/>
              </a:endParaRPr>
            </a:p>
          </p:txBody>
        </p:sp>
        <p:sp>
          <p:nvSpPr>
            <p:cNvPr id="73737" name="文本框 101385"/>
            <p:cNvSpPr txBox="1"/>
            <p:nvPr/>
          </p:nvSpPr>
          <p:spPr>
            <a:xfrm>
              <a:off x="8277" y="2688"/>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em</a:t>
              </a:r>
              <a:endParaRPr lang="en-US" altLang="zh-CN" sz="1800">
                <a:latin typeface="Times New Roman" panose="02020603050405020304" pitchFamily="18" charset="0"/>
                <a:ea typeface="宋体" panose="02010600030101010101" pitchFamily="2" charset="-122"/>
              </a:endParaRPr>
            </a:p>
          </p:txBody>
        </p:sp>
        <p:sp>
          <p:nvSpPr>
            <p:cNvPr id="73738" name="文本框 101386"/>
            <p:cNvSpPr txBox="1"/>
            <p:nvPr/>
          </p:nvSpPr>
          <p:spPr>
            <a:xfrm>
              <a:off x="6657" y="1128"/>
              <a:ext cx="360" cy="309"/>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n</a:t>
              </a:r>
              <a:endParaRPr lang="en-US" altLang="zh-CN" sz="1800">
                <a:latin typeface="Times New Roman" panose="02020603050405020304" pitchFamily="18" charset="0"/>
                <a:ea typeface="宋体" panose="02010600030101010101" pitchFamily="2" charset="-122"/>
              </a:endParaRPr>
            </a:p>
          </p:txBody>
        </p:sp>
        <p:sp>
          <p:nvSpPr>
            <p:cNvPr id="73739" name="直接连接符 101387"/>
            <p:cNvSpPr/>
            <p:nvPr/>
          </p:nvSpPr>
          <p:spPr>
            <a:xfrm>
              <a:off x="5217" y="3000"/>
              <a:ext cx="3240" cy="0"/>
            </a:xfrm>
            <a:prstGeom prst="line">
              <a:avLst/>
            </a:prstGeom>
            <a:ln w="9525" cap="flat" cmpd="sng">
              <a:solidFill>
                <a:srgbClr val="000000"/>
              </a:solidFill>
              <a:prstDash val="solid"/>
              <a:round/>
              <a:headEnd type="none" w="med" len="med"/>
              <a:tailEnd type="triangle" w="med" len="med"/>
            </a:ln>
          </p:spPr>
        </p:sp>
        <p:sp>
          <p:nvSpPr>
            <p:cNvPr id="73740" name="直接连接符 101388"/>
            <p:cNvSpPr/>
            <p:nvPr/>
          </p:nvSpPr>
          <p:spPr>
            <a:xfrm flipV="1">
              <a:off x="6657" y="1440"/>
              <a:ext cx="0" cy="2964"/>
            </a:xfrm>
            <a:prstGeom prst="line">
              <a:avLst/>
            </a:prstGeom>
            <a:ln w="9525" cap="flat" cmpd="sng">
              <a:solidFill>
                <a:srgbClr val="000000"/>
              </a:solidFill>
              <a:prstDash val="solid"/>
              <a:round/>
              <a:headEnd type="none" w="med" len="med"/>
              <a:tailEnd type="triangle" w="med" len="med"/>
            </a:ln>
          </p:spPr>
        </p:sp>
        <p:sp>
          <p:nvSpPr>
            <p:cNvPr id="73741" name="直接连接符 101389"/>
            <p:cNvSpPr/>
            <p:nvPr/>
          </p:nvSpPr>
          <p:spPr>
            <a:xfrm>
              <a:off x="6657" y="1752"/>
              <a:ext cx="1440" cy="312"/>
            </a:xfrm>
            <a:prstGeom prst="line">
              <a:avLst/>
            </a:prstGeom>
            <a:ln w="9525" cap="flat" cmpd="sng">
              <a:solidFill>
                <a:srgbClr val="000000"/>
              </a:solidFill>
              <a:prstDash val="solid"/>
              <a:round/>
              <a:headEnd type="none" w="med" len="med"/>
              <a:tailEnd type="none" w="med" len="med"/>
            </a:ln>
          </p:spPr>
        </p:sp>
        <p:sp>
          <p:nvSpPr>
            <p:cNvPr id="73742" name="直接连接符 101390"/>
            <p:cNvSpPr/>
            <p:nvPr/>
          </p:nvSpPr>
          <p:spPr>
            <a:xfrm>
              <a:off x="6657" y="1752"/>
              <a:ext cx="1620" cy="2652"/>
            </a:xfrm>
            <a:prstGeom prst="line">
              <a:avLst/>
            </a:prstGeom>
            <a:ln w="9525" cap="flat" cmpd="sng">
              <a:solidFill>
                <a:srgbClr val="000000"/>
              </a:solidFill>
              <a:prstDash val="solid"/>
              <a:round/>
              <a:headEnd type="none" w="med" len="med"/>
              <a:tailEnd type="none" w="med" len="med"/>
            </a:ln>
          </p:spPr>
        </p:sp>
        <p:sp>
          <p:nvSpPr>
            <p:cNvPr id="73743" name="直接连接符 101391"/>
            <p:cNvSpPr/>
            <p:nvPr/>
          </p:nvSpPr>
          <p:spPr>
            <a:xfrm>
              <a:off x="5037" y="1752"/>
              <a:ext cx="1620" cy="2652"/>
            </a:xfrm>
            <a:prstGeom prst="line">
              <a:avLst/>
            </a:prstGeom>
            <a:ln w="9525" cap="flat" cmpd="sng">
              <a:solidFill>
                <a:srgbClr val="000000"/>
              </a:solidFill>
              <a:prstDash val="solid"/>
              <a:round/>
              <a:headEnd type="none" w="med" len="med"/>
              <a:tailEnd type="none" w="med" len="med"/>
            </a:ln>
          </p:spPr>
        </p:sp>
        <p:sp>
          <p:nvSpPr>
            <p:cNvPr id="73744" name="直接连接符 101392"/>
            <p:cNvSpPr/>
            <p:nvPr/>
          </p:nvSpPr>
          <p:spPr>
            <a:xfrm>
              <a:off x="7197" y="1440"/>
              <a:ext cx="0" cy="1560"/>
            </a:xfrm>
            <a:prstGeom prst="line">
              <a:avLst/>
            </a:prstGeom>
            <a:ln w="9525" cap="flat" cmpd="sng">
              <a:solidFill>
                <a:srgbClr val="000000"/>
              </a:solidFill>
              <a:prstDash val="solid"/>
              <a:round/>
              <a:headEnd type="none" w="med" len="med"/>
              <a:tailEnd type="none" w="med" len="med"/>
            </a:ln>
          </p:spPr>
        </p:sp>
        <p:sp>
          <p:nvSpPr>
            <p:cNvPr id="73745" name="直接连接符 101393"/>
            <p:cNvSpPr/>
            <p:nvPr/>
          </p:nvSpPr>
          <p:spPr>
            <a:xfrm flipH="1">
              <a:off x="5217" y="1908"/>
              <a:ext cx="2010" cy="0"/>
            </a:xfrm>
            <a:prstGeom prst="line">
              <a:avLst/>
            </a:prstGeom>
            <a:ln w="12700" cap="rnd" cmpd="sng">
              <a:solidFill>
                <a:srgbClr val="993300"/>
              </a:solidFill>
              <a:prstDash val="sysDot"/>
              <a:round/>
              <a:headEnd type="none" w="med" len="med"/>
              <a:tailEnd type="none" w="med" len="med"/>
            </a:ln>
          </p:spPr>
        </p:sp>
        <p:sp>
          <p:nvSpPr>
            <p:cNvPr id="73746" name="直接连接符 101394"/>
            <p:cNvSpPr/>
            <p:nvPr/>
          </p:nvSpPr>
          <p:spPr>
            <a:xfrm>
              <a:off x="6657" y="4092"/>
              <a:ext cx="1440" cy="0"/>
            </a:xfrm>
            <a:prstGeom prst="line">
              <a:avLst/>
            </a:prstGeom>
            <a:ln w="12700" cap="rnd" cmpd="sng">
              <a:solidFill>
                <a:srgbClr val="993300"/>
              </a:solidFill>
              <a:prstDash val="sysDot"/>
              <a:round/>
              <a:headEnd type="none" w="med" len="med"/>
              <a:tailEnd type="none" w="med" len="med"/>
            </a:ln>
          </p:spPr>
        </p:sp>
        <p:sp>
          <p:nvSpPr>
            <p:cNvPr id="73747" name="文本框 101395"/>
            <p:cNvSpPr txBox="1"/>
            <p:nvPr/>
          </p:nvSpPr>
          <p:spPr>
            <a:xfrm>
              <a:off x="8097" y="3780"/>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D</a:t>
              </a:r>
              <a:endParaRPr lang="en-US" altLang="zh-CN" sz="1800">
                <a:latin typeface="Times New Roman" panose="02020603050405020304" pitchFamily="18" charset="0"/>
                <a:ea typeface="宋体" panose="02010600030101010101" pitchFamily="2" charset="-122"/>
              </a:endParaRPr>
            </a:p>
          </p:txBody>
        </p:sp>
        <p:sp>
          <p:nvSpPr>
            <p:cNvPr id="73748" name="直接连接符 101396"/>
            <p:cNvSpPr/>
            <p:nvPr/>
          </p:nvSpPr>
          <p:spPr>
            <a:xfrm>
              <a:off x="6012" y="3000"/>
              <a:ext cx="0" cy="780"/>
            </a:xfrm>
            <a:prstGeom prst="line">
              <a:avLst/>
            </a:prstGeom>
            <a:ln w="9525" cap="flat" cmpd="sng">
              <a:solidFill>
                <a:srgbClr val="000000"/>
              </a:solidFill>
              <a:prstDash val="solid"/>
              <a:round/>
              <a:headEnd type="none" w="med" len="med"/>
              <a:tailEnd type="none" w="med" len="med"/>
            </a:ln>
          </p:spPr>
        </p:sp>
      </p:grpSp>
      <p:sp>
        <p:nvSpPr>
          <p:cNvPr id="73749" name="矩形 101398"/>
          <p:cNvSpPr/>
          <p:nvPr/>
        </p:nvSpPr>
        <p:spPr>
          <a:xfrm>
            <a:off x="179388" y="2636838"/>
            <a:ext cx="4284662"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解</a:t>
            </a:r>
            <a:r>
              <a:rPr lang="en-US" altLang="zh-CN">
                <a:latin typeface="Times New Roman" panose="02020603050405020304" pitchFamily="18" charset="0"/>
                <a:ea typeface="宋体" panose="02010600030101010101" pitchFamily="2" charset="-122"/>
                <a:sym typeface="Wingdings" panose="05000000000000000000" pitchFamily="2" charset="2"/>
              </a:rPr>
              <a:t>:  (1) </a:t>
            </a:r>
            <a:r>
              <a:rPr lang="en-US" altLang="zh-CN">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=(750-726)/750=0.032</a:t>
            </a:r>
            <a:endParaRPr lang="en-US" altLang="zh-CN">
              <a:latin typeface="Times New Roman" panose="02020603050405020304" pitchFamily="18" charset="0"/>
              <a:ea typeface="宋体" panose="02010600030101010101" pitchFamily="2" charset="-122"/>
            </a:endParaRPr>
          </a:p>
        </p:txBody>
      </p:sp>
      <p:graphicFrame>
        <p:nvGraphicFramePr>
          <p:cNvPr id="73750" name="对象 101397"/>
          <p:cNvGraphicFramePr/>
          <p:nvPr/>
        </p:nvGraphicFramePr>
        <p:xfrm>
          <a:off x="395288" y="3284538"/>
          <a:ext cx="4225925" cy="835025"/>
        </p:xfrm>
        <a:graphic>
          <a:graphicData uri="http://schemas.openxmlformats.org/presentationml/2006/ole">
            <mc:AlternateContent xmlns:mc="http://schemas.openxmlformats.org/markup-compatibility/2006">
              <mc:Choice xmlns:v="urn:schemas-microsoft-com:vml" Requires="v">
                <p:oleObj spid="_x0000_s3195" name="" r:id="rId1" imgW="2246630" imgH="444500" progId="Equation.DSMT4">
                  <p:embed/>
                </p:oleObj>
              </mc:Choice>
              <mc:Fallback>
                <p:oleObj name="" r:id="rId1" imgW="2246630" imgH="444500" progId="Equation.DSMT4">
                  <p:embed/>
                  <p:pic>
                    <p:nvPicPr>
                      <p:cNvPr id="0" name="图片 3194"/>
                      <p:cNvPicPr/>
                      <p:nvPr/>
                    </p:nvPicPr>
                    <p:blipFill>
                      <a:blip r:embed="rId2"/>
                      <a:stretch>
                        <a:fillRect/>
                      </a:stretch>
                    </p:blipFill>
                    <p:spPr>
                      <a:xfrm>
                        <a:off x="395288" y="3284538"/>
                        <a:ext cx="4225925" cy="835025"/>
                      </a:xfrm>
                      <a:prstGeom prst="rect">
                        <a:avLst/>
                      </a:prstGeom>
                      <a:noFill/>
                      <a:ln w="38100">
                        <a:noFill/>
                        <a:miter/>
                      </a:ln>
                    </p:spPr>
                  </p:pic>
                </p:oleObj>
              </mc:Fallback>
            </mc:AlternateContent>
          </a:graphicData>
        </a:graphic>
      </p:graphicFrame>
      <p:sp>
        <p:nvSpPr>
          <p:cNvPr id="73751" name="矩形 101399"/>
          <p:cNvSpPr/>
          <p:nvPr/>
        </p:nvSpPr>
        <p:spPr>
          <a:xfrm>
            <a:off x="250825" y="4292600"/>
            <a:ext cx="4718050" cy="1552575"/>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电机稳定工作于</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点时，反接制动</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瞬间跳到</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点，</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其中</a:t>
            </a:r>
            <a:r>
              <a:rPr lang="en-US" altLang="zh-CN" i="1">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=0.8 </a:t>
            </a:r>
            <a:r>
              <a:rPr lang="en-US" altLang="zh-CN" i="1">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=0.8×0.032=0.0256;</a:t>
            </a:r>
            <a:endParaRPr lang="en-US" altLang="zh-CN">
              <a:latin typeface="Times New Roman" panose="02020603050405020304" pitchFamily="18" charset="0"/>
              <a:ea typeface="宋体" panose="02010600030101010101" pitchFamily="2" charset="-122"/>
            </a:endParaRPr>
          </a:p>
          <a:p>
            <a:pPr eaLnBrk="0" hangingPunct="0"/>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=731rpm;</a:t>
            </a:r>
            <a:endParaRPr lang="en-US" altLang="zh-CN">
              <a:latin typeface="Times New Roman" panose="02020603050405020304" pitchFamily="18" charset="0"/>
              <a:ea typeface="宋体" panose="02010600030101010101" pitchFamily="2" charset="-122"/>
            </a:endParaRPr>
          </a:p>
        </p:txBody>
      </p:sp>
      <p:sp>
        <p:nvSpPr>
          <p:cNvPr id="73752" name="矩形 101401"/>
          <p:cNvSpPr/>
          <p:nvPr/>
        </p:nvSpPr>
        <p:spPr>
          <a:xfrm>
            <a:off x="468313" y="6024563"/>
            <a:ext cx="1716087"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自然特性：</a:t>
            </a:r>
            <a:endParaRPr lang="zh-CN" altLang="en-US" dirty="0">
              <a:latin typeface="Times New Roman" panose="02020603050405020304" pitchFamily="18" charset="0"/>
              <a:ea typeface="宋体" panose="02010600030101010101" pitchFamily="2" charset="-122"/>
            </a:endParaRPr>
          </a:p>
        </p:txBody>
      </p:sp>
      <p:graphicFrame>
        <p:nvGraphicFramePr>
          <p:cNvPr id="73753" name="对象 101400"/>
          <p:cNvGraphicFramePr/>
          <p:nvPr/>
        </p:nvGraphicFramePr>
        <p:xfrm>
          <a:off x="2411413" y="5949950"/>
          <a:ext cx="3617912" cy="544513"/>
        </p:xfrm>
        <a:graphic>
          <a:graphicData uri="http://schemas.openxmlformats.org/presentationml/2006/ole">
            <mc:AlternateContent xmlns:mc="http://schemas.openxmlformats.org/markup-compatibility/2006">
              <mc:Choice xmlns:v="urn:schemas-microsoft-com:vml" Requires="v">
                <p:oleObj spid="_x0000_s3196" name="" r:id="rId3" imgW="1879600" imgH="279400" progId="Equation.DSMT4">
                  <p:embed/>
                </p:oleObj>
              </mc:Choice>
              <mc:Fallback>
                <p:oleObj name="" r:id="rId3" imgW="1879600" imgH="279400" progId="Equation.DSMT4">
                  <p:embed/>
                  <p:pic>
                    <p:nvPicPr>
                      <p:cNvPr id="0" name="图片 3195"/>
                      <p:cNvPicPr/>
                      <p:nvPr/>
                    </p:nvPicPr>
                    <p:blipFill>
                      <a:blip r:embed="rId4"/>
                      <a:stretch>
                        <a:fillRect/>
                      </a:stretch>
                    </p:blipFill>
                    <p:spPr>
                      <a:xfrm>
                        <a:off x="2411413" y="5949950"/>
                        <a:ext cx="3617912" cy="544513"/>
                      </a:xfrm>
                      <a:prstGeom prst="rect">
                        <a:avLst/>
                      </a:prstGeom>
                      <a:noFill/>
                      <a:ln w="38100">
                        <a:noFill/>
                        <a:miter/>
                      </a:ln>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矩形 100354"/>
          <p:cNvSpPr/>
          <p:nvPr/>
        </p:nvSpPr>
        <p:spPr>
          <a:xfrm>
            <a:off x="395288" y="481013"/>
            <a:ext cx="1716087"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串电阻时：</a:t>
            </a:r>
            <a:endParaRPr lang="zh-CN" altLang="en-US" dirty="0">
              <a:latin typeface="Times New Roman" panose="02020603050405020304" pitchFamily="18" charset="0"/>
              <a:ea typeface="宋体" panose="02010600030101010101" pitchFamily="2" charset="-122"/>
            </a:endParaRPr>
          </a:p>
        </p:txBody>
      </p:sp>
      <p:graphicFrame>
        <p:nvGraphicFramePr>
          <p:cNvPr id="74754" name="对象 100353"/>
          <p:cNvGraphicFramePr/>
          <p:nvPr/>
        </p:nvGraphicFramePr>
        <p:xfrm>
          <a:off x="2124075" y="333375"/>
          <a:ext cx="6115050" cy="895350"/>
        </p:xfrm>
        <a:graphic>
          <a:graphicData uri="http://schemas.openxmlformats.org/presentationml/2006/ole">
            <mc:AlternateContent xmlns:mc="http://schemas.openxmlformats.org/markup-compatibility/2006">
              <mc:Choice xmlns:v="urn:schemas-microsoft-com:vml" Requires="v">
                <p:oleObj spid="_x0000_s3193" name="" r:id="rId1" imgW="2970530" imgH="431800" progId="Equation.DSMT4">
                  <p:embed/>
                </p:oleObj>
              </mc:Choice>
              <mc:Fallback>
                <p:oleObj name="" r:id="rId1" imgW="2970530" imgH="431800" progId="Equation.DSMT4">
                  <p:embed/>
                  <p:pic>
                    <p:nvPicPr>
                      <p:cNvPr id="0" name="图片 3192"/>
                      <p:cNvPicPr/>
                      <p:nvPr/>
                    </p:nvPicPr>
                    <p:blipFill>
                      <a:blip r:embed="rId2"/>
                      <a:stretch>
                        <a:fillRect/>
                      </a:stretch>
                    </p:blipFill>
                    <p:spPr>
                      <a:xfrm>
                        <a:off x="2124075" y="333375"/>
                        <a:ext cx="6115050" cy="895350"/>
                      </a:xfrm>
                      <a:prstGeom prst="rect">
                        <a:avLst/>
                      </a:prstGeom>
                      <a:noFill/>
                      <a:ln w="38100">
                        <a:noFill/>
                        <a:miter/>
                      </a:ln>
                    </p:spPr>
                  </p:pic>
                </p:oleObj>
              </mc:Fallback>
            </mc:AlternateContent>
          </a:graphicData>
        </a:graphic>
      </p:graphicFrame>
      <p:sp>
        <p:nvSpPr>
          <p:cNvPr id="74755" name="矩形 100355"/>
          <p:cNvSpPr/>
          <p:nvPr/>
        </p:nvSpPr>
        <p:spPr>
          <a:xfrm>
            <a:off x="323850" y="1195388"/>
            <a:ext cx="8497888" cy="1698625"/>
          </a:xfrm>
          <a:prstGeom prst="rect">
            <a:avLst/>
          </a:prstGeom>
          <a:noFill/>
          <a:ln w="9525">
            <a:noFill/>
          </a:ln>
        </p:spPr>
        <p:txBody>
          <a:bodyPr anchor="ctr" anchorCtr="0">
            <a:spAutoFit/>
          </a:bodyPr>
          <a:p>
            <a:pPr>
              <a:lnSpc>
                <a:spcPct val="11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为了便于计算，考虑反接制动特性的对称电动特性，所以</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与</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点</a:t>
            </a:r>
            <a:r>
              <a:rPr lang="zh-CN" altLang="en-US" dirty="0">
                <a:solidFill>
                  <a:srgbClr val="000000"/>
                </a:solidFill>
                <a:latin typeface="Times New Roman" panose="02020603050405020304" pitchFamily="18" charset="0"/>
                <a:ea typeface="宋体" panose="02010600030101010101" pitchFamily="2" charset="-122"/>
              </a:rPr>
              <a:t>大小</a:t>
            </a:r>
            <a:r>
              <a:rPr lang="zh-CN" altLang="en-US" dirty="0">
                <a:latin typeface="Times New Roman" panose="02020603050405020304" pitchFamily="18" charset="0"/>
                <a:ea typeface="宋体" panose="02010600030101010101" pitchFamily="2" charset="-122"/>
              </a:rPr>
              <a:t>相同，转速</a:t>
            </a:r>
            <a:r>
              <a:rPr lang="zh-CN" altLang="en-US" dirty="0">
                <a:solidFill>
                  <a:srgbClr val="000000"/>
                </a:solidFill>
                <a:latin typeface="Times New Roman" panose="02020603050405020304" pitchFamily="18" charset="0"/>
                <a:ea typeface="宋体" panose="02010600030101010101" pitchFamily="2" charset="-122"/>
              </a:rPr>
              <a:t>大小也</a:t>
            </a:r>
            <a:r>
              <a:rPr lang="zh-CN" altLang="en-US" dirty="0">
                <a:latin typeface="Times New Roman" panose="02020603050405020304" pitchFamily="18" charset="0"/>
                <a:ea typeface="宋体" panose="02010600030101010101" pitchFamily="2" charset="-122"/>
              </a:rPr>
              <a:t>相同。</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en-US" altLang="zh-CN" i="1">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=(750+731)/750=1.974</a:t>
            </a:r>
            <a:r>
              <a:rPr lang="zh-CN" altLang="en-US" dirty="0">
                <a:latin typeface="Times New Roman" panose="02020603050405020304" pitchFamily="18" charset="0"/>
                <a:ea typeface="宋体" panose="02010600030101010101" pitchFamily="2" charset="-122"/>
              </a:rPr>
              <a:t>，又</a:t>
            </a:r>
            <a:r>
              <a:rPr lang="en-US" altLang="zh-CN" i="1">
                <a:latin typeface="Times New Roman" panose="02020603050405020304" pitchFamily="18" charset="0"/>
                <a:ea typeface="宋体" panose="02010600030101010101" pitchFamily="2" charset="-122"/>
              </a:rPr>
              <a:t>T</a:t>
            </a:r>
            <a:r>
              <a:rPr lang="en-US" altLang="zh-CN" baseline="-30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=9.55×30000/726=394.6 Nm</a:t>
            </a:r>
            <a:endParaRPr lang="en-US" altLang="zh-CN">
              <a:latin typeface="Times New Roman" panose="02020603050405020304" pitchFamily="18" charset="0"/>
              <a:ea typeface="宋体" panose="02010600030101010101" pitchFamily="2" charset="-122"/>
            </a:endParaRPr>
          </a:p>
          <a:p>
            <a:pPr eaLnBrk="0" hangingPunct="0">
              <a:lnSpc>
                <a:spcPct val="110000"/>
              </a:lnSpc>
            </a:pP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点转矩为：</a:t>
            </a:r>
            <a:endParaRPr lang="zh-CN" altLang="en-US" dirty="0">
              <a:latin typeface="Times New Roman" panose="02020603050405020304" pitchFamily="18" charset="0"/>
              <a:ea typeface="宋体" panose="02010600030101010101" pitchFamily="2" charset="-122"/>
            </a:endParaRPr>
          </a:p>
        </p:txBody>
      </p:sp>
      <p:sp>
        <p:nvSpPr>
          <p:cNvPr id="74756" name="矩形 100357"/>
          <p:cNvSpPr/>
          <p:nvPr/>
        </p:nvSpPr>
        <p:spPr>
          <a:xfrm>
            <a:off x="0" y="29670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74757" name="对象 100356"/>
          <p:cNvGraphicFramePr/>
          <p:nvPr/>
        </p:nvGraphicFramePr>
        <p:xfrm>
          <a:off x="1331913" y="2852738"/>
          <a:ext cx="5327650" cy="1219200"/>
        </p:xfrm>
        <a:graphic>
          <a:graphicData uri="http://schemas.openxmlformats.org/presentationml/2006/ole">
            <mc:AlternateContent xmlns:mc="http://schemas.openxmlformats.org/markup-compatibility/2006">
              <mc:Choice xmlns:v="urn:schemas-microsoft-com:vml" Requires="v">
                <p:oleObj spid="_x0000_s3194" name="" r:id="rId3" imgW="2832100" imgH="647700" progId="Equation.DSMT4">
                  <p:embed/>
                </p:oleObj>
              </mc:Choice>
              <mc:Fallback>
                <p:oleObj name="" r:id="rId3" imgW="2832100" imgH="647700" progId="Equation.DSMT4">
                  <p:embed/>
                  <p:pic>
                    <p:nvPicPr>
                      <p:cNvPr id="0" name="图片 3193"/>
                      <p:cNvPicPr/>
                      <p:nvPr/>
                    </p:nvPicPr>
                    <p:blipFill>
                      <a:blip r:embed="rId4"/>
                      <a:stretch>
                        <a:fillRect/>
                      </a:stretch>
                    </p:blipFill>
                    <p:spPr>
                      <a:xfrm>
                        <a:off x="1331913" y="2852738"/>
                        <a:ext cx="5327650" cy="1219200"/>
                      </a:xfrm>
                      <a:prstGeom prst="rect">
                        <a:avLst/>
                      </a:prstGeom>
                      <a:noFill/>
                      <a:ln w="38100">
                        <a:noFill/>
                        <a:miter/>
                      </a:ln>
                    </p:spPr>
                  </p:pic>
                </p:oleObj>
              </mc:Fallback>
            </mc:AlternateContent>
          </a:graphicData>
        </a:graphic>
      </p:graphicFrame>
      <p:sp>
        <p:nvSpPr>
          <p:cNvPr id="74758" name="矩形 100359"/>
          <p:cNvSpPr/>
          <p:nvPr/>
        </p:nvSpPr>
        <p:spPr>
          <a:xfrm>
            <a:off x="323850" y="4149725"/>
            <a:ext cx="8281988" cy="822325"/>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）不断电，电机会反转，工作于图中</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点，其转速大小与对称上</a:t>
            </a:r>
            <a:r>
              <a:rPr lang="en-US" altLang="zh-CN" dirty="0">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点相同。由于</a:t>
            </a:r>
            <a:r>
              <a:rPr lang="en-US" altLang="zh-CN" dirty="0">
                <a:latin typeface="Times New Roman" panose="02020603050405020304" pitchFamily="18" charset="0"/>
                <a:ea typeface="宋体" panose="02010600030101010101" pitchFamily="2" charset="-122"/>
              </a:rPr>
              <a:t>AB</a:t>
            </a:r>
            <a:r>
              <a:rPr lang="zh-CN" altLang="en-US" dirty="0">
                <a:latin typeface="Times New Roman" panose="02020603050405020304" pitchFamily="18" charset="0"/>
                <a:ea typeface="宋体" panose="02010600030101010101" pitchFamily="2" charset="-122"/>
              </a:rPr>
              <a:t>点电机产生相同的电磁转矩，所以</a:t>
            </a:r>
            <a:endParaRPr lang="zh-CN" altLang="en-US" dirty="0">
              <a:latin typeface="Times New Roman" panose="02020603050405020304" pitchFamily="18" charset="0"/>
              <a:ea typeface="宋体" panose="02010600030101010101" pitchFamily="2" charset="-122"/>
            </a:endParaRPr>
          </a:p>
        </p:txBody>
      </p:sp>
      <p:graphicFrame>
        <p:nvGraphicFramePr>
          <p:cNvPr id="74759" name="对象 100358"/>
          <p:cNvGraphicFramePr/>
          <p:nvPr/>
        </p:nvGraphicFramePr>
        <p:xfrm>
          <a:off x="900113" y="5300663"/>
          <a:ext cx="1871662" cy="952500"/>
        </p:xfrm>
        <a:graphic>
          <a:graphicData uri="http://schemas.openxmlformats.org/presentationml/2006/ole">
            <mc:AlternateContent xmlns:mc="http://schemas.openxmlformats.org/markup-compatibility/2006">
              <mc:Choice xmlns:v="urn:schemas-microsoft-com:vml" Requires="v">
                <p:oleObj spid="_x0000_s3192" name="" r:id="rId5" imgW="850265" imgH="431800" progId="Equation.DSMT4">
                  <p:embed/>
                </p:oleObj>
              </mc:Choice>
              <mc:Fallback>
                <p:oleObj name="" r:id="rId5" imgW="850265" imgH="431800" progId="Equation.DSMT4">
                  <p:embed/>
                  <p:pic>
                    <p:nvPicPr>
                      <p:cNvPr id="0" name="图片 3191"/>
                      <p:cNvPicPr/>
                      <p:nvPr/>
                    </p:nvPicPr>
                    <p:blipFill>
                      <a:blip r:embed="rId6"/>
                      <a:stretch>
                        <a:fillRect/>
                      </a:stretch>
                    </p:blipFill>
                    <p:spPr>
                      <a:xfrm>
                        <a:off x="900113" y="5300663"/>
                        <a:ext cx="1871662" cy="952500"/>
                      </a:xfrm>
                      <a:prstGeom prst="rect">
                        <a:avLst/>
                      </a:prstGeom>
                      <a:noFill/>
                      <a:ln w="38100">
                        <a:noFill/>
                        <a:miter/>
                      </a:ln>
                    </p:spPr>
                  </p:pic>
                </p:oleObj>
              </mc:Fallback>
            </mc:AlternateContent>
          </a:graphicData>
        </a:graphic>
      </p:graphicFrame>
      <p:sp>
        <p:nvSpPr>
          <p:cNvPr id="74760" name="矩形 100360"/>
          <p:cNvSpPr/>
          <p:nvPr/>
        </p:nvSpPr>
        <p:spPr>
          <a:xfrm>
            <a:off x="3635375" y="5229225"/>
            <a:ext cx="4562475" cy="1296988"/>
          </a:xfrm>
          <a:prstGeom prst="rect">
            <a:avLst/>
          </a:prstGeom>
          <a:noFill/>
          <a:ln w="9525">
            <a:noFill/>
          </a:ln>
        </p:spPr>
        <p:txBody>
          <a:bodyPr wrap="none" anchor="ctr" anchorCtr="0">
            <a:spAutoFit/>
          </a:bodyPr>
          <a:p>
            <a:pPr>
              <a:lnSpc>
                <a:spcPct val="110000"/>
              </a:lnSpc>
            </a:pPr>
            <a:r>
              <a:rPr lang="zh-CN" altLang="en-US" dirty="0">
                <a:latin typeface="Times New Roman" panose="02020603050405020304" pitchFamily="18" charset="0"/>
                <a:ea typeface="宋体" panose="02010600030101010101" pitchFamily="2" charset="-122"/>
              </a:rPr>
              <a:t>即：</a:t>
            </a:r>
            <a:r>
              <a:rPr lang="en-US" altLang="zh-CN">
                <a:latin typeface="Times New Roman" panose="02020603050405020304" pitchFamily="18" charset="0"/>
                <a:ea typeface="宋体" panose="02010600030101010101" pitchFamily="2" charset="-122"/>
              </a:rPr>
              <a:t>0.081/0.0256=(0.081+2.12)/</a:t>
            </a:r>
            <a:r>
              <a:rPr lang="en-US" altLang="zh-CN" i="1">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E</a:t>
            </a:r>
            <a:endParaRPr lang="en-US" altLang="zh-CN">
              <a:latin typeface="Times New Roman" panose="02020603050405020304" pitchFamily="18" charset="0"/>
              <a:ea typeface="宋体" panose="02010600030101010101" pitchFamily="2" charset="-122"/>
            </a:endParaRPr>
          </a:p>
          <a:p>
            <a:pPr eaLnBrk="0" hangingPunct="0">
              <a:lnSpc>
                <a:spcPct val="110000"/>
              </a:lnSpc>
            </a:pPr>
            <a:r>
              <a:rPr lang="en-US" altLang="zh-CN" i="1">
                <a:latin typeface="Times New Roman" panose="02020603050405020304" pitchFamily="18" charset="0"/>
                <a:ea typeface="宋体" panose="02010600030101010101" pitchFamily="2" charset="-122"/>
              </a:rPr>
              <a:t>        S</a:t>
            </a:r>
            <a:r>
              <a:rPr lang="en-US" altLang="zh-CN" baseline="-30000">
                <a:latin typeface="Times New Roman" panose="02020603050405020304" pitchFamily="18" charset="0"/>
                <a:ea typeface="宋体" panose="02010600030101010101" pitchFamily="2" charset="-122"/>
              </a:rPr>
              <a:t>E</a:t>
            </a:r>
            <a:r>
              <a:rPr lang="en-US" altLang="zh-CN">
                <a:latin typeface="Times New Roman" panose="02020603050405020304" pitchFamily="18" charset="0"/>
                <a:ea typeface="宋体" panose="02010600030101010101" pitchFamily="2" charset="-122"/>
              </a:rPr>
              <a:t>=0.7;</a:t>
            </a:r>
            <a:endParaRPr lang="en-US" altLang="zh-CN">
              <a:latin typeface="Times New Roman" panose="02020603050405020304" pitchFamily="18" charset="0"/>
              <a:ea typeface="宋体" panose="02010600030101010101" pitchFamily="2" charset="-122"/>
            </a:endParaRPr>
          </a:p>
          <a:p>
            <a:pPr eaLnBrk="0" hangingPunct="0">
              <a:lnSpc>
                <a:spcPct val="110000"/>
              </a:lnSpc>
            </a:pPr>
            <a:r>
              <a:rPr lang="en-US" altLang="zh-CN" i="1">
                <a:latin typeface="Times New Roman" panose="02020603050405020304" pitchFamily="18" charset="0"/>
                <a:ea typeface="宋体" panose="02010600030101010101" pitchFamily="2" charset="-122"/>
              </a:rPr>
              <a:t>        n</a:t>
            </a:r>
            <a:r>
              <a:rPr lang="en-US" altLang="zh-CN" baseline="-30000">
                <a:latin typeface="Times New Roman" panose="02020603050405020304" pitchFamily="18" charset="0"/>
                <a:ea typeface="宋体" panose="02010600030101010101" pitchFamily="2" charset="-122"/>
              </a:rPr>
              <a:t>E</a:t>
            </a:r>
            <a:r>
              <a:rPr lang="en-US" altLang="zh-CN">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E</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=228.3 </a:t>
            </a:r>
            <a:r>
              <a:rPr lang="en-US" altLang="zh-CN" i="1">
                <a:latin typeface="Times New Roman" panose="02020603050405020304" pitchFamily="18" charset="0"/>
                <a:ea typeface="宋体" panose="02010600030101010101" pitchFamily="2" charset="-122"/>
              </a:rPr>
              <a:t>rpm</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矩形 99329"/>
          <p:cNvSpPr/>
          <p:nvPr/>
        </p:nvSpPr>
        <p:spPr>
          <a:xfrm>
            <a:off x="179388" y="260350"/>
            <a:ext cx="8642350" cy="2647950"/>
          </a:xfrm>
          <a:prstGeom prst="rect">
            <a:avLst/>
          </a:prstGeom>
          <a:noFill/>
          <a:ln w="9525">
            <a:noFill/>
          </a:ln>
        </p:spPr>
        <p:txBody>
          <a:bodyPr anchor="ctr" anchorCtr="0">
            <a:spAutoFit/>
          </a:bodyPr>
          <a:p>
            <a:pPr defTabSz="914400">
              <a:tabLst>
                <a:tab pos="247650" algn="l"/>
              </a:tabLst>
            </a:pPr>
            <a:r>
              <a:rPr lang="en-US" altLang="zh-CN">
                <a:latin typeface="Times New Roman" panose="02020603050405020304" pitchFamily="18" charset="0"/>
                <a:ea typeface="宋体" panose="02010600030101010101" pitchFamily="2" charset="-122"/>
              </a:rPr>
              <a:t>8-34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=60kW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=960r/min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=195A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λ</a:t>
            </a:r>
            <a:r>
              <a:rPr lang="en-US" altLang="zh-CN" dirty="0">
                <a:latin typeface="Times New Roman" panose="02020603050405020304" pitchFamily="18" charset="0"/>
                <a:ea typeface="宋体" panose="02010600030101010101" pitchFamily="2" charset="-122"/>
              </a:rPr>
              <a:t>=2.5</a:t>
            </a:r>
            <a:r>
              <a:rPr lang="zh-CN" altLang="en-US" dirty="0">
                <a:latin typeface="Times New Roman" panose="02020603050405020304" pitchFamily="18" charset="0"/>
                <a:ea typeface="宋体" panose="02010600030101010101" pitchFamily="2" charset="-122"/>
              </a:rPr>
              <a:t>。拖动位能性恒转矩负载，提升时</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=530N·</a:t>
            </a:r>
            <a:r>
              <a:rPr lang="en-US" altLang="zh-CN"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，求：</a:t>
            </a:r>
            <a:endParaRPr lang="zh-CN" altLang="en-US" dirty="0">
              <a:latin typeface="Times New Roman" panose="02020603050405020304" pitchFamily="18" charset="0"/>
              <a:ea typeface="宋体" panose="02010600030101010101" pitchFamily="2" charset="-122"/>
            </a:endParaRPr>
          </a:p>
          <a:p>
            <a:pPr defTabSz="914400">
              <a:tabLst>
                <a:tab pos="247650" algn="l"/>
              </a:tabLst>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在固有机械特性上提升重物的转速？</a:t>
            </a:r>
            <a:endParaRPr lang="zh-CN" altLang="en-US" dirty="0">
              <a:latin typeface="Times New Roman" panose="02020603050405020304" pitchFamily="18" charset="0"/>
              <a:ea typeface="宋体" panose="02010600030101010101" pitchFamily="2" charset="-122"/>
            </a:endParaRPr>
          </a:p>
          <a:p>
            <a:pPr defTabSz="914400">
              <a:tabLst>
                <a:tab pos="247650" algn="l"/>
              </a:tabLst>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提升机构传动效率在提升时</a:t>
            </a:r>
            <a:r>
              <a:rPr lang="en-US" altLang="zh-CN" dirty="0">
                <a:latin typeface="Times New Roman" panose="02020603050405020304" pitchFamily="18" charset="0"/>
                <a:ea typeface="宋体" panose="02010600030101010101" pitchFamily="2" charset="-122"/>
              </a:rPr>
              <a:t>0.87</a:t>
            </a:r>
            <a:r>
              <a:rPr lang="zh-CN" altLang="en-US" dirty="0">
                <a:latin typeface="Times New Roman" panose="02020603050405020304" pitchFamily="18" charset="0"/>
                <a:ea typeface="宋体" panose="02010600030101010101" pitchFamily="2" charset="-122"/>
              </a:rPr>
              <a:t>，若改变电源相序，下放重物的稳定速度？</a:t>
            </a:r>
            <a:endParaRPr lang="zh-CN" altLang="en-US" dirty="0">
              <a:latin typeface="Times New Roman" panose="02020603050405020304" pitchFamily="18" charset="0"/>
              <a:ea typeface="宋体" panose="02010600030101010101" pitchFamily="2" charset="-122"/>
            </a:endParaRPr>
          </a:p>
          <a:p>
            <a:pPr defTabSz="914400">
              <a:tabLst>
                <a:tab pos="247650" algn="l"/>
              </a:tabLst>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若下放时</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-280</a:t>
            </a:r>
            <a:r>
              <a:rPr lang="en-US" altLang="zh-CN" i="1">
                <a:latin typeface="Times New Roman" panose="02020603050405020304" pitchFamily="18" charset="0"/>
                <a:ea typeface="宋体" panose="02010600030101010101" pitchFamily="2" charset="-122"/>
              </a:rPr>
              <a:t>r/min</a:t>
            </a:r>
            <a:r>
              <a:rPr lang="zh-CN" altLang="en-US" dirty="0">
                <a:latin typeface="Times New Roman" panose="02020603050405020304" pitchFamily="18" charset="0"/>
                <a:ea typeface="宋体" panose="02010600030101010101" pitchFamily="2" charset="-122"/>
              </a:rPr>
              <a:t>，转子回路应串入的电阻？</a:t>
            </a:r>
            <a:endParaRPr lang="zh-CN" altLang="en-US" dirty="0">
              <a:latin typeface="Times New Roman" panose="02020603050405020304" pitchFamily="18" charset="0"/>
              <a:ea typeface="宋体" panose="02010600030101010101" pitchFamily="2" charset="-122"/>
            </a:endParaRPr>
          </a:p>
          <a:p>
            <a:pPr defTabSz="914400">
              <a:tabLst>
                <a:tab pos="247650" algn="l"/>
              </a:tabLst>
            </a:pP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电动机不断电，使重物停空中，如何处理？定量计算。</a:t>
            </a:r>
            <a:endParaRPr lang="zh-CN" altLang="en-US" dirty="0">
              <a:latin typeface="Times New Roman" panose="02020603050405020304" pitchFamily="18" charset="0"/>
              <a:ea typeface="宋体" panose="02010600030101010101" pitchFamily="2" charset="-122"/>
            </a:endParaRPr>
          </a:p>
        </p:txBody>
      </p:sp>
      <p:sp>
        <p:nvSpPr>
          <p:cNvPr id="75778" name="矩形 99345"/>
          <p:cNvSpPr/>
          <p:nvPr/>
        </p:nvSpPr>
        <p:spPr>
          <a:xfrm>
            <a:off x="250825" y="2997200"/>
            <a:ext cx="4970463" cy="2301875"/>
          </a:xfrm>
          <a:prstGeom prst="rect">
            <a:avLst/>
          </a:prstGeom>
          <a:noFill/>
          <a:ln w="9525">
            <a:noFill/>
          </a:ln>
        </p:spPr>
        <p:txBody>
          <a:bodyPr wrap="none" anchor="ctr" anchorCtr="0">
            <a:spAutoFit/>
          </a:bodyPr>
          <a:p>
            <a:pPr>
              <a:lnSpc>
                <a:spcPct val="110000"/>
              </a:lnSpc>
            </a:pPr>
            <a:r>
              <a:rPr lang="zh-CN" altLang="en-US" dirty="0">
                <a:latin typeface="Times New Roman" panose="02020603050405020304" pitchFamily="18" charset="0"/>
                <a:ea typeface="宋体" panose="02010600030101010101" pitchFamily="2" charset="-122"/>
              </a:rPr>
              <a:t>解：</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=(1000-960)/1000=0.04</a:t>
            </a:r>
            <a:endParaRPr lang="en-US" altLang="zh-CN">
              <a:latin typeface="Times New Roman" panose="02020603050405020304" pitchFamily="18" charset="0"/>
              <a:ea typeface="宋体" panose="02010600030101010101" pitchFamily="2" charset="-122"/>
            </a:endParaRPr>
          </a:p>
          <a:p>
            <a:pPr>
              <a:lnSpc>
                <a:spcPct val="110000"/>
              </a:lnSpc>
            </a:pP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=9.55×60000/960=597</a:t>
            </a:r>
            <a:r>
              <a:rPr lang="en-US" altLang="zh-CN" i="1">
                <a:latin typeface="Times New Roman" panose="02020603050405020304" pitchFamily="18" charset="0"/>
                <a:ea typeface="宋体" panose="02010600030101010101" pitchFamily="2" charset="-122"/>
              </a:rPr>
              <a:t>Nm</a:t>
            </a:r>
            <a:endParaRPr lang="en-US" altLang="zh-CN" i="1">
              <a:latin typeface="Times New Roman" panose="02020603050405020304" pitchFamily="18" charset="0"/>
              <a:ea typeface="宋体" panose="02010600030101010101" pitchFamily="2" charset="-122"/>
            </a:endParaRPr>
          </a:p>
          <a:p>
            <a:pPr>
              <a:lnSpc>
                <a:spcPct val="110000"/>
              </a:lnSpc>
            </a:pPr>
            <a:endParaRPr lang="en-US" altLang="zh-CN" sz="1200">
              <a:latin typeface="Times New Roman" panose="02020603050405020304" pitchFamily="18" charset="0"/>
              <a:ea typeface="宋体" panose="02010600030101010101" pitchFamily="2" charset="-122"/>
            </a:endParaRPr>
          </a:p>
          <a:p>
            <a:pPr>
              <a:lnSpc>
                <a:spcPct val="110000"/>
              </a:lnSpc>
            </a:pP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负载为</a:t>
            </a:r>
            <a:r>
              <a:rPr lang="en-US" altLang="zh-CN" dirty="0">
                <a:latin typeface="Times New Roman" panose="02020603050405020304" pitchFamily="18" charset="0"/>
                <a:ea typeface="宋体" panose="02010600030101010101" pitchFamily="2" charset="-122"/>
              </a:rPr>
              <a:t>530Nm</a:t>
            </a:r>
            <a:r>
              <a:rPr lang="zh-CN" altLang="en-US" dirty="0">
                <a:latin typeface="Times New Roman" panose="02020603050405020304" pitchFamily="18" charset="0"/>
                <a:ea typeface="宋体" panose="02010600030101010101" pitchFamily="2" charset="-122"/>
              </a:rPr>
              <a:t>提升时， </a:t>
            </a:r>
            <a:endParaRPr lang="zh-CN" altLang="en-US" dirty="0">
              <a:latin typeface="Times New Roman" panose="02020603050405020304" pitchFamily="18" charset="0"/>
              <a:ea typeface="宋体" panose="02010600030101010101" pitchFamily="2" charset="-122"/>
            </a:endParaRPr>
          </a:p>
          <a:p>
            <a:pPr>
              <a:lnSpc>
                <a:spcPct val="110000"/>
              </a:lnSpc>
            </a:pPr>
            <a:r>
              <a:rPr lang="zh-CN" altLang="en-US" dirty="0">
                <a:latin typeface="Times New Roman" panose="02020603050405020304" pitchFamily="18" charset="0"/>
                <a:ea typeface="宋体" panose="02010600030101010101" pitchFamily="2" charset="-122"/>
              </a:rPr>
              <a:t>工作于</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点，</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=530×</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=0.0355</a:t>
            </a:r>
            <a:endParaRPr lang="en-US" altLang="zh-CN">
              <a:latin typeface="Times New Roman" panose="02020603050405020304" pitchFamily="18" charset="0"/>
              <a:ea typeface="宋体" panose="02010600030101010101" pitchFamily="2" charset="-122"/>
            </a:endParaRPr>
          </a:p>
          <a:p>
            <a:pPr>
              <a:lnSpc>
                <a:spcPct val="110000"/>
              </a:lnSpc>
            </a:pPr>
            <a:r>
              <a:rPr lang="en-US" altLang="zh-CN" i="1" err="1">
                <a:latin typeface="Times New Roman" panose="02020603050405020304" pitchFamily="18" charset="0"/>
                <a:ea typeface="宋体" panose="02010600030101010101" pitchFamily="2" charset="-122"/>
              </a:rPr>
              <a:t>n</a:t>
            </a:r>
            <a:r>
              <a:rPr lang="en-US" altLang="zh-CN" baseline="-25000" err="1">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=964 </a:t>
            </a:r>
            <a:r>
              <a:rPr lang="en-US" altLang="zh-CN" i="1">
                <a:latin typeface="Times New Roman" panose="02020603050405020304" pitchFamily="18" charset="0"/>
                <a:ea typeface="宋体" panose="02010600030101010101" pitchFamily="2" charset="-122"/>
              </a:rPr>
              <a:t>rpm</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pSp>
        <p:nvGrpSpPr>
          <p:cNvPr id="75779" name="组合 99350"/>
          <p:cNvGrpSpPr/>
          <p:nvPr/>
        </p:nvGrpSpPr>
        <p:grpSpPr>
          <a:xfrm>
            <a:off x="6429375" y="3213100"/>
            <a:ext cx="2319338" cy="2430463"/>
            <a:chOff x="4050" y="2024"/>
            <a:chExt cx="1461" cy="1531"/>
          </a:xfrm>
        </p:grpSpPr>
        <p:sp>
          <p:nvSpPr>
            <p:cNvPr id="75780" name="文本框 99332"/>
            <p:cNvSpPr txBox="1"/>
            <p:nvPr/>
          </p:nvSpPr>
          <p:spPr>
            <a:xfrm>
              <a:off x="4050" y="3169"/>
              <a:ext cx="209" cy="216"/>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0</a:t>
              </a:r>
              <a:endParaRPr lang="en-US" altLang="zh-CN" sz="1800">
                <a:latin typeface="Times New Roman" panose="02020603050405020304" pitchFamily="18" charset="0"/>
                <a:ea typeface="宋体" panose="02010600030101010101" pitchFamily="2" charset="-122"/>
              </a:endParaRPr>
            </a:p>
          </p:txBody>
        </p:sp>
        <p:sp>
          <p:nvSpPr>
            <p:cNvPr id="75781" name="文本框 99334"/>
            <p:cNvSpPr txBox="1"/>
            <p:nvPr/>
          </p:nvSpPr>
          <p:spPr>
            <a:xfrm>
              <a:off x="4668" y="2488"/>
              <a:ext cx="208" cy="216"/>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B</a:t>
              </a:r>
              <a:endParaRPr lang="en-US" altLang="zh-CN" sz="1800">
                <a:latin typeface="Times New Roman" panose="02020603050405020304" pitchFamily="18" charset="0"/>
                <a:ea typeface="宋体" panose="02010600030101010101" pitchFamily="2" charset="-122"/>
              </a:endParaRPr>
            </a:p>
          </p:txBody>
        </p:sp>
        <p:sp>
          <p:nvSpPr>
            <p:cNvPr id="75782" name="文本框 99335"/>
            <p:cNvSpPr txBox="1"/>
            <p:nvPr/>
          </p:nvSpPr>
          <p:spPr>
            <a:xfrm>
              <a:off x="4558" y="3158"/>
              <a:ext cx="313" cy="216"/>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L</a:t>
              </a:r>
              <a:endParaRPr lang="en-US" altLang="zh-CN" sz="1800">
                <a:latin typeface="Times New Roman" panose="02020603050405020304" pitchFamily="18" charset="0"/>
                <a:ea typeface="宋体" panose="02010600030101010101" pitchFamily="2" charset="-122"/>
              </a:endParaRPr>
            </a:p>
          </p:txBody>
        </p:sp>
        <p:sp>
          <p:nvSpPr>
            <p:cNvPr id="75783" name="文本框 99336"/>
            <p:cNvSpPr txBox="1"/>
            <p:nvPr/>
          </p:nvSpPr>
          <p:spPr>
            <a:xfrm>
              <a:off x="5198" y="3169"/>
              <a:ext cx="313" cy="216"/>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em</a:t>
              </a:r>
              <a:endParaRPr lang="en-US" altLang="zh-CN" sz="1800">
                <a:latin typeface="Times New Roman" panose="02020603050405020304" pitchFamily="18" charset="0"/>
                <a:ea typeface="宋体" panose="02010600030101010101" pitchFamily="2" charset="-122"/>
              </a:endParaRPr>
            </a:p>
          </p:txBody>
        </p:sp>
        <p:sp>
          <p:nvSpPr>
            <p:cNvPr id="75784" name="文本框 99337"/>
            <p:cNvSpPr txBox="1"/>
            <p:nvPr/>
          </p:nvSpPr>
          <p:spPr>
            <a:xfrm>
              <a:off x="4195" y="2024"/>
              <a:ext cx="209" cy="214"/>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p:txBody>
        </p:sp>
        <p:sp>
          <p:nvSpPr>
            <p:cNvPr id="75785" name="直接连接符 99338"/>
            <p:cNvSpPr/>
            <p:nvPr/>
          </p:nvSpPr>
          <p:spPr>
            <a:xfrm>
              <a:off x="4150" y="3385"/>
              <a:ext cx="1152" cy="0"/>
            </a:xfrm>
            <a:prstGeom prst="line">
              <a:avLst/>
            </a:prstGeom>
            <a:ln w="9525" cap="flat" cmpd="sng">
              <a:solidFill>
                <a:srgbClr val="000000"/>
              </a:solidFill>
              <a:prstDash val="solid"/>
              <a:round/>
              <a:headEnd type="none" w="med" len="med"/>
              <a:tailEnd type="triangle" w="med" len="med"/>
            </a:ln>
          </p:spPr>
        </p:sp>
        <p:sp>
          <p:nvSpPr>
            <p:cNvPr id="75786" name="直接连接符 99339"/>
            <p:cNvSpPr/>
            <p:nvPr/>
          </p:nvSpPr>
          <p:spPr>
            <a:xfrm flipV="1">
              <a:off x="4154" y="2087"/>
              <a:ext cx="0" cy="1298"/>
            </a:xfrm>
            <a:prstGeom prst="line">
              <a:avLst/>
            </a:prstGeom>
            <a:ln w="9525" cap="flat" cmpd="sng">
              <a:solidFill>
                <a:srgbClr val="000000"/>
              </a:solidFill>
              <a:prstDash val="solid"/>
              <a:round/>
              <a:headEnd type="none" w="med" len="med"/>
              <a:tailEnd type="triangle" w="med" len="med"/>
            </a:ln>
          </p:spPr>
        </p:sp>
        <p:sp>
          <p:nvSpPr>
            <p:cNvPr id="75787" name="直接连接符 99340"/>
            <p:cNvSpPr/>
            <p:nvPr/>
          </p:nvSpPr>
          <p:spPr>
            <a:xfrm>
              <a:off x="4150" y="2523"/>
              <a:ext cx="944" cy="213"/>
            </a:xfrm>
            <a:prstGeom prst="line">
              <a:avLst/>
            </a:prstGeom>
            <a:ln w="9525" cap="flat" cmpd="sng">
              <a:solidFill>
                <a:srgbClr val="000000"/>
              </a:solidFill>
              <a:prstDash val="solid"/>
              <a:round/>
              <a:headEnd type="none" w="med" len="med"/>
              <a:tailEnd type="none" w="med" len="med"/>
            </a:ln>
          </p:spPr>
        </p:sp>
        <p:sp>
          <p:nvSpPr>
            <p:cNvPr id="75788" name="直接连接符 99341"/>
            <p:cNvSpPr/>
            <p:nvPr/>
          </p:nvSpPr>
          <p:spPr>
            <a:xfrm>
              <a:off x="4781" y="2303"/>
              <a:ext cx="0" cy="1082"/>
            </a:xfrm>
            <a:prstGeom prst="line">
              <a:avLst/>
            </a:prstGeom>
            <a:ln w="9525" cap="flat" cmpd="sng">
              <a:solidFill>
                <a:srgbClr val="000000"/>
              </a:solidFill>
              <a:prstDash val="solid"/>
              <a:round/>
              <a:headEnd type="none" w="med" len="med"/>
              <a:tailEnd type="none" w="med" len="med"/>
            </a:ln>
          </p:spPr>
        </p:sp>
        <p:sp>
          <p:nvSpPr>
            <p:cNvPr id="75789" name="直接连接符 99343"/>
            <p:cNvSpPr/>
            <p:nvPr/>
          </p:nvSpPr>
          <p:spPr>
            <a:xfrm>
              <a:off x="4150" y="2659"/>
              <a:ext cx="627" cy="0"/>
            </a:xfrm>
            <a:prstGeom prst="line">
              <a:avLst/>
            </a:prstGeom>
            <a:ln w="12700" cap="rnd" cmpd="sng">
              <a:solidFill>
                <a:srgbClr val="993300"/>
              </a:solidFill>
              <a:prstDash val="sysDot"/>
              <a:round/>
              <a:headEnd type="none" w="med" len="med"/>
              <a:tailEnd type="none" w="med" len="med"/>
            </a:ln>
          </p:spPr>
        </p:sp>
        <p:sp>
          <p:nvSpPr>
            <p:cNvPr id="75790" name="直接连接符 99347"/>
            <p:cNvSpPr/>
            <p:nvPr/>
          </p:nvSpPr>
          <p:spPr>
            <a:xfrm>
              <a:off x="4876" y="2296"/>
              <a:ext cx="0" cy="1082"/>
            </a:xfrm>
            <a:prstGeom prst="line">
              <a:avLst/>
            </a:prstGeom>
            <a:ln w="9525" cap="flat" cmpd="sng">
              <a:solidFill>
                <a:srgbClr val="000000"/>
              </a:solidFill>
              <a:prstDash val="solid"/>
              <a:round/>
              <a:headEnd type="none" w="med" len="med"/>
              <a:tailEnd type="none" w="med" len="med"/>
            </a:ln>
          </p:spPr>
        </p:sp>
        <p:sp>
          <p:nvSpPr>
            <p:cNvPr id="75791" name="文本框 99348"/>
            <p:cNvSpPr txBox="1"/>
            <p:nvPr/>
          </p:nvSpPr>
          <p:spPr>
            <a:xfrm>
              <a:off x="4830" y="3339"/>
              <a:ext cx="313" cy="216"/>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LN</a:t>
              </a:r>
              <a:endParaRPr lang="en-US" altLang="zh-CN" sz="1800">
                <a:latin typeface="Times New Roman" panose="02020603050405020304" pitchFamily="18" charset="0"/>
                <a:ea typeface="宋体" panose="02010600030101010101" pitchFamily="2" charset="-122"/>
              </a:endParaRPr>
            </a:p>
          </p:txBody>
        </p:sp>
        <p:sp>
          <p:nvSpPr>
            <p:cNvPr id="75792" name="文本框 99349"/>
            <p:cNvSpPr txBox="1"/>
            <p:nvPr/>
          </p:nvSpPr>
          <p:spPr>
            <a:xfrm>
              <a:off x="4876" y="2568"/>
              <a:ext cx="208" cy="216"/>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A</a:t>
              </a:r>
              <a:endParaRPr lang="en-US" altLang="zh-CN" sz="1800">
                <a:latin typeface="Times New Roman" panose="02020603050405020304" pitchFamily="18" charset="0"/>
                <a:ea typeface="宋体" panose="02010600030101010101" pitchFamily="2" charset="-122"/>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矩形 98305"/>
          <p:cNvSpPr/>
          <p:nvPr/>
        </p:nvSpPr>
        <p:spPr>
          <a:xfrm>
            <a:off x="250825" y="1844675"/>
            <a:ext cx="8459788" cy="2100263"/>
          </a:xfrm>
          <a:prstGeom prst="rect">
            <a:avLst/>
          </a:prstGeom>
          <a:noFill/>
          <a:ln w="9525">
            <a:noFill/>
          </a:ln>
        </p:spPr>
        <p:txBody>
          <a:bodyPr anchor="ctr" anchorCtr="0">
            <a:spAutoFit/>
          </a:bodyPr>
          <a:p>
            <a:pPr>
              <a:lnSpc>
                <a:spcPct val="110000"/>
              </a:lnSpc>
            </a:pPr>
            <a:r>
              <a:rPr lang="zh-CN" altLang="en-US" dirty="0">
                <a:latin typeface="Times New Roman" panose="02020603050405020304" pitchFamily="18" charset="0"/>
                <a:ea typeface="宋体" panose="02010600030101010101" pitchFamily="2" charset="-122"/>
              </a:rPr>
              <a:t>力矩损耗为：     </a:t>
            </a:r>
            <a:r>
              <a:rPr lang="en-US" altLang="zh-CN">
                <a:latin typeface="Times New Roman" panose="02020603050405020304" pitchFamily="18" charset="0"/>
                <a:ea typeface="宋体" panose="02010600030101010101" pitchFamily="2" charset="-122"/>
              </a:rPr>
              <a:t>Δ</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i="1" baseline="-25000">
                <a:latin typeface="Times New Roman" panose="02020603050405020304" pitchFamily="18" charset="0"/>
                <a:ea typeface="宋体" panose="02010600030101010101" pitchFamily="2" charset="-122"/>
              </a:rPr>
              <a:t>G</a:t>
            </a:r>
            <a:r>
              <a:rPr lang="en-US" altLang="zh-CN" i="1">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=68.9</a:t>
            </a:r>
            <a:r>
              <a:rPr lang="en-US" altLang="zh-CN" i="1">
                <a:latin typeface="Times New Roman" panose="02020603050405020304" pitchFamily="18" charset="0"/>
                <a:ea typeface="宋体" panose="02010600030101010101" pitchFamily="2" charset="-122"/>
              </a:rPr>
              <a:t>Nm</a:t>
            </a:r>
            <a:endParaRPr lang="en-US" altLang="zh-CN" i="1">
              <a:latin typeface="Times New Roman" panose="02020603050405020304" pitchFamily="18" charset="0"/>
              <a:ea typeface="宋体" panose="02010600030101010101" pitchFamily="2" charset="-122"/>
            </a:endParaRPr>
          </a:p>
          <a:p>
            <a:pPr>
              <a:lnSpc>
                <a:spcPct val="110000"/>
              </a:lnSpc>
            </a:pPr>
            <a:r>
              <a:rPr lang="zh-CN" altLang="en-US" dirty="0">
                <a:latin typeface="Times New Roman" panose="02020603050405020304" pitchFamily="18" charset="0"/>
                <a:ea typeface="宋体" panose="02010600030101010101" pitchFamily="2" charset="-122"/>
              </a:rPr>
              <a:t>下放该重物时，作用于电动机轴上负载转矩为：</a:t>
            </a:r>
            <a:endParaRPr lang="zh-CN" altLang="en-US" dirty="0">
              <a:latin typeface="Times New Roman" panose="02020603050405020304" pitchFamily="18" charset="0"/>
              <a:ea typeface="宋体" panose="02010600030101010101" pitchFamily="2" charset="-122"/>
            </a:endParaRPr>
          </a:p>
          <a:p>
            <a:pPr>
              <a:lnSpc>
                <a:spcPct val="110000"/>
              </a:lnSpc>
            </a:pP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i="1" baseline="-25000">
                <a:latin typeface="Times New Roman" panose="02020603050405020304" pitchFamily="18" charset="0"/>
                <a:ea typeface="宋体" panose="02010600030101010101" pitchFamily="2" charset="-122"/>
              </a:rPr>
              <a:t>G</a:t>
            </a:r>
            <a:r>
              <a:rPr lang="en-US" altLang="zh-CN" i="1">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-Δ</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=461-68.9=392.2</a:t>
            </a:r>
            <a:r>
              <a:rPr lang="en-US" altLang="zh-CN" i="1">
                <a:latin typeface="Times New Roman" panose="02020603050405020304" pitchFamily="18" charset="0"/>
                <a:ea typeface="宋体" panose="02010600030101010101" pitchFamily="2" charset="-122"/>
              </a:rPr>
              <a:t>Nm</a:t>
            </a:r>
            <a:endParaRPr lang="en-US" altLang="zh-CN" i="1">
              <a:latin typeface="Times New Roman" panose="02020603050405020304" pitchFamily="18" charset="0"/>
              <a:ea typeface="宋体" panose="02010600030101010101" pitchFamily="2" charset="-122"/>
            </a:endParaRPr>
          </a:p>
          <a:p>
            <a:pPr>
              <a:lnSpc>
                <a:spcPct val="11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下放该重物时工作于图中</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点</a:t>
            </a:r>
            <a:r>
              <a:rPr lang="zh-CN" altLang="en-US" dirty="0">
                <a:solidFill>
                  <a:schemeClr val="accent2"/>
                </a:solidFill>
                <a:latin typeface="Times New Roman" panose="02020603050405020304" pitchFamily="18" charset="0"/>
                <a:ea typeface="宋体" panose="02010600030101010101" pitchFamily="2" charset="-122"/>
              </a:rPr>
              <a:t>发电制动</a:t>
            </a:r>
            <a:r>
              <a:rPr lang="zh-CN" altLang="en-US" dirty="0">
                <a:latin typeface="Times New Roman" panose="02020603050405020304" pitchFamily="18" charset="0"/>
                <a:ea typeface="宋体" panose="02010600030101010101" pitchFamily="2" charset="-122"/>
              </a:rPr>
              <a:t>，用三角形相似关系可以计算出</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点转速为：   </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=1027</a:t>
            </a:r>
            <a:r>
              <a:rPr lang="en-US" altLang="zh-CN" i="1">
                <a:latin typeface="Times New Roman" panose="02020603050405020304" pitchFamily="18" charset="0"/>
                <a:ea typeface="宋体" panose="02010600030101010101" pitchFamily="2" charset="-122"/>
              </a:rPr>
              <a:t>rpm</a:t>
            </a:r>
            <a:endParaRPr lang="en-US" altLang="zh-CN" i="1">
              <a:latin typeface="Times New Roman" panose="02020603050405020304" pitchFamily="18" charset="0"/>
              <a:ea typeface="宋体" panose="02010600030101010101" pitchFamily="2" charset="-122"/>
            </a:endParaRPr>
          </a:p>
        </p:txBody>
      </p:sp>
      <p:sp>
        <p:nvSpPr>
          <p:cNvPr id="76802" name="矩形 98340"/>
          <p:cNvSpPr/>
          <p:nvPr/>
        </p:nvSpPr>
        <p:spPr>
          <a:xfrm>
            <a:off x="0" y="17097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6803" name="矩形 98385"/>
          <p:cNvSpPr/>
          <p:nvPr/>
        </p:nvSpPr>
        <p:spPr>
          <a:xfrm>
            <a:off x="0" y="268287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pSp>
        <p:nvGrpSpPr>
          <p:cNvPr id="76804" name="组合 98387"/>
          <p:cNvGrpSpPr/>
          <p:nvPr/>
        </p:nvGrpSpPr>
        <p:grpSpPr>
          <a:xfrm>
            <a:off x="827088" y="4149725"/>
            <a:ext cx="3313112" cy="2232025"/>
            <a:chOff x="4677" y="5964"/>
            <a:chExt cx="3600" cy="2028"/>
          </a:xfrm>
        </p:grpSpPr>
        <p:sp>
          <p:nvSpPr>
            <p:cNvPr id="76805" name="文本框 98388"/>
            <p:cNvSpPr txBox="1"/>
            <p:nvPr/>
          </p:nvSpPr>
          <p:spPr>
            <a:xfrm>
              <a:off x="4857" y="7680"/>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L</a:t>
              </a:r>
              <a:r>
                <a:rPr lang="en-US" altLang="zh-CN" sz="1800" baseline="30000">
                  <a:latin typeface="Times New Roman" panose="02020603050405020304" pitchFamily="18" charset="0"/>
                  <a:ea typeface="宋体" panose="02010600030101010101" pitchFamily="2" charset="-122"/>
                </a:rPr>
                <a:t>’</a:t>
              </a:r>
              <a:endParaRPr lang="en-US" altLang="zh-CN" sz="1800">
                <a:latin typeface="Times New Roman" panose="02020603050405020304" pitchFamily="18" charset="0"/>
                <a:ea typeface="宋体" panose="02010600030101010101" pitchFamily="2" charset="-122"/>
              </a:endParaRPr>
            </a:p>
          </p:txBody>
        </p:sp>
        <p:sp>
          <p:nvSpPr>
            <p:cNvPr id="76806" name="文本框 98389"/>
            <p:cNvSpPr txBox="1"/>
            <p:nvPr/>
          </p:nvSpPr>
          <p:spPr>
            <a:xfrm>
              <a:off x="5757" y="7680"/>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0</a:t>
              </a:r>
              <a:endParaRPr lang="en-US" altLang="zh-CN" sz="1800">
                <a:latin typeface="Times New Roman" panose="02020603050405020304" pitchFamily="18" charset="0"/>
                <a:ea typeface="宋体" panose="02010600030101010101" pitchFamily="2" charset="-122"/>
              </a:endParaRPr>
            </a:p>
          </p:txBody>
        </p:sp>
        <p:sp>
          <p:nvSpPr>
            <p:cNvPr id="76807" name="文本框 98390"/>
            <p:cNvSpPr txBox="1"/>
            <p:nvPr/>
          </p:nvSpPr>
          <p:spPr>
            <a:xfrm>
              <a:off x="5037" y="6387"/>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B</a:t>
              </a:r>
              <a:endParaRPr lang="en-US" altLang="zh-CN" sz="1800">
                <a:latin typeface="Times New Roman" panose="02020603050405020304" pitchFamily="18" charset="0"/>
                <a:ea typeface="宋体" panose="02010600030101010101" pitchFamily="2" charset="-122"/>
              </a:endParaRPr>
            </a:p>
          </p:txBody>
        </p:sp>
        <p:sp>
          <p:nvSpPr>
            <p:cNvPr id="76808" name="文本框 98391"/>
            <p:cNvSpPr txBox="1"/>
            <p:nvPr/>
          </p:nvSpPr>
          <p:spPr>
            <a:xfrm>
              <a:off x="7017" y="6588"/>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A</a:t>
              </a:r>
              <a:endParaRPr lang="en-US" altLang="zh-CN" sz="1800">
                <a:latin typeface="Times New Roman" panose="02020603050405020304" pitchFamily="18" charset="0"/>
                <a:ea typeface="宋体" panose="02010600030101010101" pitchFamily="2" charset="-122"/>
              </a:endParaRPr>
            </a:p>
          </p:txBody>
        </p:sp>
        <p:sp>
          <p:nvSpPr>
            <p:cNvPr id="76809" name="文本框 98392"/>
            <p:cNvSpPr txBox="1"/>
            <p:nvPr/>
          </p:nvSpPr>
          <p:spPr>
            <a:xfrm>
              <a:off x="7017" y="7680"/>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LN</a:t>
              </a:r>
              <a:endParaRPr lang="en-US" altLang="zh-CN" sz="1800">
                <a:latin typeface="Times New Roman" panose="02020603050405020304" pitchFamily="18" charset="0"/>
                <a:ea typeface="宋体" panose="02010600030101010101" pitchFamily="2" charset="-122"/>
              </a:endParaRPr>
            </a:p>
          </p:txBody>
        </p:sp>
        <p:sp>
          <p:nvSpPr>
            <p:cNvPr id="76810" name="文本框 98393"/>
            <p:cNvSpPr txBox="1"/>
            <p:nvPr/>
          </p:nvSpPr>
          <p:spPr>
            <a:xfrm>
              <a:off x="7737" y="7680"/>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em</a:t>
              </a:r>
              <a:endParaRPr lang="en-US" altLang="zh-CN" sz="1800">
                <a:latin typeface="Times New Roman" panose="02020603050405020304" pitchFamily="18" charset="0"/>
                <a:ea typeface="宋体" panose="02010600030101010101" pitchFamily="2" charset="-122"/>
              </a:endParaRPr>
            </a:p>
          </p:txBody>
        </p:sp>
        <p:sp>
          <p:nvSpPr>
            <p:cNvPr id="76811" name="文本框 98394"/>
            <p:cNvSpPr txBox="1"/>
            <p:nvPr/>
          </p:nvSpPr>
          <p:spPr>
            <a:xfrm>
              <a:off x="6117" y="5964"/>
              <a:ext cx="360" cy="309"/>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p:txBody>
        </p:sp>
        <p:sp>
          <p:nvSpPr>
            <p:cNvPr id="76812" name="直接连接符 98395"/>
            <p:cNvSpPr/>
            <p:nvPr/>
          </p:nvSpPr>
          <p:spPr>
            <a:xfrm>
              <a:off x="4677" y="7992"/>
              <a:ext cx="3240" cy="0"/>
            </a:xfrm>
            <a:prstGeom prst="line">
              <a:avLst/>
            </a:prstGeom>
            <a:ln w="9525" cap="flat" cmpd="sng">
              <a:solidFill>
                <a:srgbClr val="000000"/>
              </a:solidFill>
              <a:prstDash val="solid"/>
              <a:round/>
              <a:headEnd type="none" w="med" len="med"/>
              <a:tailEnd type="triangle" w="med" len="med"/>
            </a:ln>
          </p:spPr>
        </p:sp>
        <p:sp>
          <p:nvSpPr>
            <p:cNvPr id="76813" name="直接连接符 98396"/>
            <p:cNvSpPr/>
            <p:nvPr/>
          </p:nvSpPr>
          <p:spPr>
            <a:xfrm flipV="1">
              <a:off x="5937" y="6120"/>
              <a:ext cx="0" cy="1872"/>
            </a:xfrm>
            <a:prstGeom prst="line">
              <a:avLst/>
            </a:prstGeom>
            <a:ln w="9525" cap="flat" cmpd="sng">
              <a:solidFill>
                <a:srgbClr val="000000"/>
              </a:solidFill>
              <a:prstDash val="solid"/>
              <a:round/>
              <a:headEnd type="none" w="med" len="med"/>
              <a:tailEnd type="triangle" w="med" len="med"/>
            </a:ln>
          </p:spPr>
        </p:sp>
        <p:sp>
          <p:nvSpPr>
            <p:cNvPr id="76814" name="直接连接符 98397"/>
            <p:cNvSpPr/>
            <p:nvPr/>
          </p:nvSpPr>
          <p:spPr>
            <a:xfrm>
              <a:off x="4857" y="6588"/>
              <a:ext cx="2700" cy="468"/>
            </a:xfrm>
            <a:prstGeom prst="line">
              <a:avLst/>
            </a:prstGeom>
            <a:ln w="9525" cap="flat" cmpd="sng">
              <a:solidFill>
                <a:srgbClr val="000000"/>
              </a:solidFill>
              <a:prstDash val="solid"/>
              <a:round/>
              <a:headEnd type="none" w="med" len="med"/>
              <a:tailEnd type="none" w="med" len="med"/>
            </a:ln>
          </p:spPr>
        </p:sp>
        <p:sp>
          <p:nvSpPr>
            <p:cNvPr id="76815" name="直接连接符 98398"/>
            <p:cNvSpPr/>
            <p:nvPr/>
          </p:nvSpPr>
          <p:spPr>
            <a:xfrm>
              <a:off x="7017" y="6432"/>
              <a:ext cx="0" cy="1560"/>
            </a:xfrm>
            <a:prstGeom prst="line">
              <a:avLst/>
            </a:prstGeom>
            <a:ln w="9525" cap="flat" cmpd="sng">
              <a:solidFill>
                <a:srgbClr val="000000"/>
              </a:solidFill>
              <a:prstDash val="solid"/>
              <a:round/>
              <a:headEnd type="none" w="med" len="med"/>
              <a:tailEnd type="none" w="med" len="med"/>
            </a:ln>
          </p:spPr>
        </p:sp>
        <p:sp>
          <p:nvSpPr>
            <p:cNvPr id="76816" name="直接连接符 98399"/>
            <p:cNvSpPr/>
            <p:nvPr/>
          </p:nvSpPr>
          <p:spPr>
            <a:xfrm flipH="1">
              <a:off x="5217" y="6648"/>
              <a:ext cx="720" cy="0"/>
            </a:xfrm>
            <a:prstGeom prst="line">
              <a:avLst/>
            </a:prstGeom>
            <a:ln w="12700" cap="rnd" cmpd="sng">
              <a:solidFill>
                <a:srgbClr val="993300"/>
              </a:solidFill>
              <a:prstDash val="sysDot"/>
              <a:round/>
              <a:headEnd type="none" w="med" len="med"/>
              <a:tailEnd type="none" w="med" len="med"/>
            </a:ln>
          </p:spPr>
        </p:sp>
        <p:sp>
          <p:nvSpPr>
            <p:cNvPr id="76817" name="直接连接符 98400"/>
            <p:cNvSpPr/>
            <p:nvPr/>
          </p:nvSpPr>
          <p:spPr>
            <a:xfrm>
              <a:off x="5937" y="6996"/>
              <a:ext cx="1080" cy="0"/>
            </a:xfrm>
            <a:prstGeom prst="line">
              <a:avLst/>
            </a:prstGeom>
            <a:ln w="12700" cap="rnd" cmpd="sng">
              <a:solidFill>
                <a:srgbClr val="993300"/>
              </a:solidFill>
              <a:prstDash val="sysDot"/>
              <a:round/>
              <a:headEnd type="none" w="med" len="med"/>
              <a:tailEnd type="none" w="med" len="med"/>
            </a:ln>
          </p:spPr>
        </p:sp>
        <p:sp>
          <p:nvSpPr>
            <p:cNvPr id="76818" name="直接连接符 98401"/>
            <p:cNvSpPr/>
            <p:nvPr/>
          </p:nvSpPr>
          <p:spPr>
            <a:xfrm>
              <a:off x="5217" y="6432"/>
              <a:ext cx="0" cy="1560"/>
            </a:xfrm>
            <a:prstGeom prst="line">
              <a:avLst/>
            </a:prstGeom>
            <a:ln w="9525" cap="flat" cmpd="sng">
              <a:solidFill>
                <a:srgbClr val="000000"/>
              </a:solidFill>
              <a:prstDash val="solid"/>
              <a:round/>
              <a:headEnd type="none" w="med" len="med"/>
              <a:tailEnd type="none" w="med" len="med"/>
            </a:ln>
          </p:spPr>
        </p:sp>
      </p:grpSp>
      <p:sp>
        <p:nvSpPr>
          <p:cNvPr id="76819" name="矩形 98402"/>
          <p:cNvSpPr/>
          <p:nvPr/>
        </p:nvSpPr>
        <p:spPr>
          <a:xfrm>
            <a:off x="395288" y="222250"/>
            <a:ext cx="8353425" cy="1552575"/>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提升机构传动效率在提升时</a:t>
            </a:r>
            <a:r>
              <a:rPr lang="en-US" altLang="zh-CN" dirty="0">
                <a:latin typeface="Times New Roman" panose="02020603050405020304" pitchFamily="18" charset="0"/>
                <a:ea typeface="宋体" panose="02010600030101010101" pitchFamily="2" charset="-122"/>
              </a:rPr>
              <a:t>0.87</a:t>
            </a:r>
            <a:r>
              <a:rPr lang="zh-CN" altLang="en-US" dirty="0">
                <a:latin typeface="Times New Roman" panose="02020603050405020304" pitchFamily="18" charset="0"/>
                <a:ea typeface="宋体" panose="02010600030101010101" pitchFamily="2" charset="-122"/>
              </a:rPr>
              <a:t>，若改变电源相序，下放重物的稳定速度？</a:t>
            </a:r>
            <a:endParaRPr lang="zh-CN" altLang="en-US"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传动效率为</a:t>
            </a:r>
            <a:r>
              <a:rPr lang="en-US" altLang="zh-CN" dirty="0">
                <a:latin typeface="Times New Roman" panose="02020603050405020304" pitchFamily="18" charset="0"/>
                <a:ea typeface="宋体" panose="02010600030101010101" pitchFamily="2" charset="-122"/>
              </a:rPr>
              <a:t>0.87</a:t>
            </a:r>
            <a:r>
              <a:rPr lang="zh-CN" altLang="en-US" dirty="0">
                <a:latin typeface="Times New Roman" panose="02020603050405020304" pitchFamily="18" charset="0"/>
                <a:ea typeface="宋体" panose="02010600030101010101" pitchFamily="2" charset="-122"/>
              </a:rPr>
              <a:t>，提升负载为</a:t>
            </a:r>
            <a:r>
              <a:rPr lang="en-US" altLang="zh-CN">
                <a:latin typeface="Times New Roman" panose="02020603050405020304" pitchFamily="18" charset="0"/>
                <a:ea typeface="宋体" panose="02010600030101010101" pitchFamily="2" charset="-122"/>
              </a:rPr>
              <a:t>530</a:t>
            </a:r>
            <a:r>
              <a:rPr lang="en-US" altLang="zh-CN" i="1">
                <a:latin typeface="Times New Roman" panose="02020603050405020304" pitchFamily="18" charset="0"/>
                <a:ea typeface="宋体" panose="02010600030101010101" pitchFamily="2" charset="-122"/>
              </a:rPr>
              <a:t>Nm</a:t>
            </a:r>
            <a:r>
              <a:rPr lang="zh-CN" altLang="en-US" dirty="0">
                <a:latin typeface="Times New Roman" panose="02020603050405020304" pitchFamily="18" charset="0"/>
                <a:ea typeface="宋体" panose="02010600030101010101" pitchFamily="2" charset="-122"/>
              </a:rPr>
              <a:t>时，其中重力作用产生的力矩为：</a:t>
            </a:r>
            <a:r>
              <a:rPr lang="en-US" altLang="zh-CN" i="1">
                <a:latin typeface="Times New Roman" panose="02020603050405020304" pitchFamily="18" charset="0"/>
                <a:ea typeface="宋体" panose="02010600030101010101" pitchFamily="2" charset="-122"/>
              </a:rPr>
              <a:t>T</a:t>
            </a:r>
            <a:r>
              <a:rPr lang="en-US" altLang="zh-CN" i="1" baseline="-25000">
                <a:latin typeface="Times New Roman" panose="02020603050405020304" pitchFamily="18" charset="0"/>
                <a:ea typeface="宋体" panose="02010600030101010101" pitchFamily="2" charset="-122"/>
              </a:rPr>
              <a:t>G</a:t>
            </a:r>
            <a:r>
              <a:rPr lang="en-US" altLang="zh-CN" i="1">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=530×0.87=461</a:t>
            </a:r>
            <a:r>
              <a:rPr lang="en-US" altLang="zh-CN" i="1">
                <a:latin typeface="Times New Roman" panose="02020603050405020304" pitchFamily="18" charset="0"/>
                <a:ea typeface="宋体" panose="02010600030101010101" pitchFamily="2" charset="-122"/>
              </a:rPr>
              <a:t>Nm</a:t>
            </a:r>
            <a:endParaRPr lang="en-US" altLang="zh-CN" i="1">
              <a:latin typeface="Times New Roman" panose="02020603050405020304" pitchFamily="18" charset="0"/>
              <a:ea typeface="宋体" panose="02010600030101010101" pitchFamily="2" charset="-122"/>
            </a:endParaRPr>
          </a:p>
        </p:txBody>
      </p:sp>
      <p:grpSp>
        <p:nvGrpSpPr>
          <p:cNvPr id="76820" name="组合 98420"/>
          <p:cNvGrpSpPr/>
          <p:nvPr/>
        </p:nvGrpSpPr>
        <p:grpSpPr>
          <a:xfrm>
            <a:off x="5073650" y="3852863"/>
            <a:ext cx="3962400" cy="2994025"/>
            <a:chOff x="3196" y="2427"/>
            <a:chExt cx="2496" cy="1886"/>
          </a:xfrm>
        </p:grpSpPr>
        <p:sp>
          <p:nvSpPr>
            <p:cNvPr id="76821" name="直接连接符 98411"/>
            <p:cNvSpPr/>
            <p:nvPr/>
          </p:nvSpPr>
          <p:spPr>
            <a:xfrm>
              <a:off x="5420" y="3929"/>
              <a:ext cx="0" cy="384"/>
            </a:xfrm>
            <a:prstGeom prst="line">
              <a:avLst/>
            </a:prstGeom>
            <a:ln w="38100" cap="flat" cmpd="sng">
              <a:solidFill>
                <a:srgbClr val="FF0000"/>
              </a:solidFill>
              <a:prstDash val="solid"/>
              <a:round/>
              <a:headEnd type="none" w="med" len="med"/>
              <a:tailEnd type="triangle" w="med" len="med"/>
            </a:ln>
          </p:spPr>
        </p:sp>
        <p:grpSp>
          <p:nvGrpSpPr>
            <p:cNvPr id="76822" name="组合 98419"/>
            <p:cNvGrpSpPr/>
            <p:nvPr/>
          </p:nvGrpSpPr>
          <p:grpSpPr>
            <a:xfrm>
              <a:off x="3196" y="2427"/>
              <a:ext cx="2496" cy="1774"/>
              <a:chOff x="3152" y="2323"/>
              <a:chExt cx="2496" cy="1774"/>
            </a:xfrm>
          </p:grpSpPr>
          <p:sp>
            <p:nvSpPr>
              <p:cNvPr id="76823" name="直接连接符 98404"/>
              <p:cNvSpPr/>
              <p:nvPr/>
            </p:nvSpPr>
            <p:spPr>
              <a:xfrm>
                <a:off x="5360" y="3089"/>
                <a:ext cx="0" cy="768"/>
              </a:xfrm>
              <a:prstGeom prst="line">
                <a:avLst/>
              </a:prstGeom>
              <a:ln w="38100" cap="flat" cmpd="sng">
                <a:solidFill>
                  <a:schemeClr val="tx1"/>
                </a:solidFill>
                <a:prstDash val="solid"/>
                <a:round/>
                <a:headEnd type="none" w="med" len="med"/>
                <a:tailEnd type="none" w="med" len="med"/>
              </a:ln>
            </p:spPr>
          </p:sp>
          <p:sp>
            <p:nvSpPr>
              <p:cNvPr id="76824" name="椭圆 98405"/>
              <p:cNvSpPr/>
              <p:nvPr/>
            </p:nvSpPr>
            <p:spPr>
              <a:xfrm>
                <a:off x="3440" y="2369"/>
                <a:ext cx="576" cy="576"/>
              </a:xfrm>
              <a:prstGeom prst="ellipse">
                <a:avLst/>
              </a:prstGeom>
              <a:solidFill>
                <a:schemeClr val="accent1"/>
              </a:solidFill>
              <a:ln w="2857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6825" name="椭圆 98406"/>
              <p:cNvSpPr/>
              <p:nvPr/>
            </p:nvSpPr>
            <p:spPr>
              <a:xfrm>
                <a:off x="4784" y="2849"/>
                <a:ext cx="576" cy="576"/>
              </a:xfrm>
              <a:prstGeom prst="ellipse">
                <a:avLst/>
              </a:prstGeom>
              <a:solidFill>
                <a:schemeClr val="accent1"/>
              </a:solidFill>
              <a:ln w="2857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6826" name="直接连接符 98407"/>
              <p:cNvSpPr/>
              <p:nvPr/>
            </p:nvSpPr>
            <p:spPr>
              <a:xfrm>
                <a:off x="3728" y="2657"/>
                <a:ext cx="1056" cy="384"/>
              </a:xfrm>
              <a:prstGeom prst="line">
                <a:avLst/>
              </a:prstGeom>
              <a:ln w="38100" cap="flat" cmpd="sng">
                <a:solidFill>
                  <a:schemeClr val="tx1"/>
                </a:solidFill>
                <a:prstDash val="solid"/>
                <a:round/>
                <a:headEnd type="none" w="med" len="med"/>
                <a:tailEnd type="none" w="med" len="med"/>
              </a:ln>
            </p:spPr>
          </p:sp>
          <p:sp>
            <p:nvSpPr>
              <p:cNvPr id="76827" name="直接连接符 98408"/>
              <p:cNvSpPr/>
              <p:nvPr/>
            </p:nvSpPr>
            <p:spPr>
              <a:xfrm>
                <a:off x="5072" y="3137"/>
                <a:ext cx="576" cy="240"/>
              </a:xfrm>
              <a:prstGeom prst="line">
                <a:avLst/>
              </a:prstGeom>
              <a:ln w="38100" cap="flat" cmpd="sng">
                <a:solidFill>
                  <a:schemeClr val="tx1"/>
                </a:solidFill>
                <a:prstDash val="solid"/>
                <a:round/>
                <a:headEnd type="none" w="med" len="med"/>
                <a:tailEnd type="none" w="med" len="med"/>
              </a:ln>
            </p:spPr>
          </p:sp>
          <p:sp>
            <p:nvSpPr>
              <p:cNvPr id="76828" name="矩形 98409"/>
              <p:cNvSpPr/>
              <p:nvPr/>
            </p:nvSpPr>
            <p:spPr>
              <a:xfrm rot="1258618">
                <a:off x="4304" y="2657"/>
                <a:ext cx="192" cy="480"/>
              </a:xfrm>
              <a:prstGeom prst="rect">
                <a:avLst/>
              </a:prstGeom>
              <a:solidFill>
                <a:schemeClr val="accent1"/>
              </a:solidFill>
              <a:ln w="28575" cap="flat" cmpd="sng">
                <a:solidFill>
                  <a:schemeClr val="tx1"/>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6829" name="直接连接符 98410"/>
              <p:cNvSpPr/>
              <p:nvPr/>
            </p:nvSpPr>
            <p:spPr>
              <a:xfrm flipH="1">
                <a:off x="4304" y="2657"/>
                <a:ext cx="192" cy="480"/>
              </a:xfrm>
              <a:prstGeom prst="line">
                <a:avLst/>
              </a:prstGeom>
              <a:ln w="28575" cap="flat" cmpd="sng">
                <a:solidFill>
                  <a:schemeClr val="tx1"/>
                </a:solidFill>
                <a:prstDash val="solid"/>
                <a:round/>
                <a:headEnd type="none" w="med" len="med"/>
                <a:tailEnd type="none" w="med" len="med"/>
              </a:ln>
            </p:spPr>
          </p:sp>
          <p:sp>
            <p:nvSpPr>
              <p:cNvPr id="76830" name="文本框 98412"/>
              <p:cNvSpPr txBox="1"/>
              <p:nvPr/>
            </p:nvSpPr>
            <p:spPr>
              <a:xfrm>
                <a:off x="4928" y="3713"/>
                <a:ext cx="432" cy="365"/>
              </a:xfrm>
              <a:prstGeom prst="rect">
                <a:avLst/>
              </a:prstGeom>
              <a:noFill/>
              <a:ln w="9525">
                <a:noFill/>
              </a:ln>
            </p:spPr>
            <p:txBody>
              <a:bodyPr anchor="t" anchorCtr="0">
                <a:spAutoFit/>
              </a:bodyPr>
              <a:p>
                <a:pPr>
                  <a:spcBef>
                    <a:spcPct val="50000"/>
                  </a:spcBef>
                </a:pPr>
                <a:r>
                  <a:rPr lang="en-US" altLang="zh-CN" sz="3200" b="0">
                    <a:latin typeface="Times New Roman" panose="02020603050405020304" pitchFamily="18" charset="0"/>
                    <a:ea typeface="宋体" panose="02010600030101010101" pitchFamily="2" charset="-122"/>
                  </a:rPr>
                  <a:t>T</a:t>
                </a:r>
                <a:r>
                  <a:rPr lang="en-US" altLang="zh-CN" sz="3200" b="0" baseline="-25000">
                    <a:latin typeface="Times New Roman" panose="02020603050405020304" pitchFamily="18" charset="0"/>
                    <a:ea typeface="宋体" panose="02010600030101010101" pitchFamily="2" charset="-122"/>
                  </a:rPr>
                  <a:t>G</a:t>
                </a:r>
                <a:endParaRPr lang="en-US" altLang="zh-CN" sz="3200" b="0">
                  <a:latin typeface="Times New Roman" panose="02020603050405020304" pitchFamily="18" charset="0"/>
                  <a:ea typeface="宋体" panose="02010600030101010101" pitchFamily="2" charset="-122"/>
                </a:endParaRPr>
              </a:p>
            </p:txBody>
          </p:sp>
          <p:sp>
            <p:nvSpPr>
              <p:cNvPr id="76831" name="文本框 98413"/>
              <p:cNvSpPr txBox="1"/>
              <p:nvPr/>
            </p:nvSpPr>
            <p:spPr>
              <a:xfrm>
                <a:off x="4112" y="3089"/>
                <a:ext cx="432" cy="365"/>
              </a:xfrm>
              <a:prstGeom prst="rect">
                <a:avLst/>
              </a:prstGeom>
              <a:noFill/>
              <a:ln w="9525">
                <a:noFill/>
              </a:ln>
            </p:spPr>
            <p:txBody>
              <a:bodyPr anchor="t" anchorCtr="0">
                <a:spAutoFit/>
              </a:bodyPr>
              <a:p>
                <a:pPr>
                  <a:spcBef>
                    <a:spcPct val="50000"/>
                  </a:spcBef>
                </a:pPr>
                <a:r>
                  <a:rPr lang="en-US" altLang="zh-CN" sz="3200" b="0">
                    <a:latin typeface="Times New Roman" panose="02020603050405020304" pitchFamily="18" charset="0"/>
                    <a:ea typeface="宋体" panose="02010600030101010101" pitchFamily="2" charset="-122"/>
                    <a:sym typeface="Symbol" panose="05050102010706020507" pitchFamily="18" charset="2"/>
                  </a:rPr>
                  <a:t></a:t>
                </a:r>
                <a:r>
                  <a:rPr lang="en-US" altLang="zh-CN" sz="3200" b="0">
                    <a:latin typeface="Times New Roman" panose="02020603050405020304" pitchFamily="18" charset="0"/>
                    <a:ea typeface="宋体" panose="02010600030101010101" pitchFamily="2" charset="-122"/>
                  </a:rPr>
                  <a:t>T</a:t>
                </a:r>
                <a:endParaRPr lang="en-US" altLang="zh-CN" sz="3200" b="0">
                  <a:latin typeface="Times New Roman" panose="02020603050405020304" pitchFamily="18" charset="0"/>
                  <a:ea typeface="宋体" panose="02010600030101010101" pitchFamily="2" charset="-122"/>
                </a:endParaRPr>
              </a:p>
            </p:txBody>
          </p:sp>
          <p:sp>
            <p:nvSpPr>
              <p:cNvPr id="76832" name="任意多边形 98414"/>
              <p:cNvSpPr/>
              <p:nvPr/>
            </p:nvSpPr>
            <p:spPr>
              <a:xfrm>
                <a:off x="3335" y="2323"/>
                <a:ext cx="386" cy="384"/>
              </a:xfrm>
              <a:custGeom>
                <a:avLst/>
                <a:gdLst/>
                <a:ahLst/>
                <a:cxnLst>
                  <a:cxn ang="180">
                    <a:pos x="0" y="19974"/>
                  </a:cxn>
                  <a:cxn ang="270">
                    <a:pos x="19963" y="0"/>
                  </a:cxn>
                  <a:cxn ang="0">
                    <a:pos x="21543" y="21542"/>
                  </a:cxn>
                </a:cxnLst>
                <a:pathLst>
                  <a:path w="21543" h="21542" fill="none">
                    <a:moveTo>
                      <a:pt x="0" y="19974"/>
                    </a:moveTo>
                    <a:cubicBezTo>
                      <a:pt x="768" y="9295"/>
                      <a:pt x="9291" y="771"/>
                      <a:pt x="19956" y="-1"/>
                    </a:cubicBezTo>
                  </a:path>
                  <a:path w="21543" h="21542" stroke="0">
                    <a:moveTo>
                      <a:pt x="0" y="19974"/>
                    </a:moveTo>
                    <a:cubicBezTo>
                      <a:pt x="768" y="9295"/>
                      <a:pt x="9291" y="771"/>
                      <a:pt x="19956" y="-1"/>
                    </a:cubicBezTo>
                    <a:lnTo>
                      <a:pt x="21543" y="21542"/>
                    </a:lnTo>
                    <a:close/>
                  </a:path>
                </a:pathLst>
              </a:custGeom>
              <a:noFill/>
              <a:ln w="38100" cap="flat" cmpd="sng">
                <a:solidFill>
                  <a:schemeClr val="tx1"/>
                </a:solidFill>
                <a:prstDash val="solid"/>
                <a:round/>
                <a:headEnd type="triangle" w="med" len="med"/>
                <a:tailEnd type="none" w="med" len="med"/>
              </a:ln>
            </p:spPr>
            <p:txBody>
              <a:bodyPr/>
              <a:p>
                <a:endParaRPr lang="zh-CN" altLang="en-US"/>
              </a:p>
            </p:txBody>
          </p:sp>
          <p:sp>
            <p:nvSpPr>
              <p:cNvPr id="76833" name="文本框 98415"/>
              <p:cNvSpPr txBox="1"/>
              <p:nvPr/>
            </p:nvSpPr>
            <p:spPr>
              <a:xfrm>
                <a:off x="3152" y="2609"/>
                <a:ext cx="480" cy="365"/>
              </a:xfrm>
              <a:prstGeom prst="rect">
                <a:avLst/>
              </a:prstGeom>
              <a:noFill/>
              <a:ln w="9525">
                <a:noFill/>
              </a:ln>
            </p:spPr>
            <p:txBody>
              <a:bodyPr anchor="t" anchorCtr="0">
                <a:spAutoFit/>
              </a:bodyPr>
              <a:p>
                <a:pPr>
                  <a:spcBef>
                    <a:spcPct val="50000"/>
                  </a:spcBef>
                </a:pPr>
                <a:r>
                  <a:rPr lang="en-US" altLang="zh-CN" sz="3200" b="0">
                    <a:latin typeface="Times New Roman" panose="02020603050405020304" pitchFamily="18" charset="0"/>
                    <a:ea typeface="宋体" panose="02010600030101010101" pitchFamily="2" charset="-122"/>
                  </a:rPr>
                  <a:t>T</a:t>
                </a:r>
                <a:r>
                  <a:rPr lang="en-US" altLang="zh-CN" sz="3200" b="0" baseline="-25000">
                    <a:latin typeface="Times New Roman" panose="02020603050405020304" pitchFamily="18" charset="0"/>
                    <a:ea typeface="宋体" panose="02010600030101010101" pitchFamily="2" charset="-122"/>
                  </a:rPr>
                  <a:t>em</a:t>
                </a:r>
                <a:endParaRPr lang="en-US" altLang="zh-CN" sz="3200" b="0">
                  <a:latin typeface="Times New Roman" panose="02020603050405020304" pitchFamily="18" charset="0"/>
                  <a:ea typeface="宋体" panose="02010600030101010101" pitchFamily="2" charset="-122"/>
                </a:endParaRPr>
              </a:p>
            </p:txBody>
          </p:sp>
          <p:sp>
            <p:nvSpPr>
              <p:cNvPr id="76834" name="矩形 98416"/>
              <p:cNvSpPr/>
              <p:nvPr/>
            </p:nvSpPr>
            <p:spPr>
              <a:xfrm>
                <a:off x="5264" y="3761"/>
                <a:ext cx="192" cy="336"/>
              </a:xfrm>
              <a:prstGeom prst="rect">
                <a:avLst/>
              </a:prstGeom>
              <a:solidFill>
                <a:srgbClr val="0000FF"/>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6835" name="任意多边形 98417"/>
              <p:cNvSpPr/>
              <p:nvPr/>
            </p:nvSpPr>
            <p:spPr>
              <a:xfrm>
                <a:off x="3810" y="2351"/>
                <a:ext cx="295" cy="387"/>
              </a:xfrm>
              <a:custGeom>
                <a:avLst/>
                <a:gdLst/>
                <a:ahLst/>
                <a:cxnLst>
                  <a:cxn ang="270">
                    <a:pos x="5484" y="0"/>
                  </a:cxn>
                  <a:cxn ang="90">
                    <a:pos x="20240" y="28435"/>
                  </a:cxn>
                  <a:cxn ang="180">
                    <a:pos x="0" y="20892"/>
                  </a:cxn>
                </a:cxnLst>
                <a:pathLst>
                  <a:path w="21600" h="28435" fill="none">
                    <a:moveTo>
                      <a:pt x="5484" y="0"/>
                    </a:moveTo>
                    <a:cubicBezTo>
                      <a:pt x="14763" y="2428"/>
                      <a:pt x="21600" y="10861"/>
                      <a:pt x="21600" y="20892"/>
                    </a:cubicBezTo>
                    <a:cubicBezTo>
                      <a:pt x="21600" y="23549"/>
                      <a:pt x="21120" y="26093"/>
                      <a:pt x="20245" y="28440"/>
                    </a:cubicBezTo>
                  </a:path>
                  <a:path w="21600" h="28435" stroke="0">
                    <a:moveTo>
                      <a:pt x="5484" y="0"/>
                    </a:moveTo>
                    <a:cubicBezTo>
                      <a:pt x="14763" y="2428"/>
                      <a:pt x="21600" y="10861"/>
                      <a:pt x="21600" y="20892"/>
                    </a:cubicBezTo>
                    <a:cubicBezTo>
                      <a:pt x="21600" y="23549"/>
                      <a:pt x="21120" y="26093"/>
                      <a:pt x="20245" y="28440"/>
                    </a:cubicBezTo>
                    <a:lnTo>
                      <a:pt x="0" y="20892"/>
                    </a:lnTo>
                    <a:close/>
                  </a:path>
                </a:pathLst>
              </a:custGeom>
              <a:noFill/>
              <a:ln w="38100" cap="flat" cmpd="sng">
                <a:solidFill>
                  <a:schemeClr val="tx1"/>
                </a:solidFill>
                <a:prstDash val="solid"/>
                <a:round/>
                <a:headEnd type="none" w="med" len="med"/>
                <a:tailEnd type="triangle" w="med" len="med"/>
              </a:ln>
            </p:spPr>
            <p:txBody>
              <a:bodyPr/>
              <a:p>
                <a:endParaRPr lang="zh-CN" altLang="en-US"/>
              </a:p>
            </p:txBody>
          </p:sp>
          <p:sp>
            <p:nvSpPr>
              <p:cNvPr id="76836" name="文本框 98418"/>
              <p:cNvSpPr txBox="1"/>
              <p:nvPr/>
            </p:nvSpPr>
            <p:spPr>
              <a:xfrm>
                <a:off x="4059" y="2387"/>
                <a:ext cx="480" cy="365"/>
              </a:xfrm>
              <a:prstGeom prst="rect">
                <a:avLst/>
              </a:prstGeom>
              <a:noFill/>
              <a:ln w="9525">
                <a:noFill/>
              </a:ln>
            </p:spPr>
            <p:txBody>
              <a:bodyPr anchor="t" anchorCtr="0">
                <a:spAutoFit/>
              </a:bodyPr>
              <a:p>
                <a:pPr>
                  <a:spcBef>
                    <a:spcPct val="50000"/>
                  </a:spcBef>
                </a:pPr>
                <a:r>
                  <a:rPr lang="en-US" altLang="zh-CN" sz="3200" b="0">
                    <a:latin typeface="Times New Roman" panose="02020603050405020304" pitchFamily="18" charset="0"/>
                    <a:ea typeface="宋体" panose="02010600030101010101" pitchFamily="2" charset="-122"/>
                  </a:rPr>
                  <a:t>T</a:t>
                </a:r>
                <a:r>
                  <a:rPr lang="en-US" altLang="zh-CN" sz="3200" b="0" baseline="-25000">
                    <a:latin typeface="Times New Roman" panose="02020603050405020304" pitchFamily="18" charset="0"/>
                    <a:ea typeface="宋体" panose="02010600030101010101" pitchFamily="2" charset="-122"/>
                  </a:rPr>
                  <a:t>L</a:t>
                </a:r>
                <a:endParaRPr lang="en-US" altLang="zh-CN" sz="3200" b="0">
                  <a:latin typeface="Times New Roman" panose="02020603050405020304" pitchFamily="18" charset="0"/>
                  <a:ea typeface="宋体" panose="02010600030101010101" pitchFamily="2" charset="-122"/>
                </a:endParaRPr>
              </a:p>
            </p:txBody>
          </p:sp>
        </p:gr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7825" name="组合 123907"/>
          <p:cNvGrpSpPr/>
          <p:nvPr/>
        </p:nvGrpSpPr>
        <p:grpSpPr>
          <a:xfrm>
            <a:off x="6084888" y="2349500"/>
            <a:ext cx="2881312" cy="2881313"/>
            <a:chOff x="6657" y="1752"/>
            <a:chExt cx="2520" cy="3276"/>
          </a:xfrm>
        </p:grpSpPr>
        <p:sp>
          <p:nvSpPr>
            <p:cNvPr id="77826" name="文本框 123908"/>
            <p:cNvSpPr txBox="1"/>
            <p:nvPr/>
          </p:nvSpPr>
          <p:spPr>
            <a:xfrm>
              <a:off x="7377" y="2376"/>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B</a:t>
              </a:r>
              <a:endParaRPr lang="en-US" altLang="zh-CN" sz="1800">
                <a:latin typeface="Times New Roman" panose="02020603050405020304" pitchFamily="18" charset="0"/>
                <a:ea typeface="宋体" panose="02010600030101010101" pitchFamily="2" charset="-122"/>
              </a:endParaRPr>
            </a:p>
          </p:txBody>
        </p:sp>
        <p:sp>
          <p:nvSpPr>
            <p:cNvPr id="77827" name="文本框 123909"/>
            <p:cNvSpPr txBox="1"/>
            <p:nvPr/>
          </p:nvSpPr>
          <p:spPr>
            <a:xfrm>
              <a:off x="7197" y="4716"/>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L</a:t>
              </a:r>
              <a:r>
                <a:rPr lang="en-US" altLang="zh-CN" sz="1800" baseline="30000">
                  <a:latin typeface="Times New Roman" panose="02020603050405020304" pitchFamily="18" charset="0"/>
                  <a:ea typeface="宋体" panose="02010600030101010101" pitchFamily="2" charset="-122"/>
                </a:rPr>
                <a:t>’</a:t>
              </a:r>
              <a:endParaRPr lang="en-US" altLang="zh-CN" sz="1800">
                <a:latin typeface="Times New Roman" panose="02020603050405020304" pitchFamily="18" charset="0"/>
                <a:ea typeface="宋体" panose="02010600030101010101" pitchFamily="2" charset="-122"/>
              </a:endParaRPr>
            </a:p>
          </p:txBody>
        </p:sp>
        <p:sp>
          <p:nvSpPr>
            <p:cNvPr id="77828" name="文本框 123910"/>
            <p:cNvSpPr txBox="1"/>
            <p:nvPr/>
          </p:nvSpPr>
          <p:spPr>
            <a:xfrm>
              <a:off x="6657" y="3468"/>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0</a:t>
              </a:r>
              <a:endParaRPr lang="en-US" altLang="zh-CN" sz="1800">
                <a:latin typeface="Times New Roman" panose="02020603050405020304" pitchFamily="18" charset="0"/>
                <a:ea typeface="宋体" panose="02010600030101010101" pitchFamily="2" charset="-122"/>
              </a:endParaRPr>
            </a:p>
          </p:txBody>
        </p:sp>
        <p:sp>
          <p:nvSpPr>
            <p:cNvPr id="77829" name="文本框 123911"/>
            <p:cNvSpPr txBox="1"/>
            <p:nvPr/>
          </p:nvSpPr>
          <p:spPr>
            <a:xfrm>
              <a:off x="7632" y="4248"/>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C</a:t>
              </a:r>
              <a:endParaRPr lang="en-US" altLang="zh-CN" sz="1800">
                <a:latin typeface="Times New Roman" panose="02020603050405020304" pitchFamily="18" charset="0"/>
                <a:ea typeface="宋体" panose="02010600030101010101" pitchFamily="2" charset="-122"/>
              </a:endParaRPr>
            </a:p>
          </p:txBody>
        </p:sp>
        <p:sp>
          <p:nvSpPr>
            <p:cNvPr id="77830" name="文本框 123912"/>
            <p:cNvSpPr txBox="1"/>
            <p:nvPr/>
          </p:nvSpPr>
          <p:spPr>
            <a:xfrm>
              <a:off x="7917" y="2376"/>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A</a:t>
              </a:r>
              <a:endParaRPr lang="en-US" altLang="zh-CN" sz="1800">
                <a:latin typeface="Times New Roman" panose="02020603050405020304" pitchFamily="18" charset="0"/>
                <a:ea typeface="宋体" panose="02010600030101010101" pitchFamily="2" charset="-122"/>
              </a:endParaRPr>
            </a:p>
          </p:txBody>
        </p:sp>
        <p:sp>
          <p:nvSpPr>
            <p:cNvPr id="77831" name="文本框 123913"/>
            <p:cNvSpPr txBox="1"/>
            <p:nvPr/>
          </p:nvSpPr>
          <p:spPr>
            <a:xfrm>
              <a:off x="7917" y="3468"/>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N</a:t>
              </a:r>
              <a:endParaRPr lang="en-US" altLang="zh-CN" sz="1800">
                <a:latin typeface="Times New Roman" panose="02020603050405020304" pitchFamily="18" charset="0"/>
                <a:ea typeface="宋体" panose="02010600030101010101" pitchFamily="2" charset="-122"/>
              </a:endParaRPr>
            </a:p>
          </p:txBody>
        </p:sp>
        <p:sp>
          <p:nvSpPr>
            <p:cNvPr id="77832" name="文本框 123914"/>
            <p:cNvSpPr txBox="1"/>
            <p:nvPr/>
          </p:nvSpPr>
          <p:spPr>
            <a:xfrm>
              <a:off x="8637" y="3468"/>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em</a:t>
              </a:r>
              <a:endParaRPr lang="en-US" altLang="zh-CN" sz="1800">
                <a:latin typeface="Times New Roman" panose="02020603050405020304" pitchFamily="18" charset="0"/>
                <a:ea typeface="宋体" panose="02010600030101010101" pitchFamily="2" charset="-122"/>
              </a:endParaRPr>
            </a:p>
          </p:txBody>
        </p:sp>
        <p:sp>
          <p:nvSpPr>
            <p:cNvPr id="77833" name="文本框 123915"/>
            <p:cNvSpPr txBox="1"/>
            <p:nvPr/>
          </p:nvSpPr>
          <p:spPr>
            <a:xfrm>
              <a:off x="7017" y="1752"/>
              <a:ext cx="360" cy="309"/>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p:txBody>
        </p:sp>
        <p:sp>
          <p:nvSpPr>
            <p:cNvPr id="77834" name="直接连接符 123916"/>
            <p:cNvSpPr/>
            <p:nvPr/>
          </p:nvSpPr>
          <p:spPr>
            <a:xfrm>
              <a:off x="6837" y="3780"/>
              <a:ext cx="1980" cy="0"/>
            </a:xfrm>
            <a:prstGeom prst="line">
              <a:avLst/>
            </a:prstGeom>
            <a:ln w="9525" cap="flat" cmpd="sng">
              <a:solidFill>
                <a:srgbClr val="000000"/>
              </a:solidFill>
              <a:prstDash val="solid"/>
              <a:round/>
              <a:headEnd type="none" w="med" len="med"/>
              <a:tailEnd type="triangle" w="med" len="med"/>
            </a:ln>
          </p:spPr>
        </p:sp>
        <p:sp>
          <p:nvSpPr>
            <p:cNvPr id="77835" name="直接连接符 123917"/>
            <p:cNvSpPr/>
            <p:nvPr/>
          </p:nvSpPr>
          <p:spPr>
            <a:xfrm flipV="1">
              <a:off x="6837" y="1908"/>
              <a:ext cx="0" cy="2964"/>
            </a:xfrm>
            <a:prstGeom prst="line">
              <a:avLst/>
            </a:prstGeom>
            <a:ln w="9525" cap="flat" cmpd="sng">
              <a:solidFill>
                <a:srgbClr val="000000"/>
              </a:solidFill>
              <a:prstDash val="solid"/>
              <a:round/>
              <a:headEnd type="none" w="med" len="med"/>
              <a:tailEnd type="triangle" w="med" len="med"/>
            </a:ln>
          </p:spPr>
        </p:sp>
        <p:sp>
          <p:nvSpPr>
            <p:cNvPr id="77836" name="直接连接符 123918"/>
            <p:cNvSpPr/>
            <p:nvPr/>
          </p:nvSpPr>
          <p:spPr>
            <a:xfrm>
              <a:off x="6837" y="2532"/>
              <a:ext cx="1620" cy="312"/>
            </a:xfrm>
            <a:prstGeom prst="line">
              <a:avLst/>
            </a:prstGeom>
            <a:ln w="9525" cap="flat" cmpd="sng">
              <a:solidFill>
                <a:srgbClr val="000000"/>
              </a:solidFill>
              <a:prstDash val="solid"/>
              <a:round/>
              <a:headEnd type="none" w="med" len="med"/>
              <a:tailEnd type="none" w="med" len="med"/>
            </a:ln>
          </p:spPr>
        </p:sp>
        <p:sp>
          <p:nvSpPr>
            <p:cNvPr id="77837" name="直接连接符 123919"/>
            <p:cNvSpPr/>
            <p:nvPr/>
          </p:nvSpPr>
          <p:spPr>
            <a:xfrm>
              <a:off x="7917" y="2220"/>
              <a:ext cx="0" cy="1560"/>
            </a:xfrm>
            <a:prstGeom prst="line">
              <a:avLst/>
            </a:prstGeom>
            <a:ln w="9525" cap="flat" cmpd="sng">
              <a:solidFill>
                <a:srgbClr val="000000"/>
              </a:solidFill>
              <a:prstDash val="solid"/>
              <a:round/>
              <a:headEnd type="none" w="med" len="med"/>
              <a:tailEnd type="none" w="med" len="med"/>
            </a:ln>
          </p:spPr>
        </p:sp>
        <p:sp>
          <p:nvSpPr>
            <p:cNvPr id="77838" name="直接连接符 123920"/>
            <p:cNvSpPr/>
            <p:nvPr/>
          </p:nvSpPr>
          <p:spPr>
            <a:xfrm flipH="1">
              <a:off x="6837" y="4404"/>
              <a:ext cx="720" cy="0"/>
            </a:xfrm>
            <a:prstGeom prst="line">
              <a:avLst/>
            </a:prstGeom>
            <a:ln w="12700" cap="rnd" cmpd="sng">
              <a:solidFill>
                <a:srgbClr val="993300"/>
              </a:solidFill>
              <a:prstDash val="sysDot"/>
              <a:round/>
              <a:headEnd type="none" w="med" len="med"/>
              <a:tailEnd type="none" w="med" len="med"/>
            </a:ln>
          </p:spPr>
        </p:sp>
        <p:sp>
          <p:nvSpPr>
            <p:cNvPr id="77839" name="直接连接符 123921"/>
            <p:cNvSpPr/>
            <p:nvPr/>
          </p:nvSpPr>
          <p:spPr>
            <a:xfrm>
              <a:off x="7557" y="2220"/>
              <a:ext cx="0" cy="2652"/>
            </a:xfrm>
            <a:prstGeom prst="line">
              <a:avLst/>
            </a:prstGeom>
            <a:ln w="9525" cap="flat" cmpd="sng">
              <a:solidFill>
                <a:srgbClr val="000000"/>
              </a:solidFill>
              <a:prstDash val="solid"/>
              <a:round/>
              <a:headEnd type="none" w="med" len="med"/>
              <a:tailEnd type="none" w="med" len="med"/>
            </a:ln>
          </p:spPr>
        </p:sp>
        <p:sp>
          <p:nvSpPr>
            <p:cNvPr id="77840" name="直接连接符 123922"/>
            <p:cNvSpPr/>
            <p:nvPr/>
          </p:nvSpPr>
          <p:spPr>
            <a:xfrm>
              <a:off x="6837" y="2532"/>
              <a:ext cx="900" cy="2340"/>
            </a:xfrm>
            <a:prstGeom prst="line">
              <a:avLst/>
            </a:prstGeom>
            <a:ln w="9525" cap="flat" cmpd="sng">
              <a:solidFill>
                <a:srgbClr val="000000"/>
              </a:solidFill>
              <a:prstDash val="solid"/>
              <a:round/>
              <a:headEnd type="none" w="med" len="med"/>
              <a:tailEnd type="none" w="med" len="med"/>
            </a:ln>
          </p:spPr>
        </p:sp>
      </p:grpSp>
      <p:graphicFrame>
        <p:nvGraphicFramePr>
          <p:cNvPr id="77841" name="对象 123923"/>
          <p:cNvGraphicFramePr/>
          <p:nvPr/>
        </p:nvGraphicFramePr>
        <p:xfrm>
          <a:off x="539750" y="2997200"/>
          <a:ext cx="4506913" cy="884238"/>
        </p:xfrm>
        <a:graphic>
          <a:graphicData uri="http://schemas.openxmlformats.org/presentationml/2006/ole">
            <mc:AlternateContent xmlns:mc="http://schemas.openxmlformats.org/markup-compatibility/2006">
              <mc:Choice xmlns:v="urn:schemas-microsoft-com:vml" Requires="v">
                <p:oleObj spid="_x0000_s3189" name="" r:id="rId1" imgW="2311400" imgH="457200" progId="Equation.DSMT4">
                  <p:embed/>
                </p:oleObj>
              </mc:Choice>
              <mc:Fallback>
                <p:oleObj name="" r:id="rId1" imgW="2311400" imgH="457200" progId="Equation.DSMT4">
                  <p:embed/>
                  <p:pic>
                    <p:nvPicPr>
                      <p:cNvPr id="0" name="图片 3188"/>
                      <p:cNvPicPr/>
                      <p:nvPr/>
                    </p:nvPicPr>
                    <p:blipFill>
                      <a:blip r:embed="rId2"/>
                      <a:stretch>
                        <a:fillRect/>
                      </a:stretch>
                    </p:blipFill>
                    <p:spPr>
                      <a:xfrm>
                        <a:off x="539750" y="2997200"/>
                        <a:ext cx="4506913" cy="884238"/>
                      </a:xfrm>
                      <a:prstGeom prst="rect">
                        <a:avLst/>
                      </a:prstGeom>
                      <a:noFill/>
                      <a:ln w="38100">
                        <a:noFill/>
                        <a:miter/>
                      </a:ln>
                    </p:spPr>
                  </p:pic>
                </p:oleObj>
              </mc:Fallback>
            </mc:AlternateContent>
          </a:graphicData>
        </a:graphic>
      </p:graphicFrame>
      <p:graphicFrame>
        <p:nvGraphicFramePr>
          <p:cNvPr id="77842" name="对象 123924"/>
          <p:cNvGraphicFramePr/>
          <p:nvPr/>
        </p:nvGraphicFramePr>
        <p:xfrm>
          <a:off x="539750" y="4724400"/>
          <a:ext cx="1814513" cy="930275"/>
        </p:xfrm>
        <a:graphic>
          <a:graphicData uri="http://schemas.openxmlformats.org/presentationml/2006/ole">
            <mc:AlternateContent xmlns:mc="http://schemas.openxmlformats.org/markup-compatibility/2006">
              <mc:Choice xmlns:v="urn:schemas-microsoft-com:vml" Requires="v">
                <p:oleObj spid="_x0000_s3190" name="" r:id="rId3" imgW="850265" imgH="431800" progId="Equation.DSMT4">
                  <p:embed/>
                </p:oleObj>
              </mc:Choice>
              <mc:Fallback>
                <p:oleObj name="" r:id="rId3" imgW="850265" imgH="431800" progId="Equation.DSMT4">
                  <p:embed/>
                  <p:pic>
                    <p:nvPicPr>
                      <p:cNvPr id="0" name="图片 3189"/>
                      <p:cNvPicPr/>
                      <p:nvPr/>
                    </p:nvPicPr>
                    <p:blipFill>
                      <a:blip r:embed="rId4"/>
                      <a:stretch>
                        <a:fillRect/>
                      </a:stretch>
                    </p:blipFill>
                    <p:spPr>
                      <a:xfrm>
                        <a:off x="539750" y="4724400"/>
                        <a:ext cx="1814513" cy="930275"/>
                      </a:xfrm>
                      <a:prstGeom prst="rect">
                        <a:avLst/>
                      </a:prstGeom>
                      <a:noFill/>
                      <a:ln w="38100">
                        <a:noFill/>
                        <a:miter/>
                      </a:ln>
                    </p:spPr>
                  </p:pic>
                </p:oleObj>
              </mc:Fallback>
            </mc:AlternateContent>
          </a:graphicData>
        </a:graphic>
      </p:graphicFrame>
      <p:sp>
        <p:nvSpPr>
          <p:cNvPr id="77843" name="矩形 123925"/>
          <p:cNvSpPr/>
          <p:nvPr/>
        </p:nvSpPr>
        <p:spPr>
          <a:xfrm>
            <a:off x="215900" y="19256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7844" name="矩形 123926"/>
          <p:cNvSpPr/>
          <p:nvPr/>
        </p:nvSpPr>
        <p:spPr>
          <a:xfrm>
            <a:off x="323850" y="1628775"/>
            <a:ext cx="4722813" cy="1296988"/>
          </a:xfrm>
          <a:prstGeom prst="rect">
            <a:avLst/>
          </a:prstGeom>
          <a:noFill/>
          <a:ln w="9525">
            <a:noFill/>
          </a:ln>
        </p:spPr>
        <p:txBody>
          <a:bodyPr wrap="none" anchor="ctr" anchorCtr="0">
            <a:spAutoFit/>
          </a:bodyPr>
          <a:p>
            <a:pPr>
              <a:lnSpc>
                <a:spcPct val="110000"/>
              </a:lnSpc>
            </a:pP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此时工作于图中</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点，负载转矩</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zh-CN" altLang="en-US" dirty="0">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T</a:t>
            </a:r>
            <a:r>
              <a:rPr lang="en-US" altLang="zh-CN" baseline="-30000">
                <a:latin typeface="Times New Roman" panose="02020603050405020304" pitchFamily="18" charset="0"/>
                <a:ea typeface="宋体" panose="02010600030101010101" pitchFamily="2" charset="-122"/>
              </a:rPr>
              <a:t>L</a:t>
            </a:r>
            <a:r>
              <a:rPr lang="en-US" altLang="zh-CN" baseline="3000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=392.2</a:t>
            </a:r>
            <a:r>
              <a:rPr lang="en-US" altLang="zh-CN" i="1">
                <a:latin typeface="Times New Roman" panose="02020603050405020304" pitchFamily="18" charset="0"/>
                <a:ea typeface="宋体" panose="02010600030101010101" pitchFamily="2" charset="-122"/>
              </a:rPr>
              <a:t>Nm</a:t>
            </a:r>
            <a:r>
              <a:rPr lang="zh-CN" altLang="en-US" dirty="0">
                <a:latin typeface="Times New Roman" panose="02020603050405020304" pitchFamily="18" charset="0"/>
                <a:ea typeface="宋体" panose="02010600030101010101" pitchFamily="2" charset="-122"/>
              </a:rPr>
              <a:t>，电动机工作于</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zh-CN" altLang="en-US" dirty="0">
                <a:latin typeface="Times New Roman" panose="02020603050405020304" pitchFamily="18" charset="0"/>
                <a:ea typeface="宋体" panose="02010600030101010101" pitchFamily="2" charset="-122"/>
              </a:rPr>
              <a:t>图中</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点时：</a:t>
            </a:r>
            <a:endParaRPr lang="zh-CN" altLang="en-US" b="0" dirty="0">
              <a:latin typeface="Times New Roman" panose="02020603050405020304" pitchFamily="18" charset="0"/>
              <a:ea typeface="宋体" panose="02010600030101010101" pitchFamily="2" charset="-122"/>
            </a:endParaRPr>
          </a:p>
        </p:txBody>
      </p:sp>
      <p:sp>
        <p:nvSpPr>
          <p:cNvPr id="77845" name="矩形 123927"/>
          <p:cNvSpPr/>
          <p:nvPr/>
        </p:nvSpPr>
        <p:spPr>
          <a:xfrm>
            <a:off x="250825" y="3860800"/>
            <a:ext cx="5832475" cy="895350"/>
          </a:xfrm>
          <a:prstGeom prst="rect">
            <a:avLst/>
          </a:prstGeom>
          <a:noFill/>
          <a:ln w="9525">
            <a:noFill/>
          </a:ln>
        </p:spPr>
        <p:txBody>
          <a:bodyPr anchor="ctr" anchorCtr="0">
            <a:spAutoFit/>
          </a:bodyPr>
          <a:p>
            <a:pPr>
              <a:lnSpc>
                <a:spcPct val="110000"/>
              </a:lnSpc>
            </a:pPr>
            <a:r>
              <a:rPr lang="en-US" altLang="zh-CN" i="1">
                <a:latin typeface="Times New Roman" panose="02020603050405020304" pitchFamily="18" charset="0"/>
                <a:ea typeface="宋体" panose="02010600030101010101" pitchFamily="2" charset="-122"/>
              </a:rPr>
              <a:t>   S</a:t>
            </a:r>
            <a:r>
              <a:rPr lang="en-US" altLang="zh-CN" baseline="-30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=(1000+280)/1000=1.28;</a:t>
            </a:r>
            <a:endParaRPr lang="en-US" altLang="zh-CN">
              <a:latin typeface="Times New Roman" panose="02020603050405020304" pitchFamily="18" charset="0"/>
              <a:ea typeface="宋体" panose="02010600030101010101" pitchFamily="2" charset="-122"/>
            </a:endParaRPr>
          </a:p>
          <a:p>
            <a:pPr eaLnBrk="0" hangingPunct="0">
              <a:lnSpc>
                <a:spcPct val="110000"/>
              </a:lnSpc>
            </a:pPr>
            <a:r>
              <a:rPr lang="zh-CN" altLang="en-US" dirty="0">
                <a:latin typeface="Times New Roman" panose="02020603050405020304" pitchFamily="18" charset="0"/>
                <a:ea typeface="宋体" panose="02010600030101010101" pitchFamily="2" charset="-122"/>
              </a:rPr>
              <a:t>由于</a:t>
            </a:r>
            <a:r>
              <a:rPr lang="en-US" altLang="zh-CN" dirty="0">
                <a:latin typeface="Times New Roman" panose="02020603050405020304" pitchFamily="18" charset="0"/>
                <a:ea typeface="宋体" panose="02010600030101010101" pitchFamily="2" charset="-122"/>
              </a:rPr>
              <a:t>BC</a:t>
            </a:r>
            <a:r>
              <a:rPr lang="zh-CN" altLang="en-US" dirty="0">
                <a:latin typeface="Times New Roman" panose="02020603050405020304" pitchFamily="18" charset="0"/>
                <a:ea typeface="宋体" panose="02010600030101010101" pitchFamily="2" charset="-122"/>
              </a:rPr>
              <a:t>点电机产生相同的电磁转矩，所以</a:t>
            </a:r>
            <a:endParaRPr lang="zh-CN" altLang="en-US" dirty="0">
              <a:latin typeface="Times New Roman" panose="02020603050405020304" pitchFamily="18" charset="0"/>
              <a:ea typeface="宋体" panose="02010600030101010101" pitchFamily="2" charset="-122"/>
            </a:endParaRPr>
          </a:p>
        </p:txBody>
      </p:sp>
      <p:graphicFrame>
        <p:nvGraphicFramePr>
          <p:cNvPr id="77846" name="对象 123928"/>
          <p:cNvGraphicFramePr/>
          <p:nvPr/>
        </p:nvGraphicFramePr>
        <p:xfrm>
          <a:off x="1042988" y="5661025"/>
          <a:ext cx="2352675" cy="823913"/>
        </p:xfrm>
        <a:graphic>
          <a:graphicData uri="http://schemas.openxmlformats.org/presentationml/2006/ole">
            <mc:AlternateContent xmlns:mc="http://schemas.openxmlformats.org/markup-compatibility/2006">
              <mc:Choice xmlns:v="urn:schemas-microsoft-com:vml" Requires="v">
                <p:oleObj spid="_x0000_s3191" name="" r:id="rId5" imgW="1269365" imgH="444500" progId="Equation.DSMT4">
                  <p:embed/>
                </p:oleObj>
              </mc:Choice>
              <mc:Fallback>
                <p:oleObj name="" r:id="rId5" imgW="1269365" imgH="444500" progId="Equation.DSMT4">
                  <p:embed/>
                  <p:pic>
                    <p:nvPicPr>
                      <p:cNvPr id="0" name="图片 3190"/>
                      <p:cNvPicPr/>
                      <p:nvPr/>
                    </p:nvPicPr>
                    <p:blipFill>
                      <a:blip r:embed="rId6"/>
                      <a:stretch>
                        <a:fillRect/>
                      </a:stretch>
                    </p:blipFill>
                    <p:spPr>
                      <a:xfrm>
                        <a:off x="1042988" y="5661025"/>
                        <a:ext cx="2352675" cy="823913"/>
                      </a:xfrm>
                      <a:prstGeom prst="rect">
                        <a:avLst/>
                      </a:prstGeom>
                      <a:noFill/>
                      <a:ln w="38100">
                        <a:noFill/>
                        <a:miter/>
                      </a:ln>
                    </p:spPr>
                  </p:pic>
                </p:oleObj>
              </mc:Fallback>
            </mc:AlternateContent>
          </a:graphicData>
        </a:graphic>
      </p:graphicFrame>
      <p:sp>
        <p:nvSpPr>
          <p:cNvPr id="77847" name="矩形 123929"/>
          <p:cNvSpPr/>
          <p:nvPr/>
        </p:nvSpPr>
        <p:spPr>
          <a:xfrm>
            <a:off x="2700338" y="4941888"/>
            <a:ext cx="2160587"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即</a:t>
            </a:r>
            <a:r>
              <a:rPr lang="en-US" altLang="zh-CN" i="1">
                <a:latin typeface="Times New Roman" panose="02020603050405020304" pitchFamily="18" charset="0"/>
                <a:ea typeface="宋体" panose="02010600030101010101" pitchFamily="2" charset="-122"/>
              </a:rPr>
              <a:t>R</a:t>
            </a:r>
            <a:r>
              <a:rPr lang="en-US" altLang="zh-CN" i="1" baseline="-30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=47.67</a:t>
            </a:r>
            <a:r>
              <a:rPr lang="en-US" altLang="zh-CN" i="1">
                <a:latin typeface="Times New Roman" panose="02020603050405020304" pitchFamily="18" charset="0"/>
                <a:ea typeface="宋体" panose="02010600030101010101" pitchFamily="2" charset="-122"/>
              </a:rPr>
              <a:t>r</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77848" name="矩形 123930"/>
          <p:cNvSpPr/>
          <p:nvPr/>
        </p:nvSpPr>
        <p:spPr>
          <a:xfrm>
            <a:off x="215900" y="289877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7849" name="矩形 123931"/>
          <p:cNvSpPr/>
          <p:nvPr/>
        </p:nvSpPr>
        <p:spPr>
          <a:xfrm>
            <a:off x="3635375" y="5805488"/>
            <a:ext cx="2752725"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所以：</a:t>
            </a:r>
            <a:r>
              <a:rPr lang="en-US" altLang="zh-CN" i="1">
                <a:solidFill>
                  <a:srgbClr val="FF0000"/>
                </a:solidFill>
                <a:latin typeface="Times New Roman" panose="02020603050405020304" pitchFamily="18" charset="0"/>
                <a:ea typeface="宋体" panose="02010600030101010101" pitchFamily="2" charset="-122"/>
              </a:rPr>
              <a:t>R</a:t>
            </a:r>
            <a:r>
              <a:rPr lang="en-US" altLang="zh-CN" i="1" baseline="-30000">
                <a:solidFill>
                  <a:srgbClr val="FF0000"/>
                </a:solidFill>
                <a:latin typeface="Times New Roman" panose="02020603050405020304" pitchFamily="18" charset="0"/>
                <a:ea typeface="宋体" panose="02010600030101010101" pitchFamily="2" charset="-122"/>
              </a:rPr>
              <a:t>C</a:t>
            </a:r>
            <a:r>
              <a:rPr lang="en-US" altLang="zh-CN">
                <a:solidFill>
                  <a:srgbClr val="FF0000"/>
                </a:solidFill>
                <a:latin typeface="Times New Roman" panose="02020603050405020304" pitchFamily="18" charset="0"/>
                <a:ea typeface="宋体" panose="02010600030101010101" pitchFamily="2" charset="-122"/>
              </a:rPr>
              <a:t>=1.24</a:t>
            </a:r>
            <a:r>
              <a:rPr lang="zh-CN" altLang="en-US" dirty="0">
                <a:latin typeface="Times New Roman" panose="02020603050405020304" pitchFamily="18" charset="0"/>
                <a:ea typeface="宋体" panose="02010600030101010101" pitchFamily="2" charset="-122"/>
              </a:rPr>
              <a:t>欧；</a:t>
            </a:r>
            <a:endParaRPr lang="zh-CN" altLang="en-US" dirty="0">
              <a:latin typeface="Times New Roman" panose="02020603050405020304" pitchFamily="18" charset="0"/>
              <a:ea typeface="宋体" panose="02010600030101010101" pitchFamily="2" charset="-122"/>
            </a:endParaRPr>
          </a:p>
        </p:txBody>
      </p:sp>
      <p:sp>
        <p:nvSpPr>
          <p:cNvPr id="77850" name="矩形 123932"/>
          <p:cNvSpPr/>
          <p:nvPr/>
        </p:nvSpPr>
        <p:spPr>
          <a:xfrm>
            <a:off x="179388" y="333375"/>
            <a:ext cx="8642350" cy="1187450"/>
          </a:xfrm>
          <a:prstGeom prst="rect">
            <a:avLst/>
          </a:prstGeom>
          <a:noFill/>
          <a:ln w="9525">
            <a:noFill/>
          </a:ln>
        </p:spPr>
        <p:txBody>
          <a:bodyPr anchor="ctr" anchorCtr="0">
            <a:spAutoFit/>
          </a:bodyPr>
          <a:p>
            <a:pPr defTabSz="914400">
              <a:tabLst>
                <a:tab pos="247650" algn="l"/>
              </a:tabLst>
            </a:pPr>
            <a:r>
              <a:rPr lang="en-US" altLang="zh-CN">
                <a:latin typeface="Times New Roman" panose="02020603050405020304" pitchFamily="18" charset="0"/>
                <a:ea typeface="宋体" panose="02010600030101010101" pitchFamily="2" charset="-122"/>
              </a:rPr>
              <a:t>8-34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=60kW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=960r/min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=195A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λ</a:t>
            </a:r>
            <a:r>
              <a:rPr lang="en-US" altLang="zh-CN" dirty="0">
                <a:latin typeface="Times New Roman" panose="02020603050405020304" pitchFamily="18" charset="0"/>
                <a:ea typeface="宋体" panose="02010600030101010101" pitchFamily="2" charset="-122"/>
              </a:rPr>
              <a:t>=2.5</a:t>
            </a:r>
            <a:r>
              <a:rPr lang="zh-CN" altLang="en-US" dirty="0">
                <a:latin typeface="Times New Roman" panose="02020603050405020304" pitchFamily="18" charset="0"/>
                <a:ea typeface="宋体" panose="02010600030101010101" pitchFamily="2" charset="-122"/>
              </a:rPr>
              <a:t>。拖动位能性恒转矩负载，提升时</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=530N·</a:t>
            </a:r>
            <a:r>
              <a:rPr lang="en-US" altLang="zh-CN"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，求：</a:t>
            </a:r>
            <a:endParaRPr lang="zh-CN" altLang="en-US" dirty="0">
              <a:latin typeface="Times New Roman" panose="02020603050405020304" pitchFamily="18" charset="0"/>
              <a:ea typeface="宋体" panose="02010600030101010101" pitchFamily="2" charset="-122"/>
            </a:endParaRPr>
          </a:p>
          <a:p>
            <a:pPr defTabSz="914400">
              <a:tabLst>
                <a:tab pos="247650" algn="l"/>
              </a:tabLst>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若下放时</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-280</a:t>
            </a:r>
            <a:r>
              <a:rPr lang="en-US" altLang="zh-CN" i="1">
                <a:latin typeface="Times New Roman" panose="02020603050405020304" pitchFamily="18" charset="0"/>
                <a:ea typeface="宋体" panose="02010600030101010101" pitchFamily="2" charset="-122"/>
              </a:rPr>
              <a:t>r/min</a:t>
            </a:r>
            <a:r>
              <a:rPr lang="zh-CN" altLang="en-US" dirty="0">
                <a:latin typeface="Times New Roman" panose="02020603050405020304" pitchFamily="18" charset="0"/>
                <a:ea typeface="宋体" panose="02010600030101010101" pitchFamily="2" charset="-122"/>
              </a:rPr>
              <a:t>，转子回路应串入的电阻？</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矩形 97281"/>
          <p:cNvSpPr/>
          <p:nvPr/>
        </p:nvSpPr>
        <p:spPr>
          <a:xfrm>
            <a:off x="323850" y="1341438"/>
            <a:ext cx="5327650" cy="4838700"/>
          </a:xfrm>
          <a:prstGeom prst="rect">
            <a:avLst/>
          </a:prstGeom>
          <a:noFill/>
          <a:ln w="9525">
            <a:noFill/>
          </a:ln>
        </p:spPr>
        <p:txBody>
          <a:bodyPr anchor="ctr" anchorCtr="0">
            <a:spAutoFit/>
          </a:bodyPr>
          <a:p>
            <a:pPr>
              <a:lnSpc>
                <a:spcPct val="130000"/>
              </a:lnSpc>
            </a:pP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只要电动机产生电磁转矩</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满足：</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i="1" err="1">
                <a:latin typeface="Times New Roman" panose="02020603050405020304" pitchFamily="18" charset="0"/>
                <a:ea typeface="宋体" panose="02010600030101010101" pitchFamily="2" charset="-122"/>
              </a:rPr>
              <a:t>      </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L</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em</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，即在图中</a:t>
            </a:r>
            <a:r>
              <a:rPr lang="en-US" altLang="zh-CN" dirty="0">
                <a:latin typeface="Times New Roman" panose="02020603050405020304" pitchFamily="18" charset="0"/>
                <a:ea typeface="宋体" panose="02010600030101010101" pitchFamily="2" charset="-122"/>
              </a:rPr>
              <a:t>DC</a:t>
            </a:r>
            <a:r>
              <a:rPr lang="zh-CN" altLang="en-US" dirty="0">
                <a:latin typeface="Times New Roman" panose="02020603050405020304" pitchFamily="18" charset="0"/>
                <a:ea typeface="宋体" panose="02010600030101010101" pitchFamily="2" charset="-122"/>
              </a:rPr>
              <a:t>间，电动机会静止不动。其中：</a:t>
            </a:r>
            <a:endParaRPr lang="zh-CN" altLang="en-US" dirty="0">
              <a:latin typeface="Times New Roman" panose="02020603050405020304" pitchFamily="18" charset="0"/>
              <a:ea typeface="宋体" panose="02010600030101010101" pitchFamily="2" charset="-122"/>
            </a:endParaRPr>
          </a:p>
          <a:p>
            <a:pPr>
              <a:lnSpc>
                <a:spcPct val="130000"/>
              </a:lnSpc>
            </a:pP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=0.0355, </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=0.0263, </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D</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利用</a:t>
            </a:r>
            <a:r>
              <a:rPr lang="en-US" altLang="zh-CN" dirty="0">
                <a:latin typeface="Times New Roman" panose="02020603050405020304" pitchFamily="18" charset="0"/>
                <a:ea typeface="宋体" panose="02010600030101010101" pitchFamily="2" charset="-122"/>
              </a:rPr>
              <a:t>BD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AC</a:t>
            </a:r>
            <a:r>
              <a:rPr lang="zh-CN" altLang="en-US" dirty="0">
                <a:latin typeface="Times New Roman" panose="02020603050405020304" pitchFamily="18" charset="0"/>
                <a:ea typeface="宋体" panose="02010600030101010101" pitchFamily="2" charset="-122"/>
              </a:rPr>
              <a:t>点电磁转矩分别相等，转差率与转子电阻成比例的关系，可以计算出</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所以，外串电阻在</a:t>
            </a:r>
            <a:r>
              <a:rPr lang="en-US" altLang="zh-CN">
                <a:solidFill>
                  <a:srgbClr val="FF0000"/>
                </a:solidFill>
                <a:latin typeface="Times New Roman" panose="02020603050405020304" pitchFamily="18" charset="0"/>
                <a:ea typeface="宋体" panose="02010600030101010101" pitchFamily="2" charset="-122"/>
              </a:rPr>
              <a:t>[0.706,0.96]</a:t>
            </a:r>
            <a:r>
              <a:rPr lang="zh-CN" altLang="en-US" dirty="0">
                <a:latin typeface="Times New Roman" panose="02020603050405020304" pitchFamily="18" charset="0"/>
                <a:ea typeface="宋体" panose="02010600030101010101" pitchFamily="2" charset="-122"/>
              </a:rPr>
              <a:t>欧之间时，电动机会静止不动。</a:t>
            </a:r>
            <a:endParaRPr lang="zh-CN" altLang="en-US" dirty="0">
              <a:latin typeface="Times New Roman" panose="02020603050405020304" pitchFamily="18" charset="0"/>
              <a:ea typeface="宋体" panose="02010600030101010101" pitchFamily="2" charset="-122"/>
            </a:endParaRPr>
          </a:p>
        </p:txBody>
      </p:sp>
      <p:grpSp>
        <p:nvGrpSpPr>
          <p:cNvPr id="78850" name="组合 97282"/>
          <p:cNvGrpSpPr/>
          <p:nvPr/>
        </p:nvGrpSpPr>
        <p:grpSpPr>
          <a:xfrm>
            <a:off x="5651500" y="1125538"/>
            <a:ext cx="3097213" cy="3095625"/>
            <a:chOff x="6837" y="9396"/>
            <a:chExt cx="2520" cy="3120"/>
          </a:xfrm>
        </p:grpSpPr>
        <p:sp>
          <p:nvSpPr>
            <p:cNvPr id="78851" name="文本框 97283"/>
            <p:cNvSpPr txBox="1"/>
            <p:nvPr/>
          </p:nvSpPr>
          <p:spPr>
            <a:xfrm>
              <a:off x="7737" y="11736"/>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R</a:t>
              </a:r>
              <a:r>
                <a:rPr lang="en-US" altLang="zh-CN" sz="1800" baseline="-25000">
                  <a:latin typeface="Times New Roman" panose="02020603050405020304" pitchFamily="18" charset="0"/>
                  <a:ea typeface="宋体" panose="02010600030101010101" pitchFamily="2" charset="-122"/>
                </a:rPr>
                <a:t>2</a:t>
              </a:r>
              <a:endParaRPr lang="en-US" altLang="zh-CN" sz="1800">
                <a:latin typeface="Times New Roman" panose="02020603050405020304" pitchFamily="18" charset="0"/>
                <a:ea typeface="宋体" panose="02010600030101010101" pitchFamily="2" charset="-122"/>
              </a:endParaRPr>
            </a:p>
          </p:txBody>
        </p:sp>
        <p:sp>
          <p:nvSpPr>
            <p:cNvPr id="78852" name="文本框 97284"/>
            <p:cNvSpPr txBox="1"/>
            <p:nvPr/>
          </p:nvSpPr>
          <p:spPr>
            <a:xfrm>
              <a:off x="7362" y="11142"/>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D</a:t>
              </a:r>
              <a:endParaRPr lang="en-US" altLang="zh-CN" sz="1800">
                <a:latin typeface="Times New Roman" panose="02020603050405020304" pitchFamily="18" charset="0"/>
                <a:ea typeface="宋体" panose="02010600030101010101" pitchFamily="2" charset="-122"/>
              </a:endParaRPr>
            </a:p>
          </p:txBody>
        </p:sp>
        <p:sp>
          <p:nvSpPr>
            <p:cNvPr id="78853" name="文本框 97285"/>
            <p:cNvSpPr txBox="1"/>
            <p:nvPr/>
          </p:nvSpPr>
          <p:spPr>
            <a:xfrm>
              <a:off x="7422" y="9990"/>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B</a:t>
              </a:r>
              <a:endParaRPr lang="en-US" altLang="zh-CN" sz="1800">
                <a:latin typeface="Times New Roman" panose="02020603050405020304" pitchFamily="18" charset="0"/>
                <a:ea typeface="宋体" panose="02010600030101010101" pitchFamily="2" charset="-122"/>
              </a:endParaRPr>
            </a:p>
          </p:txBody>
        </p:sp>
        <p:sp>
          <p:nvSpPr>
            <p:cNvPr id="78854" name="文本框 97286"/>
            <p:cNvSpPr txBox="1"/>
            <p:nvPr/>
          </p:nvSpPr>
          <p:spPr>
            <a:xfrm>
              <a:off x="7527" y="12204"/>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L</a:t>
              </a:r>
              <a:r>
                <a:rPr lang="en-US" altLang="zh-CN" sz="2000" baseline="30000">
                  <a:latin typeface="Times New Roman" panose="02020603050405020304" pitchFamily="18" charset="0"/>
                  <a:ea typeface="宋体" panose="02010600030101010101" pitchFamily="2" charset="-122"/>
                </a:rPr>
                <a:t>’</a:t>
              </a:r>
              <a:endParaRPr lang="en-US" altLang="zh-CN" sz="2000">
                <a:latin typeface="Times New Roman" panose="02020603050405020304" pitchFamily="18" charset="0"/>
                <a:ea typeface="宋体" panose="02010600030101010101" pitchFamily="2" charset="-122"/>
              </a:endParaRPr>
            </a:p>
          </p:txBody>
        </p:sp>
        <p:sp>
          <p:nvSpPr>
            <p:cNvPr id="78855" name="文本框 97287"/>
            <p:cNvSpPr txBox="1"/>
            <p:nvPr/>
          </p:nvSpPr>
          <p:spPr>
            <a:xfrm>
              <a:off x="6837" y="11112"/>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0</a:t>
              </a:r>
              <a:endParaRPr lang="en-US" altLang="zh-CN" sz="1800">
                <a:latin typeface="Times New Roman" panose="02020603050405020304" pitchFamily="18" charset="0"/>
                <a:ea typeface="宋体" panose="02010600030101010101" pitchFamily="2" charset="-122"/>
              </a:endParaRPr>
            </a:p>
          </p:txBody>
        </p:sp>
        <p:sp>
          <p:nvSpPr>
            <p:cNvPr id="78856" name="文本框 97288"/>
            <p:cNvSpPr txBox="1"/>
            <p:nvPr/>
          </p:nvSpPr>
          <p:spPr>
            <a:xfrm>
              <a:off x="8277" y="11112"/>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C</a:t>
              </a:r>
              <a:endParaRPr lang="en-US" altLang="zh-CN" sz="1800">
                <a:latin typeface="Times New Roman" panose="02020603050405020304" pitchFamily="18" charset="0"/>
                <a:ea typeface="宋体" panose="02010600030101010101" pitchFamily="2" charset="-122"/>
              </a:endParaRPr>
            </a:p>
          </p:txBody>
        </p:sp>
        <p:sp>
          <p:nvSpPr>
            <p:cNvPr id="78857" name="文本框 97289"/>
            <p:cNvSpPr txBox="1"/>
            <p:nvPr/>
          </p:nvSpPr>
          <p:spPr>
            <a:xfrm>
              <a:off x="8232" y="10095"/>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A</a:t>
              </a:r>
              <a:endParaRPr lang="en-US" altLang="zh-CN" sz="1800">
                <a:latin typeface="Times New Roman" panose="02020603050405020304" pitchFamily="18" charset="0"/>
                <a:ea typeface="宋体" panose="02010600030101010101" pitchFamily="2" charset="-122"/>
              </a:endParaRPr>
            </a:p>
          </p:txBody>
        </p:sp>
        <p:sp>
          <p:nvSpPr>
            <p:cNvPr id="78858" name="文本框 97290"/>
            <p:cNvSpPr txBox="1"/>
            <p:nvPr/>
          </p:nvSpPr>
          <p:spPr>
            <a:xfrm>
              <a:off x="8127" y="12204"/>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L</a:t>
              </a:r>
              <a:endParaRPr lang="en-US" altLang="zh-CN" sz="1800">
                <a:latin typeface="Times New Roman" panose="02020603050405020304" pitchFamily="18" charset="0"/>
                <a:ea typeface="宋体" panose="02010600030101010101" pitchFamily="2" charset="-122"/>
              </a:endParaRPr>
            </a:p>
          </p:txBody>
        </p:sp>
        <p:sp>
          <p:nvSpPr>
            <p:cNvPr id="78859" name="文本框 97291"/>
            <p:cNvSpPr txBox="1"/>
            <p:nvPr/>
          </p:nvSpPr>
          <p:spPr>
            <a:xfrm>
              <a:off x="8817" y="11112"/>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em</a:t>
              </a:r>
              <a:endParaRPr lang="en-US" altLang="zh-CN" sz="1800">
                <a:latin typeface="Times New Roman" panose="02020603050405020304" pitchFamily="18" charset="0"/>
                <a:ea typeface="宋体" panose="02010600030101010101" pitchFamily="2" charset="-122"/>
              </a:endParaRPr>
            </a:p>
          </p:txBody>
        </p:sp>
        <p:sp>
          <p:nvSpPr>
            <p:cNvPr id="78860" name="文本框 97292"/>
            <p:cNvSpPr txBox="1"/>
            <p:nvPr/>
          </p:nvSpPr>
          <p:spPr>
            <a:xfrm>
              <a:off x="7197" y="9396"/>
              <a:ext cx="360" cy="309"/>
            </a:xfrm>
            <a:prstGeom prst="rect">
              <a:avLst/>
            </a:prstGeom>
            <a:noFill/>
            <a:ln w="9525">
              <a:noFill/>
            </a:ln>
          </p:spPr>
          <p:txBody>
            <a:bodyPr lIns="0" tIns="0" rIns="0" bIns="0" anchor="t" anchorCtr="0"/>
            <a:p>
              <a:pPr algn="just"/>
              <a:r>
                <a:rPr lang="en-US" altLang="zh-CN" sz="2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p:txBody>
        </p:sp>
        <p:sp>
          <p:nvSpPr>
            <p:cNvPr id="78861" name="直接连接符 97293"/>
            <p:cNvSpPr/>
            <p:nvPr/>
          </p:nvSpPr>
          <p:spPr>
            <a:xfrm>
              <a:off x="7017" y="11424"/>
              <a:ext cx="1980" cy="0"/>
            </a:xfrm>
            <a:prstGeom prst="line">
              <a:avLst/>
            </a:prstGeom>
            <a:ln w="9525" cap="flat" cmpd="sng">
              <a:solidFill>
                <a:srgbClr val="000000"/>
              </a:solidFill>
              <a:prstDash val="solid"/>
              <a:round/>
              <a:headEnd type="none" w="med" len="med"/>
              <a:tailEnd type="triangle" w="med" len="med"/>
            </a:ln>
          </p:spPr>
        </p:sp>
        <p:sp>
          <p:nvSpPr>
            <p:cNvPr id="78862" name="直接连接符 97294"/>
            <p:cNvSpPr/>
            <p:nvPr/>
          </p:nvSpPr>
          <p:spPr>
            <a:xfrm flipV="1">
              <a:off x="7017" y="9552"/>
              <a:ext cx="0" cy="2964"/>
            </a:xfrm>
            <a:prstGeom prst="line">
              <a:avLst/>
            </a:prstGeom>
            <a:ln w="9525" cap="flat" cmpd="sng">
              <a:solidFill>
                <a:srgbClr val="000000"/>
              </a:solidFill>
              <a:prstDash val="solid"/>
              <a:round/>
              <a:headEnd type="none" w="med" len="med"/>
              <a:tailEnd type="triangle" w="med" len="med"/>
            </a:ln>
          </p:spPr>
        </p:sp>
        <p:sp>
          <p:nvSpPr>
            <p:cNvPr id="78863" name="直接连接符 97295"/>
            <p:cNvSpPr/>
            <p:nvPr/>
          </p:nvSpPr>
          <p:spPr>
            <a:xfrm>
              <a:off x="7017" y="10176"/>
              <a:ext cx="1620" cy="312"/>
            </a:xfrm>
            <a:prstGeom prst="line">
              <a:avLst/>
            </a:prstGeom>
            <a:ln w="9525" cap="flat" cmpd="sng">
              <a:solidFill>
                <a:srgbClr val="000000"/>
              </a:solidFill>
              <a:prstDash val="solid"/>
              <a:round/>
              <a:headEnd type="none" w="med" len="med"/>
              <a:tailEnd type="none" w="med" len="med"/>
            </a:ln>
          </p:spPr>
        </p:sp>
        <p:sp>
          <p:nvSpPr>
            <p:cNvPr id="78864" name="直接连接符 97296"/>
            <p:cNvSpPr/>
            <p:nvPr/>
          </p:nvSpPr>
          <p:spPr>
            <a:xfrm>
              <a:off x="8187" y="9552"/>
              <a:ext cx="0" cy="2652"/>
            </a:xfrm>
            <a:prstGeom prst="line">
              <a:avLst/>
            </a:prstGeom>
            <a:ln w="9525" cap="flat" cmpd="sng">
              <a:solidFill>
                <a:srgbClr val="000000"/>
              </a:solidFill>
              <a:prstDash val="solid"/>
              <a:round/>
              <a:headEnd type="none" w="med" len="med"/>
              <a:tailEnd type="none" w="med" len="med"/>
            </a:ln>
          </p:spPr>
        </p:sp>
        <p:sp>
          <p:nvSpPr>
            <p:cNvPr id="78865" name="直接连接符 97297"/>
            <p:cNvSpPr/>
            <p:nvPr/>
          </p:nvSpPr>
          <p:spPr>
            <a:xfrm>
              <a:off x="7662" y="9552"/>
              <a:ext cx="0" cy="2652"/>
            </a:xfrm>
            <a:prstGeom prst="line">
              <a:avLst/>
            </a:prstGeom>
            <a:ln w="9525" cap="flat" cmpd="sng">
              <a:solidFill>
                <a:srgbClr val="000000"/>
              </a:solidFill>
              <a:prstDash val="solid"/>
              <a:round/>
              <a:headEnd type="none" w="med" len="med"/>
              <a:tailEnd type="none" w="med" len="med"/>
            </a:ln>
          </p:spPr>
        </p:sp>
        <p:sp>
          <p:nvSpPr>
            <p:cNvPr id="78866" name="直接连接符 97298"/>
            <p:cNvSpPr/>
            <p:nvPr/>
          </p:nvSpPr>
          <p:spPr>
            <a:xfrm>
              <a:off x="7017" y="10176"/>
              <a:ext cx="900" cy="1716"/>
            </a:xfrm>
            <a:prstGeom prst="line">
              <a:avLst/>
            </a:prstGeom>
            <a:ln w="9525" cap="flat" cmpd="sng">
              <a:solidFill>
                <a:srgbClr val="000000"/>
              </a:solidFill>
              <a:prstDash val="solid"/>
              <a:round/>
              <a:headEnd type="none" w="med" len="med"/>
              <a:tailEnd type="none" w="med" len="med"/>
            </a:ln>
          </p:spPr>
        </p:sp>
        <p:sp>
          <p:nvSpPr>
            <p:cNvPr id="78867" name="直接连接符 97299"/>
            <p:cNvSpPr/>
            <p:nvPr/>
          </p:nvSpPr>
          <p:spPr>
            <a:xfrm>
              <a:off x="7017" y="10176"/>
              <a:ext cx="1620" cy="1716"/>
            </a:xfrm>
            <a:prstGeom prst="line">
              <a:avLst/>
            </a:prstGeom>
            <a:ln w="9525" cap="flat" cmpd="sng">
              <a:solidFill>
                <a:srgbClr val="000000"/>
              </a:solidFill>
              <a:prstDash val="solid"/>
              <a:round/>
              <a:headEnd type="none" w="med" len="med"/>
              <a:tailEnd type="none" w="med" len="med"/>
            </a:ln>
          </p:spPr>
        </p:sp>
        <p:sp>
          <p:nvSpPr>
            <p:cNvPr id="78868" name="文本框 97300"/>
            <p:cNvSpPr txBox="1"/>
            <p:nvPr/>
          </p:nvSpPr>
          <p:spPr>
            <a:xfrm>
              <a:off x="8817" y="10332"/>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r</a:t>
              </a:r>
              <a:r>
                <a:rPr lang="en-US" altLang="zh-CN" sz="1800" baseline="-25000">
                  <a:latin typeface="Times New Roman" panose="02020603050405020304" pitchFamily="18" charset="0"/>
                  <a:ea typeface="宋体" panose="02010600030101010101" pitchFamily="2" charset="-122"/>
                </a:rPr>
                <a:t>2</a:t>
              </a:r>
              <a:endParaRPr lang="en-US" altLang="zh-CN" sz="1800">
                <a:latin typeface="Times New Roman" panose="02020603050405020304" pitchFamily="18" charset="0"/>
                <a:ea typeface="宋体" panose="02010600030101010101" pitchFamily="2" charset="-122"/>
              </a:endParaRPr>
            </a:p>
          </p:txBody>
        </p:sp>
        <p:sp>
          <p:nvSpPr>
            <p:cNvPr id="78869" name="文本框 97301"/>
            <p:cNvSpPr txBox="1"/>
            <p:nvPr/>
          </p:nvSpPr>
          <p:spPr>
            <a:xfrm>
              <a:off x="8637" y="11736"/>
              <a:ext cx="36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R</a:t>
              </a:r>
              <a:r>
                <a:rPr lang="en-US" altLang="zh-CN" sz="1800" baseline="-25000">
                  <a:latin typeface="Times New Roman" panose="02020603050405020304" pitchFamily="18" charset="0"/>
                  <a:ea typeface="宋体" panose="02010600030101010101" pitchFamily="2" charset="-122"/>
                </a:rPr>
                <a:t>1</a:t>
              </a:r>
              <a:endParaRPr lang="en-US" altLang="zh-CN" sz="1800">
                <a:latin typeface="Times New Roman" panose="02020603050405020304" pitchFamily="18" charset="0"/>
                <a:ea typeface="宋体" panose="02010600030101010101" pitchFamily="2" charset="-122"/>
              </a:endParaRPr>
            </a:p>
          </p:txBody>
        </p:sp>
      </p:grpSp>
      <p:sp>
        <p:nvSpPr>
          <p:cNvPr id="78870" name="矩形 97302"/>
          <p:cNvSpPr/>
          <p:nvPr/>
        </p:nvSpPr>
        <p:spPr>
          <a:xfrm>
            <a:off x="179388" y="0"/>
            <a:ext cx="8642350" cy="1187450"/>
          </a:xfrm>
          <a:prstGeom prst="rect">
            <a:avLst/>
          </a:prstGeom>
          <a:noFill/>
          <a:ln w="9525">
            <a:noFill/>
          </a:ln>
        </p:spPr>
        <p:txBody>
          <a:bodyPr anchor="ctr" anchorCtr="0">
            <a:spAutoFit/>
          </a:bodyPr>
          <a:p>
            <a:pPr defTabSz="914400">
              <a:tabLst>
                <a:tab pos="247650" algn="l"/>
              </a:tabLst>
            </a:pPr>
            <a:r>
              <a:rPr lang="en-US" altLang="zh-CN">
                <a:latin typeface="Times New Roman" panose="02020603050405020304" pitchFamily="18" charset="0"/>
                <a:ea typeface="宋体" panose="02010600030101010101" pitchFamily="2" charset="-122"/>
              </a:rPr>
              <a:t>8-34 </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=60kW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=960r/min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=220V</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2N</a:t>
            </a:r>
            <a:r>
              <a:rPr lang="en-US" altLang="zh-CN" dirty="0">
                <a:latin typeface="Times New Roman" panose="02020603050405020304" pitchFamily="18" charset="0"/>
                <a:ea typeface="宋体" panose="02010600030101010101" pitchFamily="2" charset="-122"/>
              </a:rPr>
              <a:t>=195A</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λ</a:t>
            </a:r>
            <a:r>
              <a:rPr lang="en-US" altLang="zh-CN" dirty="0">
                <a:latin typeface="Times New Roman" panose="02020603050405020304" pitchFamily="18" charset="0"/>
                <a:ea typeface="宋体" panose="02010600030101010101" pitchFamily="2" charset="-122"/>
              </a:rPr>
              <a:t>=2.5</a:t>
            </a:r>
            <a:r>
              <a:rPr lang="zh-CN" altLang="en-US" dirty="0">
                <a:latin typeface="Times New Roman" panose="02020603050405020304" pitchFamily="18" charset="0"/>
                <a:ea typeface="宋体" panose="02010600030101010101" pitchFamily="2" charset="-122"/>
              </a:rPr>
              <a:t>。拖动位能性恒转矩负载，提升时</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=530N·</a:t>
            </a:r>
            <a:r>
              <a:rPr lang="en-US" altLang="zh-CN"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，求：</a:t>
            </a:r>
            <a:endParaRPr lang="zh-CN" altLang="en-US" dirty="0">
              <a:latin typeface="Times New Roman" panose="02020603050405020304" pitchFamily="18" charset="0"/>
              <a:ea typeface="宋体" panose="02010600030101010101" pitchFamily="2" charset="-122"/>
            </a:endParaRPr>
          </a:p>
          <a:p>
            <a:pPr defTabSz="914400">
              <a:tabLst>
                <a:tab pos="247650" algn="l"/>
              </a:tabLst>
            </a:pP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电动机不断电，使重物停空中，如何处理？定量计算。</a:t>
            </a:r>
            <a:endParaRPr lang="zh-CN" altLang="en-US" dirty="0">
              <a:latin typeface="Times New Roman" panose="02020603050405020304" pitchFamily="18" charset="0"/>
              <a:ea typeface="宋体" panose="02010600030101010101" pitchFamily="2" charset="-122"/>
            </a:endParaRPr>
          </a:p>
        </p:txBody>
      </p:sp>
      <p:grpSp>
        <p:nvGrpSpPr>
          <p:cNvPr id="78871" name="组合 97303"/>
          <p:cNvGrpSpPr/>
          <p:nvPr/>
        </p:nvGrpSpPr>
        <p:grpSpPr>
          <a:xfrm>
            <a:off x="5940425" y="4376738"/>
            <a:ext cx="2882900" cy="2481262"/>
            <a:chOff x="3196" y="2427"/>
            <a:chExt cx="2496" cy="1886"/>
          </a:xfrm>
        </p:grpSpPr>
        <p:sp>
          <p:nvSpPr>
            <p:cNvPr id="78872" name="直接连接符 97304"/>
            <p:cNvSpPr/>
            <p:nvPr/>
          </p:nvSpPr>
          <p:spPr>
            <a:xfrm>
              <a:off x="5420" y="3929"/>
              <a:ext cx="0" cy="384"/>
            </a:xfrm>
            <a:prstGeom prst="line">
              <a:avLst/>
            </a:prstGeom>
            <a:ln w="38100" cap="flat" cmpd="sng">
              <a:solidFill>
                <a:srgbClr val="FF0000"/>
              </a:solidFill>
              <a:prstDash val="solid"/>
              <a:round/>
              <a:headEnd type="none" w="med" len="med"/>
              <a:tailEnd type="triangle" w="med" len="med"/>
            </a:ln>
          </p:spPr>
        </p:sp>
        <p:grpSp>
          <p:nvGrpSpPr>
            <p:cNvPr id="78873" name="组合 97305"/>
            <p:cNvGrpSpPr/>
            <p:nvPr/>
          </p:nvGrpSpPr>
          <p:grpSpPr>
            <a:xfrm>
              <a:off x="3196" y="2427"/>
              <a:ext cx="2496" cy="1774"/>
              <a:chOff x="3152" y="2323"/>
              <a:chExt cx="2496" cy="1774"/>
            </a:xfrm>
          </p:grpSpPr>
          <p:sp>
            <p:nvSpPr>
              <p:cNvPr id="78874" name="直接连接符 97306"/>
              <p:cNvSpPr/>
              <p:nvPr/>
            </p:nvSpPr>
            <p:spPr>
              <a:xfrm>
                <a:off x="5360" y="3089"/>
                <a:ext cx="0" cy="768"/>
              </a:xfrm>
              <a:prstGeom prst="line">
                <a:avLst/>
              </a:prstGeom>
              <a:ln w="38100" cap="flat" cmpd="sng">
                <a:solidFill>
                  <a:schemeClr val="tx1"/>
                </a:solidFill>
                <a:prstDash val="solid"/>
                <a:round/>
                <a:headEnd type="none" w="med" len="med"/>
                <a:tailEnd type="none" w="med" len="med"/>
              </a:ln>
            </p:spPr>
          </p:sp>
          <p:sp>
            <p:nvSpPr>
              <p:cNvPr id="78875" name="椭圆 97307"/>
              <p:cNvSpPr/>
              <p:nvPr/>
            </p:nvSpPr>
            <p:spPr>
              <a:xfrm>
                <a:off x="3440" y="2369"/>
                <a:ext cx="576" cy="576"/>
              </a:xfrm>
              <a:prstGeom prst="ellipse">
                <a:avLst/>
              </a:prstGeom>
              <a:solidFill>
                <a:schemeClr val="accent1"/>
              </a:solidFill>
              <a:ln w="2857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8876" name="椭圆 97308"/>
              <p:cNvSpPr/>
              <p:nvPr/>
            </p:nvSpPr>
            <p:spPr>
              <a:xfrm>
                <a:off x="4784" y="2849"/>
                <a:ext cx="576" cy="576"/>
              </a:xfrm>
              <a:prstGeom prst="ellipse">
                <a:avLst/>
              </a:prstGeom>
              <a:solidFill>
                <a:schemeClr val="accent1"/>
              </a:solidFill>
              <a:ln w="2857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8877" name="直接连接符 97309"/>
              <p:cNvSpPr/>
              <p:nvPr/>
            </p:nvSpPr>
            <p:spPr>
              <a:xfrm>
                <a:off x="3728" y="2657"/>
                <a:ext cx="1056" cy="384"/>
              </a:xfrm>
              <a:prstGeom prst="line">
                <a:avLst/>
              </a:prstGeom>
              <a:ln w="38100" cap="flat" cmpd="sng">
                <a:solidFill>
                  <a:schemeClr val="tx1"/>
                </a:solidFill>
                <a:prstDash val="solid"/>
                <a:round/>
                <a:headEnd type="none" w="med" len="med"/>
                <a:tailEnd type="none" w="med" len="med"/>
              </a:ln>
            </p:spPr>
          </p:sp>
          <p:sp>
            <p:nvSpPr>
              <p:cNvPr id="78878" name="直接连接符 97310"/>
              <p:cNvSpPr/>
              <p:nvPr/>
            </p:nvSpPr>
            <p:spPr>
              <a:xfrm>
                <a:off x="5072" y="3137"/>
                <a:ext cx="576" cy="240"/>
              </a:xfrm>
              <a:prstGeom prst="line">
                <a:avLst/>
              </a:prstGeom>
              <a:ln w="38100" cap="flat" cmpd="sng">
                <a:solidFill>
                  <a:schemeClr val="tx1"/>
                </a:solidFill>
                <a:prstDash val="solid"/>
                <a:round/>
                <a:headEnd type="none" w="med" len="med"/>
                <a:tailEnd type="none" w="med" len="med"/>
              </a:ln>
            </p:spPr>
          </p:sp>
          <p:sp>
            <p:nvSpPr>
              <p:cNvPr id="78879" name="矩形 97311"/>
              <p:cNvSpPr/>
              <p:nvPr/>
            </p:nvSpPr>
            <p:spPr>
              <a:xfrm rot="1258618">
                <a:off x="4304" y="2657"/>
                <a:ext cx="192" cy="480"/>
              </a:xfrm>
              <a:prstGeom prst="rect">
                <a:avLst/>
              </a:prstGeom>
              <a:solidFill>
                <a:schemeClr val="accent1"/>
              </a:solidFill>
              <a:ln w="28575" cap="flat" cmpd="sng">
                <a:solidFill>
                  <a:schemeClr val="tx1"/>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8880" name="直接连接符 97312"/>
              <p:cNvSpPr/>
              <p:nvPr/>
            </p:nvSpPr>
            <p:spPr>
              <a:xfrm flipH="1">
                <a:off x="4304" y="2657"/>
                <a:ext cx="192" cy="480"/>
              </a:xfrm>
              <a:prstGeom prst="line">
                <a:avLst/>
              </a:prstGeom>
              <a:ln w="28575" cap="flat" cmpd="sng">
                <a:solidFill>
                  <a:schemeClr val="tx1"/>
                </a:solidFill>
                <a:prstDash val="solid"/>
                <a:round/>
                <a:headEnd type="none" w="med" len="med"/>
                <a:tailEnd type="none" w="med" len="med"/>
              </a:ln>
            </p:spPr>
          </p:sp>
          <p:sp>
            <p:nvSpPr>
              <p:cNvPr id="78881" name="文本框 97313"/>
              <p:cNvSpPr txBox="1"/>
              <p:nvPr/>
            </p:nvSpPr>
            <p:spPr>
              <a:xfrm>
                <a:off x="4928" y="3713"/>
                <a:ext cx="431" cy="302"/>
              </a:xfrm>
              <a:prstGeom prst="rect">
                <a:avLst/>
              </a:prstGeom>
              <a:noFill/>
              <a:ln w="9525">
                <a:noFill/>
              </a:ln>
            </p:spPr>
            <p:txBody>
              <a:bodyPr anchor="t" anchorCtr="0">
                <a:spAutoFit/>
              </a:bodyPr>
              <a:p>
                <a:pPr>
                  <a:spcBef>
                    <a:spcPct val="50000"/>
                  </a:spcBef>
                </a:pPr>
                <a:r>
                  <a:rPr lang="en-US" altLang="zh-CN" sz="2000" b="0">
                    <a:latin typeface="Times New Roman" panose="02020603050405020304" pitchFamily="18" charset="0"/>
                    <a:ea typeface="宋体" panose="02010600030101010101" pitchFamily="2" charset="-122"/>
                  </a:rPr>
                  <a:t>T</a:t>
                </a:r>
                <a:r>
                  <a:rPr lang="en-US" altLang="zh-CN" sz="2000" b="0" baseline="-25000">
                    <a:latin typeface="Times New Roman" panose="02020603050405020304" pitchFamily="18" charset="0"/>
                    <a:ea typeface="宋体" panose="02010600030101010101" pitchFamily="2" charset="-122"/>
                  </a:rPr>
                  <a:t>G</a:t>
                </a:r>
                <a:endParaRPr lang="en-US" altLang="zh-CN" sz="2000" b="0">
                  <a:latin typeface="Times New Roman" panose="02020603050405020304" pitchFamily="18" charset="0"/>
                  <a:ea typeface="宋体" panose="02010600030101010101" pitchFamily="2" charset="-122"/>
                </a:endParaRPr>
              </a:p>
            </p:txBody>
          </p:sp>
          <p:sp>
            <p:nvSpPr>
              <p:cNvPr id="78882" name="文本框 97314"/>
              <p:cNvSpPr txBox="1"/>
              <p:nvPr/>
            </p:nvSpPr>
            <p:spPr>
              <a:xfrm>
                <a:off x="4111" y="3089"/>
                <a:ext cx="433" cy="302"/>
              </a:xfrm>
              <a:prstGeom prst="rect">
                <a:avLst/>
              </a:prstGeom>
              <a:noFill/>
              <a:ln w="9525">
                <a:noFill/>
              </a:ln>
            </p:spPr>
            <p:txBody>
              <a:bodyPr anchor="t" anchorCtr="0">
                <a:spAutoFit/>
              </a:bodyPr>
              <a:p>
                <a:pPr>
                  <a:spcBef>
                    <a:spcPct val="50000"/>
                  </a:spcBef>
                </a:pPr>
                <a:r>
                  <a:rPr lang="en-US" altLang="zh-CN" sz="2000" b="0">
                    <a:latin typeface="Times New Roman" panose="02020603050405020304" pitchFamily="18" charset="0"/>
                    <a:ea typeface="宋体" panose="02010600030101010101" pitchFamily="2" charset="-122"/>
                    <a:sym typeface="Symbol" panose="05050102010706020507" pitchFamily="18" charset="2"/>
                  </a:rPr>
                  <a:t></a:t>
                </a:r>
                <a:r>
                  <a:rPr lang="en-US" altLang="zh-CN" sz="2000" b="0">
                    <a:latin typeface="Times New Roman" panose="02020603050405020304" pitchFamily="18" charset="0"/>
                    <a:ea typeface="宋体" panose="02010600030101010101" pitchFamily="2" charset="-122"/>
                  </a:rPr>
                  <a:t>T</a:t>
                </a:r>
                <a:endParaRPr lang="en-US" altLang="zh-CN" sz="2000" b="0">
                  <a:latin typeface="Times New Roman" panose="02020603050405020304" pitchFamily="18" charset="0"/>
                  <a:ea typeface="宋体" panose="02010600030101010101" pitchFamily="2" charset="-122"/>
                </a:endParaRPr>
              </a:p>
            </p:txBody>
          </p:sp>
          <p:sp>
            <p:nvSpPr>
              <p:cNvPr id="78883" name="任意多边形 97315"/>
              <p:cNvSpPr/>
              <p:nvPr/>
            </p:nvSpPr>
            <p:spPr>
              <a:xfrm>
                <a:off x="3335" y="2323"/>
                <a:ext cx="386" cy="384"/>
              </a:xfrm>
              <a:custGeom>
                <a:avLst/>
                <a:gdLst/>
                <a:ahLst/>
                <a:cxnLst>
                  <a:cxn ang="180">
                    <a:pos x="0" y="19974"/>
                  </a:cxn>
                  <a:cxn ang="270">
                    <a:pos x="19963" y="0"/>
                  </a:cxn>
                  <a:cxn ang="0">
                    <a:pos x="21543" y="21542"/>
                  </a:cxn>
                </a:cxnLst>
                <a:pathLst>
                  <a:path w="21543" h="21542" fill="none">
                    <a:moveTo>
                      <a:pt x="0" y="19974"/>
                    </a:moveTo>
                    <a:cubicBezTo>
                      <a:pt x="768" y="9295"/>
                      <a:pt x="9291" y="771"/>
                      <a:pt x="19956" y="-1"/>
                    </a:cubicBezTo>
                  </a:path>
                  <a:path w="21543" h="21542" stroke="0">
                    <a:moveTo>
                      <a:pt x="0" y="19974"/>
                    </a:moveTo>
                    <a:cubicBezTo>
                      <a:pt x="768" y="9295"/>
                      <a:pt x="9291" y="771"/>
                      <a:pt x="19956" y="-1"/>
                    </a:cubicBezTo>
                    <a:lnTo>
                      <a:pt x="21543" y="21542"/>
                    </a:lnTo>
                    <a:close/>
                  </a:path>
                </a:pathLst>
              </a:custGeom>
              <a:noFill/>
              <a:ln w="38100" cap="flat" cmpd="sng">
                <a:solidFill>
                  <a:schemeClr val="tx1"/>
                </a:solidFill>
                <a:prstDash val="solid"/>
                <a:round/>
                <a:headEnd type="triangle" w="med" len="med"/>
                <a:tailEnd type="none" w="med" len="med"/>
              </a:ln>
            </p:spPr>
            <p:txBody>
              <a:bodyPr/>
              <a:p>
                <a:endParaRPr lang="zh-CN" altLang="en-US"/>
              </a:p>
            </p:txBody>
          </p:sp>
          <p:sp>
            <p:nvSpPr>
              <p:cNvPr id="78884" name="文本框 97316"/>
              <p:cNvSpPr txBox="1"/>
              <p:nvPr/>
            </p:nvSpPr>
            <p:spPr>
              <a:xfrm>
                <a:off x="3152" y="2609"/>
                <a:ext cx="480" cy="302"/>
              </a:xfrm>
              <a:prstGeom prst="rect">
                <a:avLst/>
              </a:prstGeom>
              <a:noFill/>
              <a:ln w="9525">
                <a:noFill/>
              </a:ln>
            </p:spPr>
            <p:txBody>
              <a:bodyPr anchor="t" anchorCtr="0">
                <a:spAutoFit/>
              </a:bodyPr>
              <a:p>
                <a:pPr>
                  <a:spcBef>
                    <a:spcPct val="50000"/>
                  </a:spcBef>
                </a:pPr>
                <a:r>
                  <a:rPr lang="en-US" altLang="zh-CN" sz="2000" b="0">
                    <a:latin typeface="Times New Roman" panose="02020603050405020304" pitchFamily="18" charset="0"/>
                    <a:ea typeface="宋体" panose="02010600030101010101" pitchFamily="2" charset="-122"/>
                  </a:rPr>
                  <a:t>T</a:t>
                </a:r>
                <a:r>
                  <a:rPr lang="en-US" altLang="zh-CN" sz="2000" b="0" baseline="-25000">
                    <a:latin typeface="Times New Roman" panose="02020603050405020304" pitchFamily="18" charset="0"/>
                    <a:ea typeface="宋体" panose="02010600030101010101" pitchFamily="2" charset="-122"/>
                  </a:rPr>
                  <a:t>em</a:t>
                </a:r>
                <a:endParaRPr lang="en-US" altLang="zh-CN" sz="2000" b="0">
                  <a:latin typeface="Times New Roman" panose="02020603050405020304" pitchFamily="18" charset="0"/>
                  <a:ea typeface="宋体" panose="02010600030101010101" pitchFamily="2" charset="-122"/>
                </a:endParaRPr>
              </a:p>
            </p:txBody>
          </p:sp>
          <p:sp>
            <p:nvSpPr>
              <p:cNvPr id="78885" name="矩形 97317"/>
              <p:cNvSpPr/>
              <p:nvPr/>
            </p:nvSpPr>
            <p:spPr>
              <a:xfrm>
                <a:off x="5264" y="3761"/>
                <a:ext cx="192" cy="336"/>
              </a:xfrm>
              <a:prstGeom prst="rect">
                <a:avLst/>
              </a:prstGeom>
              <a:solidFill>
                <a:srgbClr val="0000FF"/>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78886" name="任意多边形 97318"/>
              <p:cNvSpPr/>
              <p:nvPr/>
            </p:nvSpPr>
            <p:spPr>
              <a:xfrm>
                <a:off x="3810" y="2351"/>
                <a:ext cx="295" cy="387"/>
              </a:xfrm>
              <a:custGeom>
                <a:avLst/>
                <a:gdLst/>
                <a:ahLst/>
                <a:cxnLst>
                  <a:cxn ang="270">
                    <a:pos x="5484" y="0"/>
                  </a:cxn>
                  <a:cxn ang="90">
                    <a:pos x="20240" y="28435"/>
                  </a:cxn>
                  <a:cxn ang="180">
                    <a:pos x="0" y="20892"/>
                  </a:cxn>
                </a:cxnLst>
                <a:pathLst>
                  <a:path w="21600" h="28435" fill="none">
                    <a:moveTo>
                      <a:pt x="5484" y="0"/>
                    </a:moveTo>
                    <a:cubicBezTo>
                      <a:pt x="14763" y="2428"/>
                      <a:pt x="21600" y="10861"/>
                      <a:pt x="21600" y="20892"/>
                    </a:cubicBezTo>
                    <a:cubicBezTo>
                      <a:pt x="21600" y="23549"/>
                      <a:pt x="21120" y="26093"/>
                      <a:pt x="20245" y="28440"/>
                    </a:cubicBezTo>
                  </a:path>
                  <a:path w="21600" h="28435" stroke="0">
                    <a:moveTo>
                      <a:pt x="5484" y="0"/>
                    </a:moveTo>
                    <a:cubicBezTo>
                      <a:pt x="14763" y="2428"/>
                      <a:pt x="21600" y="10861"/>
                      <a:pt x="21600" y="20892"/>
                    </a:cubicBezTo>
                    <a:cubicBezTo>
                      <a:pt x="21600" y="23549"/>
                      <a:pt x="21120" y="26093"/>
                      <a:pt x="20245" y="28440"/>
                    </a:cubicBezTo>
                    <a:lnTo>
                      <a:pt x="0" y="20892"/>
                    </a:lnTo>
                    <a:close/>
                  </a:path>
                </a:pathLst>
              </a:custGeom>
              <a:noFill/>
              <a:ln w="38100" cap="flat" cmpd="sng">
                <a:solidFill>
                  <a:schemeClr val="tx1"/>
                </a:solidFill>
                <a:prstDash val="solid"/>
                <a:round/>
                <a:headEnd type="none" w="med" len="med"/>
                <a:tailEnd type="triangle" w="med" len="med"/>
              </a:ln>
            </p:spPr>
            <p:txBody>
              <a:bodyPr/>
              <a:p>
                <a:endParaRPr lang="zh-CN" altLang="en-US"/>
              </a:p>
            </p:txBody>
          </p:sp>
          <p:sp>
            <p:nvSpPr>
              <p:cNvPr id="78887" name="文本框 97319"/>
              <p:cNvSpPr txBox="1"/>
              <p:nvPr/>
            </p:nvSpPr>
            <p:spPr>
              <a:xfrm>
                <a:off x="4059" y="2387"/>
                <a:ext cx="480" cy="302"/>
              </a:xfrm>
              <a:prstGeom prst="rect">
                <a:avLst/>
              </a:prstGeom>
              <a:noFill/>
              <a:ln w="9525">
                <a:noFill/>
              </a:ln>
            </p:spPr>
            <p:txBody>
              <a:bodyPr anchor="t" anchorCtr="0">
                <a:spAutoFit/>
              </a:bodyPr>
              <a:p>
                <a:pPr>
                  <a:spcBef>
                    <a:spcPct val="50000"/>
                  </a:spcBef>
                </a:pPr>
                <a:r>
                  <a:rPr lang="en-US" altLang="zh-CN" sz="2000" b="0">
                    <a:latin typeface="Times New Roman" panose="02020603050405020304" pitchFamily="18" charset="0"/>
                    <a:ea typeface="宋体" panose="02010600030101010101" pitchFamily="2" charset="-122"/>
                  </a:rPr>
                  <a:t>T</a:t>
                </a:r>
                <a:r>
                  <a:rPr lang="en-US" altLang="zh-CN" sz="2000" b="0" baseline="-25000">
                    <a:latin typeface="Times New Roman" panose="02020603050405020304" pitchFamily="18" charset="0"/>
                    <a:ea typeface="宋体" panose="02010600030101010101" pitchFamily="2" charset="-122"/>
                  </a:rPr>
                  <a:t>L</a:t>
                </a:r>
                <a:endParaRPr lang="en-US" altLang="zh-CN" sz="2000" b="0">
                  <a:latin typeface="Times New Roman" panose="02020603050405020304" pitchFamily="18" charset="0"/>
                  <a:ea typeface="宋体" panose="02010600030101010101" pitchFamily="2" charset="-122"/>
                </a:endParaRPr>
              </a:p>
            </p:txBody>
          </p:sp>
        </p:gr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文本框 96257"/>
          <p:cNvSpPr txBox="1"/>
          <p:nvPr/>
        </p:nvSpPr>
        <p:spPr>
          <a:xfrm>
            <a:off x="1384300" y="404813"/>
            <a:ext cx="6140450" cy="519112"/>
          </a:xfrm>
          <a:prstGeom prst="rect">
            <a:avLst/>
          </a:prstGeom>
          <a:noFill/>
          <a:ln w="9525">
            <a:noFill/>
          </a:ln>
        </p:spPr>
        <p:txBody>
          <a:bodyPr anchor="t" anchorCtr="0">
            <a:spAutoFit/>
          </a:bodyPr>
          <a:p>
            <a:pPr algn="ctr"/>
            <a:r>
              <a:rPr lang="zh-CN" altLang="en-US" sz="2800" dirty="0">
                <a:solidFill>
                  <a:srgbClr val="FF0000"/>
                </a:solidFill>
                <a:latin typeface="Times New Roman" panose="02020603050405020304" pitchFamily="18" charset="0"/>
                <a:ea typeface="宋体" panose="02010600030101010101" pitchFamily="2" charset="-122"/>
              </a:rPr>
              <a:t>第九章 同步电动机</a:t>
            </a:r>
            <a:endParaRPr lang="zh-CN" altLang="en-US" sz="2800" dirty="0">
              <a:solidFill>
                <a:srgbClr val="FF0000"/>
              </a:solidFill>
              <a:latin typeface="Times New Roman" panose="02020603050405020304" pitchFamily="18" charset="0"/>
              <a:ea typeface="宋体" panose="02010600030101010101" pitchFamily="2" charset="-122"/>
            </a:endParaRPr>
          </a:p>
        </p:txBody>
      </p:sp>
      <p:sp>
        <p:nvSpPr>
          <p:cNvPr id="79874" name="矩形 96258"/>
          <p:cNvSpPr/>
          <p:nvPr/>
        </p:nvSpPr>
        <p:spPr>
          <a:xfrm>
            <a:off x="285750" y="908050"/>
            <a:ext cx="8858250" cy="118745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9-6 </a:t>
            </a:r>
            <a:r>
              <a:rPr lang="zh-CN" altLang="en-US" dirty="0">
                <a:latin typeface="Times New Roman" panose="02020603050405020304" pitchFamily="18" charset="0"/>
                <a:ea typeface="宋体" panose="02010600030101010101" pitchFamily="2" charset="-122"/>
              </a:rPr>
              <a:t>什么叫功率角？对同步机运行的意义？一同步机在额定情况下运行，对应的功率角</a:t>
            </a:r>
            <a:r>
              <a:rPr lang="en-US" altLang="zh-CN" i="1">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=25°</a:t>
            </a:r>
            <a:r>
              <a:rPr lang="zh-CN" altLang="en-US" dirty="0">
                <a:latin typeface="Times New Roman" panose="02020603050405020304" pitchFamily="18" charset="0"/>
                <a:ea typeface="宋体" panose="02010600030101010101" pitchFamily="2" charset="-122"/>
              </a:rPr>
              <a:t>，若负载减半，功率角的变化？负载不变，电网频率下降</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θ</a:t>
            </a:r>
            <a:r>
              <a:rPr lang="zh-CN" altLang="en-US" dirty="0">
                <a:latin typeface="Times New Roman" panose="02020603050405020304" pitchFamily="18" charset="0"/>
                <a:ea typeface="宋体" panose="02010600030101010101" pitchFamily="2" charset="-122"/>
              </a:rPr>
              <a:t>的变化？</a:t>
            </a:r>
            <a:endParaRPr lang="zh-CN" altLang="en-US" dirty="0">
              <a:latin typeface="Times New Roman" panose="02020603050405020304" pitchFamily="18" charset="0"/>
              <a:ea typeface="宋体" panose="02010600030101010101" pitchFamily="2" charset="-122"/>
            </a:endParaRPr>
          </a:p>
        </p:txBody>
      </p:sp>
      <p:graphicFrame>
        <p:nvGraphicFramePr>
          <p:cNvPr id="79875" name="对象 96260"/>
          <p:cNvGraphicFramePr/>
          <p:nvPr/>
        </p:nvGraphicFramePr>
        <p:xfrm>
          <a:off x="2489200" y="2359025"/>
          <a:ext cx="2730500" cy="815975"/>
        </p:xfrm>
        <a:graphic>
          <a:graphicData uri="http://schemas.openxmlformats.org/presentationml/2006/ole">
            <mc:AlternateContent xmlns:mc="http://schemas.openxmlformats.org/markup-compatibility/2006">
              <mc:Choice xmlns:v="urn:schemas-microsoft-com:vml" Requires="v">
                <p:oleObj spid="_x0000_s3202" name="" r:id="rId1" imgW="1447165" imgH="431800" progId="Equation.DSMT4">
                  <p:embed/>
                </p:oleObj>
              </mc:Choice>
              <mc:Fallback>
                <p:oleObj name="" r:id="rId1" imgW="1447165" imgH="431800" progId="Equation.DSMT4">
                  <p:embed/>
                  <p:pic>
                    <p:nvPicPr>
                      <p:cNvPr id="0" name="图片 3201"/>
                      <p:cNvPicPr/>
                      <p:nvPr/>
                    </p:nvPicPr>
                    <p:blipFill>
                      <a:blip r:embed="rId2"/>
                      <a:stretch>
                        <a:fillRect/>
                      </a:stretch>
                    </p:blipFill>
                    <p:spPr>
                      <a:xfrm>
                        <a:off x="2489200" y="2359025"/>
                        <a:ext cx="2730500" cy="815975"/>
                      </a:xfrm>
                      <a:prstGeom prst="rect">
                        <a:avLst/>
                      </a:prstGeom>
                      <a:noFill/>
                      <a:ln w="38100">
                        <a:noFill/>
                        <a:miter/>
                      </a:ln>
                    </p:spPr>
                  </p:pic>
                </p:oleObj>
              </mc:Fallback>
            </mc:AlternateContent>
          </a:graphicData>
        </a:graphic>
      </p:graphicFrame>
      <p:graphicFrame>
        <p:nvGraphicFramePr>
          <p:cNvPr id="79876" name="对象 96259"/>
          <p:cNvGraphicFramePr/>
          <p:nvPr/>
        </p:nvGraphicFramePr>
        <p:xfrm>
          <a:off x="2268538" y="4724400"/>
          <a:ext cx="3816350" cy="882650"/>
        </p:xfrm>
        <a:graphic>
          <a:graphicData uri="http://schemas.openxmlformats.org/presentationml/2006/ole">
            <mc:AlternateContent xmlns:mc="http://schemas.openxmlformats.org/markup-compatibility/2006">
              <mc:Choice xmlns:v="urn:schemas-microsoft-com:vml" Requires="v">
                <p:oleObj spid="_x0000_s3204" name="" r:id="rId3" imgW="1878965" imgH="431800" progId="Equation.DSMT4">
                  <p:embed/>
                </p:oleObj>
              </mc:Choice>
              <mc:Fallback>
                <p:oleObj name="" r:id="rId3" imgW="1878965" imgH="431800" progId="Equation.DSMT4">
                  <p:embed/>
                  <p:pic>
                    <p:nvPicPr>
                      <p:cNvPr id="0" name="图片 3203"/>
                      <p:cNvPicPr/>
                      <p:nvPr/>
                    </p:nvPicPr>
                    <p:blipFill>
                      <a:blip r:embed="rId4"/>
                      <a:stretch>
                        <a:fillRect/>
                      </a:stretch>
                    </p:blipFill>
                    <p:spPr>
                      <a:xfrm>
                        <a:off x="2268538" y="4724400"/>
                        <a:ext cx="3816350" cy="882650"/>
                      </a:xfrm>
                      <a:prstGeom prst="rect">
                        <a:avLst/>
                      </a:prstGeom>
                      <a:noFill/>
                      <a:ln w="38100">
                        <a:noFill/>
                        <a:miter/>
                      </a:ln>
                    </p:spPr>
                  </p:pic>
                </p:oleObj>
              </mc:Fallback>
            </mc:AlternateContent>
          </a:graphicData>
        </a:graphic>
      </p:graphicFrame>
      <p:sp>
        <p:nvSpPr>
          <p:cNvPr id="79877" name="矩形 96261"/>
          <p:cNvSpPr/>
          <p:nvPr/>
        </p:nvSpPr>
        <p:spPr>
          <a:xfrm>
            <a:off x="1331913" y="2424113"/>
            <a:ext cx="565150"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
        <p:nvSpPr>
          <p:cNvPr id="79878" name="矩形 96262"/>
          <p:cNvSpPr/>
          <p:nvPr/>
        </p:nvSpPr>
        <p:spPr>
          <a:xfrm>
            <a:off x="1403350" y="3084513"/>
            <a:ext cx="6688138" cy="1406525"/>
          </a:xfrm>
          <a:prstGeom prst="rect">
            <a:avLst/>
          </a:prstGeom>
          <a:noFill/>
          <a:ln w="9525">
            <a:noFill/>
          </a:ln>
        </p:spPr>
        <p:txBody>
          <a:bodyPr anchor="ctr" anchorCtr="0">
            <a:spAutoFit/>
          </a:bodyPr>
          <a:p>
            <a:pPr>
              <a:lnSpc>
                <a:spcPct val="120000"/>
              </a:lnSpc>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P</a:t>
            </a:r>
            <a:r>
              <a:rPr lang="en-US" altLang="zh-CN" baseline="-30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=0.5</a:t>
            </a:r>
            <a:r>
              <a:rPr lang="en-US" altLang="zh-CN" i="1">
                <a:latin typeface="Times New Roman" panose="02020603050405020304" pitchFamily="18" charset="0"/>
                <a:ea typeface="宋体" panose="02010600030101010101" pitchFamily="2" charset="-122"/>
              </a:rPr>
              <a:t>P</a:t>
            </a:r>
            <a:r>
              <a:rPr lang="en-US" altLang="zh-CN" baseline="-30000">
                <a:latin typeface="Times New Roman" panose="02020603050405020304" pitchFamily="18" charset="0"/>
                <a:ea typeface="宋体" panose="02010600030101010101" pitchFamily="2" charset="-122"/>
              </a:rPr>
              <a:t>LN</a:t>
            </a:r>
            <a:r>
              <a:rPr lang="zh-CN" altLang="en-US" dirty="0">
                <a:latin typeface="Times New Roman" panose="02020603050405020304" pitchFamily="18" charset="0"/>
                <a:ea typeface="宋体" panose="02010600030101010101" pitchFamily="2" charset="-122"/>
              </a:rPr>
              <a:t>，其他条件不变时，有：</a:t>
            </a:r>
            <a:endParaRPr lang="zh-CN" altLang="en-US" dirty="0">
              <a:latin typeface="Times New Roman" panose="02020603050405020304" pitchFamily="18" charset="0"/>
              <a:ea typeface="宋体" panose="02010600030101010101" pitchFamily="2" charset="-122"/>
            </a:endParaRPr>
          </a:p>
          <a:p>
            <a:pPr eaLnBrk="0" hangingPunct="0">
              <a:lnSpc>
                <a:spcPct val="120000"/>
              </a:lnSpc>
            </a:pP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sin</a:t>
            </a:r>
            <a:r>
              <a:rPr lang="en-US" altLang="zh-CN" i="1">
                <a:latin typeface="宋体" panose="02010600030101010101" pitchFamily="2" charset="-122"/>
                <a:ea typeface="宋体" panose="02010600030101010101" pitchFamily="2" charset="-122"/>
              </a:rPr>
              <a:t>θ</a:t>
            </a:r>
            <a:r>
              <a:rPr lang="en-US" altLang="zh-CN" baseline="3000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=0.5 </a:t>
            </a:r>
            <a:r>
              <a:rPr lang="en-US" altLang="zh-CN" i="1">
                <a:latin typeface="Times New Roman" panose="02020603050405020304" pitchFamily="18" charset="0"/>
                <a:ea typeface="宋体" panose="02010600030101010101" pitchFamily="2" charset="-122"/>
              </a:rPr>
              <a:t>sinθ</a:t>
            </a:r>
            <a:r>
              <a:rPr lang="en-US" altLang="zh-CN" baseline="-30000">
                <a:latin typeface="宋体" panose="02010600030101010101" pitchFamily="2" charset="-122"/>
                <a:ea typeface="宋体" panose="02010600030101010101" pitchFamily="2" charset="-122"/>
              </a:rPr>
              <a:t>N</a:t>
            </a:r>
            <a:r>
              <a:rPr lang="en-US" altLang="zh-CN">
                <a:latin typeface="Times New Roman" panose="02020603050405020304" pitchFamily="18" charset="0"/>
                <a:ea typeface="宋体" panose="02010600030101010101" pitchFamily="2" charset="-122"/>
              </a:rPr>
              <a:t>=0.5</a:t>
            </a:r>
            <a:r>
              <a:rPr lang="en-US" altLang="zh-CN" i="1">
                <a:latin typeface="Times New Roman" panose="02020603050405020304" pitchFamily="18" charset="0"/>
                <a:ea typeface="宋体" panose="02010600030101010101" pitchFamily="2" charset="-122"/>
              </a:rPr>
              <a:t>sin</a:t>
            </a:r>
            <a:r>
              <a:rPr lang="en-US" altLang="zh-CN">
                <a:latin typeface="Times New Roman" panose="02020603050405020304" pitchFamily="18" charset="0"/>
                <a:ea typeface="宋体" panose="02010600030101010101" pitchFamily="2" charset="-122"/>
              </a:rPr>
              <a:t>25=0.211,</a:t>
            </a:r>
            <a:r>
              <a:rPr lang="en-US" altLang="zh-CN" i="1">
                <a:latin typeface="宋体" panose="02010600030101010101" pitchFamily="2" charset="-122"/>
                <a:ea typeface="宋体" panose="02010600030101010101" pitchFamily="2" charset="-122"/>
              </a:rPr>
              <a:t>θ</a:t>
            </a:r>
            <a:r>
              <a:rPr lang="en-US" altLang="zh-CN">
                <a:latin typeface="Times New Roman" panose="02020603050405020304" pitchFamily="18" charset="0"/>
                <a:ea typeface="宋体" panose="02010600030101010101" pitchFamily="2" charset="-122"/>
              </a:rPr>
              <a:t>=12.2;</a:t>
            </a:r>
            <a:endParaRPr lang="en-US" altLang="zh-CN">
              <a:latin typeface="Times New Roman" panose="02020603050405020304" pitchFamily="18" charset="0"/>
              <a:ea typeface="宋体" panose="02010600030101010101" pitchFamily="2" charset="-122"/>
            </a:endParaRPr>
          </a:p>
          <a:p>
            <a:pPr eaLnBrk="0" hangingPunct="0">
              <a:lnSpc>
                <a:spcPct val="120000"/>
              </a:lnSpc>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P</a:t>
            </a:r>
            <a:r>
              <a:rPr lang="en-US" altLang="zh-CN" baseline="-30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baseline="-30000">
                <a:latin typeface="Times New Roman" panose="02020603050405020304" pitchFamily="18" charset="0"/>
                <a:ea typeface="宋体" panose="02010600030101010101" pitchFamily="2" charset="-122"/>
              </a:rPr>
              <a:t>LN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=0.95</a:t>
            </a:r>
            <a:r>
              <a:rPr lang="en-US" altLang="zh-CN" i="1">
                <a:latin typeface="Times New Roman" panose="02020603050405020304" pitchFamily="18" charset="0"/>
                <a:ea typeface="宋体" panose="02010600030101010101" pitchFamily="2" charset="-122"/>
              </a:rPr>
              <a:t>f</a:t>
            </a:r>
            <a:r>
              <a:rPr lang="en-US" altLang="zh-CN" baseline="-30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时，</a:t>
            </a:r>
            <a:endParaRPr lang="zh-CN" altLang="en-US" dirty="0">
              <a:latin typeface="Times New Roman" panose="02020603050405020304" pitchFamily="18" charset="0"/>
              <a:ea typeface="宋体" panose="02010600030101010101" pitchFamily="2" charset="-122"/>
            </a:endParaRPr>
          </a:p>
        </p:txBody>
      </p:sp>
      <p:sp>
        <p:nvSpPr>
          <p:cNvPr id="79879" name="矩形 96263"/>
          <p:cNvSpPr/>
          <p:nvPr/>
        </p:nvSpPr>
        <p:spPr>
          <a:xfrm>
            <a:off x="2268538" y="5805488"/>
            <a:ext cx="3859212"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所以功角仍为额定值：</a:t>
            </a:r>
            <a:r>
              <a:rPr lang="en-US" altLang="zh-CN">
                <a:latin typeface="Times New Roman" panose="02020603050405020304" pitchFamily="18" charset="0"/>
                <a:ea typeface="宋体" panose="02010600030101010101" pitchFamily="2" charset="-122"/>
              </a:rPr>
              <a:t>25°</a:t>
            </a:r>
            <a:endParaRPr lang="en-US" altLang="zh-CN">
              <a:latin typeface="Times New Roman" panose="02020603050405020304" pitchFamily="18" charset="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矩形 117761"/>
          <p:cNvSpPr/>
          <p:nvPr/>
        </p:nvSpPr>
        <p:spPr>
          <a:xfrm>
            <a:off x="393700" y="404813"/>
            <a:ext cx="8570913" cy="191770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9-9  </a:t>
            </a:r>
            <a:r>
              <a:rPr lang="zh-CN" altLang="en-US" dirty="0">
                <a:latin typeface="Times New Roman" panose="02020603050405020304" pitchFamily="18" charset="0"/>
                <a:ea typeface="宋体" panose="02010600030101010101" pitchFamily="2" charset="-122"/>
              </a:rPr>
              <a:t>三相同步机，</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=380kW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=6000V(D</a:t>
            </a:r>
            <a:r>
              <a:rPr lang="zh-CN" altLang="en-US" dirty="0">
                <a:latin typeface="Times New Roman" panose="02020603050405020304" pitchFamily="18" charset="0"/>
                <a:ea typeface="宋体" panose="02010600030101010101" pitchFamily="2" charset="-122"/>
              </a:rPr>
              <a:t>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dirty="0">
                <a:latin typeface="Times New Roman" panose="02020603050405020304" pitchFamily="18" charset="0"/>
                <a:ea typeface="宋体" panose="02010600030101010101" pitchFamily="2" charset="-122"/>
              </a:rPr>
              <a:t>=50Hz</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η</a:t>
            </a:r>
            <a:r>
              <a:rPr lang="en-US" altLang="zh-CN" dirty="0">
                <a:latin typeface="Times New Roman" panose="02020603050405020304" pitchFamily="18" charset="0"/>
                <a:ea typeface="宋体" panose="02010600030101010101" pitchFamily="2" charset="-122"/>
              </a:rPr>
              <a:t>=0.95</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d</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q</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=100Ω</a:t>
            </a:r>
            <a:r>
              <a:rPr lang="zh-CN" altLang="en-US" dirty="0">
                <a:latin typeface="Times New Roman" panose="02020603050405020304" pitchFamily="18" charset="0"/>
                <a:ea typeface="宋体" panose="02010600030101010101" pitchFamily="2" charset="-122"/>
              </a:rPr>
              <a:t>，求当额定负载且转子过励磁</a:t>
            </a:r>
            <a:r>
              <a:rPr lang="en-US" altLang="zh-CN" i="1">
                <a:latin typeface="Times New Roman" panose="02020603050405020304" pitchFamily="18" charset="0"/>
                <a:ea typeface="宋体" panose="02010600030101010101" pitchFamily="2" charset="-122"/>
              </a:rPr>
              <a:t>cosφ</a:t>
            </a:r>
            <a:r>
              <a:rPr lang="en-US" altLang="zh-CN" dirty="0">
                <a:latin typeface="Times New Roman" panose="02020603050405020304" pitchFamily="18" charset="0"/>
                <a:ea typeface="宋体" panose="02010600030101010101" pitchFamily="2" charset="-122"/>
              </a:rPr>
              <a:t>=0.8(</a:t>
            </a:r>
            <a:r>
              <a:rPr lang="zh-CN" altLang="en-US" dirty="0">
                <a:latin typeface="Times New Roman" panose="02020603050405020304" pitchFamily="18" charset="0"/>
                <a:ea typeface="宋体" panose="02010600030101010101" pitchFamily="2" charset="-122"/>
              </a:rPr>
              <a:t>电流超前</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时功率角和空载励磁电势，并计算电磁转矩和过载能力。若电压降</a:t>
            </a:r>
            <a:r>
              <a:rPr lang="en-US" altLang="zh-CN" dirty="0">
                <a:latin typeface="Times New Roman" panose="02020603050405020304" pitchFamily="18" charset="0"/>
                <a:ea typeface="宋体" panose="02010600030101010101" pitchFamily="2" charset="-122"/>
              </a:rPr>
              <a:t>20%</a:t>
            </a:r>
            <a:r>
              <a:rPr lang="zh-CN" altLang="en-US" dirty="0">
                <a:latin typeface="Times New Roman" panose="02020603050405020304" pitchFamily="18" charset="0"/>
                <a:ea typeface="宋体" panose="02010600030101010101" pitchFamily="2" charset="-122"/>
              </a:rPr>
              <a:t>，励磁减</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，对同步机的影响</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不计定子电阻</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80898" name="矩形 117762"/>
          <p:cNvSpPr/>
          <p:nvPr/>
        </p:nvSpPr>
        <p:spPr>
          <a:xfrm>
            <a:off x="323850" y="2295525"/>
            <a:ext cx="5395913" cy="1296988"/>
          </a:xfrm>
          <a:prstGeom prst="rect">
            <a:avLst/>
          </a:prstGeom>
          <a:noFill/>
          <a:ln w="9525">
            <a:noFill/>
          </a:ln>
        </p:spPr>
        <p:txBody>
          <a:bodyPr wrap="none" anchor="ctr" anchorCtr="0">
            <a:spAutoFit/>
          </a:bodyPr>
          <a:p>
            <a:pPr>
              <a:lnSpc>
                <a:spcPct val="110000"/>
              </a:lnSpc>
            </a:pPr>
            <a:r>
              <a:rPr lang="zh-CN" altLang="en-US" dirty="0">
                <a:latin typeface="Times New Roman" panose="02020603050405020304" pitchFamily="18" charset="0"/>
                <a:ea typeface="宋体" panose="02010600030101010101" pitchFamily="2" charset="-122"/>
              </a:rPr>
              <a:t>解：</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1N</a:t>
            </a:r>
            <a:r>
              <a:rPr lang="en-US" altLang="zh-CN">
                <a:latin typeface="Times New Roman" panose="02020603050405020304" pitchFamily="18" charset="0"/>
                <a:ea typeface="宋体" panose="02010600030101010101" pitchFamily="2" charset="-122"/>
              </a:rPr>
              <a:t>=380/0.95=400kW;</a:t>
            </a:r>
            <a:endParaRPr lang="en-US" altLang="zh-CN">
              <a:latin typeface="Times New Roman" panose="02020603050405020304" pitchFamily="18" charset="0"/>
              <a:ea typeface="宋体" panose="02010600030101010101" pitchFamily="2" charset="-122"/>
            </a:endParaRPr>
          </a:p>
          <a:p>
            <a:pPr>
              <a:lnSpc>
                <a:spcPct val="110000"/>
              </a:lnSpc>
            </a:pP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1N</a:t>
            </a:r>
            <a:r>
              <a:rPr lang="en-US" altLang="zh-CN">
                <a:latin typeface="Times New Roman" panose="02020603050405020304" pitchFamily="18" charset="0"/>
                <a:ea typeface="宋体" panose="02010600030101010101" pitchFamily="2" charset="-122"/>
              </a:rPr>
              <a:t>=400000/(1.732×6000×0.8)=48.11A;</a:t>
            </a:r>
            <a:endParaRPr lang="en-US" altLang="zh-CN">
              <a:latin typeface="Times New Roman" panose="02020603050405020304" pitchFamily="18" charset="0"/>
              <a:ea typeface="宋体" panose="02010600030101010101" pitchFamily="2" charset="-122"/>
            </a:endParaRPr>
          </a:p>
          <a:p>
            <a:pPr>
              <a:lnSpc>
                <a:spcPct val="110000"/>
              </a:lnSpc>
            </a:pPr>
            <a:r>
              <a:rPr lang="en-US" altLang="zh-CN" i="1">
                <a:latin typeface="Times New Roman" panose="02020603050405020304" pitchFamily="18" charset="0"/>
                <a:ea typeface="宋体" panose="02010600030101010101" pitchFamily="2" charset="-122"/>
              </a:rPr>
              <a:t>I</a:t>
            </a:r>
            <a:r>
              <a:rPr lang="en-US" altLang="zh-CN" baseline="-25000">
                <a:latin typeface="Times New Roman" panose="02020603050405020304" pitchFamily="18" charset="0"/>
                <a:ea typeface="宋体" panose="02010600030101010101" pitchFamily="2" charset="-122"/>
              </a:rPr>
              <a:t>ph</a:t>
            </a:r>
            <a:r>
              <a:rPr lang="en-US" altLang="zh-CN">
                <a:latin typeface="Times New Roman" panose="02020603050405020304" pitchFamily="18" charset="0"/>
                <a:ea typeface="宋体" panose="02010600030101010101" pitchFamily="2" charset="-122"/>
              </a:rPr>
              <a:t>=48.11/1.732; </a:t>
            </a:r>
            <a:endParaRPr lang="en-US" altLang="zh-CN">
              <a:latin typeface="Times New Roman" panose="02020603050405020304" pitchFamily="18" charset="0"/>
              <a:ea typeface="宋体" panose="02010600030101010101" pitchFamily="2" charset="-122"/>
            </a:endParaRPr>
          </a:p>
        </p:txBody>
      </p:sp>
      <p:graphicFrame>
        <p:nvGraphicFramePr>
          <p:cNvPr id="80899" name="对象 117766"/>
          <p:cNvGraphicFramePr/>
          <p:nvPr/>
        </p:nvGraphicFramePr>
        <p:xfrm>
          <a:off x="395288" y="3500438"/>
          <a:ext cx="2160587" cy="581025"/>
        </p:xfrm>
        <a:graphic>
          <a:graphicData uri="http://schemas.openxmlformats.org/presentationml/2006/ole">
            <mc:AlternateContent xmlns:mc="http://schemas.openxmlformats.org/markup-compatibility/2006">
              <mc:Choice xmlns:v="urn:schemas-microsoft-com:vml" Requires="v">
                <p:oleObj spid="_x0000_s3203" name="" r:id="rId1" imgW="1192530" imgH="317500" progId="Equation.DSMT4">
                  <p:embed/>
                </p:oleObj>
              </mc:Choice>
              <mc:Fallback>
                <p:oleObj name="" r:id="rId1" imgW="1192530" imgH="317500" progId="Equation.DSMT4">
                  <p:embed/>
                  <p:pic>
                    <p:nvPicPr>
                      <p:cNvPr id="0" name="图片 3202"/>
                      <p:cNvPicPr/>
                      <p:nvPr/>
                    </p:nvPicPr>
                    <p:blipFill>
                      <a:blip r:embed="rId2"/>
                      <a:stretch>
                        <a:fillRect/>
                      </a:stretch>
                    </p:blipFill>
                    <p:spPr>
                      <a:xfrm>
                        <a:off x="395288" y="3500438"/>
                        <a:ext cx="2160587" cy="581025"/>
                      </a:xfrm>
                      <a:prstGeom prst="rect">
                        <a:avLst/>
                      </a:prstGeom>
                      <a:noFill/>
                      <a:ln w="38100">
                        <a:noFill/>
                        <a:miter/>
                      </a:ln>
                    </p:spPr>
                  </p:pic>
                </p:oleObj>
              </mc:Fallback>
            </mc:AlternateContent>
          </a:graphicData>
        </a:graphic>
      </p:graphicFrame>
      <p:graphicFrame>
        <p:nvGraphicFramePr>
          <p:cNvPr id="80900" name="对象 117765"/>
          <p:cNvGraphicFramePr/>
          <p:nvPr/>
        </p:nvGraphicFramePr>
        <p:xfrm>
          <a:off x="179388" y="4076700"/>
          <a:ext cx="4643437" cy="1093788"/>
        </p:xfrm>
        <a:graphic>
          <a:graphicData uri="http://schemas.openxmlformats.org/presentationml/2006/ole">
            <mc:AlternateContent xmlns:mc="http://schemas.openxmlformats.org/markup-compatibility/2006">
              <mc:Choice xmlns:v="urn:schemas-microsoft-com:vml" Requires="v">
                <p:oleObj spid="_x0000_s3207" name="" r:id="rId3" imgW="2462530" imgH="584200" progId="Equation.DSMT4">
                  <p:embed/>
                </p:oleObj>
              </mc:Choice>
              <mc:Fallback>
                <p:oleObj name="" r:id="rId3" imgW="2462530" imgH="584200" progId="Equation.DSMT4">
                  <p:embed/>
                  <p:pic>
                    <p:nvPicPr>
                      <p:cNvPr id="0" name="图片 3206"/>
                      <p:cNvPicPr/>
                      <p:nvPr/>
                    </p:nvPicPr>
                    <p:blipFill>
                      <a:blip r:embed="rId4"/>
                      <a:stretch>
                        <a:fillRect/>
                      </a:stretch>
                    </p:blipFill>
                    <p:spPr>
                      <a:xfrm>
                        <a:off x="179388" y="4076700"/>
                        <a:ext cx="4643437" cy="1093788"/>
                      </a:xfrm>
                      <a:prstGeom prst="rect">
                        <a:avLst/>
                      </a:prstGeom>
                      <a:noFill/>
                      <a:ln w="38100">
                        <a:noFill/>
                        <a:miter/>
                      </a:ln>
                    </p:spPr>
                  </p:pic>
                </p:oleObj>
              </mc:Fallback>
            </mc:AlternateContent>
          </a:graphicData>
        </a:graphic>
      </p:graphicFrame>
      <p:graphicFrame>
        <p:nvGraphicFramePr>
          <p:cNvPr id="80901" name="对象 117764"/>
          <p:cNvGraphicFramePr/>
          <p:nvPr/>
        </p:nvGraphicFramePr>
        <p:xfrm>
          <a:off x="250825" y="5300663"/>
          <a:ext cx="4457700" cy="1185862"/>
        </p:xfrm>
        <a:graphic>
          <a:graphicData uri="http://schemas.openxmlformats.org/presentationml/2006/ole">
            <mc:AlternateContent xmlns:mc="http://schemas.openxmlformats.org/markup-compatibility/2006">
              <mc:Choice xmlns:v="urn:schemas-microsoft-com:vml" Requires="v">
                <p:oleObj spid="_x0000_s3206" name="" r:id="rId5" imgW="2500630" imgH="660400" progId="Equation.DSMT4">
                  <p:embed/>
                </p:oleObj>
              </mc:Choice>
              <mc:Fallback>
                <p:oleObj name="" r:id="rId5" imgW="2500630" imgH="660400" progId="Equation.DSMT4">
                  <p:embed/>
                  <p:pic>
                    <p:nvPicPr>
                      <p:cNvPr id="0" name="图片 3205"/>
                      <p:cNvPicPr/>
                      <p:nvPr/>
                    </p:nvPicPr>
                    <p:blipFill>
                      <a:blip r:embed="rId6"/>
                      <a:stretch>
                        <a:fillRect/>
                      </a:stretch>
                    </p:blipFill>
                    <p:spPr>
                      <a:xfrm>
                        <a:off x="250825" y="5300663"/>
                        <a:ext cx="4457700" cy="1185862"/>
                      </a:xfrm>
                      <a:prstGeom prst="rect">
                        <a:avLst/>
                      </a:prstGeom>
                      <a:noFill/>
                      <a:ln w="38100">
                        <a:noFill/>
                        <a:miter/>
                      </a:ln>
                    </p:spPr>
                  </p:pic>
                </p:oleObj>
              </mc:Fallback>
            </mc:AlternateContent>
          </a:graphicData>
        </a:graphic>
      </p:graphicFrame>
      <p:graphicFrame>
        <p:nvGraphicFramePr>
          <p:cNvPr id="80902" name="对象 117763"/>
          <p:cNvGraphicFramePr/>
          <p:nvPr/>
        </p:nvGraphicFramePr>
        <p:xfrm>
          <a:off x="5148263" y="5084763"/>
          <a:ext cx="3995737" cy="717550"/>
        </p:xfrm>
        <a:graphic>
          <a:graphicData uri="http://schemas.openxmlformats.org/presentationml/2006/ole">
            <mc:AlternateContent xmlns:mc="http://schemas.openxmlformats.org/markup-compatibility/2006">
              <mc:Choice xmlns:v="urn:schemas-microsoft-com:vml" Requires="v">
                <p:oleObj spid="_x0000_s3205" name="" r:id="rId7" imgW="2208530" imgH="393700" progId="Equation.DSMT4">
                  <p:embed/>
                </p:oleObj>
              </mc:Choice>
              <mc:Fallback>
                <p:oleObj name="" r:id="rId7" imgW="2208530" imgH="393700" progId="Equation.DSMT4">
                  <p:embed/>
                  <p:pic>
                    <p:nvPicPr>
                      <p:cNvPr id="0" name="图片 3204"/>
                      <p:cNvPicPr/>
                      <p:nvPr/>
                    </p:nvPicPr>
                    <p:blipFill>
                      <a:blip r:embed="rId8"/>
                      <a:stretch>
                        <a:fillRect/>
                      </a:stretch>
                    </p:blipFill>
                    <p:spPr>
                      <a:xfrm>
                        <a:off x="5148263" y="5084763"/>
                        <a:ext cx="3995737" cy="717550"/>
                      </a:xfrm>
                      <a:prstGeom prst="rect">
                        <a:avLst/>
                      </a:prstGeom>
                      <a:noFill/>
                      <a:ln w="38100">
                        <a:noFill/>
                        <a:miter/>
                      </a:ln>
                    </p:spPr>
                  </p:pic>
                </p:oleObj>
              </mc:Fallback>
            </mc:AlternateContent>
          </a:graphicData>
        </a:graphic>
      </p:graphicFrame>
      <p:sp>
        <p:nvSpPr>
          <p:cNvPr id="80903" name="矩形 117767"/>
          <p:cNvSpPr/>
          <p:nvPr/>
        </p:nvSpPr>
        <p:spPr>
          <a:xfrm>
            <a:off x="611188" y="220503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80904" name="矩形 117768"/>
          <p:cNvSpPr/>
          <p:nvPr/>
        </p:nvSpPr>
        <p:spPr>
          <a:xfrm>
            <a:off x="2771775" y="3573463"/>
            <a:ext cx="2087563" cy="457200"/>
          </a:xfrm>
          <a:prstGeom prst="rect">
            <a:avLst/>
          </a:prstGeom>
          <a:noFill/>
          <a:ln w="9525">
            <a:noFill/>
          </a:ln>
        </p:spPr>
        <p:txBody>
          <a:bodyPr anchor="ctr" anchorCtr="0">
            <a:spAutoFit/>
          </a:bodyPr>
          <a:p>
            <a:r>
              <a:rPr lang="zh-CN" altLang="en-US" dirty="0">
                <a:latin typeface="Times New Roman" panose="02020603050405020304" pitchFamily="18" charset="0"/>
                <a:ea typeface="宋体" panose="02010600030101010101" pitchFamily="2" charset="-122"/>
              </a:rPr>
              <a:t>相量图如图，</a:t>
            </a:r>
            <a:endParaRPr lang="zh-CN" altLang="en-US" dirty="0">
              <a:latin typeface="Times New Roman" panose="02020603050405020304" pitchFamily="18" charset="0"/>
              <a:ea typeface="宋体" panose="02010600030101010101" pitchFamily="2" charset="-122"/>
            </a:endParaRPr>
          </a:p>
        </p:txBody>
      </p:sp>
      <p:sp>
        <p:nvSpPr>
          <p:cNvPr id="80905" name="矩形 117769"/>
          <p:cNvSpPr/>
          <p:nvPr/>
        </p:nvSpPr>
        <p:spPr>
          <a:xfrm>
            <a:off x="0" y="311467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80906" name="矩形 117770"/>
          <p:cNvSpPr/>
          <p:nvPr/>
        </p:nvSpPr>
        <p:spPr>
          <a:xfrm>
            <a:off x="5032375" y="4508500"/>
            <a:ext cx="4159250"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U</a:t>
            </a:r>
            <a:r>
              <a:rPr lang="en-US" altLang="zh-CN" i="1" baseline="-30000">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=0.8U</a:t>
            </a:r>
            <a:r>
              <a:rPr lang="en-US" altLang="zh-CN" i="1" baseline="-3000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baseline="-30000">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=0.9</a:t>
            </a:r>
            <a:r>
              <a:rPr lang="en-US" altLang="zh-CN" i="1">
                <a:latin typeface="Times New Roman" panose="02020603050405020304" pitchFamily="18" charset="0"/>
                <a:ea typeface="宋体" panose="02010600030101010101" pitchFamily="2" charset="-122"/>
              </a:rPr>
              <a:t>I</a:t>
            </a:r>
            <a:r>
              <a:rPr lang="en-US" altLang="zh-CN" baseline="-30000">
                <a:latin typeface="Times New Roman" panose="02020603050405020304" pitchFamily="18" charset="0"/>
                <a:ea typeface="宋体" panose="02010600030101010101" pitchFamily="2" charset="-122"/>
              </a:rPr>
              <a:t>fN</a:t>
            </a:r>
            <a:r>
              <a:rPr lang="zh-CN" altLang="en-US" dirty="0">
                <a:latin typeface="Times New Roman" panose="02020603050405020304" pitchFamily="18" charset="0"/>
                <a:ea typeface="宋体" panose="02010600030101010101" pitchFamily="2" charset="-122"/>
              </a:rPr>
              <a:t>时，</a:t>
            </a:r>
            <a:endParaRPr lang="zh-CN" altLang="en-US" dirty="0">
              <a:latin typeface="Times New Roman" panose="02020603050405020304" pitchFamily="18" charset="0"/>
              <a:ea typeface="宋体" panose="02010600030101010101" pitchFamily="2" charset="-122"/>
            </a:endParaRPr>
          </a:p>
        </p:txBody>
      </p:sp>
      <p:sp>
        <p:nvSpPr>
          <p:cNvPr id="80907" name="矩形 117771"/>
          <p:cNvSpPr/>
          <p:nvPr/>
        </p:nvSpPr>
        <p:spPr>
          <a:xfrm>
            <a:off x="5867400" y="6092825"/>
            <a:ext cx="1809750" cy="457200"/>
          </a:xfrm>
          <a:prstGeom prst="rect">
            <a:avLst/>
          </a:prstGeom>
          <a:noFill/>
          <a:ln w="9525">
            <a:noFill/>
          </a:ln>
        </p:spPr>
        <p:txBody>
          <a:bodyPr wrap="none" anchor="ctr" anchorCtr="0">
            <a:spAutoFit/>
          </a:bodyPr>
          <a:p>
            <a:r>
              <a:rPr lang="en-US" altLang="zh-CN">
                <a:latin typeface="Times New Roman" panose="02020603050405020304" pitchFamily="18" charset="0"/>
                <a:ea typeface="宋体" panose="02010600030101010101" pitchFamily="2" charset="-122"/>
              </a:rPr>
              <a:t>θ´=22.75°</a:t>
            </a:r>
            <a:endParaRPr lang="en-US" altLang="zh-CN">
              <a:latin typeface="Times New Roman" panose="02020603050405020304" pitchFamily="18" charset="0"/>
              <a:ea typeface="宋体" panose="02010600030101010101" pitchFamily="2" charset="-122"/>
            </a:endParaRPr>
          </a:p>
        </p:txBody>
      </p:sp>
      <p:grpSp>
        <p:nvGrpSpPr>
          <p:cNvPr id="80908" name="组合 117772"/>
          <p:cNvGrpSpPr/>
          <p:nvPr/>
        </p:nvGrpSpPr>
        <p:grpSpPr>
          <a:xfrm>
            <a:off x="5940425" y="2276475"/>
            <a:ext cx="2592388" cy="2016125"/>
            <a:chOff x="5757" y="10956"/>
            <a:chExt cx="2160" cy="2028"/>
          </a:xfrm>
        </p:grpSpPr>
        <p:sp>
          <p:nvSpPr>
            <p:cNvPr id="80909" name="文本框 117773"/>
            <p:cNvSpPr txBox="1"/>
            <p:nvPr/>
          </p:nvSpPr>
          <p:spPr>
            <a:xfrm>
              <a:off x="6477" y="12360"/>
              <a:ext cx="360" cy="312"/>
            </a:xfrm>
            <a:prstGeom prst="rect">
              <a:avLst/>
            </a:prstGeom>
            <a:noFill/>
            <a:ln w="9525">
              <a:noFill/>
            </a:ln>
          </p:spPr>
          <p:txBody>
            <a:bodyPr lIns="0" tIns="0" rIns="0" bIns="0" anchor="t" anchorCtr="0"/>
            <a:p>
              <a:pPr algn="just"/>
              <a:r>
                <a:rPr lang="en-US" altLang="zh-CN" sz="1800">
                  <a:latin typeface="宋体" panose="02010600030101010101" pitchFamily="2" charset="-122"/>
                  <a:ea typeface="宋体" panose="02010600030101010101" pitchFamily="2" charset="-122"/>
                </a:rPr>
                <a:t>θ</a:t>
              </a:r>
              <a:endParaRPr lang="en-US" altLang="zh-CN" sz="1800">
                <a:latin typeface="Times New Roman" panose="02020603050405020304" pitchFamily="18" charset="0"/>
                <a:ea typeface="宋体" panose="02010600030101010101" pitchFamily="2" charset="-122"/>
              </a:endParaRPr>
            </a:p>
          </p:txBody>
        </p:sp>
        <p:sp>
          <p:nvSpPr>
            <p:cNvPr id="80910" name="文本框 117774"/>
            <p:cNvSpPr txBox="1"/>
            <p:nvPr/>
          </p:nvSpPr>
          <p:spPr>
            <a:xfrm>
              <a:off x="6297" y="12516"/>
              <a:ext cx="18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φ</a:t>
              </a:r>
              <a:endParaRPr lang="en-US" altLang="zh-CN" sz="1800">
                <a:latin typeface="Times New Roman" panose="02020603050405020304" pitchFamily="18" charset="0"/>
                <a:ea typeface="宋体" panose="02010600030101010101" pitchFamily="2" charset="-122"/>
              </a:endParaRPr>
            </a:p>
          </p:txBody>
        </p:sp>
        <p:grpSp>
          <p:nvGrpSpPr>
            <p:cNvPr id="80911" name="组合 117775"/>
            <p:cNvGrpSpPr/>
            <p:nvPr/>
          </p:nvGrpSpPr>
          <p:grpSpPr>
            <a:xfrm>
              <a:off x="6117" y="11268"/>
              <a:ext cx="360" cy="312"/>
              <a:chOff x="6117" y="11268"/>
              <a:chExt cx="360" cy="312"/>
            </a:xfrm>
          </p:grpSpPr>
          <p:sp>
            <p:nvSpPr>
              <p:cNvPr id="80912" name="文本框 117776"/>
              <p:cNvSpPr txBox="1"/>
              <p:nvPr/>
            </p:nvSpPr>
            <p:spPr>
              <a:xfrm>
                <a:off x="6117" y="11271"/>
                <a:ext cx="360" cy="309"/>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U</a:t>
                </a:r>
                <a:r>
                  <a:rPr lang="en-US" altLang="zh-CN" sz="1800" baseline="-25000">
                    <a:latin typeface="Times New Roman" panose="02020603050405020304" pitchFamily="18" charset="0"/>
                    <a:ea typeface="宋体" panose="02010600030101010101" pitchFamily="2" charset="-122"/>
                  </a:rPr>
                  <a:t>1</a:t>
                </a:r>
                <a:endParaRPr lang="en-US" altLang="zh-CN" sz="1800">
                  <a:latin typeface="Times New Roman" panose="02020603050405020304" pitchFamily="18" charset="0"/>
                  <a:ea typeface="宋体" panose="02010600030101010101" pitchFamily="2" charset="-122"/>
                </a:endParaRPr>
              </a:p>
            </p:txBody>
          </p:sp>
          <p:sp>
            <p:nvSpPr>
              <p:cNvPr id="80913" name="椭圆 117777"/>
              <p:cNvSpPr/>
              <p:nvPr/>
            </p:nvSpPr>
            <p:spPr>
              <a:xfrm>
                <a:off x="6177" y="11268"/>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80914" name="组合 117778"/>
            <p:cNvGrpSpPr/>
            <p:nvPr/>
          </p:nvGrpSpPr>
          <p:grpSpPr>
            <a:xfrm>
              <a:off x="6477" y="10956"/>
              <a:ext cx="540" cy="312"/>
              <a:chOff x="4497" y="12672"/>
              <a:chExt cx="540" cy="312"/>
            </a:xfrm>
          </p:grpSpPr>
          <p:sp>
            <p:nvSpPr>
              <p:cNvPr id="80915" name="文本框 117779"/>
              <p:cNvSpPr txBox="1"/>
              <p:nvPr/>
            </p:nvSpPr>
            <p:spPr>
              <a:xfrm>
                <a:off x="4497" y="12672"/>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I</a:t>
                </a:r>
                <a:r>
                  <a:rPr lang="en-US" altLang="zh-CN" sz="1800" baseline="-25000">
                    <a:latin typeface="Times New Roman" panose="02020603050405020304" pitchFamily="18" charset="0"/>
                    <a:ea typeface="宋体" panose="02010600030101010101" pitchFamily="2" charset="-122"/>
                  </a:rPr>
                  <a:t>1</a:t>
                </a:r>
                <a:r>
                  <a:rPr lang="en-US" altLang="zh-CN" sz="1800">
                    <a:latin typeface="Times New Roman" panose="02020603050405020304" pitchFamily="18" charset="0"/>
                    <a:ea typeface="宋体" panose="02010600030101010101" pitchFamily="2" charset="-122"/>
                  </a:rPr>
                  <a:t>jx</a:t>
                </a:r>
                <a:r>
                  <a:rPr lang="en-US" altLang="zh-CN" sz="1800" baseline="-25000">
                    <a:latin typeface="Times New Roman" panose="02020603050405020304" pitchFamily="18" charset="0"/>
                    <a:ea typeface="宋体" panose="02010600030101010101" pitchFamily="2" charset="-122"/>
                  </a:rPr>
                  <a:t>c</a:t>
                </a:r>
                <a:endParaRPr lang="en-US" altLang="zh-CN" sz="1800">
                  <a:latin typeface="Times New Roman" panose="02020603050405020304" pitchFamily="18" charset="0"/>
                  <a:ea typeface="宋体" panose="02010600030101010101" pitchFamily="2" charset="-122"/>
                </a:endParaRPr>
              </a:p>
            </p:txBody>
          </p:sp>
          <p:sp>
            <p:nvSpPr>
              <p:cNvPr id="80916" name="椭圆 117780"/>
              <p:cNvSpPr/>
              <p:nvPr/>
            </p:nvSpPr>
            <p:spPr>
              <a:xfrm>
                <a:off x="4497" y="12672"/>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sp>
          <p:nvSpPr>
            <p:cNvPr id="80917" name="直接连接符 117781"/>
            <p:cNvSpPr/>
            <p:nvPr/>
          </p:nvSpPr>
          <p:spPr>
            <a:xfrm flipV="1">
              <a:off x="6477" y="11424"/>
              <a:ext cx="0" cy="1560"/>
            </a:xfrm>
            <a:prstGeom prst="line">
              <a:avLst/>
            </a:prstGeom>
            <a:ln w="9525" cap="flat" cmpd="sng">
              <a:solidFill>
                <a:srgbClr val="000000"/>
              </a:solidFill>
              <a:prstDash val="solid"/>
              <a:round/>
              <a:headEnd type="none" w="med" len="med"/>
              <a:tailEnd type="triangle" w="med" len="med"/>
            </a:ln>
          </p:spPr>
        </p:sp>
        <p:sp>
          <p:nvSpPr>
            <p:cNvPr id="80918" name="直接连接符 117782"/>
            <p:cNvSpPr/>
            <p:nvPr/>
          </p:nvSpPr>
          <p:spPr>
            <a:xfrm flipH="1" flipV="1">
              <a:off x="5937" y="12360"/>
              <a:ext cx="540" cy="624"/>
            </a:xfrm>
            <a:prstGeom prst="line">
              <a:avLst/>
            </a:prstGeom>
            <a:ln w="9525" cap="flat" cmpd="sng">
              <a:solidFill>
                <a:srgbClr val="000000"/>
              </a:solidFill>
              <a:prstDash val="solid"/>
              <a:round/>
              <a:headEnd type="none" w="med" len="med"/>
              <a:tailEnd type="triangle" w="med" len="med"/>
            </a:ln>
          </p:spPr>
        </p:sp>
        <p:sp>
          <p:nvSpPr>
            <p:cNvPr id="80919" name="直接连接符 117783"/>
            <p:cNvSpPr/>
            <p:nvPr/>
          </p:nvSpPr>
          <p:spPr>
            <a:xfrm flipV="1">
              <a:off x="6477" y="10956"/>
              <a:ext cx="900" cy="2028"/>
            </a:xfrm>
            <a:prstGeom prst="line">
              <a:avLst/>
            </a:prstGeom>
            <a:ln w="9525" cap="flat" cmpd="sng">
              <a:solidFill>
                <a:srgbClr val="000000"/>
              </a:solidFill>
              <a:prstDash val="solid"/>
              <a:round/>
              <a:headEnd type="none" w="med" len="med"/>
              <a:tailEnd type="triangle" w="med" len="med"/>
            </a:ln>
          </p:spPr>
        </p:sp>
        <p:sp>
          <p:nvSpPr>
            <p:cNvPr id="80920" name="直接连接符 117784"/>
            <p:cNvSpPr/>
            <p:nvPr/>
          </p:nvSpPr>
          <p:spPr>
            <a:xfrm flipH="1">
              <a:off x="6477" y="10956"/>
              <a:ext cx="900" cy="624"/>
            </a:xfrm>
            <a:prstGeom prst="line">
              <a:avLst/>
            </a:prstGeom>
            <a:ln w="9525" cap="flat" cmpd="sng">
              <a:solidFill>
                <a:srgbClr val="000000"/>
              </a:solidFill>
              <a:prstDash val="solid"/>
              <a:round/>
              <a:headEnd type="none" w="med" len="med"/>
              <a:tailEnd type="triangle" w="med" len="med"/>
            </a:ln>
          </p:spPr>
        </p:sp>
        <p:grpSp>
          <p:nvGrpSpPr>
            <p:cNvPr id="80921" name="组合 117785"/>
            <p:cNvGrpSpPr/>
            <p:nvPr/>
          </p:nvGrpSpPr>
          <p:grpSpPr>
            <a:xfrm>
              <a:off x="5757" y="12048"/>
              <a:ext cx="360" cy="309"/>
              <a:chOff x="5757" y="12048"/>
              <a:chExt cx="360" cy="309"/>
            </a:xfrm>
          </p:grpSpPr>
          <p:sp>
            <p:nvSpPr>
              <p:cNvPr id="80922" name="文本框 117786"/>
              <p:cNvSpPr txBox="1"/>
              <p:nvPr/>
            </p:nvSpPr>
            <p:spPr>
              <a:xfrm>
                <a:off x="5757" y="12048"/>
                <a:ext cx="360" cy="309"/>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I</a:t>
                </a:r>
                <a:r>
                  <a:rPr lang="en-US" altLang="zh-CN" sz="1800" baseline="-25000">
                    <a:latin typeface="Times New Roman" panose="02020603050405020304" pitchFamily="18" charset="0"/>
                    <a:ea typeface="宋体" panose="02010600030101010101" pitchFamily="2" charset="-122"/>
                  </a:rPr>
                  <a:t>1</a:t>
                </a:r>
                <a:endParaRPr lang="en-US" altLang="zh-CN" sz="1800">
                  <a:latin typeface="Times New Roman" panose="02020603050405020304" pitchFamily="18" charset="0"/>
                  <a:ea typeface="宋体" panose="02010600030101010101" pitchFamily="2" charset="-122"/>
                </a:endParaRPr>
              </a:p>
            </p:txBody>
          </p:sp>
          <p:sp>
            <p:nvSpPr>
              <p:cNvPr id="80923" name="椭圆 117787"/>
              <p:cNvSpPr/>
              <p:nvPr/>
            </p:nvSpPr>
            <p:spPr>
              <a:xfrm>
                <a:off x="5757" y="12048"/>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80924" name="组合 117788"/>
            <p:cNvGrpSpPr/>
            <p:nvPr/>
          </p:nvGrpSpPr>
          <p:grpSpPr>
            <a:xfrm>
              <a:off x="7557" y="10956"/>
              <a:ext cx="360" cy="309"/>
              <a:chOff x="7557" y="10956"/>
              <a:chExt cx="360" cy="309"/>
            </a:xfrm>
          </p:grpSpPr>
          <p:sp>
            <p:nvSpPr>
              <p:cNvPr id="80925" name="文本框 117789"/>
              <p:cNvSpPr txBox="1"/>
              <p:nvPr/>
            </p:nvSpPr>
            <p:spPr>
              <a:xfrm>
                <a:off x="7557" y="10956"/>
                <a:ext cx="360" cy="309"/>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-E</a:t>
                </a:r>
                <a:r>
                  <a:rPr lang="en-US" altLang="zh-CN" sz="1800" baseline="-25000">
                    <a:latin typeface="Times New Roman" panose="02020603050405020304" pitchFamily="18" charset="0"/>
                    <a:ea typeface="宋体" panose="02010600030101010101" pitchFamily="2" charset="-122"/>
                  </a:rPr>
                  <a:t>0</a:t>
                </a:r>
                <a:endParaRPr lang="en-US" altLang="zh-CN" sz="1800">
                  <a:latin typeface="Times New Roman" panose="02020603050405020304" pitchFamily="18" charset="0"/>
                  <a:ea typeface="宋体" panose="02010600030101010101" pitchFamily="2" charset="-122"/>
                </a:endParaRPr>
              </a:p>
            </p:txBody>
          </p:sp>
          <p:sp>
            <p:nvSpPr>
              <p:cNvPr id="80926" name="椭圆 117790"/>
              <p:cNvSpPr/>
              <p:nvPr/>
            </p:nvSpPr>
            <p:spPr>
              <a:xfrm>
                <a:off x="7677" y="10956"/>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sp>
        <p:nvSpPr>
          <p:cNvPr id="80927" name="直接连接符 117791"/>
          <p:cNvSpPr/>
          <p:nvPr/>
        </p:nvSpPr>
        <p:spPr>
          <a:xfrm>
            <a:off x="5003800" y="4149725"/>
            <a:ext cx="0" cy="2374900"/>
          </a:xfrm>
          <a:prstGeom prst="line">
            <a:avLst/>
          </a:prstGeom>
          <a:ln w="9525" cap="flat" cmpd="sng">
            <a:solidFill>
              <a:schemeClr val="tx1"/>
            </a:solidFill>
            <a:prstDash val="solid"/>
            <a:round/>
            <a:headEnd type="none" w="med" len="med"/>
            <a:tailEnd type="none" w="med" len="med"/>
          </a:ln>
        </p:spPr>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矩形 116737"/>
          <p:cNvSpPr/>
          <p:nvPr/>
        </p:nvSpPr>
        <p:spPr>
          <a:xfrm>
            <a:off x="179388" y="476250"/>
            <a:ext cx="8748712" cy="1917700"/>
          </a:xfrm>
          <a:prstGeom prst="rect">
            <a:avLst/>
          </a:prstGeom>
          <a:noFill/>
          <a:ln w="9525">
            <a:noFill/>
          </a:ln>
        </p:spPr>
        <p:txBody>
          <a:bodyPr anchor="ctr" anchorCtr="0">
            <a:spAutoFit/>
          </a:bodyPr>
          <a:p>
            <a:r>
              <a:rPr lang="en-US" altLang="zh-CN" dirty="0">
                <a:latin typeface="Times New Roman" panose="02020603050405020304" pitchFamily="18" charset="0"/>
                <a:ea typeface="宋体" panose="02010600030101010101" pitchFamily="2" charset="-122"/>
              </a:rPr>
              <a:t>9-11 </a:t>
            </a:r>
            <a:r>
              <a:rPr lang="zh-CN" altLang="en-US" dirty="0">
                <a:latin typeface="Times New Roman" panose="02020603050405020304" pitchFamily="18" charset="0"/>
                <a:ea typeface="宋体" panose="02010600030101010101" pitchFamily="2" charset="-122"/>
              </a:rPr>
              <a:t>原有负载</a:t>
            </a:r>
            <a:r>
              <a:rPr lang="en-US" altLang="zh-CN" i="1">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N1</a:t>
            </a:r>
            <a:r>
              <a:rPr lang="en-US" altLang="zh-CN" dirty="0">
                <a:latin typeface="Times New Roman" panose="02020603050405020304" pitchFamily="18" charset="0"/>
                <a:ea typeface="宋体" panose="02010600030101010101" pitchFamily="2" charset="-122"/>
              </a:rPr>
              <a:t>=350kW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cosφ</a:t>
            </a:r>
            <a:r>
              <a:rPr lang="en-US" altLang="zh-CN" baseline="-25000">
                <a:latin typeface="Times New Roman" panose="02020603050405020304" pitchFamily="18" charset="0"/>
                <a:ea typeface="宋体" panose="02010600030101010101" pitchFamily="2" charset="-122"/>
              </a:rPr>
              <a:t>N1</a:t>
            </a:r>
            <a:r>
              <a:rPr lang="en-US" altLang="zh-CN" dirty="0">
                <a:latin typeface="Times New Roman" panose="02020603050405020304" pitchFamily="18" charset="0"/>
                <a:ea typeface="宋体" panose="02010600030101010101" pitchFamily="2" charset="-122"/>
              </a:rPr>
              <a:t>=0.65(</a:t>
            </a:r>
            <a:r>
              <a:rPr lang="zh-CN" altLang="en-US" dirty="0">
                <a:latin typeface="Times New Roman" panose="02020603050405020304" pitchFamily="18" charset="0"/>
                <a:ea typeface="宋体" panose="02010600030101010101" pitchFamily="2" charset="-122"/>
              </a:rPr>
              <a:t>滞后</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。负载增大，新装同步机，</a:t>
            </a:r>
            <a:r>
              <a:rPr lang="en-US" altLang="zh-CN">
                <a:latin typeface="Times New Roman" panose="02020603050405020304" pitchFamily="18" charset="0"/>
                <a:ea typeface="宋体" panose="02010600030101010101" pitchFamily="2" charset="-122"/>
              </a:rPr>
              <a:t>P</a:t>
            </a:r>
            <a:r>
              <a:rPr lang="en-US" altLang="zh-CN" baseline="-25000">
                <a:latin typeface="Times New Roman" panose="02020603050405020304" pitchFamily="18" charset="0"/>
                <a:ea typeface="宋体" panose="02010600030101010101" pitchFamily="2" charset="-122"/>
              </a:rPr>
              <a:t>N2</a:t>
            </a:r>
            <a:r>
              <a:rPr lang="en-US" altLang="zh-CN" dirty="0">
                <a:latin typeface="Times New Roman" panose="02020603050405020304" pitchFamily="18" charset="0"/>
                <a:ea typeface="宋体" panose="02010600030101010101" pitchFamily="2" charset="-122"/>
              </a:rPr>
              <a:t>=135kW</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η</a:t>
            </a:r>
            <a:r>
              <a:rPr lang="en-US" altLang="zh-CN"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=0.9</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cosφ</a:t>
            </a:r>
            <a:r>
              <a:rPr lang="en-US" altLang="zh-CN" baseline="-25000">
                <a:latin typeface="Times New Roman" panose="02020603050405020304" pitchFamily="18" charset="0"/>
                <a:ea typeface="宋体" panose="02010600030101010101" pitchFamily="2" charset="-122"/>
              </a:rPr>
              <a:t>N2</a:t>
            </a:r>
            <a:r>
              <a:rPr lang="en-US" altLang="zh-CN">
                <a:latin typeface="Times New Roman" panose="02020603050405020304" pitchFamily="18" charset="0"/>
                <a:ea typeface="宋体" panose="02010600030101010101" pitchFamily="2" charset="-122"/>
              </a:rPr>
              <a:t>=0.8(</a:t>
            </a:r>
            <a:r>
              <a:rPr lang="en-US" altLang="zh-CN" i="1">
                <a:latin typeface="Times New Roman" panose="02020603050405020304" pitchFamily="18" charset="0"/>
                <a:ea typeface="宋体" panose="02010600030101010101" pitchFamily="2" charset="-122"/>
              </a:rPr>
              <a:t>φ</a:t>
            </a:r>
            <a:r>
              <a:rPr lang="en-US" altLang="zh-CN" baseline="-25000">
                <a:latin typeface="Times New Roman" panose="02020603050405020304" pitchFamily="18" charset="0"/>
                <a:ea typeface="宋体" panose="02010600030101010101" pitchFamily="2" charset="-122"/>
              </a:rPr>
              <a:t>N2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当输出额定功率、转子额定励磁时电网的功率因数？</a:t>
            </a:r>
            <a:endParaRPr lang="zh-CN" altLang="en-US"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令同步机过励磁空载运行，保持电压电流不变，电网功率因数？电机运行情况？</a:t>
            </a:r>
            <a:endParaRPr lang="zh-CN" altLang="en-US" dirty="0">
              <a:latin typeface="Times New Roman" panose="02020603050405020304" pitchFamily="18" charset="0"/>
              <a:ea typeface="宋体" panose="02010600030101010101" pitchFamily="2" charset="-122"/>
            </a:endParaRPr>
          </a:p>
        </p:txBody>
      </p:sp>
      <p:sp>
        <p:nvSpPr>
          <p:cNvPr id="81922" name="矩形 116739"/>
          <p:cNvSpPr/>
          <p:nvPr/>
        </p:nvSpPr>
        <p:spPr>
          <a:xfrm>
            <a:off x="323850" y="2419350"/>
            <a:ext cx="4392613" cy="1698625"/>
          </a:xfrm>
          <a:prstGeom prst="rect">
            <a:avLst/>
          </a:prstGeom>
          <a:noFill/>
          <a:ln w="9525">
            <a:noFill/>
          </a:ln>
        </p:spPr>
        <p:txBody>
          <a:bodyPr anchor="ctr" anchorCtr="0">
            <a:spAutoFit/>
          </a:bodyPr>
          <a:p>
            <a:pPr>
              <a:lnSpc>
                <a:spcPct val="110000"/>
              </a:lnSpc>
            </a:pPr>
            <a:r>
              <a:rPr lang="zh-CN" altLang="en-US" dirty="0">
                <a:latin typeface="Times New Roman" panose="02020603050405020304" pitchFamily="18" charset="0"/>
                <a:ea typeface="宋体" panose="02010600030101010101" pitchFamily="2" charset="-122"/>
              </a:rPr>
              <a:t>解：</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设电网电压为</a:t>
            </a:r>
            <a:r>
              <a:rPr lang="en-US" altLang="zh-CN" dirty="0">
                <a:latin typeface="Times New Roman" panose="02020603050405020304" pitchFamily="18" charset="0"/>
                <a:ea typeface="宋体" panose="02010600030101010101" pitchFamily="2" charset="-122"/>
              </a:rPr>
              <a:t>U</a:t>
            </a:r>
            <a:r>
              <a:rPr lang="zh-CN" altLang="en-US" dirty="0">
                <a:latin typeface="Times New Roman" panose="02020603050405020304" pitchFamily="18" charset="0"/>
                <a:ea typeface="宋体" panose="02010600030101010101" pitchFamily="2" charset="-122"/>
              </a:rPr>
              <a:t>，当同步电动机额定运行时，电流电压相位关系如图：</a:t>
            </a:r>
            <a:endParaRPr lang="zh-CN" altLang="en-US" dirty="0">
              <a:latin typeface="Times New Roman" panose="02020603050405020304" pitchFamily="18" charset="0"/>
              <a:ea typeface="宋体" panose="02010600030101010101" pitchFamily="2" charset="-122"/>
            </a:endParaRPr>
          </a:p>
          <a:p>
            <a:pPr eaLnBrk="0" hangingPunct="0">
              <a:lnSpc>
                <a:spcPct val="110000"/>
              </a:lnSpc>
            </a:pPr>
            <a:r>
              <a:rPr lang="zh-CN" altLang="en-US" dirty="0">
                <a:latin typeface="Times New Roman" panose="02020603050405020304" pitchFamily="18" charset="0"/>
                <a:ea typeface="宋体" panose="02010600030101010101" pitchFamily="2" charset="-122"/>
              </a:rPr>
              <a:t>其中：负载电流为：</a:t>
            </a:r>
            <a:endParaRPr lang="zh-CN" altLang="en-US" dirty="0">
              <a:latin typeface="Times New Roman" panose="02020603050405020304" pitchFamily="18" charset="0"/>
              <a:ea typeface="宋体" panose="02010600030101010101" pitchFamily="2" charset="-122"/>
            </a:endParaRPr>
          </a:p>
        </p:txBody>
      </p:sp>
      <p:graphicFrame>
        <p:nvGraphicFramePr>
          <p:cNvPr id="81923" name="对象 116738"/>
          <p:cNvGraphicFramePr/>
          <p:nvPr/>
        </p:nvGraphicFramePr>
        <p:xfrm>
          <a:off x="539750" y="4221163"/>
          <a:ext cx="2663825" cy="757237"/>
        </p:xfrm>
        <a:graphic>
          <a:graphicData uri="http://schemas.openxmlformats.org/presentationml/2006/ole">
            <mc:AlternateContent xmlns:mc="http://schemas.openxmlformats.org/markup-compatibility/2006">
              <mc:Choice xmlns:v="urn:schemas-microsoft-com:vml" Requires="v">
                <p:oleObj spid="_x0000_s3200" name="" r:id="rId1" imgW="1459865" imgH="419100" progId="Equation.DSMT4">
                  <p:embed/>
                </p:oleObj>
              </mc:Choice>
              <mc:Fallback>
                <p:oleObj name="" r:id="rId1" imgW="1459865" imgH="419100" progId="Equation.DSMT4">
                  <p:embed/>
                  <p:pic>
                    <p:nvPicPr>
                      <p:cNvPr id="0" name="图片 3199"/>
                      <p:cNvPicPr/>
                      <p:nvPr/>
                    </p:nvPicPr>
                    <p:blipFill>
                      <a:blip r:embed="rId2"/>
                      <a:stretch>
                        <a:fillRect/>
                      </a:stretch>
                    </p:blipFill>
                    <p:spPr>
                      <a:xfrm>
                        <a:off x="539750" y="4221163"/>
                        <a:ext cx="2663825" cy="757237"/>
                      </a:xfrm>
                      <a:prstGeom prst="rect">
                        <a:avLst/>
                      </a:prstGeom>
                      <a:noFill/>
                      <a:ln w="38100">
                        <a:noFill/>
                        <a:miter/>
                      </a:ln>
                    </p:spPr>
                  </p:pic>
                </p:oleObj>
              </mc:Fallback>
            </mc:AlternateContent>
          </a:graphicData>
        </a:graphic>
      </p:graphicFrame>
      <p:grpSp>
        <p:nvGrpSpPr>
          <p:cNvPr id="81924" name="组合 116740"/>
          <p:cNvGrpSpPr/>
          <p:nvPr/>
        </p:nvGrpSpPr>
        <p:grpSpPr>
          <a:xfrm>
            <a:off x="5148263" y="2205038"/>
            <a:ext cx="2736850" cy="1727200"/>
            <a:chOff x="6117" y="7056"/>
            <a:chExt cx="2520" cy="1401"/>
          </a:xfrm>
        </p:grpSpPr>
        <p:grpSp>
          <p:nvGrpSpPr>
            <p:cNvPr id="81925" name="组合 116741"/>
            <p:cNvGrpSpPr/>
            <p:nvPr/>
          </p:nvGrpSpPr>
          <p:grpSpPr>
            <a:xfrm>
              <a:off x="6657" y="8148"/>
              <a:ext cx="360" cy="309"/>
              <a:chOff x="5217" y="8304"/>
              <a:chExt cx="360" cy="309"/>
            </a:xfrm>
          </p:grpSpPr>
          <p:sp>
            <p:nvSpPr>
              <p:cNvPr id="81926" name="文本框 116742"/>
              <p:cNvSpPr txBox="1"/>
              <p:nvPr/>
            </p:nvSpPr>
            <p:spPr>
              <a:xfrm>
                <a:off x="5217" y="8304"/>
                <a:ext cx="360" cy="309"/>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I</a:t>
                </a:r>
                <a:r>
                  <a:rPr lang="en-US" altLang="zh-CN" sz="1800" baseline="-25000">
                    <a:latin typeface="Times New Roman" panose="02020603050405020304" pitchFamily="18" charset="0"/>
                    <a:ea typeface="宋体" panose="02010600030101010101" pitchFamily="2" charset="-122"/>
                  </a:rPr>
                  <a:t>L</a:t>
                </a:r>
                <a:endParaRPr lang="en-US" altLang="zh-CN" sz="1800">
                  <a:latin typeface="Times New Roman" panose="02020603050405020304" pitchFamily="18" charset="0"/>
                  <a:ea typeface="宋体" panose="02010600030101010101" pitchFamily="2" charset="-122"/>
                </a:endParaRPr>
              </a:p>
            </p:txBody>
          </p:sp>
          <p:sp>
            <p:nvSpPr>
              <p:cNvPr id="81927" name="椭圆 116743"/>
              <p:cNvSpPr/>
              <p:nvPr/>
            </p:nvSpPr>
            <p:spPr>
              <a:xfrm>
                <a:off x="5217" y="8304"/>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sp>
          <p:nvSpPr>
            <p:cNvPr id="81928" name="文本框 116744"/>
            <p:cNvSpPr txBox="1"/>
            <p:nvPr/>
          </p:nvSpPr>
          <p:spPr>
            <a:xfrm>
              <a:off x="6972" y="7575"/>
              <a:ext cx="18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φ</a:t>
              </a:r>
              <a:endParaRPr lang="en-US" altLang="zh-CN" sz="1800">
                <a:latin typeface="Times New Roman" panose="02020603050405020304" pitchFamily="18" charset="0"/>
                <a:ea typeface="宋体" panose="02010600030101010101" pitchFamily="2" charset="-122"/>
              </a:endParaRPr>
            </a:p>
          </p:txBody>
        </p:sp>
        <p:grpSp>
          <p:nvGrpSpPr>
            <p:cNvPr id="81929" name="组合 116745"/>
            <p:cNvGrpSpPr/>
            <p:nvPr/>
          </p:nvGrpSpPr>
          <p:grpSpPr>
            <a:xfrm>
              <a:off x="8277" y="7524"/>
              <a:ext cx="360" cy="312"/>
              <a:chOff x="6117" y="11268"/>
              <a:chExt cx="360" cy="312"/>
            </a:xfrm>
          </p:grpSpPr>
          <p:sp>
            <p:nvSpPr>
              <p:cNvPr id="81930" name="文本框 116746"/>
              <p:cNvSpPr txBox="1"/>
              <p:nvPr/>
            </p:nvSpPr>
            <p:spPr>
              <a:xfrm>
                <a:off x="6117" y="11271"/>
                <a:ext cx="360" cy="309"/>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U</a:t>
                </a:r>
                <a:endParaRPr lang="en-US" altLang="zh-CN" sz="1800">
                  <a:latin typeface="Times New Roman" panose="02020603050405020304" pitchFamily="18" charset="0"/>
                  <a:ea typeface="宋体" panose="02010600030101010101" pitchFamily="2" charset="-122"/>
                </a:endParaRPr>
              </a:p>
            </p:txBody>
          </p:sp>
          <p:sp>
            <p:nvSpPr>
              <p:cNvPr id="81931" name="椭圆 116747"/>
              <p:cNvSpPr/>
              <p:nvPr/>
            </p:nvSpPr>
            <p:spPr>
              <a:xfrm>
                <a:off x="6177" y="11268"/>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81932" name="组合 116748"/>
            <p:cNvGrpSpPr/>
            <p:nvPr/>
          </p:nvGrpSpPr>
          <p:grpSpPr>
            <a:xfrm>
              <a:off x="6657" y="7056"/>
              <a:ext cx="540" cy="312"/>
              <a:chOff x="4497" y="12672"/>
              <a:chExt cx="540" cy="312"/>
            </a:xfrm>
          </p:grpSpPr>
          <p:sp>
            <p:nvSpPr>
              <p:cNvPr id="81933" name="文本框 116749"/>
              <p:cNvSpPr txBox="1"/>
              <p:nvPr/>
            </p:nvSpPr>
            <p:spPr>
              <a:xfrm>
                <a:off x="4497" y="12672"/>
                <a:ext cx="540" cy="312"/>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I</a:t>
                </a:r>
                <a:r>
                  <a:rPr lang="en-US" altLang="zh-CN" sz="1800" baseline="-25000">
                    <a:latin typeface="Times New Roman" panose="02020603050405020304" pitchFamily="18" charset="0"/>
                    <a:ea typeface="宋体" panose="02010600030101010101" pitchFamily="2" charset="-122"/>
                  </a:rPr>
                  <a:t>T</a:t>
                </a:r>
                <a:endParaRPr lang="en-US" altLang="zh-CN" sz="1800">
                  <a:latin typeface="Times New Roman" panose="02020603050405020304" pitchFamily="18" charset="0"/>
                  <a:ea typeface="宋体" panose="02010600030101010101" pitchFamily="2" charset="-122"/>
                </a:endParaRPr>
              </a:p>
            </p:txBody>
          </p:sp>
          <p:sp>
            <p:nvSpPr>
              <p:cNvPr id="81934" name="椭圆 116750"/>
              <p:cNvSpPr/>
              <p:nvPr/>
            </p:nvSpPr>
            <p:spPr>
              <a:xfrm>
                <a:off x="4497" y="12672"/>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sp>
          <p:nvSpPr>
            <p:cNvPr id="81935" name="直接连接符 116751"/>
            <p:cNvSpPr/>
            <p:nvPr/>
          </p:nvSpPr>
          <p:spPr>
            <a:xfrm>
              <a:off x="6117" y="7680"/>
              <a:ext cx="900" cy="624"/>
            </a:xfrm>
            <a:prstGeom prst="line">
              <a:avLst/>
            </a:prstGeom>
            <a:ln w="9525" cap="flat" cmpd="sng">
              <a:solidFill>
                <a:srgbClr val="000000"/>
              </a:solidFill>
              <a:prstDash val="solid"/>
              <a:round/>
              <a:headEnd type="none" w="med" len="med"/>
              <a:tailEnd type="triangle" w="med" len="med"/>
            </a:ln>
          </p:spPr>
        </p:sp>
        <p:sp>
          <p:nvSpPr>
            <p:cNvPr id="81936" name="直接连接符 116752"/>
            <p:cNvSpPr/>
            <p:nvPr/>
          </p:nvSpPr>
          <p:spPr>
            <a:xfrm>
              <a:off x="6117" y="7680"/>
              <a:ext cx="1620" cy="312"/>
            </a:xfrm>
            <a:prstGeom prst="line">
              <a:avLst/>
            </a:prstGeom>
            <a:ln w="9525" cap="flat" cmpd="sng">
              <a:solidFill>
                <a:srgbClr val="000000"/>
              </a:solidFill>
              <a:prstDash val="solid"/>
              <a:round/>
              <a:headEnd type="none" w="med" len="med"/>
              <a:tailEnd type="triangle" w="med" len="med"/>
            </a:ln>
          </p:spPr>
        </p:sp>
        <p:sp>
          <p:nvSpPr>
            <p:cNvPr id="81937" name="直接连接符 116753"/>
            <p:cNvSpPr/>
            <p:nvPr/>
          </p:nvSpPr>
          <p:spPr>
            <a:xfrm flipV="1">
              <a:off x="6117" y="7680"/>
              <a:ext cx="2160" cy="0"/>
            </a:xfrm>
            <a:prstGeom prst="line">
              <a:avLst/>
            </a:prstGeom>
            <a:ln w="9525" cap="flat" cmpd="sng">
              <a:solidFill>
                <a:srgbClr val="000000"/>
              </a:solidFill>
              <a:prstDash val="solid"/>
              <a:round/>
              <a:headEnd type="none" w="med" len="med"/>
              <a:tailEnd type="triangle" w="med" len="med"/>
            </a:ln>
          </p:spPr>
        </p:sp>
        <p:sp>
          <p:nvSpPr>
            <p:cNvPr id="81938" name="直接连接符 116754"/>
            <p:cNvSpPr/>
            <p:nvPr/>
          </p:nvSpPr>
          <p:spPr>
            <a:xfrm flipV="1">
              <a:off x="6117" y="7368"/>
              <a:ext cx="720" cy="312"/>
            </a:xfrm>
            <a:prstGeom prst="line">
              <a:avLst/>
            </a:prstGeom>
            <a:ln w="9525" cap="flat" cmpd="sng">
              <a:solidFill>
                <a:srgbClr val="000000"/>
              </a:solidFill>
              <a:prstDash val="solid"/>
              <a:round/>
              <a:headEnd type="none" w="med" len="med"/>
              <a:tailEnd type="triangle" w="med" len="med"/>
            </a:ln>
          </p:spPr>
        </p:sp>
        <p:grpSp>
          <p:nvGrpSpPr>
            <p:cNvPr id="81939" name="组合 116755"/>
            <p:cNvGrpSpPr/>
            <p:nvPr/>
          </p:nvGrpSpPr>
          <p:grpSpPr>
            <a:xfrm>
              <a:off x="7737" y="7836"/>
              <a:ext cx="360" cy="309"/>
              <a:chOff x="5757" y="12048"/>
              <a:chExt cx="360" cy="309"/>
            </a:xfrm>
          </p:grpSpPr>
          <p:sp>
            <p:nvSpPr>
              <p:cNvPr id="81940" name="文本框 116756"/>
              <p:cNvSpPr txBox="1"/>
              <p:nvPr/>
            </p:nvSpPr>
            <p:spPr>
              <a:xfrm>
                <a:off x="5757" y="12048"/>
                <a:ext cx="360" cy="309"/>
              </a:xfrm>
              <a:prstGeom prst="rect">
                <a:avLst/>
              </a:prstGeom>
              <a:noFill/>
              <a:ln w="9525">
                <a:noFill/>
              </a:ln>
            </p:spPr>
            <p:txBody>
              <a:bodyPr lIns="0" tIns="0" rIns="0" bIns="0" anchor="t" anchorCtr="0"/>
              <a:p>
                <a:pPr algn="just"/>
                <a:r>
                  <a:rPr lang="en-US" altLang="zh-CN" sz="1800">
                    <a:latin typeface="Times New Roman" panose="02020603050405020304" pitchFamily="18" charset="0"/>
                    <a:ea typeface="宋体" panose="02010600030101010101" pitchFamily="2" charset="-122"/>
                  </a:rPr>
                  <a:t>I</a:t>
                </a:r>
                <a:endParaRPr lang="en-US" altLang="zh-CN" sz="1800">
                  <a:latin typeface="Times New Roman" panose="02020603050405020304" pitchFamily="18" charset="0"/>
                  <a:ea typeface="宋体" panose="02010600030101010101" pitchFamily="2" charset="-122"/>
                </a:endParaRPr>
              </a:p>
            </p:txBody>
          </p:sp>
          <p:sp>
            <p:nvSpPr>
              <p:cNvPr id="81941" name="椭圆 116757"/>
              <p:cNvSpPr/>
              <p:nvPr/>
            </p:nvSpPr>
            <p:spPr>
              <a:xfrm>
                <a:off x="5757" y="12048"/>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sp>
          <p:nvSpPr>
            <p:cNvPr id="81942" name="直接连接符 116758"/>
            <p:cNvSpPr/>
            <p:nvPr/>
          </p:nvSpPr>
          <p:spPr>
            <a:xfrm flipV="1">
              <a:off x="7017" y="7992"/>
              <a:ext cx="720" cy="312"/>
            </a:xfrm>
            <a:prstGeom prst="line">
              <a:avLst/>
            </a:prstGeom>
            <a:ln w="9525" cap="flat" cmpd="sng">
              <a:solidFill>
                <a:srgbClr val="000000"/>
              </a:solidFill>
              <a:prstDash val="solid"/>
              <a:round/>
              <a:headEnd type="none" w="med" len="med"/>
              <a:tailEnd type="triangle" w="med" len="med"/>
            </a:ln>
          </p:spPr>
        </p:sp>
      </p:grpSp>
      <p:sp>
        <p:nvSpPr>
          <p:cNvPr id="81943" name="矩形 116760"/>
          <p:cNvSpPr/>
          <p:nvPr/>
        </p:nvSpPr>
        <p:spPr>
          <a:xfrm>
            <a:off x="3492500" y="4365625"/>
            <a:ext cx="2328863"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同步机电流为：</a:t>
            </a:r>
            <a:endParaRPr lang="zh-CN" altLang="en-US" dirty="0">
              <a:latin typeface="Times New Roman" panose="02020603050405020304" pitchFamily="18" charset="0"/>
              <a:ea typeface="宋体" panose="02010600030101010101" pitchFamily="2" charset="-122"/>
            </a:endParaRPr>
          </a:p>
        </p:txBody>
      </p:sp>
      <p:graphicFrame>
        <p:nvGraphicFramePr>
          <p:cNvPr id="81944" name="对象 116759"/>
          <p:cNvGraphicFramePr/>
          <p:nvPr/>
        </p:nvGraphicFramePr>
        <p:xfrm>
          <a:off x="5867400" y="4221163"/>
          <a:ext cx="2592388" cy="822325"/>
        </p:xfrm>
        <a:graphic>
          <a:graphicData uri="http://schemas.openxmlformats.org/presentationml/2006/ole">
            <mc:AlternateContent xmlns:mc="http://schemas.openxmlformats.org/markup-compatibility/2006">
              <mc:Choice xmlns:v="urn:schemas-microsoft-com:vml" Requires="v">
                <p:oleObj spid="_x0000_s3197" name="" r:id="rId3" imgW="1308100" imgH="419100" progId="Equation.DSMT4">
                  <p:embed/>
                </p:oleObj>
              </mc:Choice>
              <mc:Fallback>
                <p:oleObj name="" r:id="rId3" imgW="1308100" imgH="419100" progId="Equation.DSMT4">
                  <p:embed/>
                  <p:pic>
                    <p:nvPicPr>
                      <p:cNvPr id="0" name="图片 3196"/>
                      <p:cNvPicPr/>
                      <p:nvPr/>
                    </p:nvPicPr>
                    <p:blipFill>
                      <a:blip r:embed="rId4"/>
                      <a:stretch>
                        <a:fillRect/>
                      </a:stretch>
                    </p:blipFill>
                    <p:spPr>
                      <a:xfrm>
                        <a:off x="5867400" y="4221163"/>
                        <a:ext cx="2592388" cy="822325"/>
                      </a:xfrm>
                      <a:prstGeom prst="rect">
                        <a:avLst/>
                      </a:prstGeom>
                      <a:noFill/>
                      <a:ln w="38100">
                        <a:noFill/>
                        <a:miter/>
                      </a:ln>
                    </p:spPr>
                  </p:pic>
                </p:oleObj>
              </mc:Fallback>
            </mc:AlternateContent>
          </a:graphicData>
        </a:graphic>
      </p:graphicFrame>
      <p:sp>
        <p:nvSpPr>
          <p:cNvPr id="81945" name="矩形 116761"/>
          <p:cNvSpPr/>
          <p:nvPr/>
        </p:nvSpPr>
        <p:spPr>
          <a:xfrm>
            <a:off x="250825" y="5013325"/>
            <a:ext cx="2022475"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电网电流为：</a:t>
            </a:r>
            <a:endParaRPr lang="zh-CN" altLang="en-US" dirty="0">
              <a:latin typeface="Times New Roman" panose="02020603050405020304" pitchFamily="18" charset="0"/>
              <a:ea typeface="宋体" panose="02010600030101010101" pitchFamily="2" charset="-122"/>
            </a:endParaRPr>
          </a:p>
        </p:txBody>
      </p:sp>
      <p:sp>
        <p:nvSpPr>
          <p:cNvPr id="81946" name="矩形 116763"/>
          <p:cNvSpPr/>
          <p:nvPr/>
        </p:nvSpPr>
        <p:spPr>
          <a:xfrm>
            <a:off x="0" y="3063875"/>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graphicFrame>
        <p:nvGraphicFramePr>
          <p:cNvPr id="81947" name="对象 116762"/>
          <p:cNvGraphicFramePr/>
          <p:nvPr/>
        </p:nvGraphicFramePr>
        <p:xfrm>
          <a:off x="1619250" y="5373688"/>
          <a:ext cx="6985000" cy="728662"/>
        </p:xfrm>
        <a:graphic>
          <a:graphicData uri="http://schemas.openxmlformats.org/presentationml/2006/ole">
            <mc:AlternateContent xmlns:mc="http://schemas.openxmlformats.org/markup-compatibility/2006">
              <mc:Choice xmlns:v="urn:schemas-microsoft-com:vml" Requires="v">
                <p:oleObj spid="_x0000_s3199" name="" r:id="rId5" imgW="3795395" imgH="393700" progId="Equation.DSMT4">
                  <p:embed/>
                </p:oleObj>
              </mc:Choice>
              <mc:Fallback>
                <p:oleObj name="" r:id="rId5" imgW="3795395" imgH="393700" progId="Equation.DSMT4">
                  <p:embed/>
                  <p:pic>
                    <p:nvPicPr>
                      <p:cNvPr id="0" name="图片 3198"/>
                      <p:cNvPicPr/>
                      <p:nvPr/>
                    </p:nvPicPr>
                    <p:blipFill>
                      <a:blip r:embed="rId6"/>
                      <a:stretch>
                        <a:fillRect/>
                      </a:stretch>
                    </p:blipFill>
                    <p:spPr>
                      <a:xfrm>
                        <a:off x="1619250" y="5373688"/>
                        <a:ext cx="6985000" cy="728662"/>
                      </a:xfrm>
                      <a:prstGeom prst="rect">
                        <a:avLst/>
                      </a:prstGeom>
                      <a:noFill/>
                      <a:ln w="38100">
                        <a:noFill/>
                        <a:miter/>
                      </a:ln>
                    </p:spPr>
                  </p:pic>
                </p:oleObj>
              </mc:Fallback>
            </mc:AlternateContent>
          </a:graphicData>
        </a:graphic>
      </p:graphicFrame>
      <p:sp>
        <p:nvSpPr>
          <p:cNvPr id="81948" name="矩形 116764"/>
          <p:cNvSpPr/>
          <p:nvPr/>
        </p:nvSpPr>
        <p:spPr>
          <a:xfrm>
            <a:off x="2916238" y="6165850"/>
            <a:ext cx="3328987" cy="457200"/>
          </a:xfrm>
          <a:prstGeom prst="rect">
            <a:avLst/>
          </a:prstGeom>
          <a:noFill/>
          <a:ln w="9525">
            <a:noFill/>
          </a:ln>
        </p:spPr>
        <p:txBody>
          <a:bodyPr wrap="none" anchor="ctr" anchorCtr="0">
            <a:spAutoFit/>
          </a:bodyPr>
          <a:p>
            <a:r>
              <a:rPr lang="en-US" altLang="zh-CN" i="1">
                <a:latin typeface="Times New Roman" panose="02020603050405020304" pitchFamily="18" charset="0"/>
                <a:ea typeface="宋体" panose="02010600030101010101" pitchFamily="2" charset="-122"/>
              </a:rPr>
              <a:t>φ</a:t>
            </a:r>
            <a:r>
              <a:rPr lang="en-US" altLang="zh-CN">
                <a:latin typeface="Times New Roman" panose="02020603050405020304" pitchFamily="18" charset="0"/>
                <a:ea typeface="宋体" panose="02010600030101010101" pitchFamily="2" charset="-122"/>
              </a:rPr>
              <a:t>=32.5° ;  </a:t>
            </a:r>
            <a:r>
              <a:rPr lang="en-US" altLang="zh-CN" i="1">
                <a:latin typeface="Times New Roman" panose="02020603050405020304" pitchFamily="18" charset="0"/>
                <a:ea typeface="宋体" panose="02010600030101010101" pitchFamily="2" charset="-122"/>
              </a:rPr>
              <a:t> cosφ</a:t>
            </a:r>
            <a:r>
              <a:rPr lang="en-US" altLang="zh-CN">
                <a:latin typeface="Times New Roman" panose="02020603050405020304" pitchFamily="18" charset="0"/>
                <a:ea typeface="宋体" panose="02010600030101010101" pitchFamily="2" charset="-122"/>
              </a:rPr>
              <a:t>=0.84</a:t>
            </a:r>
            <a:endParaRPr lang="en-US" altLang="zh-CN">
              <a:latin typeface="Times New Roman" panose="02020603050405020304" pitchFamily="18" charset="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2945" name="对象 115713"/>
          <p:cNvGraphicFramePr/>
          <p:nvPr/>
        </p:nvGraphicFramePr>
        <p:xfrm>
          <a:off x="1238250" y="1712913"/>
          <a:ext cx="1912938" cy="806450"/>
        </p:xfrm>
        <a:graphic>
          <a:graphicData uri="http://schemas.openxmlformats.org/presentationml/2006/ole">
            <mc:AlternateContent xmlns:mc="http://schemas.openxmlformats.org/markup-compatibility/2006">
              <mc:Choice xmlns:v="urn:schemas-microsoft-com:vml" Requires="v">
                <p:oleObj spid="_x0000_s3198" name="" r:id="rId1" imgW="939165" imgH="393700" progId="Equation.DSMT4">
                  <p:embed/>
                </p:oleObj>
              </mc:Choice>
              <mc:Fallback>
                <p:oleObj name="" r:id="rId1" imgW="939165" imgH="393700" progId="Equation.DSMT4">
                  <p:embed/>
                  <p:pic>
                    <p:nvPicPr>
                      <p:cNvPr id="0" name="图片 3197"/>
                      <p:cNvPicPr/>
                      <p:nvPr/>
                    </p:nvPicPr>
                    <p:blipFill>
                      <a:blip r:embed="rId2"/>
                      <a:stretch>
                        <a:fillRect/>
                      </a:stretch>
                    </p:blipFill>
                    <p:spPr>
                      <a:xfrm>
                        <a:off x="1238250" y="1712913"/>
                        <a:ext cx="1912938" cy="806450"/>
                      </a:xfrm>
                      <a:prstGeom prst="rect">
                        <a:avLst/>
                      </a:prstGeom>
                      <a:noFill/>
                      <a:ln w="38100">
                        <a:noFill/>
                        <a:miter/>
                      </a:ln>
                    </p:spPr>
                  </p:pic>
                </p:oleObj>
              </mc:Fallback>
            </mc:AlternateContent>
          </a:graphicData>
        </a:graphic>
      </p:graphicFrame>
      <p:grpSp>
        <p:nvGrpSpPr>
          <p:cNvPr id="82946" name="组合 115714"/>
          <p:cNvGrpSpPr/>
          <p:nvPr/>
        </p:nvGrpSpPr>
        <p:grpSpPr>
          <a:xfrm>
            <a:off x="4932363" y="1700213"/>
            <a:ext cx="3024187" cy="1873250"/>
            <a:chOff x="5577" y="1908"/>
            <a:chExt cx="2520" cy="1557"/>
          </a:xfrm>
        </p:grpSpPr>
        <p:grpSp>
          <p:nvGrpSpPr>
            <p:cNvPr id="82947" name="组合 115730"/>
            <p:cNvGrpSpPr/>
            <p:nvPr/>
          </p:nvGrpSpPr>
          <p:grpSpPr>
            <a:xfrm>
              <a:off x="6117" y="3156"/>
              <a:ext cx="360" cy="309"/>
              <a:chOff x="5217" y="8304"/>
              <a:chExt cx="360" cy="309"/>
            </a:xfrm>
          </p:grpSpPr>
          <p:sp>
            <p:nvSpPr>
              <p:cNvPr id="82948" name="文本框 115732"/>
              <p:cNvSpPr txBox="1"/>
              <p:nvPr/>
            </p:nvSpPr>
            <p:spPr>
              <a:xfrm>
                <a:off x="5217" y="8304"/>
                <a:ext cx="360" cy="309"/>
              </a:xfrm>
              <a:prstGeom prst="rect">
                <a:avLst/>
              </a:prstGeom>
              <a:noFill/>
              <a:ln w="9525">
                <a:noFill/>
              </a:ln>
            </p:spPr>
            <p:txBody>
              <a:bodyPr lIns="0" tIns="0" rIns="0" bIns="0" anchor="t" anchorCtr="0"/>
              <a:p>
                <a:r>
                  <a:rPr lang="en-US" altLang="zh-CN" sz="1800">
                    <a:latin typeface="Times New Roman" panose="02020603050405020304" pitchFamily="18" charset="0"/>
                    <a:ea typeface="宋体" panose="02010600030101010101" pitchFamily="2" charset="-122"/>
                  </a:rPr>
                  <a:t>I</a:t>
                </a:r>
                <a:r>
                  <a:rPr lang="en-US" altLang="zh-CN" sz="1800" baseline="-30000">
                    <a:latin typeface="Times New Roman" panose="02020603050405020304" pitchFamily="18" charset="0"/>
                    <a:ea typeface="宋体" panose="02010600030101010101" pitchFamily="2" charset="-122"/>
                  </a:rPr>
                  <a:t>L</a:t>
                </a:r>
                <a:endParaRPr lang="en-US" altLang="zh-CN" sz="1800">
                  <a:latin typeface="Times New Roman" panose="02020603050405020304" pitchFamily="18" charset="0"/>
                  <a:ea typeface="宋体" panose="02010600030101010101" pitchFamily="2" charset="-122"/>
                </a:endParaRPr>
              </a:p>
            </p:txBody>
          </p:sp>
          <p:sp>
            <p:nvSpPr>
              <p:cNvPr id="82949" name="椭圆 115731"/>
              <p:cNvSpPr/>
              <p:nvPr/>
            </p:nvSpPr>
            <p:spPr>
              <a:xfrm>
                <a:off x="5217" y="8304"/>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sp>
          <p:nvSpPr>
            <p:cNvPr id="82950" name="文本框 115729"/>
            <p:cNvSpPr txBox="1"/>
            <p:nvPr/>
          </p:nvSpPr>
          <p:spPr>
            <a:xfrm>
              <a:off x="6267" y="2457"/>
              <a:ext cx="180" cy="312"/>
            </a:xfrm>
            <a:prstGeom prst="rect">
              <a:avLst/>
            </a:prstGeom>
            <a:noFill/>
            <a:ln w="9525">
              <a:noFill/>
            </a:ln>
          </p:spPr>
          <p:txBody>
            <a:bodyPr lIns="0" tIns="0" rIns="0" bIns="0" anchor="t" anchorCtr="0"/>
            <a:p>
              <a:r>
                <a:rPr lang="en-US" altLang="zh-CN" sz="1800">
                  <a:latin typeface="Times New Roman" panose="02020603050405020304" pitchFamily="18" charset="0"/>
                  <a:ea typeface="宋体" panose="02010600030101010101" pitchFamily="2" charset="-122"/>
                </a:rPr>
                <a:t>φ</a:t>
              </a:r>
              <a:endParaRPr lang="en-US" altLang="zh-CN" sz="1800">
                <a:latin typeface="Times New Roman" panose="02020603050405020304" pitchFamily="18" charset="0"/>
                <a:ea typeface="宋体" panose="02010600030101010101" pitchFamily="2" charset="-122"/>
              </a:endParaRPr>
            </a:p>
          </p:txBody>
        </p:sp>
        <p:grpSp>
          <p:nvGrpSpPr>
            <p:cNvPr id="82951" name="组合 115726"/>
            <p:cNvGrpSpPr/>
            <p:nvPr/>
          </p:nvGrpSpPr>
          <p:grpSpPr>
            <a:xfrm>
              <a:off x="7737" y="2376"/>
              <a:ext cx="360" cy="312"/>
              <a:chOff x="6117" y="11268"/>
              <a:chExt cx="360" cy="312"/>
            </a:xfrm>
          </p:grpSpPr>
          <p:sp>
            <p:nvSpPr>
              <p:cNvPr id="82952" name="文本框 115728"/>
              <p:cNvSpPr txBox="1"/>
              <p:nvPr/>
            </p:nvSpPr>
            <p:spPr>
              <a:xfrm>
                <a:off x="6117" y="11271"/>
                <a:ext cx="360" cy="309"/>
              </a:xfrm>
              <a:prstGeom prst="rect">
                <a:avLst/>
              </a:prstGeom>
              <a:noFill/>
              <a:ln w="9525">
                <a:noFill/>
              </a:ln>
            </p:spPr>
            <p:txBody>
              <a:bodyPr lIns="0" tIns="0" rIns="0" bIns="0" anchor="t" anchorCtr="0"/>
              <a:p>
                <a:r>
                  <a:rPr lang="en-US" altLang="zh-CN" sz="1800">
                    <a:latin typeface="Times New Roman" panose="02020603050405020304" pitchFamily="18" charset="0"/>
                    <a:ea typeface="宋体" panose="02010600030101010101" pitchFamily="2" charset="-122"/>
                  </a:rPr>
                  <a:t>U</a:t>
                </a:r>
                <a:endParaRPr lang="en-US" altLang="zh-CN" sz="1800">
                  <a:latin typeface="Times New Roman" panose="02020603050405020304" pitchFamily="18" charset="0"/>
                  <a:ea typeface="宋体" panose="02010600030101010101" pitchFamily="2" charset="-122"/>
                </a:endParaRPr>
              </a:p>
            </p:txBody>
          </p:sp>
          <p:sp>
            <p:nvSpPr>
              <p:cNvPr id="82953" name="椭圆 115727"/>
              <p:cNvSpPr/>
              <p:nvPr/>
            </p:nvSpPr>
            <p:spPr>
              <a:xfrm>
                <a:off x="6177" y="11268"/>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grpSp>
          <p:nvGrpSpPr>
            <p:cNvPr id="82954" name="组合 115723"/>
            <p:cNvGrpSpPr/>
            <p:nvPr/>
          </p:nvGrpSpPr>
          <p:grpSpPr>
            <a:xfrm>
              <a:off x="5757" y="1908"/>
              <a:ext cx="540" cy="312"/>
              <a:chOff x="4497" y="12672"/>
              <a:chExt cx="540" cy="312"/>
            </a:xfrm>
          </p:grpSpPr>
          <p:sp>
            <p:nvSpPr>
              <p:cNvPr id="82955" name="文本框 115725"/>
              <p:cNvSpPr txBox="1"/>
              <p:nvPr/>
            </p:nvSpPr>
            <p:spPr>
              <a:xfrm>
                <a:off x="4497" y="12672"/>
                <a:ext cx="540" cy="312"/>
              </a:xfrm>
              <a:prstGeom prst="rect">
                <a:avLst/>
              </a:prstGeom>
              <a:noFill/>
              <a:ln w="9525">
                <a:noFill/>
              </a:ln>
            </p:spPr>
            <p:txBody>
              <a:bodyPr lIns="0" tIns="0" rIns="0" bIns="0" anchor="t" anchorCtr="0"/>
              <a:p>
                <a:r>
                  <a:rPr lang="en-US" altLang="zh-CN" sz="2000">
                    <a:latin typeface="Times New Roman" panose="02020603050405020304" pitchFamily="18" charset="0"/>
                    <a:ea typeface="宋体" panose="02010600030101010101" pitchFamily="2" charset="-122"/>
                  </a:rPr>
                  <a:t>I</a:t>
                </a:r>
                <a:r>
                  <a:rPr lang="en-US" altLang="zh-CN" sz="2000" baseline="-30000">
                    <a:latin typeface="Times New Roman" panose="02020603050405020304" pitchFamily="18" charset="0"/>
                    <a:ea typeface="宋体" panose="02010600030101010101" pitchFamily="2" charset="-122"/>
                  </a:rPr>
                  <a:t>T</a:t>
                </a:r>
                <a:endParaRPr lang="en-US" altLang="zh-CN" sz="2000">
                  <a:latin typeface="Times New Roman" panose="02020603050405020304" pitchFamily="18" charset="0"/>
                  <a:ea typeface="宋体" panose="02010600030101010101" pitchFamily="2" charset="-122"/>
                </a:endParaRPr>
              </a:p>
            </p:txBody>
          </p:sp>
          <p:sp>
            <p:nvSpPr>
              <p:cNvPr id="82956" name="椭圆 115724"/>
              <p:cNvSpPr/>
              <p:nvPr/>
            </p:nvSpPr>
            <p:spPr>
              <a:xfrm>
                <a:off x="4497" y="12672"/>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sp>
          <p:nvSpPr>
            <p:cNvPr id="82957" name="直接连接符 115722"/>
            <p:cNvSpPr/>
            <p:nvPr/>
          </p:nvSpPr>
          <p:spPr>
            <a:xfrm>
              <a:off x="5577" y="2532"/>
              <a:ext cx="900" cy="780"/>
            </a:xfrm>
            <a:prstGeom prst="line">
              <a:avLst/>
            </a:prstGeom>
            <a:ln w="9525" cap="flat" cmpd="sng">
              <a:solidFill>
                <a:srgbClr val="000000"/>
              </a:solidFill>
              <a:prstDash val="solid"/>
              <a:round/>
              <a:headEnd type="none" w="med" len="med"/>
              <a:tailEnd type="triangle" w="med" len="med"/>
            </a:ln>
          </p:spPr>
        </p:sp>
        <p:sp>
          <p:nvSpPr>
            <p:cNvPr id="82958" name="直接连接符 115721"/>
            <p:cNvSpPr/>
            <p:nvPr/>
          </p:nvSpPr>
          <p:spPr>
            <a:xfrm>
              <a:off x="5577" y="2532"/>
              <a:ext cx="900" cy="312"/>
            </a:xfrm>
            <a:prstGeom prst="line">
              <a:avLst/>
            </a:prstGeom>
            <a:ln w="9525" cap="flat" cmpd="sng">
              <a:solidFill>
                <a:srgbClr val="000000"/>
              </a:solidFill>
              <a:prstDash val="solid"/>
              <a:round/>
              <a:headEnd type="none" w="med" len="med"/>
              <a:tailEnd type="triangle" w="med" len="med"/>
            </a:ln>
          </p:spPr>
        </p:sp>
        <p:sp>
          <p:nvSpPr>
            <p:cNvPr id="82959" name="直接连接符 115720"/>
            <p:cNvSpPr/>
            <p:nvPr/>
          </p:nvSpPr>
          <p:spPr>
            <a:xfrm flipV="1">
              <a:off x="5577" y="2532"/>
              <a:ext cx="2160" cy="0"/>
            </a:xfrm>
            <a:prstGeom prst="line">
              <a:avLst/>
            </a:prstGeom>
            <a:ln w="9525" cap="flat" cmpd="sng">
              <a:solidFill>
                <a:srgbClr val="000000"/>
              </a:solidFill>
              <a:prstDash val="solid"/>
              <a:round/>
              <a:headEnd type="none" w="med" len="med"/>
              <a:tailEnd type="triangle" w="med" len="med"/>
            </a:ln>
          </p:spPr>
        </p:sp>
        <p:sp>
          <p:nvSpPr>
            <p:cNvPr id="82960" name="直接连接符 115719"/>
            <p:cNvSpPr/>
            <p:nvPr/>
          </p:nvSpPr>
          <p:spPr>
            <a:xfrm flipV="1">
              <a:off x="5577" y="1908"/>
              <a:ext cx="0" cy="624"/>
            </a:xfrm>
            <a:prstGeom prst="line">
              <a:avLst/>
            </a:prstGeom>
            <a:ln w="9525" cap="flat" cmpd="sng">
              <a:solidFill>
                <a:srgbClr val="000000"/>
              </a:solidFill>
              <a:prstDash val="solid"/>
              <a:round/>
              <a:headEnd type="none" w="med" len="med"/>
              <a:tailEnd type="triangle" w="med" len="med"/>
            </a:ln>
          </p:spPr>
        </p:sp>
        <p:grpSp>
          <p:nvGrpSpPr>
            <p:cNvPr id="82961" name="组合 115716"/>
            <p:cNvGrpSpPr/>
            <p:nvPr/>
          </p:nvGrpSpPr>
          <p:grpSpPr>
            <a:xfrm>
              <a:off x="6537" y="2643"/>
              <a:ext cx="360" cy="309"/>
              <a:chOff x="5757" y="12048"/>
              <a:chExt cx="360" cy="309"/>
            </a:xfrm>
          </p:grpSpPr>
          <p:sp>
            <p:nvSpPr>
              <p:cNvPr id="82962" name="文本框 115718"/>
              <p:cNvSpPr txBox="1"/>
              <p:nvPr/>
            </p:nvSpPr>
            <p:spPr>
              <a:xfrm>
                <a:off x="5757" y="12048"/>
                <a:ext cx="360" cy="309"/>
              </a:xfrm>
              <a:prstGeom prst="rect">
                <a:avLst/>
              </a:prstGeom>
              <a:noFill/>
              <a:ln w="9525">
                <a:noFill/>
              </a:ln>
            </p:spPr>
            <p:txBody>
              <a:bodyPr lIns="0" tIns="0" rIns="0" bIns="0" anchor="t" anchorCtr="0"/>
              <a:p>
                <a:r>
                  <a:rPr lang="en-US" altLang="zh-CN" sz="1800">
                    <a:latin typeface="Times New Roman" panose="02020603050405020304" pitchFamily="18" charset="0"/>
                    <a:ea typeface="宋体" panose="02010600030101010101" pitchFamily="2" charset="-122"/>
                  </a:rPr>
                  <a:t>I</a:t>
                </a:r>
                <a:endParaRPr lang="en-US" altLang="zh-CN" sz="1800">
                  <a:latin typeface="Times New Roman" panose="02020603050405020304" pitchFamily="18" charset="0"/>
                  <a:ea typeface="宋体" panose="02010600030101010101" pitchFamily="2" charset="-122"/>
                </a:endParaRPr>
              </a:p>
            </p:txBody>
          </p:sp>
          <p:sp>
            <p:nvSpPr>
              <p:cNvPr id="82963" name="椭圆 115717"/>
              <p:cNvSpPr/>
              <p:nvPr/>
            </p:nvSpPr>
            <p:spPr>
              <a:xfrm>
                <a:off x="5757" y="12048"/>
                <a:ext cx="45" cy="45"/>
              </a:xfrm>
              <a:prstGeom prst="ellipse">
                <a:avLst/>
              </a:prstGeom>
              <a:noFill/>
              <a:ln w="9525" cap="flat" cmpd="sng">
                <a:solidFill>
                  <a:srgbClr val="000000"/>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sp>
          <p:nvSpPr>
            <p:cNvPr id="82964" name="直接连接符 115715"/>
            <p:cNvSpPr/>
            <p:nvPr/>
          </p:nvSpPr>
          <p:spPr>
            <a:xfrm flipV="1">
              <a:off x="6477" y="2844"/>
              <a:ext cx="0" cy="468"/>
            </a:xfrm>
            <a:prstGeom prst="line">
              <a:avLst/>
            </a:prstGeom>
            <a:ln w="9525" cap="flat" cmpd="sng">
              <a:solidFill>
                <a:srgbClr val="000000"/>
              </a:solidFill>
              <a:prstDash val="solid"/>
              <a:round/>
              <a:headEnd type="none" w="med" len="med"/>
              <a:tailEnd type="triangle" w="med" len="med"/>
            </a:ln>
          </p:spPr>
        </p:sp>
      </p:grpSp>
      <p:sp>
        <p:nvSpPr>
          <p:cNvPr id="82965" name="矩形 115733"/>
          <p:cNvSpPr/>
          <p:nvPr/>
        </p:nvSpPr>
        <p:spPr>
          <a:xfrm>
            <a:off x="331788" y="692150"/>
            <a:ext cx="8812212" cy="457200"/>
          </a:xfrm>
          <a:prstGeom prst="rect">
            <a:avLst/>
          </a:prstGeom>
          <a:noFill/>
          <a:ln w="9525">
            <a:noFill/>
          </a:ln>
        </p:spPr>
        <p:txBody>
          <a:bodyPr wrap="none" anchor="ctr" anchorCtr="0">
            <a:spAutoFit/>
          </a:bodyPr>
          <a:p>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同步机过励空载运行时，相当于纯容性负载，此时其电流为：</a:t>
            </a:r>
            <a:endParaRPr lang="zh-CN" altLang="en-US" dirty="0">
              <a:latin typeface="Times New Roman" panose="02020603050405020304" pitchFamily="18" charset="0"/>
              <a:ea typeface="宋体" panose="02010600030101010101" pitchFamily="2" charset="-122"/>
            </a:endParaRPr>
          </a:p>
        </p:txBody>
      </p:sp>
      <p:sp>
        <p:nvSpPr>
          <p:cNvPr id="82966" name="矩形 115739"/>
          <p:cNvSpPr/>
          <p:nvPr/>
        </p:nvSpPr>
        <p:spPr>
          <a:xfrm>
            <a:off x="0" y="3278188"/>
            <a:ext cx="9144000" cy="0"/>
          </a:xfrm>
          <a:prstGeom prst="rect">
            <a:avLst/>
          </a:prstGeom>
          <a:noFill/>
          <a:ln w="9525">
            <a:noFill/>
          </a:ln>
        </p:spPr>
        <p:txBody>
          <a:bodyPr anchor="t" anchorCtr="0"/>
          <a:p>
            <a:endParaRPr lang="zh-CN" altLang="en-US">
              <a:latin typeface="Times New Roman" panose="02020603050405020304" pitchFamily="18" charset="0"/>
              <a:ea typeface="宋体" panose="02010600030101010101" pitchFamily="2" charset="-122"/>
            </a:endParaRPr>
          </a:p>
        </p:txBody>
      </p:sp>
      <p:sp>
        <p:nvSpPr>
          <p:cNvPr id="82967" name="矩形 115741"/>
          <p:cNvSpPr/>
          <p:nvPr/>
        </p:nvSpPr>
        <p:spPr>
          <a:xfrm>
            <a:off x="1187450" y="3213100"/>
            <a:ext cx="2022475" cy="457200"/>
          </a:xfrm>
          <a:prstGeom prst="rect">
            <a:avLst/>
          </a:prstGeom>
          <a:noFill/>
          <a:ln w="9525">
            <a:noFill/>
          </a:ln>
        </p:spPr>
        <p:txBody>
          <a:bodyPr wrap="none" anchor="ctr" anchorCtr="0">
            <a:spAutoFit/>
          </a:bodyPr>
          <a:p>
            <a:r>
              <a:rPr lang="zh-CN" altLang="en-US" dirty="0">
                <a:latin typeface="Times New Roman" panose="02020603050405020304" pitchFamily="18" charset="0"/>
                <a:ea typeface="宋体" panose="02010600030101010101" pitchFamily="2" charset="-122"/>
              </a:rPr>
              <a:t>电网电流为：</a:t>
            </a:r>
            <a:endParaRPr lang="zh-CN" altLang="en-US" b="0" dirty="0">
              <a:latin typeface="Times New Roman" panose="02020603050405020304" pitchFamily="18" charset="0"/>
              <a:ea typeface="宋体" panose="02010600030101010101" pitchFamily="2" charset="-122"/>
            </a:endParaRPr>
          </a:p>
        </p:txBody>
      </p:sp>
      <p:graphicFrame>
        <p:nvGraphicFramePr>
          <p:cNvPr id="82968" name="对象 115740"/>
          <p:cNvGraphicFramePr/>
          <p:nvPr/>
        </p:nvGraphicFramePr>
        <p:xfrm>
          <a:off x="1042988" y="4005263"/>
          <a:ext cx="6840537" cy="715962"/>
        </p:xfrm>
        <a:graphic>
          <a:graphicData uri="http://schemas.openxmlformats.org/presentationml/2006/ole">
            <mc:AlternateContent xmlns:mc="http://schemas.openxmlformats.org/markup-compatibility/2006">
              <mc:Choice xmlns:v="urn:schemas-microsoft-com:vml" Requires="v">
                <p:oleObj spid="_x0000_s3201" name="" r:id="rId3" imgW="3782695" imgH="393700" progId="Equation.DSMT4">
                  <p:embed/>
                </p:oleObj>
              </mc:Choice>
              <mc:Fallback>
                <p:oleObj name="" r:id="rId3" imgW="3782695" imgH="393700" progId="Equation.DSMT4">
                  <p:embed/>
                  <p:pic>
                    <p:nvPicPr>
                      <p:cNvPr id="0" name="图片 3200"/>
                      <p:cNvPicPr/>
                      <p:nvPr/>
                    </p:nvPicPr>
                    <p:blipFill>
                      <a:blip r:embed="rId4"/>
                      <a:stretch>
                        <a:fillRect/>
                      </a:stretch>
                    </p:blipFill>
                    <p:spPr>
                      <a:xfrm>
                        <a:off x="1042988" y="4005263"/>
                        <a:ext cx="6840537" cy="715962"/>
                      </a:xfrm>
                      <a:prstGeom prst="rect">
                        <a:avLst/>
                      </a:prstGeom>
                      <a:noFill/>
                      <a:ln w="38100">
                        <a:noFill/>
                        <a:miter/>
                      </a:ln>
                    </p:spPr>
                  </p:pic>
                </p:oleObj>
              </mc:Fallback>
            </mc:AlternateContent>
          </a:graphicData>
        </a:graphic>
      </p:graphicFrame>
      <p:sp>
        <p:nvSpPr>
          <p:cNvPr id="82969" name="矩形 115742"/>
          <p:cNvSpPr/>
          <p:nvPr/>
        </p:nvSpPr>
        <p:spPr>
          <a:xfrm>
            <a:off x="1763713" y="5160963"/>
            <a:ext cx="3786187" cy="457200"/>
          </a:xfrm>
          <a:prstGeom prst="rect">
            <a:avLst/>
          </a:prstGeom>
          <a:noFill/>
          <a:ln w="9525">
            <a:noFill/>
          </a:ln>
        </p:spPr>
        <p:txBody>
          <a:bodyPr wrap="none" anchor="ctr" anchorCtr="0">
            <a:spAutoFit/>
          </a:bodyPr>
          <a:p>
            <a:r>
              <a:rPr lang="en-US" altLang="zh-CN" i="1">
                <a:latin typeface="Times New Roman" panose="02020603050405020304" pitchFamily="18" charset="0"/>
                <a:ea typeface="宋体" panose="02010600030101010101" pitchFamily="2" charset="-122"/>
              </a:rPr>
              <a:t>φ</a:t>
            </a:r>
            <a:r>
              <a:rPr lang="en-US" altLang="zh-CN">
                <a:latin typeface="Times New Roman" panose="02020603050405020304" pitchFamily="18" charset="0"/>
                <a:ea typeface="宋体" panose="02010600030101010101" pitchFamily="2" charset="-122"/>
              </a:rPr>
              <a:t>=34.58° ;     </a:t>
            </a:r>
            <a:r>
              <a:rPr lang="en-US" altLang="zh-CN" i="1">
                <a:latin typeface="Times New Roman" panose="02020603050405020304" pitchFamily="18" charset="0"/>
                <a:ea typeface="宋体" panose="02010600030101010101" pitchFamily="2" charset="-122"/>
              </a:rPr>
              <a:t>cosφ</a:t>
            </a:r>
            <a:r>
              <a:rPr lang="en-US" altLang="zh-CN">
                <a:latin typeface="Times New Roman" panose="02020603050405020304" pitchFamily="18" charset="0"/>
                <a:ea typeface="宋体" panose="02010600030101010101" pitchFamily="2" charset="-122"/>
              </a:rPr>
              <a:t>=0.823</a:t>
            </a:r>
            <a:endParaRPr lang="en-US" altLang="zh-CN">
              <a:latin typeface="Times New Roman" panose="02020603050405020304" pitchFamily="18" charset="0"/>
              <a:ea typeface="宋体" panose="02010600030101010101" pitchFamily="2" charset="-122"/>
            </a:endParaRPr>
          </a:p>
        </p:txBody>
      </p:sp>
    </p:spTree>
  </p:cSld>
  <p:clrMapOvr>
    <a:masterClrMapping/>
  </p:clrMapOvr>
</p:sld>
</file>

<file path=ppt/theme/theme1.xml><?xml version="1.0" encoding="utf-8"?>
<a:theme xmlns:a="http://schemas.openxmlformats.org/drawingml/2006/main" name="电机">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C:\WINDOWS\Application Data\Microsoft\Templates\电机.pot</Template>
  <TotalTime>0</TotalTime>
  <Words>16862</Words>
  <Application>WPS 演示</Application>
  <PresentationFormat>在屏幕上显示</PresentationFormat>
  <Paragraphs>1317</Paragraphs>
  <Slides>80</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158</vt:i4>
      </vt:variant>
      <vt:variant>
        <vt:lpstr>幻灯片标题</vt:lpstr>
      </vt:variant>
      <vt:variant>
        <vt:i4>80</vt:i4>
      </vt:variant>
    </vt:vector>
  </HeadingPairs>
  <TitlesOfParts>
    <vt:vector size="248" baseType="lpstr">
      <vt:lpstr>Arial</vt:lpstr>
      <vt:lpstr>宋体</vt:lpstr>
      <vt:lpstr>Wingdings</vt:lpstr>
      <vt:lpstr>Times New Roman</vt:lpstr>
      <vt:lpstr>Symbol</vt:lpstr>
      <vt:lpstr>微软雅黑</vt:lpstr>
      <vt:lpstr>Arial Unicode MS</vt:lpstr>
      <vt:lpstr>Calibri</vt:lpstr>
      <vt:lpstr>Arial Unicode MS</vt:lpstr>
      <vt:lpstr>电机</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dcm</dc:creator>
  <cp:lastModifiedBy>程思源</cp:lastModifiedBy>
  <cp:revision>74</cp:revision>
  <dcterms:created xsi:type="dcterms:W3CDTF">2003-06-17T12:35:00Z</dcterms:created>
  <dcterms:modified xsi:type="dcterms:W3CDTF">2026-10-06T11:09:17Z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4CB56B56C7754D4783B0D5B3F65402AA_13</vt:lpwstr>
  </property>
</Properties>
</file>